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" y="0"/>
            <a:ext cx="12051792" cy="594360"/>
          </a:xfrm>
          <a:prstGeom prst="rect">
            <a:avLst/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45720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731520"/>
            <a:ext cx="11640312" cy="594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1920240"/>
            <a:ext cx="9445752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4800" b="1">
                <a:solidFill>
                  <a:srgbClr val="000000"/>
                </a:solidFill>
                <a:latin typeface="Noto Sans JP"/>
              </a:rPr>
              <a:t>生成AI支援ご提案書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9445752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0">
                <a:solidFill>
                  <a:srgbClr val="4B5563"/>
                </a:solidFill>
                <a:latin typeface="Noto Sans JP"/>
              </a:rPr>
              <a:t>株式会社ブロードリンク 様向け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27448" y="3794760"/>
            <a:ext cx="2743200" cy="3200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" y="5943600"/>
            <a:ext cx="2286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2026年4月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5897880"/>
            <a:ext cx="347472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目次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0020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7335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振り返り｜前回商談のご要望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05740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RECAP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6032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6032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56032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63347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現状｜御社のAI活用環境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301752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CURRENT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2044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52044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359359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課題｜弊社で抽出した3点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977639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ISSUES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8056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48056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448056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455371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弊社方針｜「使える」へのシフト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93776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OUR APPROACH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44068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44068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551383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研修内容｜AI実務活用・実戦編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589788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PROGRAM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振り返り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RECAP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山道さまから頂いたリクエスト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振り返り｜4/17商談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141732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9496" y="165963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141732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基礎より「実戦」へ — 「こういう使い方ができる」という方向性が伝わればOK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246888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246888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9496" y="271119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46888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2時間 × 2拠点（本社／本部TC）でオンライン実施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352044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352044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9496" y="37627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352044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ISMS要素は2割マックス（ハルシネーション・情報漏洩を短く）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57200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8720" y="457200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9496" y="481431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457200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スプレッドシート活用を重点化したい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562356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562356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9496" y="586587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62356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金額は前回据え置きを希望（税込30万円ボーダー）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現状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8年目のISMS研修と、拠点で割れるAI温度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現状｜事業環境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0876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141732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ISMS年次研修は8年目。「もう飽きちゃってる」（山道さまご発言）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3177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3177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282321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73177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本社・大阪支店：Google Workspace導入済み／Gemini日常使い／副社長はGAS活用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4622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04622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13766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04622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本部TC・大阪TC：ほぼAI未使用／業務はキッティング・報告書・マニュアル作成中心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6067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6067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545211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536067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Google Workspace導入済み。ただし慣れたExcelを使い続ける社員が多く、スプレッドシート活用が浅い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ISSUES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課題は3つに集約される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課題｜全体俯瞰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研修のマンネリ化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8年連続のISMS研修で「やらされ感」が蔓延。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同じ枠の継続では参加者の集中が持続しない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34256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17136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02936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拠点間温度差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本社（高リテラシー）／TC（低リテラシー）の二極化。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一律研修では「物足りない／ついていけない」が同時発生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17136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11312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11312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94192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79992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AIを活かしきれていない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GWS・Geminiは導入済みだが業務に落ちていない。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AIコンサルは特定部署のみで全社底上げにつながっていない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94192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弊社方針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OUR APPROACH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「知る」から「使える」への転換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ご要望への回答方針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791081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508760"/>
            <a:ext cx="3931920" cy="104013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実戦シフト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508760"/>
            <a:ext cx="45720" cy="104013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417320"/>
            <a:ext cx="615391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座学は最小限。ハンズオン50分を中心に据える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3177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3177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105531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2823210"/>
            <a:ext cx="3931920" cy="104013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拠点別差替え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2823210"/>
            <a:ext cx="45720" cy="104013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0" y="2731770"/>
            <a:ext cx="615391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本社（スプシ×Gemini×GAS）／TC（業務別Gem量産）で温度差を吸収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4622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4622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4419981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25880" y="4137660"/>
            <a:ext cx="3931920" cy="104013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ISMSは"濃く・短く"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4137660"/>
            <a:ext cx="45720" cy="104013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046220"/>
            <a:ext cx="615391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セキュリティ要素は事例ベースで凝縮し、研修全体の20%以内に収める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6067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6067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5216" y="5734431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25880" y="5452110"/>
            <a:ext cx="3931920" cy="104013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金額据え置き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25880" y="5452110"/>
            <a:ext cx="45720" cy="104013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0" y="5360670"/>
            <a:ext cx="615391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税込286,000円（税抜260,000円）／前年同額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研修内容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PROGRAM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体験で腹落ちさせる、実戦研修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研修コンセプト｜AI実務活用・実戦編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11274552" cy="1097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800" b="1">
                <a:solidFill>
                  <a:srgbClr val="111827"/>
                </a:solidFill>
                <a:latin typeface="Noto Sans JP"/>
              </a:rPr>
              <a:t>去年は「知る」／今年は「使える」になる研修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45720" cy="1097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92608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体験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92608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第3章でラッキーパズル（2人1組で言葉だけで形を伝えるゲーム）を実施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8620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8620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977639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伏線回収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388620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ゲーム中は目的を伏せ、後半で「実はこれがAIへの指示の出し方」と種明かし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4632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腹落ち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0" y="484632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「ガチガチの指示書はいらない、会話するように渡す」をコンテキストエンジとして体得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80644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80644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589788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進化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8880" y="580644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最新概念（コンテキストエンジ）を、難しい言葉ではなく体験で習得させる構成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2時間で5章を駆け抜ける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アジェンダ｜全体タイムライン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182880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時間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508760"/>
            <a:ext cx="118872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08760"/>
            <a:ext cx="685800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07040" y="1508760"/>
            <a:ext cx="1124712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時間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11680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0:00 - 0:05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2011680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第1章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011680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導入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07040" y="2011680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770632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0:05 - 0:20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2770632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第2章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2770632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AI基礎＋セキュリティ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07040" y="2770632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9584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0:20 - 0:50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529584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第3章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3529584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ゲーム → 伏線回収 → プロンプト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07040" y="3529584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30分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88536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0:50 - 1:00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7440" y="4288536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0" y="4288536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☕ 休憩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4288536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10分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47488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1:00 - 1:50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7440" y="5047488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第4章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5047488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ハンズオン実践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07040" y="5047488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50分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06440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1:50 - 2:00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77440" y="5806440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第5章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0" y="5806440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まとめ＋質疑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607040" y="5806440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10分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前半｜AIを"体で"腹落ちさせる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第1〜3章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50876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第1章 導入（5分）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・講師紹介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・この1年のAI進化（GPT-5・Gemini 3・推論モデル・エージェント化）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・ゴール3本柱（理解する／任せる／実践する）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1564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1564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30708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第2章 AI基礎＋セキュリティ（15分）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0708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1000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・LLMの仕組み（予測変換の超強力版）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・ハルシネーションと企業実例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・セキュリティ × ISMS（入力禁止情報・GWS版Geminiの安全性）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1396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01396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510540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第3章 ゲーム→伏線回収→プロンプト（30分）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0540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60832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・ラッキーパズル20分（2人1組・言葉だけで形を伝える）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・伏線回収「実はこれがコンテキストエンジ」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・プロンプトの考え方（役割・目的・対象・制約）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後半｜手を動かして"使える"に変える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第4〜5章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25603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50876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第4章 ハンズオン実践（50分）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10908792" cy="18745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① Gemini基本＋Google Workspace連携（10分）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② Gems基礎：自分専用の"部下"を作る（15分）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③ 拠点別実践（25分／本社・TCで内容を差替え）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112745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25603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第5章 まとめ＋質疑（10分）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908792" cy="18745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・5トピック（セキュリティ／AI基礎／プロンプト・コンテキスト／Gemini／GWS）を1枚で振り返り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・質疑応答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本社とTCで、中身を差し替える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第4章｜拠点別実践（25分）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53212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54864" cy="50292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516635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F2937"/>
                </a:solidFill>
                <a:latin typeface="Noto Sans JP"/>
              </a:rPr>
              <a:t>本社・大阪支店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5166359" cy="32004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高リテラシー層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786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603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5166359" cy="22860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スプレッドシート × Gemini × GAS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・関数をAIに作らせる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・汚いデータをAIで整形する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・GAS紹介（Gmail自動送信／シート連動）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80360"/>
            <a:ext cx="45720" cy="2286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3218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53035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ねらい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23560"/>
            <a:ext cx="5166359" cy="82296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Excel脳からスプシへの移行促進。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副社長が使うGAS活用を全社に広げる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623560"/>
            <a:ext cx="45720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9632" y="1508760"/>
            <a:ext cx="553212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508760"/>
            <a:ext cx="54864" cy="50292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82512" y="1600200"/>
            <a:ext cx="516635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F2937"/>
                </a:solidFill>
                <a:latin typeface="Noto Sans JP"/>
              </a:rPr>
              <a:t>本部TC・大阪TC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2512" y="2103120"/>
            <a:ext cx="5166359" cy="32004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低リテラシー層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82512" y="25786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19672" y="25603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内容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2512" y="2880360"/>
            <a:ext cx="5166359" cy="22860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業務別Gem量産ワーク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・講師デモ（マニュアル作成Gem）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・各自作成（メール／マニュアル／日報から1つ選んでGem化）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・発表（2-3名）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2880360"/>
            <a:ext cx="45720" cy="2286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82512" y="53218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19672" y="53035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ねらい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2512" y="5623560"/>
            <a:ext cx="5166359" cy="82296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「口頭でOK」の体感。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自分のGemを1個持ち帰る成功体験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5623560"/>
            <a:ext cx="45720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2拠点 × 2時間、2026年7月実施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実施概要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実施形式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14173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オンライン研修（Google Meet）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4173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936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実施拠点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22936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本社（大阪支店オンライン接続）／本部TC（大阪TCオンライン接続）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2936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31699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1拠点あたり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0" y="31699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2時間 × 1回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1699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0462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参加人数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40462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各拠点 15〜20名／最大40名（合計）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40462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49225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実施時期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49225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2026年7月（第1〜2週 or 7/21-31）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49225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57988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講師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57988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大川 龍之介（株式会社エヌイチ）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57988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税込286,000円（税抜260,000円）据え置き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お見積り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1783080"/>
            <a:ext cx="8531352" cy="3840480"/>
          </a:xfrm>
          <a:prstGeom prst="roundRect">
            <a:avLst>
              <a:gd name="adj" fmla="val 3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1783080"/>
            <a:ext cx="91440" cy="38404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03120" y="2057400"/>
            <a:ext cx="80741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B5563"/>
                </a:solidFill>
                <a:latin typeface="Noto Sans JP"/>
              </a:rPr>
              <a:t>売上（税抜）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514600"/>
            <a:ext cx="8074152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4400" b="1">
                <a:solidFill>
                  <a:srgbClr val="1F2937"/>
                </a:solidFill>
                <a:latin typeface="Noto Sans JP"/>
              </a:rPr>
              <a:t>260,000円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3474720"/>
            <a:ext cx="7982712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03120" y="3657600"/>
            <a:ext cx="80741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売上（税込）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4114800"/>
            <a:ext cx="8074152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42A4AF"/>
                </a:solidFill>
                <a:latin typeface="Noto Sans JP"/>
              </a:rPr>
              <a:t>286,000円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852160"/>
            <a:ext cx="11274552" cy="45720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66D37"/>
                </a:solidFill>
                <a:latin typeface="Noto Sans JP"/>
              </a:rPr>
              <a:t>前年同額（据え置き）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52160"/>
            <a:ext cx="4572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5月末から7月実施までの動き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NEXT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5月末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事前アンケート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（Googleフォーム）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実施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6966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1558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1558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21558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8718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5月末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7318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58718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実施日程の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21324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5916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5916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5916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23076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6月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51676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23076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研修資料作成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・準備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85682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0274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0274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0274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87434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7月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6034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87434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研修実施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4800" b="1">
                <a:solidFill>
                  <a:srgbClr val="111827"/>
                </a:solidFill>
                <a:latin typeface="Noto Sans JP"/>
              </a:rPr>
              <a:t>"使える" が、定着する研修へ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840480"/>
            <a:ext cx="3044952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89120"/>
            <a:ext cx="103601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937760"/>
            <a:ext cx="103601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AI（アイ）ある社会に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参考資料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APPENDIX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会社概要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9611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5943600" cy="52120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234439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会社名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234439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株式会社エヌイチ（n1 inc.）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19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設立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645919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2023年11月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05740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代表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05740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奥山 幸生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46888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所在地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46888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東京都渋谷区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036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事業内容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88036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AI導入支援・研修・SaaS開発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9184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従業員数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329184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約20名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5577840" cy="73152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ミッション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「AI（アイ）ある社会に」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840480"/>
            <a:ext cx="45720" cy="731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0" y="105156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1051560"/>
            <a:ext cx="54864" cy="1097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0" y="118871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1554480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業務自動化SaaS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233172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0" y="2331720"/>
            <a:ext cx="54864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0" y="246887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Team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2834639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フルカスタマイズAI研修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3611879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75120" y="3611879"/>
            <a:ext cx="54864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374903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BPO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0" y="4114800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AI業務効率化代行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489204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75120" y="4892040"/>
            <a:ext cx="54864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0" y="5029200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Coach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5394959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AI顧問サービス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導入実績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あらゆる規模の企業様に導入されています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株式会社ブロードリンク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株式会社中西製作所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9904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株式会社ミズカラ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エル・ティー・エス リンク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FRUOR株式会社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株式会社BIRDY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株式会社オンシナジー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キリングループ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59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キリングループ様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AI未経験、活用イメージなし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34539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全員が「業務でAIを使いたい」と回答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満足度 8.5点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34256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71416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28616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株式会社ミズカラ様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3984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問い合わせ対応に月283時間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43984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11596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月85時間へ削減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約200時間＝25営業日分の削減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11312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48472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05672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株式会社BIRDY様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業務の属人化、営業効率の壁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8652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バックオフィス効率化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経営資源を成長領域にシフト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