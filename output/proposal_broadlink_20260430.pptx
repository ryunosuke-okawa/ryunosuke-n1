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" y="0"/>
            <a:ext cx="12051792" cy="594360"/>
          </a:xfrm>
          <a:prstGeom prst="rect">
            <a:avLst/>
          </a:prstGeom>
          <a:solidFill>
            <a:srgbClr val="1E40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09728"/>
            <a:ext cx="45720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FFFFFF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4320" y="731520"/>
            <a:ext cx="11640312" cy="5943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371600" y="1920240"/>
            <a:ext cx="9445752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4800" b="1">
                <a:solidFill>
                  <a:srgbClr val="000000"/>
                </a:solidFill>
                <a:latin typeface="Noto Sans JP"/>
              </a:rPr>
              <a:t>生成AI支援ご提案書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108960"/>
            <a:ext cx="9445752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400" b="0">
                <a:solidFill>
                  <a:srgbClr val="4B5563"/>
                </a:solidFill>
                <a:latin typeface="Noto Sans JP"/>
              </a:rPr>
              <a:t>株式会社ブロードリンク 様向け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27448" y="3794760"/>
            <a:ext cx="2743200" cy="3200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2648" y="5943600"/>
            <a:ext cx="22860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2026年4月30日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0" y="5897880"/>
            <a:ext cx="347472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株式会社エヌイチ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目次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Contents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54864" cy="77724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1520" y="1600200"/>
            <a:ext cx="118872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3200" b="1">
                <a:solidFill>
                  <a:srgbClr val="42A4AF"/>
                </a:solidFill>
                <a:latin typeface="Noto Sans JP"/>
              </a:rPr>
              <a:t>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673352"/>
            <a:ext cx="8229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11827"/>
                </a:solidFill>
                <a:latin typeface="Noto Sans JP"/>
              </a:rPr>
              <a:t>振り返り｜前回商談のご要望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2057400"/>
            <a:ext cx="8229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RECAP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56032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560320"/>
            <a:ext cx="54864" cy="77724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31520" y="2560320"/>
            <a:ext cx="118872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3200" b="1">
                <a:solidFill>
                  <a:srgbClr val="42A4AF"/>
                </a:solidFill>
                <a:latin typeface="Noto Sans JP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2633472"/>
            <a:ext cx="8229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11827"/>
                </a:solidFill>
                <a:latin typeface="Noto Sans JP"/>
              </a:rPr>
              <a:t>現状｜御社のAI活用環境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3017520"/>
            <a:ext cx="8229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CURRENT STATE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52044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520440"/>
            <a:ext cx="54864" cy="77724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520440"/>
            <a:ext cx="118872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3200" b="1">
                <a:solidFill>
                  <a:srgbClr val="42A4AF"/>
                </a:solidFill>
                <a:latin typeface="Noto Sans JP"/>
              </a:rPr>
              <a:t>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3593592"/>
            <a:ext cx="8229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11827"/>
                </a:solidFill>
                <a:latin typeface="Noto Sans JP"/>
              </a:rPr>
              <a:t>課題｜弊社で抽出した3点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3977639"/>
            <a:ext cx="8229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ISSUES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48056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480560"/>
            <a:ext cx="54864" cy="77724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4480560"/>
            <a:ext cx="118872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3200" b="1">
                <a:solidFill>
                  <a:srgbClr val="42A4AF"/>
                </a:solidFill>
                <a:latin typeface="Noto Sans JP"/>
              </a:rPr>
              <a:t>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11680" y="4553712"/>
            <a:ext cx="8229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11827"/>
                </a:solidFill>
                <a:latin typeface="Noto Sans JP"/>
              </a:rPr>
              <a:t>弊社方針｜「使える」へのシフト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4937760"/>
            <a:ext cx="8229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OUR APPROACH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440680"/>
            <a:ext cx="11274552" cy="777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5440680"/>
            <a:ext cx="54864" cy="77724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1520" y="5440680"/>
            <a:ext cx="1188720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3200" b="1">
                <a:solidFill>
                  <a:srgbClr val="42A4AF"/>
                </a:solidFill>
                <a:latin typeface="Noto Sans JP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0" y="5513832"/>
            <a:ext cx="8229600" cy="3840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11827"/>
                </a:solidFill>
                <a:latin typeface="Noto Sans JP"/>
              </a:rPr>
              <a:t>研修内容｜AI実務活用・実戦編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11680" y="5897880"/>
            <a:ext cx="8229600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4B5563"/>
                </a:solidFill>
                <a:latin typeface="Noto Sans JP"/>
              </a:rPr>
              <a:t>PROGRAM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657600" cy="2103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0" b="1">
                <a:solidFill>
                  <a:srgbClr val="E0F2F4"/>
                </a:solidFill>
                <a:latin typeface="Noto Sans JP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560320"/>
            <a:ext cx="73152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111827"/>
                </a:solidFill>
                <a:latin typeface="Noto Sans JP"/>
              </a:rPr>
              <a:t>振り返り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611880"/>
            <a:ext cx="7315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42A4AF"/>
                </a:solidFill>
                <a:latin typeface="Noto Sans JP"/>
              </a:rPr>
              <a:t>RECAP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251960"/>
            <a:ext cx="3657600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山道さまから頂いたリクエスト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振り返り｜4/17商談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188720" y="1417320"/>
            <a:ext cx="10543032" cy="96012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88720" y="1417320"/>
            <a:ext cx="54864" cy="9601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9496" y="165963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63040" y="1417320"/>
            <a:ext cx="1017727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基礎より「実戦」へ — 「こういう使い方ができる」という方向性が伝わればOK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2468880"/>
            <a:ext cx="10543032" cy="96012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" y="2468880"/>
            <a:ext cx="54864" cy="9601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39496" y="271119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63040" y="2468880"/>
            <a:ext cx="1017727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2時間 × 2拠点（本社／本部TC）でオンライン実施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188720" y="3520440"/>
            <a:ext cx="10543032" cy="96012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88720" y="3520440"/>
            <a:ext cx="54864" cy="9601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39496" y="376275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3520440"/>
            <a:ext cx="1017727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ISMS要素は2割マックス（ハルシネーション・情報漏洩を短く）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20" y="4572000"/>
            <a:ext cx="10543032" cy="96012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188720" y="4572000"/>
            <a:ext cx="54864" cy="9601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39496" y="481431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463040" y="4572000"/>
            <a:ext cx="1017727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スプレッドシート活用を重点化したい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88720" y="5623560"/>
            <a:ext cx="10543032" cy="96012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8720" y="5623560"/>
            <a:ext cx="54864" cy="9601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39496" y="586587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463040" y="5623560"/>
            <a:ext cx="10177272" cy="960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金額は前回据え置きを希望（税込30万円ボーダー）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657600" cy="2103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0" b="1">
                <a:solidFill>
                  <a:srgbClr val="E0F2F4"/>
                </a:solidFill>
                <a:latin typeface="Noto Sans JP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560320"/>
            <a:ext cx="73152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111827"/>
                </a:solidFill>
                <a:latin typeface="Noto Sans JP"/>
              </a:rPr>
              <a:t>現状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611880"/>
            <a:ext cx="7315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42A4AF"/>
                </a:solidFill>
                <a:latin typeface="Noto Sans JP"/>
              </a:rPr>
              <a:t>CURRENT 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251960"/>
            <a:ext cx="3657600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8年目のISMS研修と、拠点で割れるAI温度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現状｜事業環境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11274552" cy="12230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4864" cy="122301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1508760"/>
            <a:ext cx="822960" cy="104013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737360" y="1417320"/>
            <a:ext cx="9902952" cy="122301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ISMS年次研修は8年目。「もう飽きちゃってる」（山道さまご発言）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731770"/>
            <a:ext cx="11274552" cy="12230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731770"/>
            <a:ext cx="54864" cy="122301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2823210"/>
            <a:ext cx="822960" cy="104013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37360" y="2731770"/>
            <a:ext cx="9902952" cy="122301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本社・大阪支店：Google Workspace導入済み／Gemini日常使い／副社長はGAS活用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046220"/>
            <a:ext cx="11274552" cy="12230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046220"/>
            <a:ext cx="54864" cy="122301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1520" y="4137660"/>
            <a:ext cx="822960" cy="104013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7360" y="4046220"/>
            <a:ext cx="9902952" cy="122301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本部TC・大阪TC：ほぼAI未使用／業務はキッティング・報告書・マニュアル作成中心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5360670"/>
            <a:ext cx="11274552" cy="122301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5360670"/>
            <a:ext cx="54864" cy="122301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31520" y="5452110"/>
            <a:ext cx="822960" cy="104013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737360" y="5360670"/>
            <a:ext cx="9902952" cy="122301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Google Workspace導入済み。ただし慣れたExcelを使い続ける社員が多く、スプレッドシート活用が浅い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657600" cy="2103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0" b="1">
                <a:solidFill>
                  <a:srgbClr val="E0F2F4"/>
                </a:solidFill>
                <a:latin typeface="Noto Sans JP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560320"/>
            <a:ext cx="73152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111827"/>
                </a:solidFill>
                <a:latin typeface="Noto Sans JP"/>
              </a:rPr>
              <a:t>課題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611880"/>
            <a:ext cx="7315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42A4AF"/>
                </a:solidFill>
                <a:latin typeface="Noto Sans JP"/>
              </a:rPr>
              <a:t>ISSUES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251960"/>
            <a:ext cx="3657600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課題は3つに集約される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課題｜全体俯瞰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520440" cy="4846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54864" cy="4846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78308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25880" y="1783080"/>
            <a:ext cx="2514600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700" b="1">
                <a:solidFill>
                  <a:srgbClr val="1F2937"/>
                </a:solidFill>
                <a:latin typeface="Noto Sans JP"/>
              </a:rPr>
              <a:t>研修のマンネリ化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697480"/>
            <a:ext cx="3154680" cy="356616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8年連続のISMS研修で「やらされ感」が蔓延。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同じ枠の継続では参加者の集中が持続しない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697480"/>
            <a:ext cx="45720" cy="35661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34256" y="1600200"/>
            <a:ext cx="3520440" cy="4846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34256" y="1600200"/>
            <a:ext cx="54864" cy="4846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517136" y="178308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02936" y="1783080"/>
            <a:ext cx="2514600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700" b="1">
                <a:solidFill>
                  <a:srgbClr val="1F2937"/>
                </a:solidFill>
                <a:latin typeface="Noto Sans JP"/>
              </a:rPr>
              <a:t>拠点間温度差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17136" y="2697480"/>
            <a:ext cx="3154680" cy="356616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本社（高リテラシー）／TC（低リテラシー）の二極化。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一律研修では「物足りない／ついていけない」が同時発生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17136" y="2697480"/>
            <a:ext cx="45720" cy="35661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11312" y="1600200"/>
            <a:ext cx="3520440" cy="4846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11312" y="1600200"/>
            <a:ext cx="54864" cy="4846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394192" y="1783080"/>
            <a:ext cx="548640" cy="54864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79992" y="1783080"/>
            <a:ext cx="2514600" cy="594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700" b="1">
                <a:solidFill>
                  <a:srgbClr val="1F2937"/>
                </a:solidFill>
                <a:latin typeface="Noto Sans JP"/>
              </a:rPr>
              <a:t>AIを活かしきれていない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94192" y="2697480"/>
            <a:ext cx="3154680" cy="356616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GWS・Geminiは導入済みだが業務に落ちていない。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AIコンサルは特定部署のみで全社底上げにつながっていない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94192" y="2697480"/>
            <a:ext cx="45720" cy="356616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657600" cy="2103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0" b="1">
                <a:solidFill>
                  <a:srgbClr val="E0F2F4"/>
                </a:solidFill>
                <a:latin typeface="Noto Sans JP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560320"/>
            <a:ext cx="73152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111827"/>
                </a:solidFill>
                <a:latin typeface="Noto Sans JP"/>
              </a:rPr>
              <a:t>弊社方針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611880"/>
            <a:ext cx="7315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42A4AF"/>
                </a:solidFill>
                <a:latin typeface="Noto Sans JP"/>
              </a:rPr>
              <a:t>OUR APPROACH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251960"/>
            <a:ext cx="3657600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「知る」から「使える」への転換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ご要望への回答方針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11274552" cy="1661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4864" cy="16611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85216" y="201015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25880" y="1508760"/>
            <a:ext cx="3931920" cy="147828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42A4AF"/>
                </a:solidFill>
                <a:latin typeface="Noto Sans JP"/>
              </a:rPr>
              <a:t>実戦シフト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25880" y="1508760"/>
            <a:ext cx="45720" cy="14782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0" y="1417320"/>
            <a:ext cx="6153912" cy="1661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座学は最小限。ハンズオン50分を中心に据える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9920"/>
            <a:ext cx="11274552" cy="1661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169920"/>
            <a:ext cx="54864" cy="16611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85216" y="376275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25880" y="3261360"/>
            <a:ext cx="3931920" cy="147828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42A4AF"/>
                </a:solidFill>
                <a:latin typeface="Noto Sans JP"/>
              </a:rPr>
              <a:t>拠点別差替え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25880" y="3261360"/>
            <a:ext cx="45720" cy="14782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0" y="3169920"/>
            <a:ext cx="6153912" cy="1661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本社（スプシ×Gemini×GAS）／TC（業務別Gem量産）で温度差を吸収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922520"/>
            <a:ext cx="11274552" cy="1661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922520"/>
            <a:ext cx="54864" cy="16611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585216" y="5515356"/>
            <a:ext cx="475488" cy="475488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25880" y="5013960"/>
            <a:ext cx="3931920" cy="147828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42A4AF"/>
                </a:solidFill>
                <a:latin typeface="Noto Sans JP"/>
              </a:rPr>
              <a:t>ISMSは"濃く・短く"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325880" y="5013960"/>
            <a:ext cx="45720" cy="14782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0" y="4922520"/>
            <a:ext cx="6153912" cy="16611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セキュリティ要素は事例ベースで凝縮し、研修全体の20%以内に収める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645920"/>
            <a:ext cx="3657600" cy="21031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0" b="1">
                <a:solidFill>
                  <a:srgbClr val="E0F2F4"/>
                </a:solidFill>
                <a:latin typeface="Noto Sans JP"/>
              </a:rP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2560320"/>
            <a:ext cx="73152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111827"/>
                </a:solidFill>
                <a:latin typeface="Noto Sans JP"/>
              </a:rPr>
              <a:t>研修内容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611880"/>
            <a:ext cx="7315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42A4AF"/>
                </a:solidFill>
                <a:latin typeface="Noto Sans JP"/>
              </a:rPr>
              <a:t>PROGRAM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120" y="4251960"/>
            <a:ext cx="3657600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体験で腹落ちさせる、実戦研修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研修コンセプト｜AI実務活用・実戦編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11274552" cy="109728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800" b="1">
                <a:solidFill>
                  <a:srgbClr val="111827"/>
                </a:solidFill>
                <a:latin typeface="Noto Sans JP"/>
              </a:rPr>
              <a:t>去年は「知る」／今年は「使える」になる研修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45720" cy="10972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2926080"/>
            <a:ext cx="11274552" cy="8686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926080"/>
            <a:ext cx="54864" cy="8686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645920" cy="685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42A4AF"/>
                </a:solidFill>
                <a:latin typeface="Noto Sans JP"/>
              </a:rPr>
              <a:t>ゲーム性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0" y="2926080"/>
            <a:ext cx="9171432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研修にゲーム性を取り入れ、参加者が能動的に手と頭を動かす設計にする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886200"/>
            <a:ext cx="11274552" cy="8686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86200"/>
            <a:ext cx="54864" cy="8686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3977639"/>
            <a:ext cx="1645920" cy="685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42A4AF"/>
                </a:solidFill>
                <a:latin typeface="Noto Sans JP"/>
              </a:rPr>
              <a:t>体感→腹落ち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68880" y="3886200"/>
            <a:ext cx="9171432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座学ではなく"体感"を起点にすることで、概念がそのまま身体に染み込む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846320"/>
            <a:ext cx="11274552" cy="8686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4846320"/>
            <a:ext cx="54864" cy="8686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4937760"/>
            <a:ext cx="1645920" cy="685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42A4AF"/>
                </a:solidFill>
                <a:latin typeface="Noto Sans JP"/>
              </a:rPr>
              <a:t>実戦性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468880" y="4846320"/>
            <a:ext cx="9171432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ハンズオン50分で、研修終了後すぐに業務で使える状態まで持っていく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5806440"/>
            <a:ext cx="11274552" cy="8686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5806440"/>
            <a:ext cx="54864" cy="8686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" y="5897880"/>
            <a:ext cx="1645920" cy="68580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42A4AF"/>
                </a:solidFill>
                <a:latin typeface="Noto Sans JP"/>
              </a:rPr>
              <a:t>飽きさせない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468880" y="5806440"/>
            <a:ext cx="9171432" cy="8686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8年目のISMS研修だからこそ、毎回違う"驚き"を仕込んだ構成にする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2時間で5章を駆け抜ける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アジェンダ｜全体タイムライン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1828800" cy="411480"/>
          </a:xfrm>
          <a:prstGeom prst="roundRect">
            <a:avLst>
              <a:gd name="adj" fmla="val 2000"/>
            </a:avLst>
          </a:prstGeom>
          <a:solidFill>
            <a:srgbClr val="1E40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</a:rPr>
              <a:t>時間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377440" y="1508760"/>
            <a:ext cx="1188720" cy="411480"/>
          </a:xfrm>
          <a:prstGeom prst="roundRect">
            <a:avLst>
              <a:gd name="adj" fmla="val 2000"/>
            </a:avLst>
          </a:prstGeom>
          <a:solidFill>
            <a:srgbClr val="1E40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</a:rPr>
              <a:t>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0" y="1508760"/>
            <a:ext cx="6858000" cy="411480"/>
          </a:xfrm>
          <a:prstGeom prst="roundRect">
            <a:avLst>
              <a:gd name="adj" fmla="val 2000"/>
            </a:avLst>
          </a:prstGeom>
          <a:solidFill>
            <a:srgbClr val="1E40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</a:rPr>
              <a:t>内容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607040" y="1508760"/>
            <a:ext cx="1124712" cy="411480"/>
          </a:xfrm>
          <a:prstGeom prst="roundRect">
            <a:avLst>
              <a:gd name="adj" fmla="val 2000"/>
            </a:avLst>
          </a:prstGeom>
          <a:solidFill>
            <a:srgbClr val="1E40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Noto Sans JP"/>
              </a:rPr>
              <a:t>時間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11680"/>
            <a:ext cx="1828800" cy="71323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0:00 - 0:05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377440" y="2011680"/>
            <a:ext cx="1188720" cy="71323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第1章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2011680"/>
            <a:ext cx="6858000" cy="71323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導入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607040" y="2011680"/>
            <a:ext cx="1124712" cy="71323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5分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770632"/>
            <a:ext cx="182880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0:05 - 0:20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7440" y="2770632"/>
            <a:ext cx="118872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第2章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657600" y="2770632"/>
            <a:ext cx="685800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AI基礎＋セキュリティ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607040" y="2770632"/>
            <a:ext cx="1124712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15分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529584"/>
            <a:ext cx="1828800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0:20 - 0:50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377440" y="3529584"/>
            <a:ext cx="1188720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第3章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0" y="3529584"/>
            <a:ext cx="6858000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ゲーム → 伏線回収 → プロンプト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07040" y="3529584"/>
            <a:ext cx="1124712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30分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88536"/>
            <a:ext cx="182880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0:50 - 1:00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77440" y="4288536"/>
            <a:ext cx="118872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—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57600" y="4288536"/>
            <a:ext cx="685800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☕ 休憩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607040" y="4288536"/>
            <a:ext cx="1124712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10分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047488"/>
            <a:ext cx="1828800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1:00 - 1:50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377440" y="5047488"/>
            <a:ext cx="1188720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第4章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57600" y="5047488"/>
            <a:ext cx="6858000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ハンズオン実践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607040" y="5047488"/>
            <a:ext cx="1124712" cy="713232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50分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5806440"/>
            <a:ext cx="182880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1:50 - 2:00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377440" y="5806440"/>
            <a:ext cx="118872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第5章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657600" y="5806440"/>
            <a:ext cx="6858000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まとめ＋質疑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607040" y="5806440"/>
            <a:ext cx="1124712" cy="7132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1F2937"/>
                </a:solidFill>
                <a:latin typeface="Noto Sans JP"/>
              </a:rPr>
              <a:t>10分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前半｜AIを"体で"腹落ちさせる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第1〜3章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11274552" cy="1661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4864" cy="16611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1508760"/>
            <a:ext cx="4114800" cy="457200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1F2937"/>
                </a:solidFill>
                <a:latin typeface="Noto Sans JP"/>
              </a:rPr>
              <a:t>第1章 導入（5分）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508760"/>
            <a:ext cx="4572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011680"/>
            <a:ext cx="10908792" cy="975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・講師紹介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・この1年のAI進化（GPT-5・Gemini 3・推論モデル・エージェント化）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・ゴール3本柱（理解する／任せる／実践する）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215640"/>
            <a:ext cx="11274552" cy="1661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15640"/>
            <a:ext cx="54864" cy="16611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307080"/>
            <a:ext cx="4114800" cy="457200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1F2937"/>
                </a:solidFill>
                <a:latin typeface="Noto Sans JP"/>
              </a:rPr>
              <a:t>第2章 AI基礎＋セキュリティ（15分）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307080"/>
            <a:ext cx="4572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810000"/>
            <a:ext cx="10908792" cy="975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・LLMの仕組み（予測変換の超強力版）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・ハルシネーションと企業実例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・セキュリティ × ISMS（入力禁止情報・GWS版Geminiの安全性）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5013960"/>
            <a:ext cx="11274552" cy="16611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013960"/>
            <a:ext cx="54864" cy="16611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5105400"/>
            <a:ext cx="4114800" cy="457200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1F2937"/>
                </a:solidFill>
                <a:latin typeface="Noto Sans JP"/>
              </a:rPr>
              <a:t>第3章 ゲーム→伏線回収→プロンプト（30分）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105400"/>
            <a:ext cx="4572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608320"/>
            <a:ext cx="10908792" cy="9753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・ラッキーパズル20分（2人1組・言葉だけで形を伝える）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・伏線回収「実はこれがコンテキストエンジ」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・プロンプトの考え方（役割・目的・対象・制約）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後半｜手を動かして"使える"に変える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第4〜5章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11274552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417320"/>
            <a:ext cx="54864" cy="25603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40080" y="1508760"/>
            <a:ext cx="4114800" cy="457200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1F2937"/>
                </a:solidFill>
                <a:latin typeface="Noto Sans JP"/>
              </a:rPr>
              <a:t>第4章 ハンズオン実践（50分）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1508760"/>
            <a:ext cx="4572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011680"/>
            <a:ext cx="10908792" cy="18745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① Gemini基本＋Google Workspace連携（10分）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② Gems基礎：自分専用の"部下"を作る（15分）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③ 拠点別実践（25分／本社・TCで内容を差替え）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14800"/>
            <a:ext cx="11274552" cy="2560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54864" cy="25603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4206240"/>
            <a:ext cx="4114800" cy="457200"/>
          </a:xfrm>
          <a:prstGeom prst="roundRect">
            <a:avLst>
              <a:gd name="adj" fmla="val 2000"/>
            </a:avLst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1F2937"/>
                </a:solidFill>
                <a:latin typeface="Noto Sans JP"/>
              </a:rPr>
              <a:t>第5章 まとめ＋質疑（10分）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4206240"/>
            <a:ext cx="45720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709160"/>
            <a:ext cx="10908792" cy="1874519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・5トピック（セキュリティ／AI基礎／プロンプト・コンテキスト／Gemini／GWS）を1枚で振り返り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・質疑応答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本社とTCで、中身を差し替える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第4章｜拠点別実践（25分）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53212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08760"/>
            <a:ext cx="54864" cy="50292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1600200"/>
            <a:ext cx="5166359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F2937"/>
                </a:solidFill>
                <a:latin typeface="Noto Sans JP"/>
              </a:rPr>
              <a:t>本社・大阪支店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103120"/>
            <a:ext cx="5166359" cy="32004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高リテラシー層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578608"/>
            <a:ext cx="45720" cy="23774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2560320"/>
            <a:ext cx="502919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11827"/>
                </a:solidFill>
                <a:latin typeface="Noto Sans JP"/>
              </a:rPr>
              <a:t>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880360"/>
            <a:ext cx="5166359" cy="228600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スプレッドシート × Gemini × GAS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・関数をAIに作らせる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・汚いデータをAIで整形する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・GAS紹介（Gmail自動送信／シート連動）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2880360"/>
            <a:ext cx="45720" cy="2286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321808"/>
            <a:ext cx="45720" cy="23774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5303520"/>
            <a:ext cx="502919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11827"/>
                </a:solidFill>
                <a:latin typeface="Noto Sans JP"/>
              </a:rPr>
              <a:t>ねらい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623560"/>
            <a:ext cx="5166359" cy="82296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Excel脳からスプシへの移行促進。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副社長が使うGAS活用を全社に広げる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623560"/>
            <a:ext cx="45720" cy="8229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99632" y="1508760"/>
            <a:ext cx="5532120" cy="5029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9632" y="1508760"/>
            <a:ext cx="54864" cy="50292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82512" y="1600200"/>
            <a:ext cx="5166359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F2937"/>
                </a:solidFill>
                <a:latin typeface="Noto Sans JP"/>
              </a:rPr>
              <a:t>本部TC・大阪TC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82512" y="2103120"/>
            <a:ext cx="5166359" cy="32004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低リテラシー層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82512" y="2578608"/>
            <a:ext cx="45720" cy="23774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19672" y="2560320"/>
            <a:ext cx="502919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11827"/>
                </a:solidFill>
                <a:latin typeface="Noto Sans JP"/>
              </a:rPr>
              <a:t>内容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82512" y="2880360"/>
            <a:ext cx="5166359" cy="228600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業務別Gem量産ワーク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/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・講師デモ（マニュアル作成Gem）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・各自作成（メール／マニュアル／日報から1つ選んでGem化）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・発表（2-3名）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382512" y="2880360"/>
            <a:ext cx="45720" cy="2286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382512" y="5321808"/>
            <a:ext cx="45720" cy="23774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19672" y="5303520"/>
            <a:ext cx="5029199" cy="2743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11827"/>
                </a:solidFill>
                <a:latin typeface="Noto Sans JP"/>
              </a:rPr>
              <a:t>ねらい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2512" y="5623560"/>
            <a:ext cx="5166359" cy="82296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「口頭でOK」の体感。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1F2937"/>
                </a:solidFill>
                <a:latin typeface="Noto Sans JP"/>
              </a:rPr>
              <a:t>自分のGemを1個持ち帰る成功体験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82512" y="5623560"/>
            <a:ext cx="45720" cy="8229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2拠点 × 2時間、2026年7月実施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実施概要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17320"/>
            <a:ext cx="2560320" cy="78486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実施形式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108960" y="1417320"/>
            <a:ext cx="8622792" cy="7848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オンライン研修（Google Meet）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1417320"/>
            <a:ext cx="45720" cy="784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293620"/>
            <a:ext cx="2560320" cy="78486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実施拠点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108960" y="2293620"/>
            <a:ext cx="8622792" cy="7848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本社（大阪支店オンライン接続）／本部TC（大阪TCオンライン接続）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08960" y="2293620"/>
            <a:ext cx="45720" cy="784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7200" y="3169920"/>
            <a:ext cx="2560320" cy="78486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1拠点あたり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08960" y="3169920"/>
            <a:ext cx="8622792" cy="7848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2時間 × 1回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08960" y="3169920"/>
            <a:ext cx="45720" cy="784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" y="4046220"/>
            <a:ext cx="2560320" cy="78486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参加人数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108960" y="4046220"/>
            <a:ext cx="8622792" cy="7848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各拠点 15〜20名／最大40名（合計）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08960" y="4046220"/>
            <a:ext cx="45720" cy="784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" y="4922520"/>
            <a:ext cx="2560320" cy="78486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実施時期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08960" y="4922520"/>
            <a:ext cx="8622792" cy="7848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2026年7月（第1〜2週 or 7/21-31）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08960" y="4922520"/>
            <a:ext cx="45720" cy="784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5798820"/>
            <a:ext cx="2560320" cy="784860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2A4AF"/>
                </a:solidFill>
                <a:latin typeface="Noto Sans JP"/>
              </a:rPr>
              <a:t>講師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108960" y="5798820"/>
            <a:ext cx="8622792" cy="784860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1F2937"/>
                </a:solidFill>
                <a:latin typeface="Noto Sans JP"/>
              </a:rPr>
              <a:t>大川 龍之介（株式会社エヌイチ）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108960" y="5798820"/>
            <a:ext cx="45720" cy="784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税込286,000円（税抜260,000円）据え置き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お見積り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28800" y="1783080"/>
            <a:ext cx="8531352" cy="3840480"/>
          </a:xfrm>
          <a:prstGeom prst="roundRect">
            <a:avLst>
              <a:gd name="adj" fmla="val 3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28800" y="1783080"/>
            <a:ext cx="91440" cy="38404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103120" y="2057400"/>
            <a:ext cx="8074152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4B5563"/>
                </a:solidFill>
                <a:latin typeface="Noto Sans JP"/>
              </a:rPr>
              <a:t>売上（税抜）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03120" y="2514600"/>
            <a:ext cx="8074152" cy="7772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4400" b="1">
                <a:solidFill>
                  <a:srgbClr val="1F2937"/>
                </a:solidFill>
                <a:latin typeface="Noto Sans JP"/>
              </a:rPr>
              <a:t>260,000円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3474720"/>
            <a:ext cx="7982712" cy="2286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103120" y="3657600"/>
            <a:ext cx="8074152" cy="4114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600" b="1">
                <a:solidFill>
                  <a:srgbClr val="42A4AF"/>
                </a:solidFill>
                <a:latin typeface="Noto Sans JP"/>
              </a:rPr>
              <a:t>売上（税込）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03120" y="4114800"/>
            <a:ext cx="8074152" cy="10058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42A4AF"/>
                </a:solidFill>
                <a:latin typeface="Noto Sans JP"/>
              </a:rPr>
              <a:t>286,000円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852160"/>
            <a:ext cx="11274552" cy="45720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166D37"/>
                </a:solidFill>
                <a:latin typeface="Noto Sans JP"/>
              </a:rPr>
              <a:t>前年同額（据え置き）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852160"/>
            <a:ext cx="45720" cy="457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5月末から7月実施までの動き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NEXT STEP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691640"/>
            <a:ext cx="2681478" cy="502920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oto Sans JP"/>
              </a:rPr>
              <a:t>STEP 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86000"/>
            <a:ext cx="2681478" cy="4160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286000"/>
            <a:ext cx="54864" cy="41605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2468880"/>
            <a:ext cx="2407158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400" b="1">
                <a:solidFill>
                  <a:srgbClr val="42A4AF"/>
                </a:solidFill>
                <a:latin typeface="Noto Sans JP"/>
              </a:rPr>
              <a:t>5月末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200400"/>
            <a:ext cx="1949958" cy="2286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383280"/>
            <a:ext cx="2407158" cy="2286000"/>
          </a:xfrm>
          <a:prstGeom prst="roundRect">
            <a:avLst>
              <a:gd name="adj" fmla="val 200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事前アンケート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（Googleフォーム）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実施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56966" y="3977639"/>
            <a:ext cx="16459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21558" y="1691640"/>
            <a:ext cx="2681478" cy="502920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oto Sans JP"/>
              </a:rPr>
              <a:t>STEP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21558" y="2286000"/>
            <a:ext cx="2681478" cy="4160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21558" y="2286000"/>
            <a:ext cx="54864" cy="41605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58718" y="2468880"/>
            <a:ext cx="2407158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400" b="1">
                <a:solidFill>
                  <a:srgbClr val="42A4AF"/>
                </a:solidFill>
                <a:latin typeface="Noto Sans JP"/>
              </a:rPr>
              <a:t>5月末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87318" y="3200400"/>
            <a:ext cx="1949958" cy="2286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58718" y="3383280"/>
            <a:ext cx="2407158" cy="2286000"/>
          </a:xfrm>
          <a:prstGeom prst="roundRect">
            <a:avLst>
              <a:gd name="adj" fmla="val 200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実施日程の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確定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21324" y="3977639"/>
            <a:ext cx="16459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85916" y="1691640"/>
            <a:ext cx="2681478" cy="502920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oto Sans JP"/>
              </a:rPr>
              <a:t>STEP 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85916" y="2286000"/>
            <a:ext cx="2681478" cy="4160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85916" y="2286000"/>
            <a:ext cx="54864" cy="41605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23076" y="2468880"/>
            <a:ext cx="2407158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400" b="1">
                <a:solidFill>
                  <a:srgbClr val="42A4AF"/>
                </a:solidFill>
                <a:latin typeface="Noto Sans JP"/>
              </a:rPr>
              <a:t>6月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51676" y="3200400"/>
            <a:ext cx="1949958" cy="2286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23076" y="3383280"/>
            <a:ext cx="2407158" cy="2286000"/>
          </a:xfrm>
          <a:prstGeom prst="roundRect">
            <a:avLst>
              <a:gd name="adj" fmla="val 200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研修資料作成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・準備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885682" y="3977639"/>
            <a:ext cx="16459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42A4AF"/>
                </a:solidFill>
                <a:latin typeface="Noto Sans JP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50274" y="1691640"/>
            <a:ext cx="2681478" cy="502920"/>
          </a:xfrm>
          <a:prstGeom prst="roundRect">
            <a:avLst>
              <a:gd name="adj" fmla="val 2000"/>
            </a:avLst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FFFFFF"/>
                </a:solidFill>
                <a:latin typeface="Noto Sans JP"/>
              </a:rPr>
              <a:t>STEP 4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0274" y="2286000"/>
            <a:ext cx="2681478" cy="4160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050274" y="2286000"/>
            <a:ext cx="54864" cy="41605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187434" y="2468880"/>
            <a:ext cx="2407158" cy="64008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400" b="1">
                <a:solidFill>
                  <a:srgbClr val="42A4AF"/>
                </a:solidFill>
                <a:latin typeface="Noto Sans JP"/>
              </a:rPr>
              <a:t>7月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416034" y="3200400"/>
            <a:ext cx="1949958" cy="22860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187434" y="3383280"/>
            <a:ext cx="2407158" cy="2286000"/>
          </a:xfrm>
          <a:prstGeom prst="roundRect">
            <a:avLst>
              <a:gd name="adj" fmla="val 200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研修実施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286000"/>
            <a:ext cx="10360152" cy="13716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4800" b="1">
                <a:solidFill>
                  <a:srgbClr val="111827"/>
                </a:solidFill>
                <a:latin typeface="Noto Sans JP"/>
              </a:rPr>
              <a:t>"使える" が、定着する研修へ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0" y="3840480"/>
            <a:ext cx="3044952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4389120"/>
            <a:ext cx="10360152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2200" b="1">
                <a:solidFill>
                  <a:srgbClr val="1F2937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4937760"/>
            <a:ext cx="1036015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42A4AF"/>
                </a:solidFill>
                <a:latin typeface="Noto Sans JP"/>
              </a:rPr>
              <a:t>AI（アイ）ある社会に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6" name="Rectangle 5"/>
          <p:cNvSpPr/>
          <p:nvPr/>
        </p:nvSpPr>
        <p:spPr>
          <a:xfrm>
            <a:off x="4389120" y="2560320"/>
            <a:ext cx="7315200" cy="9144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5600" b="1">
                <a:solidFill>
                  <a:srgbClr val="111827"/>
                </a:solidFill>
                <a:latin typeface="Noto Sans JP"/>
              </a:rPr>
              <a:t>参考資料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3611880"/>
            <a:ext cx="7315200" cy="4572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800" b="1">
                <a:solidFill>
                  <a:srgbClr val="42A4AF"/>
                </a:solidFill>
                <a:latin typeface="Noto Sans JP"/>
              </a:rPr>
              <a:t>APPENDIX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4251960"/>
            <a:ext cx="3657600" cy="457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会社概要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9611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051560"/>
            <a:ext cx="5943600" cy="52120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1234439"/>
            <a:ext cx="146304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会社名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234439"/>
            <a:ext cx="40233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株式会社エヌイチ（n1 inc.）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1645919"/>
            <a:ext cx="146304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設立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94560" y="1645919"/>
            <a:ext cx="40233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2023年11月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057400"/>
            <a:ext cx="146304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代表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94560" y="2057400"/>
            <a:ext cx="40233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奥山 幸生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2468880"/>
            <a:ext cx="146304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所在地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2468880"/>
            <a:ext cx="40233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東京都新宿区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880360"/>
            <a:ext cx="146304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事業内容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94560" y="2880360"/>
            <a:ext cx="40233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AI導入支援・研修・SaaS開発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91840"/>
            <a:ext cx="1463040" cy="292608"/>
          </a:xfrm>
          <a:prstGeom prst="roundRect">
            <a:avLst>
              <a:gd name="adj" fmla="val 2000"/>
            </a:avLst>
          </a:prstGeom>
          <a:solidFill>
            <a:srgbClr val="E0F2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100" b="1">
                <a:solidFill>
                  <a:srgbClr val="42A4AF"/>
                </a:solidFill>
                <a:latin typeface="Noto Sans JP"/>
              </a:rPr>
              <a:t>従業員数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94560" y="3291840"/>
            <a:ext cx="4023360" cy="29260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1F2937"/>
                </a:solidFill>
                <a:latin typeface="Noto Sans JP"/>
              </a:rPr>
              <a:t>約150名（業務委託・インターン生含む）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840480"/>
            <a:ext cx="5577840" cy="731520"/>
          </a:xfrm>
          <a:prstGeom prst="roundRect">
            <a:avLst>
              <a:gd name="adj" fmla="val 2000"/>
            </a:avLst>
          </a:prstGeom>
          <a:solidFill>
            <a:srgbClr val="EAF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ミッション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「AI（アイ）ある社会に」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840480"/>
            <a:ext cx="45720" cy="73152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0" y="1051560"/>
            <a:ext cx="5056632" cy="10972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75120" y="1051560"/>
            <a:ext cx="54864" cy="109728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0" y="1188719"/>
            <a:ext cx="4690872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Kawaru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858000" y="1554480"/>
            <a:ext cx="469087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業務自動化SaaS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0" y="2331720"/>
            <a:ext cx="5056632" cy="10972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675120" y="2331720"/>
            <a:ext cx="54864" cy="10972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858000" y="2468879"/>
            <a:ext cx="4690872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Kawaru Team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858000" y="2834639"/>
            <a:ext cx="469087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フルカスタマイズAI研修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0" y="3611879"/>
            <a:ext cx="5056632" cy="10972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675120" y="3611879"/>
            <a:ext cx="54864" cy="109728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858000" y="3749039"/>
            <a:ext cx="4690872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Kawaru BPO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58000" y="4114800"/>
            <a:ext cx="469087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AI業務効率化代行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0" y="4892040"/>
            <a:ext cx="5056632" cy="109728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675120" y="4892040"/>
            <a:ext cx="54864" cy="109728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858000" y="5029200"/>
            <a:ext cx="4690872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500" b="1">
                <a:solidFill>
                  <a:srgbClr val="1F2937"/>
                </a:solidFill>
                <a:latin typeface="Noto Sans JP"/>
              </a:rPr>
              <a:t>Kawaru Coach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858000" y="5394959"/>
            <a:ext cx="4690872" cy="36576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0">
                <a:solidFill>
                  <a:srgbClr val="4B5563"/>
                </a:solidFill>
                <a:latin typeface="Noto Sans JP"/>
              </a:rPr>
              <a:t>AI顧問サービス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320040"/>
            <a:ext cx="7772400" cy="50292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2700" b="1">
                <a:solidFill>
                  <a:srgbClr val="111827"/>
                </a:solidFill>
                <a:latin typeface="Noto Sans JP"/>
              </a:rPr>
              <a:t>導入実績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411480"/>
            <a:ext cx="237744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r">
              <a:spcBef>
                <a:spcPts val="100"/>
              </a:spcBef>
              <a:spcAft>
                <a:spcPts val="100"/>
              </a:spcAft>
            </a:pPr>
            <a:r>
              <a:rPr sz="1300" b="1">
                <a:solidFill>
                  <a:srgbClr val="4B5563"/>
                </a:solidFill>
                <a:latin typeface="Noto Sans JP"/>
              </a:rPr>
              <a:t>株式会社エヌイチ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868680"/>
            <a:ext cx="91440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300" b="0">
                <a:solidFill>
                  <a:srgbClr val="4B5563"/>
                </a:solidFill>
                <a:latin typeface="Noto Sans JP"/>
              </a:rPr>
              <a:t>あらゆる規模の企業様に導入されています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261872"/>
            <a:ext cx="11274552" cy="22860"/>
          </a:xfrm>
          <a:prstGeom prst="rect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株式会社ブロードリンク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3552" y="1463040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株式会社中西製作所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89904" y="1463040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株式会社ミズカラ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06256" y="1463040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エル・ティー・エス リンク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856232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FRUOR株式会社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73552" y="1856232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株式会社BIRDY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9904" y="1856232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株式会社オンシナジー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06256" y="1856232"/>
            <a:ext cx="2606040" cy="301752"/>
          </a:xfrm>
          <a:prstGeom prst="roundRect">
            <a:avLst>
              <a:gd name="adj" fmla="val 2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000" b="0">
                <a:solidFill>
                  <a:srgbClr val="4B5563"/>
                </a:solidFill>
                <a:latin typeface="Noto Sans JP"/>
              </a:rPr>
              <a:t>キリングループ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240280"/>
            <a:ext cx="3520440" cy="420624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94359" y="2331720"/>
            <a:ext cx="365760" cy="365760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2350008"/>
            <a:ext cx="2743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キリングループ様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2788920"/>
            <a:ext cx="3300984" cy="77724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課題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AI未経験、活用イメージなし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788920"/>
            <a:ext cx="45720" cy="777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034539" y="3611880"/>
            <a:ext cx="3657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42A4AF"/>
                </a:solidFill>
                <a:latin typeface="Noto Sans JP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3931920"/>
            <a:ext cx="3300984" cy="146304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成果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全員が「業務でAIを使いたい」と回答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満足度 8.5点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931920"/>
            <a:ext cx="45720" cy="14630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34256" y="2240280"/>
            <a:ext cx="3520440" cy="420624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471416" y="2331720"/>
            <a:ext cx="365760" cy="365760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28616" y="2350008"/>
            <a:ext cx="2743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株式会社ミズカラ様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43984" y="2788920"/>
            <a:ext cx="3300984" cy="77724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課題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問い合わせ対応に月283時間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43984" y="2788920"/>
            <a:ext cx="45720" cy="777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11596" y="3611880"/>
            <a:ext cx="3657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42A4AF"/>
                </a:solidFill>
                <a:latin typeface="Noto Sans JP"/>
              </a:rPr>
              <a:t>▼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43984" y="3931920"/>
            <a:ext cx="3300984" cy="146304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成果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月85時間へ削減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約200時間＝25営業日分の削減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443984" y="3931920"/>
            <a:ext cx="45720" cy="14630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211312" y="2240280"/>
            <a:ext cx="3520440" cy="4206240"/>
          </a:xfrm>
          <a:prstGeom prst="roundRect">
            <a:avLst>
              <a:gd name="adj" fmla="val 3000"/>
            </a:avLst>
          </a:prstGeom>
          <a:solidFill>
            <a:srgbClr val="F9FA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348472" y="2331720"/>
            <a:ext cx="365760" cy="365760"/>
          </a:xfrm>
          <a:prstGeom prst="ellipse">
            <a:avLst/>
          </a:prstGeom>
          <a:solidFill>
            <a:srgbClr val="42A4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800" b="1">
                <a:solidFill>
                  <a:srgbClr val="FFFFFF"/>
                </a:solidFill>
                <a:latin typeface="Noto Sans JP"/>
              </a:rPr>
              <a:t>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05672" y="2350008"/>
            <a:ext cx="2743200" cy="32004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400" b="1">
                <a:solidFill>
                  <a:srgbClr val="1F2937"/>
                </a:solidFill>
                <a:latin typeface="Noto Sans JP"/>
              </a:rPr>
              <a:t>株式会社BIRDY様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21040" y="2788920"/>
            <a:ext cx="3300984" cy="777240"/>
          </a:xfrm>
          <a:prstGeom prst="roundRect">
            <a:avLst>
              <a:gd name="adj" fmla="val 2000"/>
            </a:avLst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課題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100" b="0">
                <a:solidFill>
                  <a:srgbClr val="1F2937"/>
                </a:solidFill>
                <a:latin typeface="Noto Sans JP"/>
              </a:rPr>
              <a:t>業務の属人化、営業効率の壁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21040" y="2788920"/>
            <a:ext cx="45720" cy="77724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88652" y="3611880"/>
            <a:ext cx="365760" cy="256032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73152" tIns="54864" bIns="54864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1400" b="0">
                <a:solidFill>
                  <a:srgbClr val="42A4AF"/>
                </a:solidFill>
                <a:latin typeface="Noto Sans JP"/>
              </a:rPr>
              <a:t>▼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21040" y="3931920"/>
            <a:ext cx="3300984" cy="1463040"/>
          </a:xfrm>
          <a:prstGeom prst="roundRect">
            <a:avLst>
              <a:gd name="adj" fmla="val 2000"/>
            </a:avLst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73152" tIns="54864" bIns="54864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成果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バックオフィス効率化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200" b="1">
                <a:solidFill>
                  <a:srgbClr val="1F2937"/>
                </a:solidFill>
                <a:latin typeface="Noto Sans JP"/>
              </a:rPr>
              <a:t>経営資源を成長領域にシフト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1040" y="3931920"/>
            <a:ext cx="45720" cy="146304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