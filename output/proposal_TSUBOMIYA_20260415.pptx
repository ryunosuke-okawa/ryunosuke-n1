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0"/>
            <a:ext cx="12051792" cy="594360"/>
          </a:xfrm>
          <a:prstGeom prst="rect">
            <a:avLst/>
          </a:prstGeom>
          <a:solidFill>
            <a:srgbClr val="1E40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9728"/>
            <a:ext cx="4572000" cy="3840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FFFFFF"/>
                </a:solidFill>
                <a:latin typeface="Noto Sans JP"/>
              </a:rPr>
              <a:t>株式会社エヌイチ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1920240"/>
            <a:ext cx="9445752" cy="10058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4800" b="1">
                <a:solidFill>
                  <a:srgbClr val="000000"/>
                </a:solidFill>
                <a:latin typeface="Noto Sans JP"/>
              </a:rPr>
              <a:t>生成AI支援ご提案書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3108960"/>
            <a:ext cx="9445752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2400" b="0">
                <a:solidFill>
                  <a:srgbClr val="4B5563"/>
                </a:solidFill>
                <a:latin typeface="Noto Sans JP"/>
              </a:rPr>
              <a:t>株式会社TSUBOMIYA 様向け</a:t>
            </a:r>
          </a:p>
        </p:txBody>
      </p:sp>
      <p:sp>
        <p:nvSpPr>
          <p:cNvPr id="8" name="Rectangle 7"/>
          <p:cNvSpPr/>
          <p:nvPr/>
        </p:nvSpPr>
        <p:spPr>
          <a:xfrm>
            <a:off x="4727448" y="3794760"/>
            <a:ext cx="2743200" cy="32004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2648" y="5943600"/>
            <a:ext cx="22860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4B5563"/>
                </a:solidFill>
                <a:latin typeface="Noto Sans JP"/>
              </a:rPr>
              <a:t>2026年4月15日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5897880"/>
            <a:ext cx="347472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r">
              <a:spcBef>
                <a:spcPts val="100"/>
              </a:spcBef>
              <a:spcAft>
                <a:spcPts val="100"/>
              </a:spcAft>
            </a:pPr>
            <a:r>
              <a:rPr sz="1500" b="1">
                <a:solidFill>
                  <a:srgbClr val="1F2937"/>
                </a:solidFill>
                <a:latin typeface="Noto Sans JP"/>
              </a:rPr>
              <a:t>株式会社エヌイチ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320040"/>
            <a:ext cx="7772400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700" b="1">
                <a:solidFill>
                  <a:srgbClr val="111827"/>
                </a:solidFill>
                <a:latin typeface="Noto Sans JP"/>
              </a:rPr>
              <a:t>目次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0" y="411480"/>
            <a:ext cx="237744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r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4B5563"/>
                </a:solidFill>
                <a:latin typeface="Noto Sans JP"/>
              </a:rPr>
              <a:t>株式会社エヌイチ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896112"/>
            <a:ext cx="11274552" cy="2286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188719"/>
            <a:ext cx="11274552" cy="822960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188719"/>
            <a:ext cx="54864" cy="82296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" y="1280160"/>
            <a:ext cx="594360" cy="320040"/>
          </a:xfrm>
          <a:prstGeom prst="roundRect">
            <a:avLst>
              <a:gd name="adj" fmla="val 2000"/>
            </a:avLst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800" b="1">
                <a:solidFill>
                  <a:srgbClr val="FFFFFF"/>
                </a:solidFill>
                <a:latin typeface="Noto Sans JP"/>
              </a:rPr>
              <a:t>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63040" y="1280160"/>
            <a:ext cx="36576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800" b="1">
                <a:solidFill>
                  <a:srgbClr val="111827"/>
                </a:solidFill>
                <a:latin typeface="Noto Sans JP"/>
              </a:rPr>
              <a:t>お打合せ振り返り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63040" y="1645919"/>
            <a:ext cx="91440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B5563"/>
                </a:solidFill>
                <a:latin typeface="Noto Sans JP"/>
              </a:rPr>
              <a:t>4/15 初回お打合せの振り返り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148839"/>
            <a:ext cx="11274552" cy="822960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148839"/>
            <a:ext cx="54864" cy="82296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5800" y="2240279"/>
            <a:ext cx="594360" cy="320040"/>
          </a:xfrm>
          <a:prstGeom prst="roundRect">
            <a:avLst>
              <a:gd name="adj" fmla="val 2000"/>
            </a:avLst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800" b="1">
                <a:solidFill>
                  <a:srgbClr val="FFFFFF"/>
                </a:solidFill>
                <a:latin typeface="Noto Sans JP"/>
              </a:rPr>
              <a:t>02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63040" y="2240279"/>
            <a:ext cx="36576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800" b="1">
                <a:solidFill>
                  <a:srgbClr val="111827"/>
                </a:solidFill>
                <a:latin typeface="Noto Sans JP"/>
              </a:rPr>
              <a:t>現状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463040" y="2606039"/>
            <a:ext cx="91440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B5563"/>
                </a:solidFill>
                <a:latin typeface="Noto Sans JP"/>
              </a:rPr>
              <a:t>貴社の事業・AI活用・マーケティングの現状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108960"/>
            <a:ext cx="11274552" cy="822960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108960"/>
            <a:ext cx="54864" cy="82296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85800" y="3200400"/>
            <a:ext cx="594360" cy="320040"/>
          </a:xfrm>
          <a:prstGeom prst="roundRect">
            <a:avLst>
              <a:gd name="adj" fmla="val 2000"/>
            </a:avLst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800" b="1">
                <a:solidFill>
                  <a:srgbClr val="FFFFFF"/>
                </a:solidFill>
                <a:latin typeface="Noto Sans JP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63040" y="3200400"/>
            <a:ext cx="36576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800" b="1">
                <a:solidFill>
                  <a:srgbClr val="111827"/>
                </a:solidFill>
                <a:latin typeface="Noto Sans JP"/>
              </a:rPr>
              <a:t>課題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463040" y="3566160"/>
            <a:ext cx="91440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B5563"/>
                </a:solidFill>
                <a:latin typeface="Noto Sans JP"/>
              </a:rPr>
              <a:t>成長を阻む構造要因の整理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069080"/>
            <a:ext cx="11274552" cy="822960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4069080"/>
            <a:ext cx="54864" cy="82296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85800" y="4160520"/>
            <a:ext cx="594360" cy="320040"/>
          </a:xfrm>
          <a:prstGeom prst="roundRect">
            <a:avLst>
              <a:gd name="adj" fmla="val 2000"/>
            </a:avLst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800" b="1">
                <a:solidFill>
                  <a:srgbClr val="FFFFFF"/>
                </a:solidFill>
                <a:latin typeface="Noto Sans JP"/>
              </a:rPr>
              <a:t>04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463040" y="4160520"/>
            <a:ext cx="36576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800" b="1">
                <a:solidFill>
                  <a:srgbClr val="111827"/>
                </a:solidFill>
                <a:latin typeface="Noto Sans JP"/>
              </a:rPr>
              <a:t>ゴール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63040" y="4526280"/>
            <a:ext cx="91440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B5563"/>
                </a:solidFill>
                <a:latin typeface="Noto Sans JP"/>
              </a:rPr>
              <a:t>3ヶ月後・6ヶ月後の目指す姿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5029200"/>
            <a:ext cx="11274552" cy="822960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5029200"/>
            <a:ext cx="54864" cy="82296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85800" y="5120640"/>
            <a:ext cx="594360" cy="320040"/>
          </a:xfrm>
          <a:prstGeom prst="roundRect">
            <a:avLst>
              <a:gd name="adj" fmla="val 2000"/>
            </a:avLst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800" b="1">
                <a:solidFill>
                  <a:srgbClr val="FFFFFF"/>
                </a:solidFill>
                <a:latin typeface="Noto Sans JP"/>
              </a:rPr>
              <a:t>05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463040" y="5120640"/>
            <a:ext cx="36576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800" b="1">
                <a:solidFill>
                  <a:srgbClr val="111827"/>
                </a:solidFill>
                <a:latin typeface="Noto Sans JP"/>
              </a:rPr>
              <a:t>提案詳細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463040" y="5486400"/>
            <a:ext cx="91440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B5563"/>
                </a:solidFill>
                <a:latin typeface="Noto Sans JP"/>
              </a:rPr>
              <a:t>Kawaru Coach のご提案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2743200" cy="2286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600" b="1">
                <a:solidFill>
                  <a:srgbClr val="E5E7EB"/>
                </a:solidFill>
                <a:latin typeface="Noto Sans JP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474720"/>
            <a:ext cx="9144000" cy="7315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3600" b="1">
                <a:solidFill>
                  <a:srgbClr val="111827"/>
                </a:solidFill>
                <a:latin typeface="Noto Sans JP"/>
              </a:rPr>
              <a:t>お打合せ振り返り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297680"/>
            <a:ext cx="914400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600" b="0">
                <a:solidFill>
                  <a:srgbClr val="4B5563"/>
                </a:solidFill>
                <a:latin typeface="Noto Sans JP"/>
              </a:rPr>
              <a:t>4/15 初回お打合せの振り返り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937760"/>
            <a:ext cx="3657600" cy="36576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320040"/>
            <a:ext cx="7772400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700" b="1">
                <a:solidFill>
                  <a:srgbClr val="111827"/>
                </a:solidFill>
                <a:latin typeface="Noto Sans JP"/>
              </a:rPr>
              <a:t>4/15 初回お打合せ概要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0" y="411480"/>
            <a:ext cx="237744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r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4B5563"/>
                </a:solidFill>
                <a:latin typeface="Noto Sans JP"/>
              </a:rPr>
              <a:t>株式会社エヌイチ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868680"/>
            <a:ext cx="91440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4B5563"/>
                </a:solidFill>
                <a:latin typeface="Noto Sans JP"/>
              </a:rPr>
              <a:t>振り返り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61872"/>
            <a:ext cx="11274552" cy="2286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417320"/>
            <a:ext cx="5303520" cy="51206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417320"/>
            <a:ext cx="54864" cy="512064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572768"/>
            <a:ext cx="45720" cy="237744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554480"/>
            <a:ext cx="4800599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111827"/>
                </a:solidFill>
                <a:latin typeface="Noto Sans JP"/>
              </a:rPr>
              <a:t>基本情報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920240"/>
            <a:ext cx="777240" cy="274320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42A4AF"/>
                </a:solidFill>
                <a:latin typeface="Noto Sans JP"/>
              </a:rPr>
              <a:t>日時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508760" y="1920240"/>
            <a:ext cx="3886200" cy="27432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1F2937"/>
                </a:solidFill>
                <a:latin typeface="Noto Sans JP"/>
              </a:rPr>
              <a:t>2026年4月15日（火）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286000"/>
            <a:ext cx="777240" cy="274320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42A4AF"/>
                </a:solidFill>
                <a:latin typeface="Noto Sans JP"/>
              </a:rPr>
              <a:t>形式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508760" y="2286000"/>
            <a:ext cx="3886200" cy="27432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1F2937"/>
                </a:solidFill>
                <a:latin typeface="Noto Sans JP"/>
              </a:rPr>
              <a:t>オンライン（約30分）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651760"/>
            <a:ext cx="777240" cy="274320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42A4AF"/>
                </a:solidFill>
                <a:latin typeface="Noto Sans JP"/>
              </a:rPr>
              <a:t>先方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08760" y="2651760"/>
            <a:ext cx="3886200" cy="27432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1F2937"/>
                </a:solidFill>
                <a:latin typeface="Noto Sans JP"/>
              </a:rPr>
              <a:t>松尾雄太様（代表取締役）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017520"/>
            <a:ext cx="777240" cy="274320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42A4AF"/>
                </a:solidFill>
                <a:latin typeface="Noto Sans JP"/>
              </a:rPr>
              <a:t>自社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508760" y="3017520"/>
            <a:ext cx="3886200" cy="27432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1F2937"/>
                </a:solidFill>
                <a:latin typeface="Noto Sans JP"/>
              </a:rPr>
              <a:t>大川龍之介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538727"/>
            <a:ext cx="45720" cy="237744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3520439"/>
            <a:ext cx="4800599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111827"/>
                </a:solidFill>
                <a:latin typeface="Noto Sans JP"/>
              </a:rPr>
              <a:t>お伺いした内容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886200"/>
            <a:ext cx="4937759" cy="27432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●  リラクゼーションサロン3店舗経営、2025年12月法人化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215384"/>
            <a:ext cx="4937759" cy="27432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●  フランチャイズ展開を準備中（FC募集段階）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544568"/>
            <a:ext cx="4937759" cy="27432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●  AI顧問サービスを複数社で比較検討中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873752"/>
            <a:ext cx="4937759" cy="27432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●  「やらないとやばい」という危機感をお持ち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202936"/>
            <a:ext cx="4937759" cy="27432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●  LP・広告の内製化、本部業務の効率化にご関心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89320" y="1417320"/>
            <a:ext cx="5742432" cy="51206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989320" y="1417320"/>
            <a:ext cx="54864" cy="5120640"/>
          </a:xfrm>
          <a:prstGeom prst="rect">
            <a:avLst/>
          </a:prstGeom>
          <a:solidFill>
            <a:srgbClr val="3A8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72200" y="1572768"/>
            <a:ext cx="45720" cy="237744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09360" y="1554480"/>
            <a:ext cx="5239512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111827"/>
                </a:solidFill>
                <a:latin typeface="Noto Sans JP"/>
              </a:rPr>
              <a:t>ネクストアクション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72200" y="1965960"/>
            <a:ext cx="5376672" cy="914400"/>
          </a:xfrm>
          <a:prstGeom prst="roundRect">
            <a:avLst>
              <a:gd name="adj" fmla="val 2000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1F2937"/>
                </a:solidFill>
                <a:latin typeface="Noto Sans JP"/>
              </a:rPr>
              <a:t>エヌイチ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1F2937"/>
                </a:solidFill>
                <a:latin typeface="Noto Sans JP"/>
              </a:rPr>
              <a:t>→ 提案資料のお送り（本資料）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72200" y="1965960"/>
            <a:ext cx="45720" cy="9144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172200" y="3063240"/>
            <a:ext cx="5376672" cy="914400"/>
          </a:xfrm>
          <a:prstGeom prst="roundRect">
            <a:avLst>
              <a:gd name="adj" fmla="val 2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1F2937"/>
                </a:solidFill>
                <a:latin typeface="Noto Sans JP"/>
              </a:rPr>
              <a:t>松尾様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1F2937"/>
                </a:solidFill>
                <a:latin typeface="Noto Sans JP"/>
              </a:rPr>
              <a:t>→ 4月中にご判断、5月スタートをご希望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72200" y="3063240"/>
            <a:ext cx="45720" cy="914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172200" y="4343400"/>
            <a:ext cx="5376672" cy="1463040"/>
          </a:xfrm>
          <a:prstGeom prst="roundRect">
            <a:avLst>
              <a:gd name="adj" fmla="val 2000"/>
            </a:avLst>
          </a:prstGeom>
          <a:solidFill>
            <a:srgbClr val="EA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1F2937"/>
                </a:solidFill>
                <a:latin typeface="Noto Sans JP"/>
              </a:rPr>
              <a:t>松尾様のお言葉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1F2937"/>
                </a:solidFill>
                <a:latin typeface="Noto Sans JP"/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1F2937"/>
                </a:solidFill>
                <a:latin typeface="Noto Sans JP"/>
              </a:rPr>
              <a:t>「AIにお金をかけとかないと、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1F2937"/>
                </a:solidFill>
                <a:latin typeface="Noto Sans JP"/>
              </a:rPr>
              <a:t>知らないが故に20万30万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1F2937"/>
                </a:solidFill>
                <a:latin typeface="Noto Sans JP"/>
              </a:rPr>
              <a:t>50万払っちゃうなって思って」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72200" y="4343400"/>
            <a:ext cx="45720" cy="146304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2743200" cy="2286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600" b="1">
                <a:solidFill>
                  <a:srgbClr val="E5E7EB"/>
                </a:solidFill>
                <a:latin typeface="Noto Sans JP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474720"/>
            <a:ext cx="9144000" cy="7315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3600" b="1">
                <a:solidFill>
                  <a:srgbClr val="111827"/>
                </a:solidFill>
                <a:latin typeface="Noto Sans JP"/>
              </a:rPr>
              <a:t>現状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297680"/>
            <a:ext cx="914400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600" b="0">
                <a:solidFill>
                  <a:srgbClr val="4B5563"/>
                </a:solidFill>
                <a:latin typeface="Noto Sans JP"/>
              </a:rPr>
              <a:t>貴社の事業・AI活用・マーケティングの現状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937760"/>
            <a:ext cx="3657600" cy="36576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320040"/>
            <a:ext cx="7772400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700" b="1">
                <a:solidFill>
                  <a:srgbClr val="111827"/>
                </a:solidFill>
                <a:latin typeface="Noto Sans JP"/>
              </a:rPr>
              <a:t>3店舗展開×FC募集フェーズ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0" y="411480"/>
            <a:ext cx="237744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r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4B5563"/>
                </a:solidFill>
                <a:latin typeface="Noto Sans JP"/>
              </a:rPr>
              <a:t>株式会社エヌイチ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868680"/>
            <a:ext cx="91440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4B5563"/>
                </a:solidFill>
                <a:latin typeface="Noto Sans JP"/>
              </a:rPr>
              <a:t>現状①　事業概要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61872"/>
            <a:ext cx="11274552" cy="2286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417320"/>
            <a:ext cx="5943600" cy="5120640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417320"/>
            <a:ext cx="54864" cy="512064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00200"/>
            <a:ext cx="1371600" cy="320040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100" b="1">
                <a:solidFill>
                  <a:srgbClr val="42A4AF"/>
                </a:solidFill>
                <a:latin typeface="Noto Sans JP"/>
              </a:rPr>
              <a:t>事業内容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03120" y="1600200"/>
            <a:ext cx="41148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1F2937"/>
                </a:solidFill>
                <a:latin typeface="Noto Sans JP"/>
              </a:rPr>
              <a:t>リラクゼーションサロン「利率アップ」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039112"/>
            <a:ext cx="1371600" cy="320040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100" b="1">
                <a:solidFill>
                  <a:srgbClr val="42A4AF"/>
                </a:solidFill>
                <a:latin typeface="Noto Sans JP"/>
              </a:rPr>
              <a:t>店舗数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03120" y="2039112"/>
            <a:ext cx="41148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1F2937"/>
                </a:solidFill>
                <a:latin typeface="Noto Sans JP"/>
              </a:rPr>
              <a:t>直営3店舗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478024"/>
            <a:ext cx="1371600" cy="320040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100" b="1">
                <a:solidFill>
                  <a:srgbClr val="42A4AF"/>
                </a:solidFill>
                <a:latin typeface="Noto Sans JP"/>
              </a:rPr>
              <a:t>法人化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03120" y="2478024"/>
            <a:ext cx="41148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1F2937"/>
                </a:solidFill>
                <a:latin typeface="Noto Sans JP"/>
              </a:rPr>
              <a:t>2025年12月（株式会社TSUBOMIYA）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916936"/>
            <a:ext cx="1371600" cy="320040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100" b="1">
                <a:solidFill>
                  <a:srgbClr val="42A4AF"/>
                </a:solidFill>
                <a:latin typeface="Noto Sans JP"/>
              </a:rPr>
              <a:t>本部体制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03120" y="2916936"/>
            <a:ext cx="41148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1F2937"/>
                </a:solidFill>
                <a:latin typeface="Noto Sans JP"/>
              </a:rPr>
              <a:t>松尾様＋2〜3名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355848"/>
            <a:ext cx="1371600" cy="320040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100" b="1">
                <a:solidFill>
                  <a:srgbClr val="42A4AF"/>
                </a:solidFill>
                <a:latin typeface="Noto Sans JP"/>
              </a:rPr>
              <a:t>FC展開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03120" y="3355848"/>
            <a:ext cx="41148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1F2937"/>
                </a:solidFill>
                <a:latin typeface="Noto Sans JP"/>
              </a:rPr>
              <a:t>募集中（加盟店はまだゼロ）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794760"/>
            <a:ext cx="1371600" cy="320040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100" b="1">
                <a:solidFill>
                  <a:srgbClr val="42A4AF"/>
                </a:solidFill>
                <a:latin typeface="Noto Sans JP"/>
              </a:rPr>
              <a:t>その他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03120" y="3794760"/>
            <a:ext cx="41148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1F2937"/>
                </a:solidFill>
                <a:latin typeface="Noto Sans JP"/>
              </a:rPr>
              <a:t>セラピスト向けコミュニティ運営中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416552"/>
            <a:ext cx="5577840" cy="731520"/>
          </a:xfrm>
          <a:prstGeom prst="roundRect">
            <a:avLst>
              <a:gd name="adj" fmla="val 2000"/>
            </a:avLst>
          </a:prstGeom>
          <a:solidFill>
            <a:srgbClr val="EA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1F2937"/>
                </a:solidFill>
                <a:latin typeface="Noto Sans JP"/>
              </a:rPr>
              <a:t>「フランチャイズの加盟数が伸びたら嬉しい。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1F2937"/>
                </a:solidFill>
                <a:latin typeface="Noto Sans JP"/>
              </a:rPr>
              <a:t>それが僕のセンターです」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416552"/>
            <a:ext cx="45720" cy="73152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675120" y="1417320"/>
            <a:ext cx="5056632" cy="51206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675120" y="1417320"/>
            <a:ext cx="54864" cy="5120640"/>
          </a:xfrm>
          <a:prstGeom prst="rect">
            <a:avLst/>
          </a:prstGeom>
          <a:solidFill>
            <a:srgbClr val="4A6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58000" y="1554480"/>
            <a:ext cx="4690872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111827"/>
                </a:solidFill>
                <a:latin typeface="Noto Sans JP"/>
              </a:rPr>
              <a:t>事業構造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0" y="2057400"/>
            <a:ext cx="4690872" cy="1280160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858000" y="2057400"/>
            <a:ext cx="54864" cy="128016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040880" y="2167128"/>
            <a:ext cx="4325112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1F2937"/>
                </a:solidFill>
                <a:latin typeface="Noto Sans JP"/>
              </a:rPr>
              <a:t>直営3店舗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040880" y="2532888"/>
            <a:ext cx="4325112" cy="64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サロン「利率アップ」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大阪エリア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0" y="3474720"/>
            <a:ext cx="4690872" cy="1280160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858000" y="3474720"/>
            <a:ext cx="54864" cy="1280160"/>
          </a:xfrm>
          <a:prstGeom prst="rect">
            <a:avLst/>
          </a:prstGeom>
          <a:solidFill>
            <a:srgbClr val="4A6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040880" y="3584448"/>
            <a:ext cx="4325112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1F2937"/>
                </a:solidFill>
                <a:latin typeface="Noto Sans JP"/>
              </a:rPr>
              <a:t>FC展開（準備中）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040880" y="3950208"/>
            <a:ext cx="4325112" cy="64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フランチャイズ加盟店募集中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現在加盟ゼロ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858000" y="4892040"/>
            <a:ext cx="4690872" cy="1280160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858000" y="4892040"/>
            <a:ext cx="54864" cy="128016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040880" y="5001768"/>
            <a:ext cx="4325112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1F2937"/>
                </a:solidFill>
                <a:latin typeface="Noto Sans JP"/>
              </a:rPr>
              <a:t>コミュニティ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040880" y="5367527"/>
            <a:ext cx="4325112" cy="64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セラピスト向け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先生×受講生マッチング構想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320040"/>
            <a:ext cx="7772400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700" b="1">
                <a:solidFill>
                  <a:srgbClr val="111827"/>
                </a:solidFill>
                <a:latin typeface="Noto Sans JP"/>
              </a:rPr>
              <a:t>AI活用は「手探り」の段階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0" y="411480"/>
            <a:ext cx="237744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r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4B5563"/>
                </a:solidFill>
                <a:latin typeface="Noto Sans JP"/>
              </a:rPr>
              <a:t>株式会社エヌイチ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868680"/>
            <a:ext cx="91440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4B5563"/>
                </a:solidFill>
                <a:latin typeface="Noto Sans JP"/>
              </a:rPr>
              <a:t>現状②　AI活用状況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61872"/>
            <a:ext cx="11274552" cy="2286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11274552" cy="36576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417320"/>
            <a:ext cx="274320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FFFFFF"/>
                </a:solidFill>
                <a:latin typeface="Noto Sans JP"/>
              </a:rPr>
              <a:t>ツール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1417320"/>
            <a:ext cx="548640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FFFFFF"/>
                </a:solidFill>
                <a:latin typeface="Noto Sans JP"/>
              </a:rPr>
              <a:t>活用状況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778240" y="1417320"/>
            <a:ext cx="2953512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FFFFFF"/>
                </a:solidFill>
                <a:latin typeface="Noto Sans JP"/>
              </a:rPr>
              <a:t>頻度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856232"/>
            <a:ext cx="11274552" cy="457200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856232"/>
            <a:ext cx="274320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1F2937"/>
                </a:solidFill>
                <a:latin typeface="Noto Sans JP"/>
              </a:rPr>
              <a:t>ChatGPT / Gemini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0" y="1856232"/>
            <a:ext cx="548640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B5563"/>
                </a:solidFill>
                <a:latin typeface="Noto Sans JP"/>
              </a:rPr>
              <a:t>テキスト生成（簡単な質問・調べもの）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78240" y="1856232"/>
            <a:ext cx="2953512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B5563"/>
                </a:solidFill>
                <a:latin typeface="Noto Sans JP"/>
              </a:rPr>
              <a:t>時々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386584"/>
            <a:ext cx="11274552" cy="457200"/>
          </a:xfrm>
          <a:prstGeom prst="roundRect">
            <a:avLst>
              <a:gd name="adj" fmla="val 3000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2386584"/>
            <a:ext cx="274320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1F2937"/>
                </a:solidFill>
                <a:latin typeface="Noto Sans JP"/>
              </a:rPr>
              <a:t>Claude Code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91840" y="2386584"/>
            <a:ext cx="548640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B5563"/>
                </a:solidFill>
                <a:latin typeface="Noto Sans JP"/>
              </a:rPr>
              <a:t>LP制作を試行（完成度80%、モバイル崩れ）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778240" y="2386584"/>
            <a:ext cx="2953512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B5563"/>
                </a:solidFill>
                <a:latin typeface="Noto Sans JP"/>
              </a:rPr>
              <a:t>試行段階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2916936"/>
            <a:ext cx="11274552" cy="457200"/>
          </a:xfrm>
          <a:prstGeom prst="roundRect">
            <a:avLst>
              <a:gd name="adj" fmla="val 300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2916936"/>
            <a:ext cx="274320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1F2937"/>
                </a:solidFill>
                <a:latin typeface="Noto Sans JP"/>
              </a:rPr>
              <a:t>Dify / n8n 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91840" y="2916936"/>
            <a:ext cx="548640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B5563"/>
                </a:solidFill>
                <a:latin typeface="Noto Sans JP"/>
              </a:rPr>
              <a:t>未使用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78240" y="2916936"/>
            <a:ext cx="2953512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B5563"/>
                </a:solidFill>
                <a:latin typeface="Noto Sans JP"/>
              </a:rPr>
              <a:t>—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447288"/>
            <a:ext cx="11274552" cy="457200"/>
          </a:xfrm>
          <a:prstGeom prst="roundRect">
            <a:avLst>
              <a:gd name="adj" fmla="val 300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3447288"/>
            <a:ext cx="274320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1F2937"/>
                </a:solidFill>
                <a:latin typeface="Noto Sans JP"/>
              </a:rPr>
              <a:t>業務自動化ワークフロー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91840" y="3447288"/>
            <a:ext cx="548640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B5563"/>
                </a:solidFill>
                <a:latin typeface="Noto Sans JP"/>
              </a:rPr>
              <a:t>未経験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778240" y="3447288"/>
            <a:ext cx="2953512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B5563"/>
                </a:solidFill>
                <a:latin typeface="Noto Sans JP"/>
              </a:rPr>
              <a:t>—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251960"/>
            <a:ext cx="11274552" cy="502920"/>
          </a:xfrm>
          <a:prstGeom prst="roundRect">
            <a:avLst>
              <a:gd name="adj" fmla="val 2000"/>
            </a:avLst>
          </a:prstGeom>
          <a:solidFill>
            <a:srgbClr val="EA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1F2937"/>
                </a:solidFill>
                <a:latin typeface="Noto Sans JP"/>
              </a:rPr>
              <a:t>「かなり疎いんですよ」—— 松尾様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251960"/>
            <a:ext cx="45720" cy="50292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57200" y="4892040"/>
            <a:ext cx="11274552" cy="502920"/>
          </a:xfrm>
          <a:prstGeom prst="roundRect">
            <a:avLst>
              <a:gd name="adj" fmla="val 2000"/>
            </a:avLst>
          </a:prstGeom>
          <a:solidFill>
            <a:srgbClr val="EA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1F2937"/>
                </a:solidFill>
                <a:latin typeface="Noto Sans JP"/>
              </a:rPr>
              <a:t>「やらないとやばいなっていう感じがひしひしと伝わってくる」—— 松尾様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892040"/>
            <a:ext cx="45720" cy="50292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57200" y="5532120"/>
            <a:ext cx="11274552" cy="502920"/>
          </a:xfrm>
          <a:prstGeom prst="roundRect">
            <a:avLst>
              <a:gd name="adj" fmla="val 2000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166D37"/>
                </a:solidFill>
                <a:latin typeface="Noto Sans JP"/>
              </a:rPr>
              <a:t>Claude CodeでLPを自作する行動力はある。正しいガイドがあれば加速できるポテンシャル。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532120"/>
            <a:ext cx="45720" cy="5029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320040"/>
            <a:ext cx="7772400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700" b="1">
                <a:solidFill>
                  <a:srgbClr val="111827"/>
                </a:solidFill>
                <a:latin typeface="Noto Sans JP"/>
              </a:rPr>
              <a:t>LP・広告は外注に依存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0" y="411480"/>
            <a:ext cx="237744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r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4B5563"/>
                </a:solidFill>
                <a:latin typeface="Noto Sans JP"/>
              </a:rPr>
              <a:t>株式会社エヌイチ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868680"/>
            <a:ext cx="91440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4B5563"/>
                </a:solidFill>
                <a:latin typeface="Noto Sans JP"/>
              </a:rPr>
              <a:t>現状③　マーケティング体制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61872"/>
            <a:ext cx="11274552" cy="2286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508760"/>
            <a:ext cx="11274552" cy="731520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508760"/>
            <a:ext cx="54864" cy="7315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5800" y="1581912"/>
            <a:ext cx="2560320" cy="274320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42A4AF"/>
                </a:solidFill>
                <a:latin typeface="Noto Sans JP"/>
              </a:rPr>
              <a:t>LP制作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0" y="1581912"/>
            <a:ext cx="8165592" cy="5486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1F2937"/>
                </a:solidFill>
                <a:latin typeface="Noto Sans JP"/>
              </a:rPr>
              <a:t>外注（1本あたり10〜50万円）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350008"/>
            <a:ext cx="11274552" cy="731520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350008"/>
            <a:ext cx="54864" cy="7315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5800" y="2423160"/>
            <a:ext cx="2560320" cy="274320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42A4AF"/>
                </a:solidFill>
                <a:latin typeface="Noto Sans JP"/>
              </a:rPr>
              <a:t>広告運用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83280" y="2423160"/>
            <a:ext cx="8165592" cy="5486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1F2937"/>
                </a:solidFill>
                <a:latin typeface="Noto Sans JP"/>
              </a:rPr>
              <a:t>代行会社に委託（「任せきり」状態）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191256"/>
            <a:ext cx="11274552" cy="731520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191256"/>
            <a:ext cx="54864" cy="7315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85800" y="3264408"/>
            <a:ext cx="2560320" cy="274320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42A4AF"/>
                </a:solidFill>
                <a:latin typeface="Noto Sans JP"/>
              </a:rPr>
              <a:t>SNS・クリエイティブ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83280" y="3264408"/>
            <a:ext cx="8165592" cy="5486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1F2937"/>
                </a:solidFill>
                <a:latin typeface="Noto Sans JP"/>
              </a:rPr>
              <a:t>自社で作りたいが、コストがかかるなら控えている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032504"/>
            <a:ext cx="11274552" cy="731520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4032504"/>
            <a:ext cx="54864" cy="7315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85800" y="4105656"/>
            <a:ext cx="2560320" cy="274320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42A4AF"/>
                </a:solidFill>
                <a:latin typeface="Noto Sans JP"/>
              </a:rPr>
              <a:t>チラシ等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83280" y="4105656"/>
            <a:ext cx="8165592" cy="5486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1F2937"/>
                </a:solidFill>
                <a:latin typeface="Noto Sans JP"/>
              </a:rPr>
              <a:t>「無料で作れるなら作る。お金かかるなら作る人減っちゃう」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5056632"/>
            <a:ext cx="11274552" cy="640080"/>
          </a:xfrm>
          <a:prstGeom prst="roundRect">
            <a:avLst>
              <a:gd name="adj" fmla="val 2000"/>
            </a:avLst>
          </a:prstGeom>
          <a:solidFill>
            <a:srgbClr val="EA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1F2937"/>
                </a:solidFill>
                <a:latin typeface="Noto Sans JP"/>
              </a:rPr>
              <a:t>「AIにお金をかけとかないと、知らないが故に20万30万50万払っちゃうなって思って」—— 松尾様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056632"/>
            <a:ext cx="45720" cy="64008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57200" y="5833872"/>
            <a:ext cx="11274552" cy="502920"/>
          </a:xfrm>
          <a:prstGeom prst="roundRect">
            <a:avLst>
              <a:gd name="adj" fmla="val 2000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D97706"/>
                </a:solidFill>
                <a:latin typeface="Noto Sans JP"/>
              </a:rPr>
              <a:t>内製化の手段がないため、結果的に高コスト構造になっている【推察】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833872"/>
            <a:ext cx="45720" cy="5029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2743200" cy="2286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600" b="1">
                <a:solidFill>
                  <a:srgbClr val="E5E7EB"/>
                </a:solidFill>
                <a:latin typeface="Noto Sans JP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474720"/>
            <a:ext cx="9144000" cy="7315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3600" b="1">
                <a:solidFill>
                  <a:srgbClr val="111827"/>
                </a:solidFill>
                <a:latin typeface="Noto Sans JP"/>
              </a:rPr>
              <a:t>課題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297680"/>
            <a:ext cx="914400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600" b="0">
                <a:solidFill>
                  <a:srgbClr val="4B5563"/>
                </a:solidFill>
                <a:latin typeface="Noto Sans JP"/>
              </a:rPr>
              <a:t>成長を阻む構造要因の整理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937760"/>
            <a:ext cx="3657600" cy="36576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320040"/>
            <a:ext cx="7772400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700" b="1">
                <a:solidFill>
                  <a:srgbClr val="111827"/>
                </a:solidFill>
                <a:latin typeface="Noto Sans JP"/>
              </a:rPr>
              <a:t>成長を阻む4つの構造要因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0" y="411480"/>
            <a:ext cx="237744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r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4B5563"/>
                </a:solidFill>
                <a:latin typeface="Noto Sans JP"/>
              </a:rPr>
              <a:t>株式会社エヌイチ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868680"/>
            <a:ext cx="91440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4B5563"/>
                </a:solidFill>
                <a:latin typeface="Noto Sans JP"/>
              </a:rPr>
              <a:t>課題①　全体マップ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61872"/>
            <a:ext cx="11274552" cy="2286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" y="1417320"/>
            <a:ext cx="1828800" cy="5212080"/>
          </a:xfrm>
          <a:prstGeom prst="roundRect">
            <a:avLst>
              <a:gd name="adj" fmla="val 300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417320"/>
            <a:ext cx="54864" cy="52120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508760"/>
            <a:ext cx="1627632" cy="5029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1F2937"/>
                </a:solidFill>
                <a:latin typeface="Noto Sans JP"/>
              </a:rPr>
              <a:t>FC展開と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1F2937"/>
                </a:solidFill>
                <a:latin typeface="Noto Sans JP"/>
              </a:rPr>
              <a:t>事業成長を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1F2937"/>
                </a:solidFill>
                <a:latin typeface="Noto Sans JP"/>
              </a:rPr>
              <a:t>支える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1F2937"/>
                </a:solidFill>
                <a:latin typeface="Noto Sans JP"/>
              </a:rPr>
              <a:t>「本部機能」が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1F2937"/>
                </a:solidFill>
                <a:latin typeface="Noto Sans JP"/>
              </a:rPr>
              <a:t>AI活用で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1F2937"/>
                </a:solidFill>
                <a:latin typeface="Noto Sans JP"/>
              </a:rPr>
              <a:t>強化できて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1F2937"/>
                </a:solidFill>
                <a:latin typeface="Noto Sans JP"/>
              </a:rPr>
              <a:t>いない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94560" y="2050542"/>
            <a:ext cx="274320" cy="36576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468879" y="1472184"/>
            <a:ext cx="2286000" cy="1193292"/>
          </a:xfrm>
          <a:prstGeom prst="roundRect">
            <a:avLst>
              <a:gd name="adj" fmla="val 3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468879" y="1472184"/>
            <a:ext cx="54864" cy="119329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578608" y="1508760"/>
            <a:ext cx="2084831" cy="11201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100" b="1">
                <a:solidFill>
                  <a:srgbClr val="1F2937"/>
                </a:solidFill>
                <a:latin typeface="Noto Sans JP"/>
              </a:rPr>
              <a:t>A. クリエイティブ・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100" b="1">
                <a:solidFill>
                  <a:srgbClr val="1F2937"/>
                </a:solidFill>
                <a:latin typeface="Noto Sans JP"/>
              </a:rPr>
              <a:t>マーケが外注依存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79" y="1652778"/>
            <a:ext cx="274320" cy="36576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29199" y="1499616"/>
            <a:ext cx="6931152" cy="342900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199" y="1499616"/>
            <a:ext cx="45720" cy="34290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120639" y="1517904"/>
            <a:ext cx="502920" cy="306324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800" b="1">
                <a:solidFill>
                  <a:srgbClr val="42A4AF"/>
                </a:solidFill>
                <a:latin typeface="Noto Sans JP"/>
              </a:rPr>
              <a:t>事実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79" y="1499616"/>
            <a:ext cx="6199632" cy="3429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1F2937"/>
                </a:solidFill>
                <a:latin typeface="Noto Sans JP"/>
              </a:rPr>
              <a:t>LP制作に10〜50万の外注コスト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54879" y="2050541"/>
            <a:ext cx="274320" cy="36576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029199" y="1897379"/>
            <a:ext cx="6931152" cy="342900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199" y="1897379"/>
            <a:ext cx="45720" cy="34290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120639" y="1915667"/>
            <a:ext cx="502920" cy="306324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800" b="1">
                <a:solidFill>
                  <a:srgbClr val="42A4AF"/>
                </a:solidFill>
                <a:latin typeface="Noto Sans JP"/>
              </a:rPr>
              <a:t>事実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79" y="1897379"/>
            <a:ext cx="6199632" cy="3429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1F2937"/>
                </a:solidFill>
                <a:latin typeface="Noto Sans JP"/>
              </a:rPr>
              <a:t>広告運用を代行に完全委託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54879" y="2448306"/>
            <a:ext cx="274320" cy="36576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029199" y="2295144"/>
            <a:ext cx="6931152" cy="342900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199" y="2295144"/>
            <a:ext cx="45720" cy="3429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120639" y="2313432"/>
            <a:ext cx="502920" cy="306324"/>
          </a:xfrm>
          <a:prstGeom prst="roundRect">
            <a:avLst>
              <a:gd name="adj" fmla="val 2000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800" b="1">
                <a:solidFill>
                  <a:srgbClr val="D97706"/>
                </a:solidFill>
                <a:latin typeface="Noto Sans JP"/>
              </a:rPr>
              <a:t>推察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79" y="2295144"/>
            <a:ext cx="6199632" cy="3429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1F2937"/>
                </a:solidFill>
                <a:latin typeface="Noto Sans JP"/>
              </a:rPr>
              <a:t>制作スピードが外注に依存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194560" y="3353562"/>
            <a:ext cx="274320" cy="36576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2468879" y="2775204"/>
            <a:ext cx="2286000" cy="1193292"/>
          </a:xfrm>
          <a:prstGeom prst="roundRect">
            <a:avLst>
              <a:gd name="adj" fmla="val 3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468879" y="2775204"/>
            <a:ext cx="54864" cy="119329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578608" y="2811780"/>
            <a:ext cx="2084831" cy="11201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100" b="1">
                <a:solidFill>
                  <a:srgbClr val="1F2937"/>
                </a:solidFill>
                <a:latin typeface="Noto Sans JP"/>
              </a:rPr>
              <a:t>B. AI活用の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100" b="1">
                <a:solidFill>
                  <a:srgbClr val="1F2937"/>
                </a:solidFill>
                <a:latin typeface="Noto Sans JP"/>
              </a:rPr>
              <a:t>知識・スキル不足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754879" y="2955798"/>
            <a:ext cx="274320" cy="36576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029199" y="2802636"/>
            <a:ext cx="6931152" cy="342900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199" y="2802636"/>
            <a:ext cx="45720" cy="34290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120639" y="2820924"/>
            <a:ext cx="502920" cy="306324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800" b="1">
                <a:solidFill>
                  <a:srgbClr val="42A4AF"/>
                </a:solidFill>
                <a:latin typeface="Noto Sans JP"/>
              </a:rPr>
              <a:t>事実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79" y="2802636"/>
            <a:ext cx="6199632" cy="3429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1F2937"/>
                </a:solidFill>
                <a:latin typeface="Noto Sans JP"/>
              </a:rPr>
              <a:t>AI全般に「かなり疎い」と自認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754879" y="3353562"/>
            <a:ext cx="274320" cy="36576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5029199" y="3200400"/>
            <a:ext cx="6931152" cy="342900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029199" y="3200400"/>
            <a:ext cx="45720" cy="34290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5120639" y="3218688"/>
            <a:ext cx="502920" cy="306324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800" b="1">
                <a:solidFill>
                  <a:srgbClr val="42A4AF"/>
                </a:solidFill>
                <a:latin typeface="Noto Sans JP"/>
              </a:rPr>
              <a:t>事実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669279" y="3200400"/>
            <a:ext cx="6199632" cy="3429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1F2937"/>
                </a:solidFill>
                <a:latin typeface="Noto Sans JP"/>
              </a:rPr>
              <a:t>Claude CodeでLP制作は80%止まり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754879" y="3751326"/>
            <a:ext cx="274320" cy="36576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5029199" y="3598164"/>
            <a:ext cx="6931152" cy="342900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029199" y="3598164"/>
            <a:ext cx="45720" cy="3429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5120639" y="3616452"/>
            <a:ext cx="502920" cy="306324"/>
          </a:xfrm>
          <a:prstGeom prst="roundRect">
            <a:avLst>
              <a:gd name="adj" fmla="val 2000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800" b="1">
                <a:solidFill>
                  <a:srgbClr val="D97706"/>
                </a:solidFill>
                <a:latin typeface="Noto Sans JP"/>
              </a:rPr>
              <a:t>推察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669279" y="3598164"/>
            <a:ext cx="6199632" cy="3429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1F2937"/>
                </a:solidFill>
                <a:latin typeface="Noto Sans JP"/>
              </a:rPr>
              <a:t>適切なツール選定ができない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194560" y="4656582"/>
            <a:ext cx="274320" cy="36576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2468879" y="4078224"/>
            <a:ext cx="2286000" cy="1193292"/>
          </a:xfrm>
          <a:prstGeom prst="roundRect">
            <a:avLst>
              <a:gd name="adj" fmla="val 3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2468879" y="4078224"/>
            <a:ext cx="54864" cy="119329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2578608" y="4114800"/>
            <a:ext cx="2084831" cy="11201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100" b="1">
                <a:solidFill>
                  <a:srgbClr val="1F2937"/>
                </a:solidFill>
                <a:latin typeface="Noto Sans JP"/>
              </a:rPr>
              <a:t>C. FC展開の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100" b="1">
                <a:solidFill>
                  <a:srgbClr val="1F2937"/>
                </a:solidFill>
                <a:latin typeface="Noto Sans JP"/>
              </a:rPr>
              <a:t>基盤が未整備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754879" y="4258818"/>
            <a:ext cx="274320" cy="36576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5029199" y="4105656"/>
            <a:ext cx="6931152" cy="342900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029199" y="4105656"/>
            <a:ext cx="45720" cy="34290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5120639" y="4123944"/>
            <a:ext cx="502920" cy="306324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800" b="1">
                <a:solidFill>
                  <a:srgbClr val="42A4AF"/>
                </a:solidFill>
                <a:latin typeface="Noto Sans JP"/>
              </a:rPr>
              <a:t>事実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669279" y="4105656"/>
            <a:ext cx="6199632" cy="3429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1F2937"/>
                </a:solidFill>
                <a:latin typeface="Noto Sans JP"/>
              </a:rPr>
              <a:t>FC加盟店ゼロ、募集段階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754879" y="4656582"/>
            <a:ext cx="274320" cy="36576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5029199" y="4503420"/>
            <a:ext cx="6931152" cy="342900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029199" y="4503420"/>
            <a:ext cx="45720" cy="34290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5120639" y="4521707"/>
            <a:ext cx="502920" cy="306324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800" b="1">
                <a:solidFill>
                  <a:srgbClr val="42A4AF"/>
                </a:solidFill>
                <a:latin typeface="Noto Sans JP"/>
              </a:rPr>
              <a:t>事実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669279" y="4503420"/>
            <a:ext cx="6199632" cy="3429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1F2937"/>
                </a:solidFill>
                <a:latin typeface="Noto Sans JP"/>
              </a:rPr>
              <a:t>オペレーション標準化が課題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754879" y="5054346"/>
            <a:ext cx="274320" cy="36576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5029199" y="4901184"/>
            <a:ext cx="6931152" cy="342900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029199" y="4901184"/>
            <a:ext cx="45720" cy="3429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5120639" y="4919472"/>
            <a:ext cx="502920" cy="306324"/>
          </a:xfrm>
          <a:prstGeom prst="roundRect">
            <a:avLst>
              <a:gd name="adj" fmla="val 2000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800" b="1">
                <a:solidFill>
                  <a:srgbClr val="D97706"/>
                </a:solidFill>
                <a:latin typeface="Noto Sans JP"/>
              </a:rPr>
              <a:t>推察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669279" y="4901184"/>
            <a:ext cx="6199632" cy="3429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1F2937"/>
                </a:solidFill>
                <a:latin typeface="Noto Sans JP"/>
              </a:rPr>
              <a:t>マニュアル・ナレッジ未整備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194560" y="5959602"/>
            <a:ext cx="274320" cy="36576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2468879" y="5381244"/>
            <a:ext cx="2286000" cy="1193292"/>
          </a:xfrm>
          <a:prstGeom prst="roundRect">
            <a:avLst>
              <a:gd name="adj" fmla="val 3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2468879" y="5381244"/>
            <a:ext cx="54864" cy="119329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2578608" y="5417820"/>
            <a:ext cx="2084831" cy="11201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100" b="1">
                <a:solidFill>
                  <a:srgbClr val="1F2937"/>
                </a:solidFill>
                <a:latin typeface="Noto Sans JP"/>
              </a:rPr>
              <a:t>D. 少人数本部の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100" b="1">
                <a:solidFill>
                  <a:srgbClr val="1F2937"/>
                </a:solidFill>
                <a:latin typeface="Noto Sans JP"/>
              </a:rPr>
              <a:t>リソース制約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754879" y="5561838"/>
            <a:ext cx="274320" cy="36576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5029199" y="5408676"/>
            <a:ext cx="6931152" cy="342900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5029199" y="5408676"/>
            <a:ext cx="45720" cy="34290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5120639" y="5426964"/>
            <a:ext cx="502920" cy="306324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800" b="1">
                <a:solidFill>
                  <a:srgbClr val="42A4AF"/>
                </a:solidFill>
                <a:latin typeface="Noto Sans JP"/>
              </a:rPr>
              <a:t>事実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669279" y="5408676"/>
            <a:ext cx="6199632" cy="3429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1F2937"/>
                </a:solidFill>
                <a:latin typeface="Noto Sans JP"/>
              </a:rPr>
              <a:t>本部スタッフは松尾様＋2〜3名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754879" y="5959602"/>
            <a:ext cx="274320" cy="36576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5029199" y="5806440"/>
            <a:ext cx="6931152" cy="342900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5029199" y="5806440"/>
            <a:ext cx="45720" cy="34290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5120639" y="5824728"/>
            <a:ext cx="502920" cy="306324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800" b="1">
                <a:solidFill>
                  <a:srgbClr val="42A4AF"/>
                </a:solidFill>
                <a:latin typeface="Noto Sans JP"/>
              </a:rPr>
              <a:t>事実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669279" y="5806440"/>
            <a:ext cx="6199632" cy="3429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1F2937"/>
                </a:solidFill>
                <a:latin typeface="Noto Sans JP"/>
              </a:rPr>
              <a:t>「誰でもできる作業」が時間を圧迫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754879" y="6357366"/>
            <a:ext cx="274320" cy="36576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ounded Rectangle 82"/>
          <p:cNvSpPr/>
          <p:nvPr/>
        </p:nvSpPr>
        <p:spPr>
          <a:xfrm>
            <a:off x="5029199" y="6204204"/>
            <a:ext cx="6931152" cy="342900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5029199" y="6204204"/>
            <a:ext cx="45720" cy="3429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5120639" y="6222492"/>
            <a:ext cx="502920" cy="306324"/>
          </a:xfrm>
          <a:prstGeom prst="roundRect">
            <a:avLst>
              <a:gd name="adj" fmla="val 2000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800" b="1">
                <a:solidFill>
                  <a:srgbClr val="D97706"/>
                </a:solidFill>
                <a:latin typeface="Noto Sans JP"/>
              </a:rPr>
              <a:t>推察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669279" y="6204204"/>
            <a:ext cx="6199632" cy="3429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1F2937"/>
                </a:solidFill>
                <a:latin typeface="Noto Sans JP"/>
              </a:rPr>
              <a:t>コア業務に集中できていない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320040"/>
            <a:ext cx="7772400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700" b="1">
                <a:solidFill>
                  <a:srgbClr val="111827"/>
                </a:solidFill>
                <a:latin typeface="Noto Sans JP"/>
              </a:rPr>
              <a:t>外注コストが成長投資を圧迫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0" y="411480"/>
            <a:ext cx="237744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r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4B5563"/>
                </a:solidFill>
                <a:latin typeface="Noto Sans JP"/>
              </a:rPr>
              <a:t>株式会社エヌイチ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868680"/>
            <a:ext cx="91440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4B5563"/>
                </a:solidFill>
                <a:latin typeface="Noto Sans JP"/>
              </a:rPr>
              <a:t>課題②　コスト構造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61872"/>
            <a:ext cx="11274552" cy="2286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875520" y="1508760"/>
            <a:ext cx="1280160" cy="1280160"/>
          </a:xfrm>
          <a:prstGeom prst="ellipse">
            <a:avLst/>
          </a:prstGeom>
          <a:solidFill>
            <a:srgbClr val="C95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JP"/>
              </a:rPr>
              <a:t>LP1本
10〜50
万円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508760"/>
            <a:ext cx="7772400" cy="36576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508760"/>
            <a:ext cx="256032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FFFFFF"/>
                </a:solidFill>
                <a:latin typeface="Noto Sans JP"/>
              </a:rPr>
              <a:t>外注項目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1508760"/>
            <a:ext cx="256032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FFFFFF"/>
                </a:solidFill>
                <a:latin typeface="Noto Sans JP"/>
              </a:rPr>
              <a:t>想定コスト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52160" y="1508760"/>
            <a:ext cx="237744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FFFFFF"/>
                </a:solidFill>
                <a:latin typeface="Noto Sans JP"/>
              </a:rPr>
              <a:t>年間試算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1947672"/>
            <a:ext cx="7772400" cy="438912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1947672"/>
            <a:ext cx="2560320" cy="43891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1F2937"/>
                </a:solidFill>
                <a:latin typeface="Noto Sans JP"/>
              </a:rPr>
              <a:t>LP制作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0" y="1947672"/>
            <a:ext cx="2560320" cy="43891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B5563"/>
                </a:solidFill>
                <a:latin typeface="Noto Sans JP"/>
              </a:rPr>
              <a:t>10〜50万円/本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52160" y="1947672"/>
            <a:ext cx="2377440" cy="43891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C95454"/>
                </a:solidFill>
                <a:latin typeface="Noto Sans JP"/>
              </a:rPr>
              <a:t>40〜200万円（4本）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2459736"/>
            <a:ext cx="7772400" cy="438912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2459736"/>
            <a:ext cx="2560320" cy="43891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1F2937"/>
                </a:solidFill>
                <a:latin typeface="Noto Sans JP"/>
              </a:rPr>
              <a:t>広告運用代行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0" y="2459736"/>
            <a:ext cx="2560320" cy="43891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B5563"/>
                </a:solidFill>
                <a:latin typeface="Noto Sans JP"/>
              </a:rPr>
              <a:t>月額手数料（運用費の20%）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52160" y="2459736"/>
            <a:ext cx="2377440" cy="43891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C95454"/>
                </a:solidFill>
                <a:latin typeface="Noto Sans JP"/>
              </a:rPr>
              <a:t>年間数十万円〜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2971800"/>
            <a:ext cx="7772400" cy="438912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2971800"/>
            <a:ext cx="2560320" cy="43891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1F2937"/>
                </a:solidFill>
                <a:latin typeface="Noto Sans JP"/>
              </a:rPr>
              <a:t>バナー・SNS素材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0" y="2971800"/>
            <a:ext cx="2560320" cy="43891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B5563"/>
                </a:solidFill>
                <a:latin typeface="Noto Sans JP"/>
              </a:rPr>
              <a:t>数万円/点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852160" y="2971800"/>
            <a:ext cx="2377440" cy="43891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C95454"/>
                </a:solidFill>
                <a:latin typeface="Noto Sans JP"/>
              </a:rPr>
              <a:t>都度発生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3758184"/>
            <a:ext cx="11274552" cy="594360"/>
          </a:xfrm>
          <a:prstGeom prst="roundRect">
            <a:avLst>
              <a:gd name="adj" fmla="val 2000"/>
            </a:avLst>
          </a:prstGeom>
          <a:solidFill>
            <a:srgbClr val="EA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1F2937"/>
                </a:solidFill>
                <a:latin typeface="Noto Sans JP"/>
              </a:rPr>
              <a:t>「AIにお金をかけとかないと、知らないが故に20万30万50万払っちゃうなって思って」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1F2937"/>
                </a:solidFill>
                <a:latin typeface="Noto Sans JP"/>
              </a:rPr>
              <a:t>—— 松尾様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758184"/>
            <a:ext cx="45720" cy="59436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57200" y="4489704"/>
            <a:ext cx="11274552" cy="502920"/>
          </a:xfrm>
          <a:prstGeom prst="roundRect">
            <a:avLst>
              <a:gd name="adj" fmla="val 2000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166D37"/>
                </a:solidFill>
                <a:latin typeface="Noto Sans JP"/>
              </a:rPr>
              <a:t>LP1本を外注するコストで、AI顧問6ヶ月分の大半を賄える → 内製化の投資対効果は極めて高い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489704"/>
            <a:ext cx="45720" cy="5029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320040"/>
            <a:ext cx="7772400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700" b="1">
                <a:solidFill>
                  <a:srgbClr val="111827"/>
                </a:solidFill>
                <a:latin typeface="Noto Sans JP"/>
              </a:rPr>
              <a:t>FC展開に「再現性の基盤」が不可欠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0" y="411480"/>
            <a:ext cx="237744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r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4B5563"/>
                </a:solidFill>
                <a:latin typeface="Noto Sans JP"/>
              </a:rPr>
              <a:t>株式会社エヌイチ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868680"/>
            <a:ext cx="91440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4B5563"/>
                </a:solidFill>
                <a:latin typeface="Noto Sans JP"/>
              </a:rPr>
              <a:t>課題③　FC標準化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61872"/>
            <a:ext cx="11274552" cy="2286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98347" y="1508760"/>
            <a:ext cx="3383280" cy="4937760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98347" y="1508760"/>
            <a:ext cx="54864" cy="493776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7" y="1645920"/>
            <a:ext cx="3108960" cy="4114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500" b="1">
                <a:solidFill>
                  <a:srgbClr val="1F2937"/>
                </a:solidFill>
                <a:latin typeface="Noto Sans JP"/>
              </a:rPr>
              <a:t>オペレーション標準化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7" y="2194560"/>
            <a:ext cx="3108960" cy="274320"/>
          </a:xfrm>
          <a:prstGeom prst="roundRect">
            <a:avLst>
              <a:gd name="adj" fmla="val 2000"/>
            </a:avLst>
          </a:prstGeom>
          <a:solidFill>
            <a:srgbClr val="C95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FFFFFF"/>
                </a:solidFill>
                <a:latin typeface="Noto Sans JP"/>
              </a:rPr>
              <a:t>現状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7" y="2560320"/>
            <a:ext cx="3108960" cy="731520"/>
          </a:xfrm>
          <a:prstGeom prst="roundRect">
            <a:avLst>
              <a:gd name="adj" fmla="val 200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1F2937"/>
                </a:solidFill>
                <a:latin typeface="Noto Sans JP"/>
              </a:rPr>
              <a:t>属人的。マニュアル未整備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507" y="2560320"/>
            <a:ext cx="45720" cy="7315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07107" y="3383280"/>
            <a:ext cx="36576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600" b="0">
                <a:solidFill>
                  <a:srgbClr val="42A4AF"/>
                </a:solidFill>
                <a:latin typeface="Noto Sans JP"/>
              </a:rPr>
              <a:t>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7" y="3749039"/>
            <a:ext cx="3108960" cy="274320"/>
          </a:xfrm>
          <a:prstGeom prst="roundRect">
            <a:avLst>
              <a:gd name="adj" fmla="val 2000"/>
            </a:avLst>
          </a:prstGeom>
          <a:solidFill>
            <a:srgbClr val="3A8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FFFFFF"/>
                </a:solidFill>
                <a:latin typeface="Noto Sans JP"/>
              </a:rPr>
              <a:t>AI活用後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7" y="4114800"/>
            <a:ext cx="3108960" cy="731520"/>
          </a:xfrm>
          <a:prstGeom prst="roundRect">
            <a:avLst>
              <a:gd name="adj" fmla="val 2000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1F2937"/>
                </a:solidFill>
                <a:latin typeface="Noto Sans JP"/>
              </a:rPr>
              <a:t>AIで業務マニュアルを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1F2937"/>
                </a:solidFill>
                <a:latin typeface="Noto Sans JP"/>
              </a:rPr>
              <a:t>体系化・自動更新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507" y="4114800"/>
            <a:ext cx="45720" cy="7315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402836" y="1508760"/>
            <a:ext cx="3383280" cy="4937760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02836" y="1508760"/>
            <a:ext cx="54864" cy="4937760"/>
          </a:xfrm>
          <a:prstGeom prst="rect">
            <a:avLst/>
          </a:prstGeom>
          <a:solidFill>
            <a:srgbClr val="4A6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39996" y="1645920"/>
            <a:ext cx="3108960" cy="4114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500" b="1">
                <a:solidFill>
                  <a:srgbClr val="1F2937"/>
                </a:solidFill>
                <a:latin typeface="Noto Sans JP"/>
              </a:rPr>
              <a:t>集客の再現性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39996" y="2194560"/>
            <a:ext cx="3108960" cy="274320"/>
          </a:xfrm>
          <a:prstGeom prst="roundRect">
            <a:avLst>
              <a:gd name="adj" fmla="val 2000"/>
            </a:avLst>
          </a:prstGeom>
          <a:solidFill>
            <a:srgbClr val="C95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FFFFFF"/>
                </a:solidFill>
                <a:latin typeface="Noto Sans JP"/>
              </a:rPr>
              <a:t>現状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39996" y="2560320"/>
            <a:ext cx="3108960" cy="731520"/>
          </a:xfrm>
          <a:prstGeom prst="roundRect">
            <a:avLst>
              <a:gd name="adj" fmla="val 200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1F2937"/>
                </a:solidFill>
                <a:latin typeface="Noto Sans JP"/>
              </a:rPr>
              <a:t>LP・広告を外注依存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39996" y="2560320"/>
            <a:ext cx="45720" cy="7315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11595" y="3383280"/>
            <a:ext cx="36576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600" b="0">
                <a:solidFill>
                  <a:srgbClr val="42A4AF"/>
                </a:solidFill>
                <a:latin typeface="Noto Sans JP"/>
              </a:rPr>
              <a:t>▼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39996" y="3749039"/>
            <a:ext cx="3108960" cy="274320"/>
          </a:xfrm>
          <a:prstGeom prst="roundRect">
            <a:avLst>
              <a:gd name="adj" fmla="val 2000"/>
            </a:avLst>
          </a:prstGeom>
          <a:solidFill>
            <a:srgbClr val="3A8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FFFFFF"/>
                </a:solidFill>
                <a:latin typeface="Noto Sans JP"/>
              </a:rPr>
              <a:t>AI活用後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39996" y="4114800"/>
            <a:ext cx="3108960" cy="731520"/>
          </a:xfrm>
          <a:prstGeom prst="roundRect">
            <a:avLst>
              <a:gd name="adj" fmla="val 2000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1F2937"/>
                </a:solidFill>
                <a:latin typeface="Noto Sans JP"/>
              </a:rPr>
              <a:t>自社でLP制作・広告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1F2937"/>
                </a:solidFill>
                <a:latin typeface="Noto Sans JP"/>
              </a:rPr>
              <a:t>クリエイティブを量産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39996" y="4114800"/>
            <a:ext cx="45720" cy="7315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307324" y="1508760"/>
            <a:ext cx="3383280" cy="4937760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307324" y="1508760"/>
            <a:ext cx="54864" cy="493776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444484" y="1645920"/>
            <a:ext cx="3108960" cy="4114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500" b="1">
                <a:solidFill>
                  <a:srgbClr val="1F2937"/>
                </a:solidFill>
                <a:latin typeface="Noto Sans JP"/>
              </a:rPr>
              <a:t>本部の管理効率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444484" y="2194560"/>
            <a:ext cx="3108960" cy="274320"/>
          </a:xfrm>
          <a:prstGeom prst="roundRect">
            <a:avLst>
              <a:gd name="adj" fmla="val 2000"/>
            </a:avLst>
          </a:prstGeom>
          <a:solidFill>
            <a:srgbClr val="C95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FFFFFF"/>
                </a:solidFill>
                <a:latin typeface="Noto Sans JP"/>
              </a:rPr>
              <a:t>現状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444484" y="2560320"/>
            <a:ext cx="3108960" cy="731520"/>
          </a:xfrm>
          <a:prstGeom prst="roundRect">
            <a:avLst>
              <a:gd name="adj" fmla="val 200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1F2937"/>
                </a:solidFill>
                <a:latin typeface="Noto Sans JP"/>
              </a:rPr>
              <a:t>少人数で手作業中心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444484" y="2560320"/>
            <a:ext cx="45720" cy="7315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816084" y="3383280"/>
            <a:ext cx="36576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600" b="0">
                <a:solidFill>
                  <a:srgbClr val="42A4AF"/>
                </a:solidFill>
                <a:latin typeface="Noto Sans JP"/>
              </a:rPr>
              <a:t>▼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444484" y="3749039"/>
            <a:ext cx="3108960" cy="274320"/>
          </a:xfrm>
          <a:prstGeom prst="roundRect">
            <a:avLst>
              <a:gd name="adj" fmla="val 2000"/>
            </a:avLst>
          </a:prstGeom>
          <a:solidFill>
            <a:srgbClr val="3A8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FFFFFF"/>
                </a:solidFill>
                <a:latin typeface="Noto Sans JP"/>
              </a:rPr>
              <a:t>AI活用後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444484" y="4114800"/>
            <a:ext cx="3108960" cy="731520"/>
          </a:xfrm>
          <a:prstGeom prst="roundRect">
            <a:avLst>
              <a:gd name="adj" fmla="val 2000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1F2937"/>
                </a:solidFill>
                <a:latin typeface="Noto Sans JP"/>
              </a:rPr>
              <a:t>売上集計・報告・連絡を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1F2937"/>
                </a:solidFill>
                <a:latin typeface="Noto Sans JP"/>
              </a:rPr>
              <a:t>自動化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444484" y="4114800"/>
            <a:ext cx="45720" cy="7315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457200" y="5257800"/>
            <a:ext cx="11274552" cy="502920"/>
          </a:xfrm>
          <a:prstGeom prst="roundRect">
            <a:avLst>
              <a:gd name="adj" fmla="val 2000"/>
            </a:avLst>
          </a:prstGeom>
          <a:solidFill>
            <a:srgbClr val="EA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42A4AF"/>
                </a:solidFill>
                <a:latin typeface="Noto Sans JP"/>
              </a:rPr>
              <a:t>AI活用スキルを身につけることが、FC展開の基盤づくりに直結する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5257800"/>
            <a:ext cx="45720" cy="50292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2743200" cy="2286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600" b="1">
                <a:solidFill>
                  <a:srgbClr val="E5E7EB"/>
                </a:solidFill>
                <a:latin typeface="Noto Sans JP"/>
              </a:rP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474720"/>
            <a:ext cx="9144000" cy="7315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3600" b="1">
                <a:solidFill>
                  <a:srgbClr val="111827"/>
                </a:solidFill>
                <a:latin typeface="Noto Sans JP"/>
              </a:rPr>
              <a:t>ゴール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297680"/>
            <a:ext cx="914400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600" b="0">
                <a:solidFill>
                  <a:srgbClr val="4B5563"/>
                </a:solidFill>
                <a:latin typeface="Noto Sans JP"/>
              </a:rPr>
              <a:t>3ヶ月後・6ヶ月後の目指す姿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937760"/>
            <a:ext cx="3657600" cy="36576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320040"/>
            <a:ext cx="7772400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700" b="1">
                <a:solidFill>
                  <a:srgbClr val="111827"/>
                </a:solidFill>
                <a:latin typeface="Noto Sans JP"/>
              </a:rPr>
              <a:t>Phase 1：LPを自力で作れる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0" y="411480"/>
            <a:ext cx="237744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r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4B5563"/>
                </a:solidFill>
                <a:latin typeface="Noto Sans JP"/>
              </a:rPr>
              <a:t>株式会社エヌイチ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868680"/>
            <a:ext cx="91440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4B5563"/>
                </a:solidFill>
                <a:latin typeface="Noto Sans JP"/>
              </a:rPr>
              <a:t>3ヶ月後の姿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61872"/>
            <a:ext cx="11274552" cy="2286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508760"/>
            <a:ext cx="5303520" cy="4937760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508760"/>
            <a:ext cx="54864" cy="4937760"/>
          </a:xfrm>
          <a:prstGeom prst="rect">
            <a:avLst/>
          </a:prstGeom>
          <a:solidFill>
            <a:srgbClr val="C95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45920"/>
            <a:ext cx="1280160" cy="320040"/>
          </a:xfrm>
          <a:prstGeom prst="roundRect">
            <a:avLst>
              <a:gd name="adj" fmla="val 2000"/>
            </a:avLst>
          </a:prstGeom>
          <a:solidFill>
            <a:srgbClr val="C95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FFFFFF"/>
                </a:solidFill>
                <a:latin typeface="Noto Sans JP"/>
              </a:rPr>
              <a:t>Before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148840"/>
            <a:ext cx="4937759" cy="274320"/>
          </a:xfrm>
          <a:prstGeom prst="roundRect">
            <a:avLst>
              <a:gd name="adj" fmla="val 200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1">
                <a:solidFill>
                  <a:srgbClr val="C95454"/>
                </a:solidFill>
                <a:latin typeface="Noto Sans JP"/>
              </a:rPr>
              <a:t>LP制作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468880"/>
            <a:ext cx="4937759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B5563"/>
                </a:solidFill>
                <a:latin typeface="Noto Sans JP"/>
              </a:rPr>
              <a:t>外注で10〜50万円、納期2週間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971800"/>
            <a:ext cx="4937759" cy="274320"/>
          </a:xfrm>
          <a:prstGeom prst="roundRect">
            <a:avLst>
              <a:gd name="adj" fmla="val 200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1">
                <a:solidFill>
                  <a:srgbClr val="C95454"/>
                </a:solidFill>
                <a:latin typeface="Noto Sans JP"/>
              </a:rPr>
              <a:t>LP更新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291840"/>
            <a:ext cx="4937759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B5563"/>
                </a:solidFill>
                <a:latin typeface="Noto Sans JP"/>
              </a:rPr>
              <a:t>修正のたびに外注依頼・追加費用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94760"/>
            <a:ext cx="4937759" cy="274320"/>
          </a:xfrm>
          <a:prstGeom prst="roundRect">
            <a:avLst>
              <a:gd name="adj" fmla="val 200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1">
                <a:solidFill>
                  <a:srgbClr val="C95454"/>
                </a:solidFill>
                <a:latin typeface="Noto Sans JP"/>
              </a:rPr>
              <a:t>FC募集LP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114800"/>
            <a:ext cx="4937759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B5563"/>
                </a:solidFill>
                <a:latin typeface="Noto Sans JP"/>
              </a:rPr>
              <a:t>未着手 or 外注検討中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617720"/>
            <a:ext cx="4937759" cy="274320"/>
          </a:xfrm>
          <a:prstGeom prst="roundRect">
            <a:avLst>
              <a:gd name="adj" fmla="val 200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1">
                <a:solidFill>
                  <a:srgbClr val="C95454"/>
                </a:solidFill>
                <a:latin typeface="Noto Sans JP"/>
              </a:rPr>
              <a:t>バナー・SNS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937760"/>
            <a:ext cx="4937759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B5563"/>
                </a:solidFill>
                <a:latin typeface="Noto Sans JP"/>
              </a:rPr>
              <a:t>外注 or 作成を控えている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52159" y="3703320"/>
            <a:ext cx="484632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2800" b="1">
                <a:solidFill>
                  <a:srgbClr val="42A4AF"/>
                </a:solidFill>
                <a:latin typeface="Noto Sans JP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28231" y="1508760"/>
            <a:ext cx="5303520" cy="4937760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28231" y="1508760"/>
            <a:ext cx="54864" cy="4937760"/>
          </a:xfrm>
          <a:prstGeom prst="rect">
            <a:avLst/>
          </a:prstGeom>
          <a:solidFill>
            <a:srgbClr val="3A8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611112" y="1645920"/>
            <a:ext cx="1280160" cy="320040"/>
          </a:xfrm>
          <a:prstGeom prst="roundRect">
            <a:avLst>
              <a:gd name="adj" fmla="val 2000"/>
            </a:avLst>
          </a:prstGeom>
          <a:solidFill>
            <a:srgbClr val="3A8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FFFFFF"/>
                </a:solidFill>
                <a:latin typeface="Noto Sans JP"/>
              </a:rPr>
              <a:t>After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11112" y="2148840"/>
            <a:ext cx="4937759" cy="274320"/>
          </a:xfrm>
          <a:prstGeom prst="roundRect">
            <a:avLst>
              <a:gd name="adj" fmla="val 2000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1">
                <a:solidFill>
                  <a:srgbClr val="166D37"/>
                </a:solidFill>
                <a:latin typeface="Noto Sans JP"/>
              </a:rPr>
              <a:t>LP制作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11112" y="2468880"/>
            <a:ext cx="4937759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B5563"/>
                </a:solidFill>
                <a:latin typeface="Noto Sans JP"/>
              </a:rPr>
              <a:t>Claude Codeで自作、数時間で公開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11112" y="2971800"/>
            <a:ext cx="4937759" cy="274320"/>
          </a:xfrm>
          <a:prstGeom prst="roundRect">
            <a:avLst>
              <a:gd name="adj" fmla="val 2000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1">
                <a:solidFill>
                  <a:srgbClr val="166D37"/>
                </a:solidFill>
                <a:latin typeface="Noto Sans JP"/>
              </a:rPr>
              <a:t>LP更新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11112" y="3291840"/>
            <a:ext cx="4937759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B5563"/>
                </a:solidFill>
                <a:latin typeface="Noto Sans JP"/>
              </a:rPr>
              <a:t>自分で即修正、A/Bテストも即座に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11112" y="3794760"/>
            <a:ext cx="4937759" cy="274320"/>
          </a:xfrm>
          <a:prstGeom prst="roundRect">
            <a:avLst>
              <a:gd name="adj" fmla="val 2000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1">
                <a:solidFill>
                  <a:srgbClr val="166D37"/>
                </a:solidFill>
                <a:latin typeface="Noto Sans JP"/>
              </a:rPr>
              <a:t>FC募集LP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11112" y="4114800"/>
            <a:ext cx="4937759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B5563"/>
                </a:solidFill>
                <a:latin typeface="Noto Sans JP"/>
              </a:rPr>
              <a:t>FC募集用LPを自作・公開済み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11112" y="4617720"/>
            <a:ext cx="4937759" cy="274320"/>
          </a:xfrm>
          <a:prstGeom prst="roundRect">
            <a:avLst>
              <a:gd name="adj" fmla="val 2000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1">
                <a:solidFill>
                  <a:srgbClr val="166D37"/>
                </a:solidFill>
                <a:latin typeface="Noto Sans JP"/>
              </a:rPr>
              <a:t>バナー・SNS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611112" y="4937760"/>
            <a:ext cx="4937759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B5563"/>
                </a:solidFill>
                <a:latin typeface="Noto Sans JP"/>
              </a:rPr>
              <a:t>AIで素材を量産、PDCAを自分で回す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320040"/>
            <a:ext cx="7772400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700" b="1">
                <a:solidFill>
                  <a:srgbClr val="111827"/>
                </a:solidFill>
                <a:latin typeface="Noto Sans JP"/>
              </a:rPr>
              <a:t>Phase 2：本部業務を自動化できる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0" y="411480"/>
            <a:ext cx="237744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r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4B5563"/>
                </a:solidFill>
                <a:latin typeface="Noto Sans JP"/>
              </a:rPr>
              <a:t>株式会社エヌイチ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868680"/>
            <a:ext cx="91440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4B5563"/>
                </a:solidFill>
                <a:latin typeface="Noto Sans JP"/>
              </a:rPr>
              <a:t>6ヶ月後の姿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61872"/>
            <a:ext cx="11274552" cy="2286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508760"/>
            <a:ext cx="5303520" cy="4937760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508760"/>
            <a:ext cx="54864" cy="4937760"/>
          </a:xfrm>
          <a:prstGeom prst="rect">
            <a:avLst/>
          </a:prstGeom>
          <a:solidFill>
            <a:srgbClr val="C95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45920"/>
            <a:ext cx="1280160" cy="320040"/>
          </a:xfrm>
          <a:prstGeom prst="roundRect">
            <a:avLst>
              <a:gd name="adj" fmla="val 2000"/>
            </a:avLst>
          </a:prstGeom>
          <a:solidFill>
            <a:srgbClr val="C95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FFFFFF"/>
                </a:solidFill>
                <a:latin typeface="Noto Sans JP"/>
              </a:rPr>
              <a:t>Before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148840"/>
            <a:ext cx="4937759" cy="274320"/>
          </a:xfrm>
          <a:prstGeom prst="roundRect">
            <a:avLst>
              <a:gd name="adj" fmla="val 200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1">
                <a:solidFill>
                  <a:srgbClr val="C95454"/>
                </a:solidFill>
                <a:latin typeface="Noto Sans JP"/>
              </a:rPr>
              <a:t>売上集計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468880"/>
            <a:ext cx="4937759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B5563"/>
                </a:solidFill>
                <a:latin typeface="Noto Sans JP"/>
              </a:rPr>
              <a:t>3店舗の数字を手動集計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971800"/>
            <a:ext cx="4937759" cy="274320"/>
          </a:xfrm>
          <a:prstGeom prst="roundRect">
            <a:avLst>
              <a:gd name="adj" fmla="val 200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1">
                <a:solidFill>
                  <a:srgbClr val="C95454"/>
                </a:solidFill>
                <a:latin typeface="Noto Sans JP"/>
              </a:rPr>
              <a:t>口コミ対応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291840"/>
            <a:ext cx="4937759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B5563"/>
                </a:solidFill>
                <a:latin typeface="Noto Sans JP"/>
              </a:rPr>
              <a:t>1件ずつ手打ちで返信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94760"/>
            <a:ext cx="4937759" cy="274320"/>
          </a:xfrm>
          <a:prstGeom prst="roundRect">
            <a:avLst>
              <a:gd name="adj" fmla="val 200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1">
                <a:solidFill>
                  <a:srgbClr val="C95454"/>
                </a:solidFill>
                <a:latin typeface="Noto Sans JP"/>
              </a:rPr>
              <a:t>リマインド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114800"/>
            <a:ext cx="4937759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B5563"/>
                </a:solidFill>
                <a:latin typeface="Noto Sans JP"/>
              </a:rPr>
              <a:t>スタッフが手動連絡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617720"/>
            <a:ext cx="4937759" cy="274320"/>
          </a:xfrm>
          <a:prstGeom prst="roundRect">
            <a:avLst>
              <a:gd name="adj" fmla="val 200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1">
                <a:solidFill>
                  <a:srgbClr val="C95454"/>
                </a:solidFill>
                <a:latin typeface="Noto Sans JP"/>
              </a:rPr>
              <a:t>SNS投稿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937760"/>
            <a:ext cx="4937759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B5563"/>
                </a:solidFill>
                <a:latin typeface="Noto Sans JP"/>
              </a:rPr>
              <a:t>毎回30分かけて文面作成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52159" y="3703320"/>
            <a:ext cx="484632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2800" b="1">
                <a:solidFill>
                  <a:srgbClr val="42A4AF"/>
                </a:solidFill>
                <a:latin typeface="Noto Sans JP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28231" y="1508760"/>
            <a:ext cx="5303520" cy="4937760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28231" y="1508760"/>
            <a:ext cx="54864" cy="4937760"/>
          </a:xfrm>
          <a:prstGeom prst="rect">
            <a:avLst/>
          </a:prstGeom>
          <a:solidFill>
            <a:srgbClr val="3A8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611112" y="1645920"/>
            <a:ext cx="1280160" cy="320040"/>
          </a:xfrm>
          <a:prstGeom prst="roundRect">
            <a:avLst>
              <a:gd name="adj" fmla="val 2000"/>
            </a:avLst>
          </a:prstGeom>
          <a:solidFill>
            <a:srgbClr val="3A8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FFFFFF"/>
                </a:solidFill>
                <a:latin typeface="Noto Sans JP"/>
              </a:rPr>
              <a:t>After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11112" y="2148840"/>
            <a:ext cx="4937759" cy="274320"/>
          </a:xfrm>
          <a:prstGeom prst="roundRect">
            <a:avLst>
              <a:gd name="adj" fmla="val 2000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1">
                <a:solidFill>
                  <a:srgbClr val="166D37"/>
                </a:solidFill>
                <a:latin typeface="Noto Sans JP"/>
              </a:rPr>
              <a:t>売上集計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11112" y="2468880"/>
            <a:ext cx="4937759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B5563"/>
                </a:solidFill>
                <a:latin typeface="Noto Sans JP"/>
              </a:rPr>
              <a:t>毎日自動集計→レポートが届く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11112" y="2971800"/>
            <a:ext cx="4937759" cy="274320"/>
          </a:xfrm>
          <a:prstGeom prst="roundRect">
            <a:avLst>
              <a:gd name="adj" fmla="val 2000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1">
                <a:solidFill>
                  <a:srgbClr val="166D37"/>
                </a:solidFill>
                <a:latin typeface="Noto Sans JP"/>
              </a:rPr>
              <a:t>口コミ対応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11112" y="3291840"/>
            <a:ext cx="4937759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B5563"/>
                </a:solidFill>
                <a:latin typeface="Noto Sans JP"/>
              </a:rPr>
              <a:t>AIが返信案を自動生成→確認して投稿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11112" y="3794760"/>
            <a:ext cx="4937759" cy="274320"/>
          </a:xfrm>
          <a:prstGeom prst="roundRect">
            <a:avLst>
              <a:gd name="adj" fmla="val 2000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1">
                <a:solidFill>
                  <a:srgbClr val="166D37"/>
                </a:solidFill>
                <a:latin typeface="Noto Sans JP"/>
              </a:rPr>
              <a:t>リマインド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11112" y="4114800"/>
            <a:ext cx="4937759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B5563"/>
                </a:solidFill>
                <a:latin typeface="Noto Sans JP"/>
              </a:rPr>
              <a:t>前日に自動でリマインド送信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11112" y="4617720"/>
            <a:ext cx="4937759" cy="274320"/>
          </a:xfrm>
          <a:prstGeom prst="roundRect">
            <a:avLst>
              <a:gd name="adj" fmla="val 2000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1">
                <a:solidFill>
                  <a:srgbClr val="166D37"/>
                </a:solidFill>
                <a:latin typeface="Noto Sans JP"/>
              </a:rPr>
              <a:t>SNS投稿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611112" y="4937760"/>
            <a:ext cx="4937759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B5563"/>
                </a:solidFill>
                <a:latin typeface="Noto Sans JP"/>
              </a:rPr>
              <a:t>写真を入れるだけで投稿文が自動生成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320040"/>
            <a:ext cx="7772400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700" b="1">
                <a:solidFill>
                  <a:srgbClr val="111827"/>
                </a:solidFill>
                <a:latin typeface="Noto Sans JP"/>
              </a:rPr>
              <a:t>「ここまで自分でできる」自動化の具体例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0" y="411480"/>
            <a:ext cx="237744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r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4B5563"/>
                </a:solidFill>
                <a:latin typeface="Noto Sans JP"/>
              </a:rPr>
              <a:t>株式会社エヌイチ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868680"/>
            <a:ext cx="91440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4B5563"/>
                </a:solidFill>
                <a:latin typeface="Noto Sans JP"/>
              </a:rPr>
              <a:t>御社で実現できること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61872"/>
            <a:ext cx="11274552" cy="2286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2628" y="1508760"/>
            <a:ext cx="3474720" cy="2148840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2628" y="1508760"/>
            <a:ext cx="54864" cy="214884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" y="1618488"/>
            <a:ext cx="3154679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1F2937"/>
                </a:solidFill>
                <a:latin typeface="Noto Sans JP"/>
              </a:rPr>
              <a:t>① LP制作・更新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" y="1947672"/>
            <a:ext cx="3154679" cy="256032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42A4AF"/>
                </a:solidFill>
                <a:latin typeface="Noto Sans JP"/>
              </a:rPr>
              <a:t>Claude Code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508" y="2286000"/>
            <a:ext cx="3154679" cy="11887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B5563"/>
                </a:solidFill>
                <a:latin typeface="Noto Sans JP"/>
              </a:rPr>
              <a:t>外注10〜50万円→自分で数時間。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B5563"/>
                </a:solidFill>
                <a:latin typeface="Noto Sans JP"/>
              </a:rPr>
              <a:t>A/Bテストも即座に回せる。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57116" y="1508760"/>
            <a:ext cx="3474720" cy="2148840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57116" y="1508760"/>
            <a:ext cx="54864" cy="2148840"/>
          </a:xfrm>
          <a:prstGeom prst="rect">
            <a:avLst/>
          </a:prstGeom>
          <a:solidFill>
            <a:srgbClr val="4A6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39996" y="1618488"/>
            <a:ext cx="3154679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1F2937"/>
                </a:solidFill>
                <a:latin typeface="Noto Sans JP"/>
              </a:rPr>
              <a:t>② SNS投稿文の自動生成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39996" y="1947672"/>
            <a:ext cx="3154679" cy="256032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42A4AF"/>
                </a:solidFill>
                <a:latin typeface="Noto Sans JP"/>
              </a:rPr>
              <a:t>Dify + AI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39996" y="2286000"/>
            <a:ext cx="3154679" cy="11887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B5563"/>
                </a:solidFill>
                <a:latin typeface="Noto Sans JP"/>
              </a:rPr>
              <a:t>写真を入れるだけで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B5563"/>
                </a:solidFill>
                <a:latin typeface="Noto Sans JP"/>
              </a:rPr>
              <a:t>Instagram投稿文が自動生成。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61604" y="1508760"/>
            <a:ext cx="3474720" cy="2148840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61604" y="1508760"/>
            <a:ext cx="54864" cy="2148840"/>
          </a:xfrm>
          <a:prstGeom prst="rect">
            <a:avLst/>
          </a:prstGeom>
          <a:solidFill>
            <a:srgbClr val="3A8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444484" y="1618488"/>
            <a:ext cx="3154679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1F2937"/>
                </a:solidFill>
                <a:latin typeface="Noto Sans JP"/>
              </a:rPr>
              <a:t>③ 口コミ返信の自動下書き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44484" y="1947672"/>
            <a:ext cx="3154679" cy="256032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42A4AF"/>
                </a:solidFill>
                <a:latin typeface="Noto Sans JP"/>
              </a:rPr>
              <a:t>n8n + AI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44484" y="2286000"/>
            <a:ext cx="3154679" cy="11887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B5563"/>
                </a:solidFill>
                <a:latin typeface="Noto Sans JP"/>
              </a:rPr>
              <a:t>Googleマップの口コミを自動検知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B5563"/>
                </a:solidFill>
                <a:latin typeface="Noto Sans JP"/>
              </a:rPr>
              <a:t>→AIが返信案を作成。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2628" y="3931920"/>
            <a:ext cx="3474720" cy="2148840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2628" y="3931920"/>
            <a:ext cx="54864" cy="214884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5508" y="4041648"/>
            <a:ext cx="3154679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1F2937"/>
                </a:solidFill>
                <a:latin typeface="Noto Sans JP"/>
              </a:rPr>
              <a:t>④ 予約リマインド自動送信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5508" y="4370831"/>
            <a:ext cx="3154679" cy="256032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42A4AF"/>
                </a:solidFill>
                <a:latin typeface="Noto Sans JP"/>
              </a:rPr>
              <a:t>n8n + LINE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508" y="4709159"/>
            <a:ext cx="3154679" cy="11887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B5563"/>
                </a:solidFill>
                <a:latin typeface="Noto Sans JP"/>
              </a:rPr>
              <a:t>予約前日に自動でリマインド。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B5563"/>
                </a:solidFill>
                <a:latin typeface="Noto Sans JP"/>
              </a:rPr>
              <a:t>ノーショー率の削減に直結。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57116" y="3931920"/>
            <a:ext cx="3474720" cy="2148840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57116" y="3931920"/>
            <a:ext cx="54864" cy="2148840"/>
          </a:xfrm>
          <a:prstGeom prst="rect">
            <a:avLst/>
          </a:prstGeom>
          <a:solidFill>
            <a:srgbClr val="4A6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39996" y="4041648"/>
            <a:ext cx="3154679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1F2937"/>
                </a:solidFill>
                <a:latin typeface="Noto Sans JP"/>
              </a:rPr>
              <a:t>⑤ 売上日報の自動集計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39996" y="4370831"/>
            <a:ext cx="3154679" cy="256032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42A4AF"/>
                </a:solidFill>
                <a:latin typeface="Noto Sans JP"/>
              </a:rPr>
              <a:t>n8n + スプレッドシート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39996" y="4709159"/>
            <a:ext cx="3154679" cy="11887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B5563"/>
                </a:solidFill>
                <a:latin typeface="Noto Sans JP"/>
              </a:rPr>
              <a:t>3店舗の売上を毎日自動集計。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B5563"/>
                </a:solidFill>
                <a:latin typeface="Noto Sans JP"/>
              </a:rPr>
              <a:t>レポートがLINEに届く。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61604" y="3931920"/>
            <a:ext cx="3474720" cy="2148840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261604" y="3931920"/>
            <a:ext cx="54864" cy="214884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444484" y="4041648"/>
            <a:ext cx="3154679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1F2937"/>
                </a:solidFill>
                <a:latin typeface="Noto Sans JP"/>
              </a:rPr>
              <a:t>⑥ FC向けマニュアル整備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444484" y="4370831"/>
            <a:ext cx="3154679" cy="256032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42A4AF"/>
                </a:solidFill>
                <a:latin typeface="Noto Sans JP"/>
              </a:rPr>
              <a:t>Claude Code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444484" y="4709159"/>
            <a:ext cx="3154679" cy="11887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B5563"/>
                </a:solidFill>
                <a:latin typeface="Noto Sans JP"/>
              </a:rPr>
              <a:t>オペレーション情報をAIが整理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B5563"/>
                </a:solidFill>
                <a:latin typeface="Noto Sans JP"/>
              </a:rPr>
              <a:t>→標準化マニュアルとして出力。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2743200" cy="2286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600" b="1">
                <a:solidFill>
                  <a:srgbClr val="E5E7EB"/>
                </a:solidFill>
                <a:latin typeface="Noto Sans JP"/>
              </a:rP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474720"/>
            <a:ext cx="9144000" cy="7315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3600" b="1">
                <a:solidFill>
                  <a:srgbClr val="111827"/>
                </a:solidFill>
                <a:latin typeface="Noto Sans JP"/>
              </a:rPr>
              <a:t>提案詳細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297680"/>
            <a:ext cx="914400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600" b="0">
                <a:solidFill>
                  <a:srgbClr val="4B5563"/>
                </a:solidFill>
                <a:latin typeface="Noto Sans JP"/>
              </a:rPr>
              <a:t>Kawaru Coach のご提案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937760"/>
            <a:ext cx="3657600" cy="36576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320040"/>
            <a:ext cx="7772400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700" b="1">
                <a:solidFill>
                  <a:srgbClr val="111827"/>
                </a:solidFill>
                <a:latin typeface="Noto Sans JP"/>
              </a:rPr>
              <a:t>「自分でできる」が最大のROI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0" y="411480"/>
            <a:ext cx="237744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r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4B5563"/>
                </a:solidFill>
                <a:latin typeface="Noto Sans JP"/>
              </a:rPr>
              <a:t>株式会社エヌイチ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868680"/>
            <a:ext cx="91440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4B5563"/>
                </a:solidFill>
                <a:latin typeface="Noto Sans JP"/>
              </a:rPr>
              <a:t>提案根拠　アプローチ比較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61872"/>
            <a:ext cx="11274552" cy="2286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5507" y="1463040"/>
            <a:ext cx="3291840" cy="502920"/>
          </a:xfrm>
          <a:prstGeom prst="roundRect">
            <a:avLst>
              <a:gd name="adj" fmla="val 2000"/>
            </a:avLst>
          </a:prstGeom>
          <a:solidFill>
            <a:srgbClr val="C95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FFFFFF"/>
                </a:solidFill>
                <a:latin typeface="Noto Sans JP"/>
              </a:rPr>
              <a:t>① 外注し続ける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7" y="2057400"/>
            <a:ext cx="3291840" cy="22860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1">
                <a:solidFill>
                  <a:srgbClr val="6B7280"/>
                </a:solidFill>
                <a:latin typeface="Noto Sans JP"/>
              </a:rPr>
              <a:t>初期コスト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7" y="2313432"/>
            <a:ext cx="3291840" cy="36576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B5563"/>
                </a:solidFill>
                <a:latin typeface="Noto Sans JP"/>
              </a:rPr>
              <a:t>低い（都度払い）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7" y="2724912"/>
            <a:ext cx="3291840" cy="22860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1">
                <a:solidFill>
                  <a:srgbClr val="6B7280"/>
                </a:solidFill>
                <a:latin typeface="Noto Sans JP"/>
              </a:rPr>
              <a:t>スキル蓄積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7" y="2980944"/>
            <a:ext cx="3291840" cy="36576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B5563"/>
                </a:solidFill>
                <a:latin typeface="Noto Sans JP"/>
              </a:rPr>
              <a:t>✕ なし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7" y="3392424"/>
            <a:ext cx="3291840" cy="22860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1">
                <a:solidFill>
                  <a:srgbClr val="6B7280"/>
                </a:solidFill>
                <a:latin typeface="Noto Sans JP"/>
              </a:rPr>
              <a:t>長期コスト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7" y="3648456"/>
            <a:ext cx="3291840" cy="36576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B5563"/>
                </a:solidFill>
                <a:latin typeface="Noto Sans JP"/>
              </a:rPr>
              <a:t>✕ 永続的に外注費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7" y="4059935"/>
            <a:ext cx="3291840" cy="22860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1">
                <a:solidFill>
                  <a:srgbClr val="6B7280"/>
                </a:solidFill>
                <a:latin typeface="Noto Sans JP"/>
              </a:rPr>
              <a:t>LP制作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7" y="4315968"/>
            <a:ext cx="3291840" cy="36576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B5563"/>
                </a:solidFill>
                <a:latin typeface="Noto Sans JP"/>
              </a:rPr>
              <a:t>外注依存が続く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7" y="4727448"/>
            <a:ext cx="3291840" cy="22860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1">
                <a:solidFill>
                  <a:srgbClr val="6B7280"/>
                </a:solidFill>
                <a:latin typeface="Noto Sans JP"/>
              </a:rPr>
              <a:t>業務自動化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7" y="4983480"/>
            <a:ext cx="3291840" cy="36576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B5563"/>
                </a:solidFill>
                <a:latin typeface="Noto Sans JP"/>
              </a:rPr>
              <a:t>対象外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7" y="5394960"/>
            <a:ext cx="3291840" cy="22860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1">
                <a:solidFill>
                  <a:srgbClr val="6B7280"/>
                </a:solidFill>
                <a:latin typeface="Noto Sans JP"/>
              </a:rPr>
              <a:t>FC展開貢献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7" y="5650992"/>
            <a:ext cx="3291840" cy="36576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B5563"/>
                </a:solidFill>
                <a:latin typeface="Noto Sans JP"/>
              </a:rPr>
              <a:t>低い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48555" y="1463040"/>
            <a:ext cx="3291840" cy="502920"/>
          </a:xfrm>
          <a:prstGeom prst="roundRect">
            <a:avLst>
              <a:gd name="adj" fmla="val 2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FFFFFF"/>
                </a:solidFill>
                <a:latin typeface="Noto Sans JP"/>
              </a:rPr>
              <a:t>② ツールだけ導入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48555" y="2057400"/>
            <a:ext cx="3291840" cy="22860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1">
                <a:solidFill>
                  <a:srgbClr val="6B7280"/>
                </a:solidFill>
                <a:latin typeface="Noto Sans JP"/>
              </a:rPr>
              <a:t>初期コスト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48555" y="2313432"/>
            <a:ext cx="3291840" cy="36576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B5563"/>
                </a:solidFill>
                <a:latin typeface="Noto Sans JP"/>
              </a:rPr>
              <a:t>低い（月額数千円）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48555" y="2724912"/>
            <a:ext cx="3291840" cy="22860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1">
                <a:solidFill>
                  <a:srgbClr val="6B7280"/>
                </a:solidFill>
                <a:latin typeface="Noto Sans JP"/>
              </a:rPr>
              <a:t>スキル蓄積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48555" y="2980944"/>
            <a:ext cx="3291840" cy="36576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B5563"/>
                </a:solidFill>
                <a:latin typeface="Noto Sans JP"/>
              </a:rPr>
              <a:t>△ 自力で限界あり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48555" y="3392424"/>
            <a:ext cx="3291840" cy="22860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1">
                <a:solidFill>
                  <a:srgbClr val="6B7280"/>
                </a:solidFill>
                <a:latin typeface="Noto Sans JP"/>
              </a:rPr>
              <a:t>長期コスト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48555" y="3648456"/>
            <a:ext cx="3291840" cy="36576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B5563"/>
                </a:solidFill>
                <a:latin typeface="Noto Sans JP"/>
              </a:rPr>
              <a:t>△ 活用しきれず放置リスク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48555" y="4059935"/>
            <a:ext cx="3291840" cy="22860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1">
                <a:solidFill>
                  <a:srgbClr val="6B7280"/>
                </a:solidFill>
                <a:latin typeface="Noto Sans JP"/>
              </a:rPr>
              <a:t>LP制作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48555" y="4315968"/>
            <a:ext cx="3291840" cy="36576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B5563"/>
                </a:solidFill>
                <a:latin typeface="Noto Sans JP"/>
              </a:rPr>
              <a:t>80%で止まる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448555" y="4727448"/>
            <a:ext cx="3291840" cy="22860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1">
                <a:solidFill>
                  <a:srgbClr val="6B7280"/>
                </a:solidFill>
                <a:latin typeface="Noto Sans JP"/>
              </a:rPr>
              <a:t>業務自動化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448555" y="4983480"/>
            <a:ext cx="3291840" cy="36576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B5563"/>
                </a:solidFill>
                <a:latin typeface="Noto Sans JP"/>
              </a:rPr>
              <a:t>何から始めるかわからない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448555" y="5394960"/>
            <a:ext cx="3291840" cy="22860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1">
                <a:solidFill>
                  <a:srgbClr val="6B7280"/>
                </a:solidFill>
                <a:latin typeface="Noto Sans JP"/>
              </a:rPr>
              <a:t>FC展開貢献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448555" y="5650992"/>
            <a:ext cx="3291840" cy="36576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B5563"/>
                </a:solidFill>
                <a:latin typeface="Noto Sans JP"/>
              </a:rPr>
              <a:t>限定的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61604" y="1463040"/>
            <a:ext cx="3291840" cy="502920"/>
          </a:xfrm>
          <a:prstGeom prst="roundRect">
            <a:avLst>
              <a:gd name="adj" fmla="val 2000"/>
            </a:avLst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FFFFFF"/>
                </a:solidFill>
                <a:latin typeface="Noto Sans JP"/>
              </a:rPr>
              <a:t>③ コーチ型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FFFFFF"/>
                </a:solidFill>
                <a:latin typeface="Noto Sans JP"/>
              </a:rPr>
              <a:t>（Kawaru Coach）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61604" y="2057400"/>
            <a:ext cx="3291840" cy="228600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1">
                <a:solidFill>
                  <a:srgbClr val="42A4AF"/>
                </a:solidFill>
                <a:latin typeface="Noto Sans JP"/>
              </a:rPr>
              <a:t>初期コスト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61604" y="2313432"/>
            <a:ext cx="3291840" cy="36576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1F2937"/>
                </a:solidFill>
                <a:latin typeface="Noto Sans JP"/>
              </a:rPr>
              <a:t>中（月額20万円）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61604" y="2724912"/>
            <a:ext cx="3291840" cy="228600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1">
                <a:solidFill>
                  <a:srgbClr val="42A4AF"/>
                </a:solidFill>
                <a:latin typeface="Noto Sans JP"/>
              </a:rPr>
              <a:t>スキル蓄積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61604" y="2980944"/>
            <a:ext cx="3291840" cy="36576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1F2937"/>
                </a:solidFill>
                <a:latin typeface="Noto Sans JP"/>
              </a:rPr>
              <a:t>◎ 体系的に習得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61604" y="3392424"/>
            <a:ext cx="3291840" cy="228600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1">
                <a:solidFill>
                  <a:srgbClr val="42A4AF"/>
                </a:solidFill>
                <a:latin typeface="Noto Sans JP"/>
              </a:rPr>
              <a:t>長期コスト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261604" y="3648456"/>
            <a:ext cx="3291840" cy="36576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1F2937"/>
                </a:solidFill>
                <a:latin typeface="Noto Sans JP"/>
              </a:rPr>
              <a:t>◎ 6ヶ月後に自走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261604" y="4059935"/>
            <a:ext cx="3291840" cy="228600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1">
                <a:solidFill>
                  <a:srgbClr val="42A4AF"/>
                </a:solidFill>
                <a:latin typeface="Noto Sans JP"/>
              </a:rPr>
              <a:t>LP制作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261604" y="4315968"/>
            <a:ext cx="3291840" cy="36576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1F2937"/>
                </a:solidFill>
                <a:latin typeface="Noto Sans JP"/>
              </a:rPr>
              <a:t>100%を自力で作れる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261604" y="4727448"/>
            <a:ext cx="3291840" cy="228600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1">
                <a:solidFill>
                  <a:srgbClr val="42A4AF"/>
                </a:solidFill>
                <a:latin typeface="Noto Sans JP"/>
              </a:rPr>
              <a:t>業務自動化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261604" y="4983480"/>
            <a:ext cx="3291840" cy="36576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1F2937"/>
                </a:solidFill>
                <a:latin typeface="Noto Sans JP"/>
              </a:rPr>
              <a:t>ロードマップ通りに実現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261604" y="5394960"/>
            <a:ext cx="3291840" cy="228600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1">
                <a:solidFill>
                  <a:srgbClr val="42A4AF"/>
                </a:solidFill>
                <a:latin typeface="Noto Sans JP"/>
              </a:rPr>
              <a:t>FC展開貢献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261604" y="5650992"/>
            <a:ext cx="3291840" cy="36576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1F2937"/>
                </a:solidFill>
                <a:latin typeface="Noto Sans JP"/>
              </a:rPr>
              <a:t>標準化・内製化に直結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320040"/>
            <a:ext cx="7772400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700" b="1">
                <a:solidFill>
                  <a:srgbClr val="111827"/>
                </a:solidFill>
                <a:latin typeface="Noto Sans JP"/>
              </a:rPr>
              <a:t>Kawaru Coach — 選ばれる4つの理由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0" y="411480"/>
            <a:ext cx="237744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r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4B5563"/>
                </a:solidFill>
                <a:latin typeface="Noto Sans JP"/>
              </a:rPr>
              <a:t>株式会社エヌイチ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868680"/>
            <a:ext cx="91440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4B5563"/>
                </a:solidFill>
                <a:latin typeface="Noto Sans JP"/>
              </a:rPr>
              <a:t>サービス紹介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61872"/>
            <a:ext cx="11274552" cy="2286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30352" y="1463040"/>
            <a:ext cx="2514600" cy="3108960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30352" y="1463040"/>
            <a:ext cx="54864" cy="310896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523744" y="1536192"/>
            <a:ext cx="402336" cy="402336"/>
          </a:xfrm>
          <a:prstGeom prst="ellipse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Noto Sans JP"/>
              </a:rP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7512" y="1600200"/>
            <a:ext cx="1965960" cy="64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1F2937"/>
                </a:solidFill>
                <a:latin typeface="Noto Sans JP"/>
              </a:rPr>
              <a:t>5,000名超の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1F2937"/>
                </a:solidFill>
                <a:latin typeface="Noto Sans JP"/>
              </a:rPr>
              <a:t>AIコンサルタント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7512" y="2331720"/>
            <a:ext cx="2240280" cy="21031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業種・規模・フェーズに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応じて最適な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担当者を選定。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「知識が浅い」リスクなし。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01568" y="1463040"/>
            <a:ext cx="2514600" cy="3108960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463040"/>
            <a:ext cx="54864" cy="3108960"/>
          </a:xfrm>
          <a:prstGeom prst="rect">
            <a:avLst/>
          </a:prstGeom>
          <a:solidFill>
            <a:srgbClr val="4A6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394960" y="1536192"/>
            <a:ext cx="402336" cy="402336"/>
          </a:xfrm>
          <a:prstGeom prst="ellipse">
            <a:avLst/>
          </a:prstGeom>
          <a:solidFill>
            <a:srgbClr val="4A6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Noto Sans JP"/>
              </a:rP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38728" y="1600200"/>
            <a:ext cx="1965960" cy="64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1F2937"/>
                </a:solidFill>
                <a:latin typeface="Noto Sans JP"/>
              </a:rPr>
              <a:t>経営・事業・組織の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1F2937"/>
                </a:solidFill>
                <a:latin typeface="Noto Sans JP"/>
              </a:rPr>
              <a:t>3視点で伴走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38728" y="2331720"/>
            <a:ext cx="2240280" cy="21031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ツールの使い方だけでなく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「事業にどう効くか」を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設計。局所改善に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とどまらない。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72784" y="1463040"/>
            <a:ext cx="2514600" cy="3108960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72784" y="1463040"/>
            <a:ext cx="54864" cy="3108960"/>
          </a:xfrm>
          <a:prstGeom prst="rect">
            <a:avLst/>
          </a:prstGeom>
          <a:solidFill>
            <a:srgbClr val="3A8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66175" y="1536192"/>
            <a:ext cx="402336" cy="402336"/>
          </a:xfrm>
          <a:prstGeom prst="ellipse">
            <a:avLst/>
          </a:prstGeom>
          <a:solidFill>
            <a:srgbClr val="3A8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Noto Sans JP"/>
              </a:rPr>
              <a:t>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9944" y="1600200"/>
            <a:ext cx="1965960" cy="64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1F2937"/>
                </a:solidFill>
                <a:latin typeface="Noto Sans JP"/>
              </a:rPr>
              <a:t>ゴールは「自走」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1F2937"/>
                </a:solidFill>
                <a:latin typeface="Noto Sans JP"/>
              </a:rPr>
              <a:t>顧問依存にしない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9944" y="2331720"/>
            <a:ext cx="2240280" cy="21031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契約終了後も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自分で回せる状態を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作ることが使命。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マニュアル整備まで支援。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0" y="1463040"/>
            <a:ext cx="2514600" cy="3108960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44000" y="1463040"/>
            <a:ext cx="54864" cy="310896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137392" y="1536192"/>
            <a:ext cx="402336" cy="402336"/>
          </a:xfrm>
          <a:prstGeom prst="ellipse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Noto Sans JP"/>
              </a:rPr>
              <a:t>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281160" y="1600200"/>
            <a:ext cx="1965960" cy="64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1F2937"/>
                </a:solidFill>
                <a:latin typeface="Noto Sans JP"/>
              </a:rPr>
              <a:t>月額制×最低3ヶ月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1F2937"/>
                </a:solidFill>
                <a:latin typeface="Noto Sans JP"/>
              </a:rPr>
              <a:t>解約リスクは我々が取る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281160" y="2331720"/>
            <a:ext cx="2240280" cy="21031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成果が出なければ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継続理由がない設計。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常に成果にコミット。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754880"/>
            <a:ext cx="11274552" cy="1645920"/>
          </a:xfrm>
          <a:prstGeom prst="roundRect">
            <a:avLst>
              <a:gd name="adj" fmla="val 3000"/>
            </a:avLst>
          </a:prstGeom>
          <a:solidFill>
            <a:srgbClr val="EA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4754880"/>
            <a:ext cx="54864" cy="164592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40080" y="4846320"/>
            <a:ext cx="1828800" cy="274320"/>
          </a:xfrm>
          <a:prstGeom prst="roundRect">
            <a:avLst>
              <a:gd name="adj" fmla="val 2000"/>
            </a:avLst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100" b="1">
                <a:solidFill>
                  <a:srgbClr val="FFFFFF"/>
                </a:solidFill>
                <a:latin typeface="Noto Sans JP"/>
              </a:rPr>
              <a:t>導入事例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651760" y="4846320"/>
            <a:ext cx="36576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1F2937"/>
                </a:solidFill>
                <a:latin typeface="Noto Sans JP"/>
              </a:rPr>
              <a:t>株式会社BIRDY様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5212080"/>
            <a:ext cx="10908792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500" b="1">
                <a:solidFill>
                  <a:srgbClr val="1F2937"/>
                </a:solidFill>
                <a:latin typeface="Noto Sans JP"/>
              </a:rPr>
              <a:t>「ITリテラシーが低い会社でも、ちゃんと導入・運用まで伴走してくれます」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5715000"/>
            <a:ext cx="10908792" cy="5486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B5563"/>
                </a:solidFill>
                <a:latin typeface="Noto Sans JP"/>
              </a:rPr>
              <a:t>代表自身がAI未経験 → バックオフィス効率化・代表業務の仕組み化を実現。経営資源を成長領域にシフト。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320040"/>
            <a:ext cx="7772400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700" b="1">
                <a:solidFill>
                  <a:srgbClr val="111827"/>
                </a:solidFill>
                <a:latin typeface="Noto Sans JP"/>
              </a:rPr>
              <a:t>支援の進め方（3フェーズ）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0" y="411480"/>
            <a:ext cx="237744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r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4B5563"/>
                </a:solidFill>
                <a:latin typeface="Noto Sans JP"/>
              </a:rPr>
              <a:t>株式会社エヌイチ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868680"/>
            <a:ext cx="91440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4B5563"/>
                </a:solidFill>
                <a:latin typeface="Noto Sans JP"/>
              </a:rPr>
              <a:t>支援プロセス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61872"/>
            <a:ext cx="11274552" cy="2286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705355" y="1463040"/>
            <a:ext cx="1097280" cy="292608"/>
          </a:xfrm>
          <a:prstGeom prst="roundRect">
            <a:avLst>
              <a:gd name="adj" fmla="val 2000"/>
            </a:avLst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100" b="1">
                <a:solidFill>
                  <a:srgbClr val="FFFFFF"/>
                </a:solidFill>
                <a:latin typeface="Noto Sans JP"/>
              </a:rPr>
              <a:t>フェーズ 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3795" y="1856232"/>
            <a:ext cx="3200400" cy="47548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3795" y="1856232"/>
            <a:ext cx="54864" cy="475488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90955" y="1965960"/>
            <a:ext cx="2926080" cy="640080"/>
          </a:xfrm>
          <a:prstGeom prst="roundRect">
            <a:avLst>
              <a:gd name="adj" fmla="val 2000"/>
            </a:avLst>
          </a:prstGeom>
          <a:solidFill>
            <a:srgbClr val="EA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1F2937"/>
                </a:solidFill>
                <a:latin typeface="Noto Sans JP"/>
              </a:rPr>
              <a:t>「何をすべきか」を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1F2937"/>
                </a:solidFill>
                <a:latin typeface="Noto Sans JP"/>
              </a:rPr>
              <a:t>言語化する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0955" y="1965960"/>
            <a:ext cx="45720" cy="64008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90955" y="2724912"/>
            <a:ext cx="2926080" cy="32004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●  経営目標・業務課題・組織体制を整理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0955" y="3108960"/>
            <a:ext cx="2926080" cy="32004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●  AIで取り組むべき優先課題を明文化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0955" y="3493008"/>
            <a:ext cx="2926080" cy="32004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●  成果物：ロードマップ・優先課題リスト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0955" y="3877056"/>
            <a:ext cx="2926080" cy="32004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●  初期費用10万円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991356" y="4160520"/>
            <a:ext cx="36576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2200" b="1">
                <a:solidFill>
                  <a:srgbClr val="42A4AF"/>
                </a:solidFill>
                <a:latin typeface="Noto Sans JP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545836" y="1463040"/>
            <a:ext cx="1097280" cy="292608"/>
          </a:xfrm>
          <a:prstGeom prst="roundRect">
            <a:avLst>
              <a:gd name="adj" fmla="val 2000"/>
            </a:avLst>
          </a:prstGeom>
          <a:solidFill>
            <a:srgbClr val="4A6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100" b="1">
                <a:solidFill>
                  <a:srgbClr val="FFFFFF"/>
                </a:solidFill>
                <a:latin typeface="Noto Sans JP"/>
              </a:rPr>
              <a:t>フェーズ 02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94276" y="1856232"/>
            <a:ext cx="3200400" cy="47548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94276" y="1856232"/>
            <a:ext cx="54864" cy="4754880"/>
          </a:xfrm>
          <a:prstGeom prst="rect">
            <a:avLst/>
          </a:prstGeom>
          <a:solidFill>
            <a:srgbClr val="4A6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631436" y="1965960"/>
            <a:ext cx="2926080" cy="640080"/>
          </a:xfrm>
          <a:prstGeom prst="roundRect">
            <a:avLst>
              <a:gd name="adj" fmla="val 2000"/>
            </a:avLst>
          </a:prstGeom>
          <a:solidFill>
            <a:srgbClr val="EA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1F2937"/>
                </a:solidFill>
                <a:latin typeface="Noto Sans JP"/>
              </a:rPr>
              <a:t>AI顧問が隣で動き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1F2937"/>
                </a:solidFill>
                <a:latin typeface="Noto Sans JP"/>
              </a:rPr>
              <a:t>実装を前に進める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31436" y="1965960"/>
            <a:ext cx="45720" cy="640080"/>
          </a:xfrm>
          <a:prstGeom prst="rect">
            <a:avLst/>
          </a:prstGeom>
          <a:solidFill>
            <a:srgbClr val="4A6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631436" y="2724912"/>
            <a:ext cx="2926080" cy="32004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●  月2回のMTGで進捗確認・実装支援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631436" y="3108960"/>
            <a:ext cx="2926080" cy="32004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●  MTG外もチャットで相談対応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631436" y="3493008"/>
            <a:ext cx="2926080" cy="32004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●  Phase 1: LP制作 → Phase 2: 業務自動化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31436" y="3877056"/>
            <a:ext cx="2926080" cy="32004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●  月額20万円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831836" y="4160520"/>
            <a:ext cx="36576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2200" b="1">
                <a:solidFill>
                  <a:srgbClr val="42A4AF"/>
                </a:solidFill>
                <a:latin typeface="Noto Sans JP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86316" y="1463040"/>
            <a:ext cx="1097280" cy="292608"/>
          </a:xfrm>
          <a:prstGeom prst="roundRect">
            <a:avLst>
              <a:gd name="adj" fmla="val 2000"/>
            </a:avLst>
          </a:prstGeom>
          <a:solidFill>
            <a:srgbClr val="3A8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100" b="1">
                <a:solidFill>
                  <a:srgbClr val="FFFFFF"/>
                </a:solidFill>
                <a:latin typeface="Noto Sans JP"/>
              </a:rPr>
              <a:t>フェーズ 03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34756" y="1856232"/>
            <a:ext cx="3200400" cy="47548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334756" y="1856232"/>
            <a:ext cx="54864" cy="4754880"/>
          </a:xfrm>
          <a:prstGeom prst="rect">
            <a:avLst/>
          </a:prstGeom>
          <a:solidFill>
            <a:srgbClr val="3A8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471916" y="1965960"/>
            <a:ext cx="2926080" cy="640080"/>
          </a:xfrm>
          <a:prstGeom prst="roundRect">
            <a:avLst>
              <a:gd name="adj" fmla="val 2000"/>
            </a:avLst>
          </a:prstGeom>
          <a:solidFill>
            <a:srgbClr val="EA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1F2937"/>
                </a:solidFill>
                <a:latin typeface="Noto Sans JP"/>
              </a:rPr>
              <a:t>成功体験を定着し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1F2937"/>
                </a:solidFill>
                <a:latin typeface="Noto Sans JP"/>
              </a:rPr>
              <a:t>自走化する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471916" y="1965960"/>
            <a:ext cx="45720" cy="640080"/>
          </a:xfrm>
          <a:prstGeom prst="rect">
            <a:avLst/>
          </a:prstGeom>
          <a:solidFill>
            <a:srgbClr val="3A8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471916" y="2724912"/>
            <a:ext cx="2926080" cy="32004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●  新しい自動化を自力で設計・構築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471916" y="3108960"/>
            <a:ext cx="2926080" cy="32004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●  ナレッジ蓄積・マニュアル整備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471916" y="3493008"/>
            <a:ext cx="2926080" cy="32004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●  FC展開に向けた業務基盤の完成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471916" y="3877056"/>
            <a:ext cx="2926080" cy="32004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●  契約終了後も自分で回せる状態に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320040"/>
            <a:ext cx="7772400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700" b="1">
                <a:solidFill>
                  <a:srgbClr val="111827"/>
                </a:solidFill>
                <a:latin typeface="Noto Sans JP"/>
              </a:rPr>
              <a:t>6ヶ月ロードマップ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0" y="411480"/>
            <a:ext cx="237744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r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4B5563"/>
                </a:solidFill>
                <a:latin typeface="Noto Sans JP"/>
              </a:rPr>
              <a:t>株式会社エヌイチ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868680"/>
            <a:ext cx="91440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4B5563"/>
                </a:solidFill>
                <a:latin typeface="Noto Sans JP"/>
              </a:rPr>
              <a:t>実施スケジュール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61872"/>
            <a:ext cx="11274552" cy="2286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463040"/>
            <a:ext cx="1828800" cy="320040"/>
          </a:xfrm>
          <a:prstGeom prst="roundRect">
            <a:avLst>
              <a:gd name="adj" fmla="val 2000"/>
            </a:avLst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FFFFFF"/>
                </a:solidFill>
                <a:latin typeface="Noto Sans JP"/>
              </a:rPr>
              <a:t>Phase 1</a:t>
            </a:r>
          </a:p>
        </p:txBody>
      </p:sp>
      <p:sp>
        <p:nvSpPr>
          <p:cNvPr id="9" name="Rectangle 8"/>
          <p:cNvSpPr/>
          <p:nvPr/>
        </p:nvSpPr>
        <p:spPr>
          <a:xfrm>
            <a:off x="2377440" y="1463040"/>
            <a:ext cx="36576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1F2937"/>
                </a:solidFill>
                <a:latin typeface="Noto Sans JP"/>
              </a:rPr>
              <a:t>クリエイティブ内製化（1〜3ヶ月目）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74519"/>
            <a:ext cx="11274552" cy="292608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874519"/>
            <a:ext cx="128016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FFFFFF"/>
                </a:solidFill>
                <a:latin typeface="Noto Sans JP"/>
              </a:rPr>
              <a:t>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20240" y="1874519"/>
            <a:ext cx="329184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FFFFFF"/>
                </a:solidFill>
                <a:latin typeface="Noto Sans JP"/>
              </a:rPr>
              <a:t>テーマ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03520" y="1874519"/>
            <a:ext cx="6428232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FFFFFF"/>
                </a:solidFill>
                <a:latin typeface="Noto Sans JP"/>
              </a:rPr>
              <a:t>到達ゴール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221991"/>
            <a:ext cx="11274552" cy="411480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221991"/>
            <a:ext cx="1280160" cy="4114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42A4AF"/>
                </a:solidFill>
                <a:latin typeface="Noto Sans JP"/>
              </a:rPr>
              <a:t>1ヶ月目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20240" y="2221991"/>
            <a:ext cx="3291840" cy="4114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1F2937"/>
                </a:solidFill>
                <a:latin typeface="Noto Sans JP"/>
              </a:rPr>
              <a:t>AI基礎×LP制作入門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03520" y="2221991"/>
            <a:ext cx="6428232" cy="4114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Claude Codeの基本操作を習得。簡易LPを1本制作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697479"/>
            <a:ext cx="11274552" cy="411480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2697479"/>
            <a:ext cx="1280160" cy="4114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42A4AF"/>
                </a:solidFill>
                <a:latin typeface="Noto Sans JP"/>
              </a:rPr>
              <a:t>2ヶ月目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920240" y="2697479"/>
            <a:ext cx="3291840" cy="4114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1F2937"/>
                </a:solidFill>
                <a:latin typeface="Noto Sans JP"/>
              </a:rPr>
              <a:t>LP実践×広告クリエイティブ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03520" y="2697479"/>
            <a:ext cx="6428232" cy="4114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FC募集用LPを実戦で制作。バナー・SNS素材も作成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172968"/>
            <a:ext cx="11274552" cy="411480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3172968"/>
            <a:ext cx="1280160" cy="4114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42A4AF"/>
                </a:solidFill>
                <a:latin typeface="Noto Sans JP"/>
              </a:rPr>
              <a:t>3ヶ月目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920240" y="3172968"/>
            <a:ext cx="3291840" cy="4114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1F2937"/>
                </a:solidFill>
                <a:latin typeface="Noto Sans JP"/>
              </a:rPr>
              <a:t>LP改善×運用自走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303520" y="3172968"/>
            <a:ext cx="6428232" cy="4114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A/Bテスト・改善サイクルを自分で回せる状態に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3877056"/>
            <a:ext cx="1828800" cy="320040"/>
          </a:xfrm>
          <a:prstGeom prst="roundRect">
            <a:avLst>
              <a:gd name="adj" fmla="val 2000"/>
            </a:avLst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FFFFFF"/>
                </a:solidFill>
                <a:latin typeface="Noto Sans JP"/>
              </a:rPr>
              <a:t>Phase 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377440" y="3877056"/>
            <a:ext cx="36576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1F2937"/>
                </a:solidFill>
                <a:latin typeface="Noto Sans JP"/>
              </a:rPr>
              <a:t>業務自動化（4〜6ヶ月目）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288536"/>
            <a:ext cx="11274552" cy="292608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4288536"/>
            <a:ext cx="128016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FFFFFF"/>
                </a:solidFill>
                <a:latin typeface="Noto Sans JP"/>
              </a:rPr>
              <a:t>月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920240" y="4288536"/>
            <a:ext cx="329184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FFFFFF"/>
                </a:solidFill>
                <a:latin typeface="Noto Sans JP"/>
              </a:rPr>
              <a:t>テーマ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303520" y="4288536"/>
            <a:ext cx="6428232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FFFFFF"/>
                </a:solidFill>
                <a:latin typeface="Noto Sans JP"/>
              </a:rPr>
              <a:t>到達ゴール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4636008"/>
            <a:ext cx="11274552" cy="411480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" y="4636008"/>
            <a:ext cx="1280160" cy="4114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1C3557"/>
                </a:solidFill>
                <a:latin typeface="Noto Sans JP"/>
              </a:rPr>
              <a:t>4ヶ月目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920240" y="4636008"/>
            <a:ext cx="3291840" cy="4114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1F2937"/>
                </a:solidFill>
                <a:latin typeface="Noto Sans JP"/>
              </a:rPr>
              <a:t>業務棚卸し×自動化入門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303520" y="4636008"/>
            <a:ext cx="6428232" cy="4114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Dify/n8nの基本操作。最初の1ワークフロー稼働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5111496"/>
            <a:ext cx="11274552" cy="411480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48640" y="5111496"/>
            <a:ext cx="1280160" cy="4114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1C3557"/>
                </a:solidFill>
                <a:latin typeface="Noto Sans JP"/>
              </a:rPr>
              <a:t>5ヶ月目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920240" y="5111496"/>
            <a:ext cx="3291840" cy="4114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1F2937"/>
                </a:solidFill>
                <a:latin typeface="Noto Sans JP"/>
              </a:rPr>
              <a:t>複数ワークフロー構築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303520" y="5111496"/>
            <a:ext cx="6428232" cy="4114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口コミ返信・売上集計・リマインド等を自動化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5586983"/>
            <a:ext cx="11274552" cy="411480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48640" y="5586983"/>
            <a:ext cx="1280160" cy="4114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1C3557"/>
                </a:solidFill>
                <a:latin typeface="Noto Sans JP"/>
              </a:rPr>
              <a:t>6ヶ月目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920240" y="5586983"/>
            <a:ext cx="3291840" cy="4114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1F2937"/>
                </a:solidFill>
                <a:latin typeface="Noto Sans JP"/>
              </a:rPr>
              <a:t>自走化×FC基盤整備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303520" y="5586983"/>
            <a:ext cx="6428232" cy="4114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新しい自動化を自力で設計。FCマニュアル整備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320040"/>
            <a:ext cx="7772400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700" b="1">
                <a:solidFill>
                  <a:srgbClr val="111827"/>
                </a:solidFill>
                <a:latin typeface="Noto Sans JP"/>
              </a:rPr>
              <a:t>費用・契約条件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0" y="411480"/>
            <a:ext cx="237744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r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4B5563"/>
                </a:solidFill>
                <a:latin typeface="Noto Sans JP"/>
              </a:rPr>
              <a:t>株式会社エヌイチ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868680"/>
            <a:ext cx="91440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4B5563"/>
                </a:solidFill>
                <a:latin typeface="Noto Sans JP"/>
              </a:rPr>
              <a:t>費用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61872"/>
            <a:ext cx="11274552" cy="2286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417320"/>
            <a:ext cx="566928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417320"/>
            <a:ext cx="54864" cy="411480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545336"/>
            <a:ext cx="45720" cy="237744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527048"/>
            <a:ext cx="5166359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111827"/>
                </a:solidFill>
                <a:latin typeface="Noto Sans JP"/>
              </a:rPr>
              <a:t>料金プラン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920240"/>
            <a:ext cx="1645920" cy="292608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42A4AF"/>
                </a:solidFill>
                <a:latin typeface="Noto Sans JP"/>
              </a:rPr>
              <a:t>プラン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77440" y="1920240"/>
            <a:ext cx="356616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1F2937"/>
                </a:solidFill>
                <a:latin typeface="Noto Sans JP"/>
              </a:rPr>
              <a:t>Kawaru Coach ライトプラン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304288"/>
            <a:ext cx="1645920" cy="292608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42A4AF"/>
                </a:solidFill>
                <a:latin typeface="Noto Sans JP"/>
              </a:rPr>
              <a:t>月額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77440" y="2304288"/>
            <a:ext cx="356616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1F2937"/>
                </a:solidFill>
                <a:latin typeface="Noto Sans JP"/>
              </a:rPr>
              <a:t>200,000円（税別）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688336"/>
            <a:ext cx="1645920" cy="292608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42A4AF"/>
                </a:solidFill>
                <a:latin typeface="Noto Sans JP"/>
              </a:rPr>
              <a:t>MTG頻度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77440" y="2688336"/>
            <a:ext cx="356616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1F2937"/>
                </a:solidFill>
                <a:latin typeface="Noto Sans JP"/>
              </a:rPr>
              <a:t>月2回（1回60分）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072384"/>
            <a:ext cx="1645920" cy="292608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42A4AF"/>
                </a:solidFill>
                <a:latin typeface="Noto Sans JP"/>
              </a:rPr>
              <a:t>MTG外サポート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77440" y="3072384"/>
            <a:ext cx="356616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1F2937"/>
                </a:solidFill>
                <a:latin typeface="Noto Sans JP"/>
              </a:rPr>
              <a:t>チャット相談対応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456432"/>
            <a:ext cx="1645920" cy="292608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42A4AF"/>
                </a:solidFill>
                <a:latin typeface="Noto Sans JP"/>
              </a:rPr>
              <a:t>初期費用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77440" y="3456432"/>
            <a:ext cx="356616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1F2937"/>
                </a:solidFill>
                <a:latin typeface="Noto Sans JP"/>
              </a:rPr>
              <a:t>100,000円（言語化フェーズ）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840480"/>
            <a:ext cx="1645920" cy="292608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42A4AF"/>
                </a:solidFill>
                <a:latin typeface="Noto Sans JP"/>
              </a:rPr>
              <a:t>最低契約期間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77440" y="3840480"/>
            <a:ext cx="356616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1F2937"/>
                </a:solidFill>
                <a:latin typeface="Noto Sans JP"/>
              </a:rPr>
              <a:t>3ヶ月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224528"/>
            <a:ext cx="1645920" cy="292608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42A4AF"/>
                </a:solidFill>
                <a:latin typeface="Noto Sans JP"/>
              </a:rPr>
              <a:t>推奨契約期間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377440" y="4224528"/>
            <a:ext cx="356616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1F2937"/>
                </a:solidFill>
                <a:latin typeface="Noto Sans JP"/>
              </a:rPr>
              <a:t>6ヶ月（Phase 1 + Phase 2 完走）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4608576"/>
            <a:ext cx="1645920" cy="292608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42A4AF"/>
                </a:solidFill>
                <a:latin typeface="Noto Sans JP"/>
              </a:rPr>
              <a:t>お支払い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377440" y="4608576"/>
            <a:ext cx="356616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1F2937"/>
                </a:solidFill>
                <a:latin typeface="Noto Sans JP"/>
              </a:rPr>
              <a:t>月ごと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55080" y="1417320"/>
            <a:ext cx="5376672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55080" y="1417320"/>
            <a:ext cx="54864" cy="4114800"/>
          </a:xfrm>
          <a:prstGeom prst="rect">
            <a:avLst/>
          </a:prstGeom>
          <a:solidFill>
            <a:srgbClr val="3A8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537960" y="1545336"/>
            <a:ext cx="45720" cy="237744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675120" y="1527048"/>
            <a:ext cx="4873751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111827"/>
                </a:solidFill>
                <a:latin typeface="Noto Sans JP"/>
              </a:rPr>
              <a:t>投資対効果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37960" y="1920240"/>
            <a:ext cx="5010912" cy="731520"/>
          </a:xfrm>
          <a:prstGeom prst="roundRect">
            <a:avLst>
              <a:gd name="adj" fmla="val 2000"/>
            </a:avLst>
          </a:prstGeom>
          <a:solidFill>
            <a:srgbClr val="EA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1F2937"/>
                </a:solidFill>
                <a:latin typeface="Noto Sans JP"/>
              </a:rPr>
              <a:t>6ヶ月間の投資総額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1F2937"/>
                </a:solidFill>
                <a:latin typeface="Noto Sans JP"/>
              </a:rPr>
              <a:t>初期10万＋月額20万×6ヶ月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1F2937"/>
                </a:solidFill>
                <a:latin typeface="Noto Sans JP"/>
              </a:rPr>
              <a:t>= 130万円（税別）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37960" y="1920240"/>
            <a:ext cx="45720" cy="73152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537960" y="2834640"/>
            <a:ext cx="5010912" cy="32004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●  LP外注費の削減：年間40〜200万円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37960" y="3218688"/>
            <a:ext cx="5010912" cy="32004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●  6ヶ月後に自走→以降のコンサル費用ゼロ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37960" y="3602736"/>
            <a:ext cx="5010912" cy="32004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●  本部業務の自動化による工数削減効果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37960" y="3986784"/>
            <a:ext cx="5010912" cy="32004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●  FC展開の基盤構築→事業成長を加速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37960" y="4507992"/>
            <a:ext cx="5010912" cy="731520"/>
          </a:xfrm>
          <a:prstGeom prst="roundRect">
            <a:avLst>
              <a:gd name="adj" fmla="val 2000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166D37"/>
                </a:solidFill>
                <a:latin typeface="Noto Sans JP"/>
              </a:rPr>
              <a:t>LP1〜2本分の外注費で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166D37"/>
                </a:solidFill>
                <a:latin typeface="Noto Sans JP"/>
              </a:rPr>
              <a:t>6ヶ月間AIの専属コーチがつく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37960" y="4507992"/>
            <a:ext cx="45720" cy="7315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320040"/>
            <a:ext cx="7772400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700" b="1">
                <a:solidFill>
                  <a:srgbClr val="111827"/>
                </a:solidFill>
                <a:latin typeface="Noto Sans JP"/>
              </a:rPr>
              <a:t>ネクストアクション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0" y="411480"/>
            <a:ext cx="237744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r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4B5563"/>
                </a:solidFill>
                <a:latin typeface="Noto Sans JP"/>
              </a:rPr>
              <a:t>株式会社エヌイチ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896112"/>
            <a:ext cx="11274552" cy="2286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88720" y="1143000"/>
            <a:ext cx="10543032" cy="173431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88720" y="1143000"/>
            <a:ext cx="54864" cy="1734312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39496" y="1772412"/>
            <a:ext cx="475488" cy="475488"/>
          </a:xfrm>
          <a:prstGeom prst="ellipse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Noto Sans JP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8952" y="2877312"/>
            <a:ext cx="36576" cy="164592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463040" y="1234440"/>
            <a:ext cx="7315200" cy="310896"/>
          </a:xfrm>
          <a:prstGeom prst="roundRect">
            <a:avLst>
              <a:gd name="adj" fmla="val 2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1F2937"/>
                </a:solidFill>
                <a:latin typeface="Noto Sans JP"/>
              </a:rPr>
              <a:t>STEP 1 — ご検討・ご質問（〜4月末）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63040" y="1234440"/>
            <a:ext cx="45720" cy="310896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463040" y="1618488"/>
            <a:ext cx="9902952" cy="118567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B5563"/>
                </a:solidFill>
                <a:latin typeface="Noto Sans JP"/>
              </a:rPr>
              <a:t>本資料の内容をご確認いただき、ご不明点・ご質問があればお気軽にご連絡ください。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B5563"/>
                </a:solidFill>
                <a:latin typeface="Noto Sans JP"/>
              </a:rPr>
              <a:t>オンラインでの追加打ち合わせも可能です。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88720" y="3041904"/>
            <a:ext cx="10543032" cy="173431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" y="3041904"/>
            <a:ext cx="54864" cy="1734312"/>
          </a:xfrm>
          <a:prstGeom prst="rect">
            <a:avLst/>
          </a:prstGeom>
          <a:solidFill>
            <a:srgbClr val="4A6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39496" y="3671316"/>
            <a:ext cx="475488" cy="475488"/>
          </a:xfrm>
          <a:prstGeom prst="ellipse">
            <a:avLst/>
          </a:prstGeom>
          <a:solidFill>
            <a:srgbClr val="4A6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Noto Sans JP"/>
              </a:rPr>
              <a:t>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8952" y="4776216"/>
            <a:ext cx="36576" cy="164592"/>
          </a:xfrm>
          <a:prstGeom prst="rect">
            <a:avLst/>
          </a:prstGeom>
          <a:solidFill>
            <a:srgbClr val="4A6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463040" y="3133344"/>
            <a:ext cx="7315200" cy="310896"/>
          </a:xfrm>
          <a:prstGeom prst="roundRect">
            <a:avLst>
              <a:gd name="adj" fmla="val 2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1F2937"/>
                </a:solidFill>
                <a:latin typeface="Noto Sans JP"/>
              </a:rPr>
              <a:t>STEP 2 — 初回ヒアリング（5月第1週）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63040" y="3133344"/>
            <a:ext cx="45720" cy="310896"/>
          </a:xfrm>
          <a:prstGeom prst="rect">
            <a:avLst/>
          </a:prstGeom>
          <a:solidFill>
            <a:srgbClr val="4A6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463040" y="3517392"/>
            <a:ext cx="9902952" cy="118567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B5563"/>
                </a:solidFill>
                <a:latin typeface="Noto Sans JP"/>
              </a:rPr>
              <a:t>ご契約後、AI活用ロードマップ策定のための詳細ヒアリングを実施。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B5563"/>
                </a:solidFill>
                <a:latin typeface="Noto Sans JP"/>
              </a:rPr>
              <a:t>御社の業務・課題を深掘りし、6ヶ月のゴールを一緒に設定します。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88720" y="4940808"/>
            <a:ext cx="10543032" cy="173431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88720" y="4940808"/>
            <a:ext cx="54864" cy="1734312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39496" y="5570220"/>
            <a:ext cx="475488" cy="475488"/>
          </a:xfrm>
          <a:prstGeom prst="ellipse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Noto Sans JP"/>
              </a:rPr>
              <a:t>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463040" y="5032248"/>
            <a:ext cx="7315200" cy="310896"/>
          </a:xfrm>
          <a:prstGeom prst="roundRect">
            <a:avLst>
              <a:gd name="adj" fmla="val 2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1F2937"/>
                </a:solidFill>
                <a:latin typeface="Noto Sans JP"/>
              </a:rPr>
              <a:t>STEP 3 — 伴走スタート（5月中旬〜）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463040" y="5032248"/>
            <a:ext cx="45720" cy="310896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63040" y="5416296"/>
            <a:ext cx="9902952" cy="118567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B5563"/>
                </a:solidFill>
                <a:latin typeface="Noto Sans JP"/>
              </a:rPr>
              <a:t>専属コンサルタントのアサイン完了後、月2回のMTGで伴走開始。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B5563"/>
                </a:solidFill>
                <a:latin typeface="Noto Sans JP"/>
              </a:rPr>
              <a:t>Phase 1のLP制作からスタートします。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6263640"/>
            <a:ext cx="11274552" cy="32004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6B7280"/>
                </a:solidFill>
                <a:latin typeface="Noto Sans JP"/>
              </a:rPr>
              <a:t>お問い合わせ：大川龍之介  Mail: r.okawa@n1-inc.co.jp  TEL: 080-2646-2420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0"/>
            <a:ext cx="12051792" cy="594360"/>
          </a:xfrm>
          <a:prstGeom prst="rect">
            <a:avLst/>
          </a:prstGeom>
          <a:solidFill>
            <a:srgbClr val="1E40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9728"/>
            <a:ext cx="4572000" cy="3840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FFFFFF"/>
                </a:solidFill>
                <a:latin typeface="Noto Sans JP"/>
              </a:rPr>
              <a:t>株式会社エヌイチ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1463040"/>
            <a:ext cx="9994392" cy="2011680"/>
          </a:xfrm>
          <a:prstGeom prst="roundRect">
            <a:avLst>
              <a:gd name="adj" fmla="val 2000"/>
            </a:avLst>
          </a:prstGeom>
          <a:solidFill>
            <a:srgbClr val="EA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2200" b="1">
                <a:solidFill>
                  <a:srgbClr val="111827"/>
                </a:solidFill>
                <a:latin typeface="Noto Sans JP"/>
              </a:rPr>
              <a:t>私たちが提供するのは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2200" b="1">
                <a:solidFill>
                  <a:srgbClr val="111827"/>
                </a:solidFill>
                <a:latin typeface="Noto Sans JP"/>
              </a:rPr>
              <a:t>「ツール」や「研修」ではありません。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2200" b="1">
                <a:solidFill>
                  <a:srgbClr val="111827"/>
                </a:solidFill>
                <a:latin typeface="Noto Sans JP"/>
              </a:rPr>
              <a:t/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2200" b="1">
                <a:solidFill>
                  <a:srgbClr val="111827"/>
                </a:solidFill>
                <a:latin typeface="Noto Sans JP"/>
              </a:rPr>
              <a:t>貴社の未来を創る「AI人材」と、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2200" b="1">
                <a:solidFill>
                  <a:srgbClr val="111827"/>
                </a:solidFill>
                <a:latin typeface="Noto Sans JP"/>
              </a:rPr>
              <a:t>組織全体の「成長」です。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1463040"/>
            <a:ext cx="45720" cy="201168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0" y="3749039"/>
            <a:ext cx="8531352" cy="4114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4B5563"/>
                </a:solidFill>
                <a:latin typeface="Noto Sans JP"/>
              </a:rPr>
              <a:t>貴社のAIパートナーとして、共に未来を創ることをお約束します。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4389120"/>
            <a:ext cx="6702552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2000" b="1">
                <a:solidFill>
                  <a:srgbClr val="1F2937"/>
                </a:solidFill>
                <a:latin typeface="Noto Sans JP"/>
              </a:rPr>
              <a:t>株式会社エヌイチ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4846320"/>
            <a:ext cx="6702552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42A4AF"/>
                </a:solidFill>
                <a:latin typeface="Noto Sans JP"/>
              </a:rPr>
              <a:t>AI（アイ）ある社会に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0" y="5349240"/>
            <a:ext cx="5788152" cy="77724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6B7280"/>
                </a:solidFill>
                <a:latin typeface="Noto Sans JP"/>
              </a:rPr>
              <a:t>大川 龍之介（Okawa Ryunosuke）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6B7280"/>
                </a:solidFill>
                <a:latin typeface="Noto Sans JP"/>
              </a:rPr>
              <a:t>Kawaru事業部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6B7280"/>
                </a:solidFill>
                <a:latin typeface="Noto Sans JP"/>
              </a:rPr>
              <a:t>TEL: 080-2646-2420  Mail: r.okawa@n1-inc.co.jp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2560320"/>
            <a:ext cx="9144000" cy="7315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3600" b="1">
                <a:solidFill>
                  <a:srgbClr val="111827"/>
                </a:solidFill>
                <a:latin typeface="Noto Sans JP"/>
              </a:rPr>
              <a:t>参考資料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383280"/>
            <a:ext cx="914400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000" b="0">
                <a:solidFill>
                  <a:srgbClr val="6B7280"/>
                </a:solidFill>
                <a:latin typeface="Noto Sans JP"/>
              </a:rPr>
              <a:t>Appendix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023360"/>
            <a:ext cx="3657600" cy="36576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320040"/>
            <a:ext cx="7772400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700" b="1">
                <a:solidFill>
                  <a:srgbClr val="111827"/>
                </a:solidFill>
                <a:latin typeface="Noto Sans JP"/>
              </a:rPr>
              <a:t>会社概要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0" y="411480"/>
            <a:ext cx="237744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r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4B5563"/>
                </a:solidFill>
                <a:latin typeface="Noto Sans JP"/>
              </a:rPr>
              <a:t>株式会社エヌイチ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896112"/>
            <a:ext cx="11274552" cy="2286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051560"/>
            <a:ext cx="5943600" cy="5212080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234439"/>
            <a:ext cx="1371600" cy="320040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100" b="1">
                <a:solidFill>
                  <a:srgbClr val="42A4AF"/>
                </a:solidFill>
                <a:latin typeface="Noto Sans JP"/>
              </a:rPr>
              <a:t>会社名</a:t>
            </a:r>
          </a:p>
        </p:txBody>
      </p:sp>
      <p:sp>
        <p:nvSpPr>
          <p:cNvPr id="9" name="Rectangle 8"/>
          <p:cNvSpPr/>
          <p:nvPr/>
        </p:nvSpPr>
        <p:spPr>
          <a:xfrm>
            <a:off x="2103120" y="1234439"/>
            <a:ext cx="41148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1F2937"/>
                </a:solidFill>
                <a:latin typeface="Noto Sans JP"/>
              </a:rPr>
              <a:t>株式会社エヌイチ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664207"/>
            <a:ext cx="1371600" cy="640080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100" b="1">
                <a:solidFill>
                  <a:srgbClr val="42A4AF"/>
                </a:solidFill>
                <a:latin typeface="Noto Sans JP"/>
              </a:rPr>
              <a:t>経営陣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03120" y="1664207"/>
            <a:ext cx="4114800" cy="64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1F2937"/>
                </a:solidFill>
                <a:latin typeface="Noto Sans JP"/>
              </a:rPr>
              <a:t>代表取締役CEO 奥山幸生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1F2937"/>
                </a:solidFill>
                <a:latin typeface="Noto Sans JP"/>
              </a:rPr>
              <a:t>取締役COO 髙橋悠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1F2937"/>
                </a:solidFill>
                <a:latin typeface="Noto Sans JP"/>
              </a:rPr>
              <a:t>取締役CHRO 米澤浩明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414015"/>
            <a:ext cx="1371600" cy="320040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100" b="1">
                <a:solidFill>
                  <a:srgbClr val="42A4AF"/>
                </a:solidFill>
                <a:latin typeface="Noto Sans JP"/>
              </a:rPr>
              <a:t>資本金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03120" y="2414015"/>
            <a:ext cx="41148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1F2937"/>
                </a:solidFill>
                <a:latin typeface="Noto Sans JP"/>
              </a:rPr>
              <a:t>1,000万円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843783"/>
            <a:ext cx="1371600" cy="320040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100" b="1">
                <a:solidFill>
                  <a:srgbClr val="42A4AF"/>
                </a:solidFill>
                <a:latin typeface="Noto Sans JP"/>
              </a:rPr>
              <a:t>設立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03120" y="2843783"/>
            <a:ext cx="41148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1F2937"/>
                </a:solidFill>
                <a:latin typeface="Noto Sans JP"/>
              </a:rPr>
              <a:t>2023年10月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273551"/>
            <a:ext cx="1371600" cy="640080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100" b="1">
                <a:solidFill>
                  <a:srgbClr val="42A4AF"/>
                </a:solidFill>
                <a:latin typeface="Noto Sans JP"/>
              </a:rPr>
              <a:t>所在地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03120" y="3273551"/>
            <a:ext cx="4114800" cy="64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1F2937"/>
                </a:solidFill>
                <a:latin typeface="Noto Sans JP"/>
              </a:rPr>
              <a:t>東京都新宿区西新宿3-7-30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1F2937"/>
                </a:solidFill>
                <a:latin typeface="Noto Sans JP"/>
              </a:rPr>
              <a:t>フロンティアグラン西新宿12F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114799"/>
            <a:ext cx="5577840" cy="411480"/>
          </a:xfrm>
          <a:prstGeom prst="roundRect">
            <a:avLst>
              <a:gd name="adj" fmla="val 2000"/>
            </a:avLst>
          </a:prstGeom>
          <a:solidFill>
            <a:srgbClr val="EA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1F2937"/>
                </a:solidFill>
                <a:latin typeface="Noto Sans JP"/>
              </a:rPr>
              <a:t>Mission：新しい働く『カタチ』を創る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114799"/>
            <a:ext cx="45720" cy="41148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0080" y="4617719"/>
            <a:ext cx="5577840" cy="411480"/>
          </a:xfrm>
          <a:prstGeom prst="roundRect">
            <a:avLst>
              <a:gd name="adj" fmla="val 2000"/>
            </a:avLst>
          </a:prstGeom>
          <a:solidFill>
            <a:srgbClr val="EA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42A4AF"/>
                </a:solidFill>
                <a:latin typeface="Noto Sans JP"/>
              </a:rPr>
              <a:t>Vision：AI（アイ）ある社会に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617719"/>
            <a:ext cx="45720" cy="41148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675120" y="1051560"/>
            <a:ext cx="5056632" cy="1097280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675120" y="1051560"/>
            <a:ext cx="54864" cy="109728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58000" y="1188719"/>
            <a:ext cx="4690872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500" b="1">
                <a:solidFill>
                  <a:srgbClr val="1F2937"/>
                </a:solidFill>
                <a:latin typeface="Noto Sans JP"/>
              </a:rPr>
              <a:t>Kawaru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0" y="1554480"/>
            <a:ext cx="4690872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B5563"/>
                </a:solidFill>
                <a:latin typeface="Noto Sans JP"/>
              </a:rPr>
              <a:t>業務自動化SaaS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75120" y="2331720"/>
            <a:ext cx="5056632" cy="1097280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675120" y="2331720"/>
            <a:ext cx="54864" cy="1097280"/>
          </a:xfrm>
          <a:prstGeom prst="rect">
            <a:avLst/>
          </a:prstGeom>
          <a:solidFill>
            <a:srgbClr val="4A6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858000" y="2468879"/>
            <a:ext cx="4690872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500" b="1">
                <a:solidFill>
                  <a:srgbClr val="1F2937"/>
                </a:solidFill>
                <a:latin typeface="Noto Sans JP"/>
              </a:rPr>
              <a:t>Kawaru Team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0" y="2834639"/>
            <a:ext cx="4690872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B5563"/>
                </a:solidFill>
                <a:latin typeface="Noto Sans JP"/>
              </a:rPr>
              <a:t>フルカスタマイズAI研修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675120" y="3611879"/>
            <a:ext cx="5056632" cy="1097280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675120" y="3611879"/>
            <a:ext cx="54864" cy="1097280"/>
          </a:xfrm>
          <a:prstGeom prst="rect">
            <a:avLst/>
          </a:prstGeom>
          <a:solidFill>
            <a:srgbClr val="3A8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858000" y="3749039"/>
            <a:ext cx="4690872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500" b="1">
                <a:solidFill>
                  <a:srgbClr val="1F2937"/>
                </a:solidFill>
                <a:latin typeface="Noto Sans JP"/>
              </a:rPr>
              <a:t>Kawaru BPO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0" y="4114800"/>
            <a:ext cx="4690872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B5563"/>
                </a:solidFill>
                <a:latin typeface="Noto Sans JP"/>
              </a:rPr>
              <a:t>AI業務効率化代行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675120" y="4892040"/>
            <a:ext cx="5056632" cy="1097280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675120" y="4892040"/>
            <a:ext cx="54864" cy="109728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858000" y="5029200"/>
            <a:ext cx="4690872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500" b="1">
                <a:solidFill>
                  <a:srgbClr val="1F2937"/>
                </a:solidFill>
                <a:latin typeface="Noto Sans JP"/>
              </a:rPr>
              <a:t>Kawaru Coach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58000" y="5394959"/>
            <a:ext cx="4690872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B5563"/>
                </a:solidFill>
                <a:latin typeface="Noto Sans JP"/>
              </a:rPr>
              <a:t>AI顧問サービス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320040"/>
            <a:ext cx="7772400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700" b="1">
                <a:solidFill>
                  <a:srgbClr val="111827"/>
                </a:solidFill>
                <a:latin typeface="Noto Sans JP"/>
              </a:rPr>
              <a:t>導入実績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0" y="411480"/>
            <a:ext cx="237744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r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4B5563"/>
                </a:solidFill>
                <a:latin typeface="Noto Sans JP"/>
              </a:rPr>
              <a:t>株式会社エヌイチ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868680"/>
            <a:ext cx="91440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4B5563"/>
                </a:solidFill>
                <a:latin typeface="Noto Sans JP"/>
              </a:rPr>
              <a:t>あらゆる規模の企業様に導入されています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61872"/>
            <a:ext cx="11274552" cy="2286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463040"/>
            <a:ext cx="2606040" cy="301752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4B5563"/>
                </a:solidFill>
                <a:latin typeface="Noto Sans JP"/>
              </a:rPr>
              <a:t>株式会社ブロードリンク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73552" y="1463040"/>
            <a:ext cx="2606040" cy="301752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4B5563"/>
                </a:solidFill>
                <a:latin typeface="Noto Sans JP"/>
              </a:rPr>
              <a:t>株式会社中西製作所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9904" y="1463040"/>
            <a:ext cx="2606040" cy="301752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4B5563"/>
                </a:solidFill>
                <a:latin typeface="Noto Sans JP"/>
              </a:rPr>
              <a:t>株式会社ミズカラ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06256" y="1463040"/>
            <a:ext cx="2606040" cy="301752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4B5563"/>
                </a:solidFill>
                <a:latin typeface="Noto Sans JP"/>
              </a:rPr>
              <a:t>エル・ティー・エス リンク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856232"/>
            <a:ext cx="2606040" cy="301752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4B5563"/>
                </a:solidFill>
                <a:latin typeface="Noto Sans JP"/>
              </a:rPr>
              <a:t>FRUOR株式会社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73552" y="1856232"/>
            <a:ext cx="2606040" cy="301752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4B5563"/>
                </a:solidFill>
                <a:latin typeface="Noto Sans JP"/>
              </a:rPr>
              <a:t>株式会社BIRDY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9904" y="1856232"/>
            <a:ext cx="2606040" cy="301752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4B5563"/>
                </a:solidFill>
                <a:latin typeface="Noto Sans JP"/>
              </a:rPr>
              <a:t>株式会社オンシナジー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06256" y="1856232"/>
            <a:ext cx="2606040" cy="301752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4B5563"/>
                </a:solidFill>
                <a:latin typeface="Noto Sans JP"/>
              </a:rPr>
              <a:t>キリングループ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240280"/>
            <a:ext cx="3520440" cy="4206240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94359" y="2331720"/>
            <a:ext cx="365760" cy="365760"/>
          </a:xfrm>
          <a:prstGeom prst="ellipse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Noto Sans JP"/>
              </a:rPr>
              <a:t>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51560" y="2350008"/>
            <a:ext cx="27432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1F2937"/>
                </a:solidFill>
                <a:latin typeface="Noto Sans JP"/>
              </a:rPr>
              <a:t>キリングループ様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2788920"/>
            <a:ext cx="3300984" cy="777240"/>
          </a:xfrm>
          <a:prstGeom prst="roundRect">
            <a:avLst>
              <a:gd name="adj" fmla="val 200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1F2937"/>
                </a:solidFill>
                <a:latin typeface="Noto Sans JP"/>
              </a:rPr>
              <a:t>課題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1F2937"/>
                </a:solidFill>
                <a:latin typeface="Noto Sans JP"/>
              </a:rPr>
              <a:t>AI未経験、活用イメージなし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788920"/>
            <a:ext cx="45720" cy="7772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034539" y="3611880"/>
            <a:ext cx="365760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42A4AF"/>
                </a:solidFill>
                <a:latin typeface="Noto Sans JP"/>
              </a:rPr>
              <a:t>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931920"/>
            <a:ext cx="3300984" cy="1463040"/>
          </a:xfrm>
          <a:prstGeom prst="roundRect">
            <a:avLst>
              <a:gd name="adj" fmla="val 2000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1F2937"/>
                </a:solidFill>
                <a:latin typeface="Noto Sans JP"/>
              </a:rPr>
              <a:t>成果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1F2937"/>
                </a:solidFill>
                <a:latin typeface="Noto Sans JP"/>
              </a:rPr>
              <a:t>全員が「業務でAIを使いたい」と回答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1F2937"/>
                </a:solidFill>
                <a:latin typeface="Noto Sans JP"/>
              </a:rPr>
              <a:t>満足度 8.5点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3931920"/>
            <a:ext cx="45720" cy="14630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334256" y="2240280"/>
            <a:ext cx="3520440" cy="4206240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471416" y="2331720"/>
            <a:ext cx="365760" cy="365760"/>
          </a:xfrm>
          <a:prstGeom prst="ellipse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Noto Sans JP"/>
              </a:rPr>
              <a:t>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928616" y="2350008"/>
            <a:ext cx="27432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1F2937"/>
                </a:solidFill>
                <a:latin typeface="Noto Sans JP"/>
              </a:rPr>
              <a:t>株式会社ミズカラ様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43984" y="2788920"/>
            <a:ext cx="3300984" cy="777240"/>
          </a:xfrm>
          <a:prstGeom prst="roundRect">
            <a:avLst>
              <a:gd name="adj" fmla="val 200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1F2937"/>
                </a:solidFill>
                <a:latin typeface="Noto Sans JP"/>
              </a:rPr>
              <a:t>課題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1F2937"/>
                </a:solidFill>
                <a:latin typeface="Noto Sans JP"/>
              </a:rPr>
              <a:t>問い合わせ対応に月283時間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43984" y="2788920"/>
            <a:ext cx="45720" cy="7772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911596" y="3611880"/>
            <a:ext cx="365760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42A4AF"/>
                </a:solidFill>
                <a:latin typeface="Noto Sans JP"/>
              </a:rPr>
              <a:t>▼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443984" y="3931920"/>
            <a:ext cx="3300984" cy="1463040"/>
          </a:xfrm>
          <a:prstGeom prst="roundRect">
            <a:avLst>
              <a:gd name="adj" fmla="val 2000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1F2937"/>
                </a:solidFill>
                <a:latin typeface="Noto Sans JP"/>
              </a:rPr>
              <a:t>成果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1F2937"/>
                </a:solidFill>
                <a:latin typeface="Noto Sans JP"/>
              </a:rPr>
              <a:t>月85時間へ削減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1F2937"/>
                </a:solidFill>
                <a:latin typeface="Noto Sans JP"/>
              </a:rPr>
              <a:t>約200時間＝25営業日分の削減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443984" y="3931920"/>
            <a:ext cx="45720" cy="14630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211312" y="2240280"/>
            <a:ext cx="3520440" cy="4206240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348472" y="2331720"/>
            <a:ext cx="365760" cy="365760"/>
          </a:xfrm>
          <a:prstGeom prst="ellipse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Noto Sans JP"/>
              </a:rPr>
              <a:t>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05672" y="2350008"/>
            <a:ext cx="27432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1F2937"/>
                </a:solidFill>
                <a:latin typeface="Noto Sans JP"/>
              </a:rPr>
              <a:t>株式会社BIRDY様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321040" y="2788920"/>
            <a:ext cx="3300984" cy="777240"/>
          </a:xfrm>
          <a:prstGeom prst="roundRect">
            <a:avLst>
              <a:gd name="adj" fmla="val 200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1F2937"/>
                </a:solidFill>
                <a:latin typeface="Noto Sans JP"/>
              </a:rPr>
              <a:t>課題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1F2937"/>
                </a:solidFill>
                <a:latin typeface="Noto Sans JP"/>
              </a:rPr>
              <a:t>業務の属人化、営業効率の壁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321040" y="2788920"/>
            <a:ext cx="45720" cy="7772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788652" y="3611880"/>
            <a:ext cx="365760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42A4AF"/>
                </a:solidFill>
                <a:latin typeface="Noto Sans JP"/>
              </a:rPr>
              <a:t>▼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321040" y="3931920"/>
            <a:ext cx="3300984" cy="1463040"/>
          </a:xfrm>
          <a:prstGeom prst="roundRect">
            <a:avLst>
              <a:gd name="adj" fmla="val 2000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1F2937"/>
                </a:solidFill>
                <a:latin typeface="Noto Sans JP"/>
              </a:rPr>
              <a:t>成果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1F2937"/>
                </a:solidFill>
                <a:latin typeface="Noto Sans JP"/>
              </a:rPr>
              <a:t>バックオフィス効率化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1F2937"/>
                </a:solidFill>
                <a:latin typeface="Noto Sans JP"/>
              </a:rPr>
              <a:t>経営資源を成長領域にシフト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321040" y="3931920"/>
            <a:ext cx="45720" cy="14630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