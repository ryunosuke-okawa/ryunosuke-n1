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784848"/>
            <a:ext cx="1182319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78992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600" b="1">
                <a:solidFill>
                  <a:srgbClr val="42A4AF"/>
                </a:solidFill>
                <a:latin typeface="Noto Sans JP"/>
              </a:rPr>
              <a:t>Kawaru Team ご提案書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965960"/>
            <a:ext cx="5239512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789920" cy="10972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4000" b="1">
                <a:solidFill>
                  <a:srgbClr val="111827"/>
                </a:solidFill>
                <a:latin typeface="Noto Sans JP"/>
              </a:rPr>
              <a:t>リードインクス株式会社 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78992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700" b="0">
                <a:solidFill>
                  <a:srgbClr val="6B7280"/>
                </a:solidFill>
                <a:latin typeface="Noto Sans JP"/>
              </a:rPr>
              <a:t>「AIで自走できるエンジニア組織」をつくる3〜6ヶ月の伴走提案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7899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2026年3月24日　　株式会社エヌイチ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保険業界SaaS × ソフトバンクグループ企業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事業内容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481328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グループ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1481328"/>
            <a:ext cx="7772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481328"/>
            <a:ext cx="76078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ソフトバンクグループ傘下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103120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事業内容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0824" y="2103120"/>
            <a:ext cx="7772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2103120"/>
            <a:ext cx="76078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保険業界向けSaaSプロダクト提供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24912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724912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主要顧客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0824" y="2724912"/>
            <a:ext cx="7772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3976" y="2724912"/>
            <a:ext cx="76078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保険会社・保険代理店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46704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346704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対象本部①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20824" y="3346704"/>
            <a:ext cx="7772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3976" y="3346704"/>
            <a:ext cx="76078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SaaS本部（呉振宇様）：プロダクト開発中心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68496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968496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対象本部②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0824" y="3968496"/>
            <a:ext cx="7772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3968496"/>
            <a:ext cx="76078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SI本部：カスタマイズ開発中心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90288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4590288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エンジニア数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20824" y="4590288"/>
            <a:ext cx="7772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3976" y="4590288"/>
            <a:ext cx="76078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両本部合計 約50〜60名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481328"/>
            <a:ext cx="2194560" cy="512064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481328"/>
            <a:ext cx="64008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1664208"/>
            <a:ext cx="201168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42A4AF"/>
                </a:solidFill>
                <a:latin typeface="Noto Sans JP"/>
              </a:rPr>
              <a:t>Key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121408"/>
            <a:ext cx="1920240" cy="41148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保険業界への</a:t>
            </a:r>
          </a:p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AI実装が</a:t>
            </a:r>
          </a:p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競争上の必須要件</a:t>
            </a:r>
          </a:p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になりつつある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エンジニアの約半数が中国語話者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現状①　組織構造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474720" cy="2011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18488"/>
            <a:ext cx="3108960" cy="9144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4000" b="1">
                <a:solidFill>
                  <a:srgbClr val="42A4AF"/>
                </a:solidFill>
                <a:latin typeface="Noto Sans JP"/>
              </a:rPr>
              <a:t>50〜60名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24328"/>
            <a:ext cx="310896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300" b="0">
                <a:solidFill>
                  <a:srgbClr val="6B7280"/>
                </a:solidFill>
                <a:latin typeface="Noto Sans JP"/>
              </a:rPr>
              <a:t>両本部エンジニア合計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5384" y="1389888"/>
            <a:ext cx="3474720" cy="2011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5384" y="1389888"/>
            <a:ext cx="64008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618488"/>
            <a:ext cx="3108960" cy="9144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4000" b="1">
                <a:solidFill>
                  <a:srgbClr val="42A4AF"/>
                </a:solidFill>
                <a:latin typeface="Noto Sans JP"/>
              </a:rPr>
              <a:t>〜半数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624328"/>
            <a:ext cx="310896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300" b="0">
                <a:solidFill>
                  <a:srgbClr val="6B7280"/>
                </a:solidFill>
                <a:latin typeface="Noto Sans JP"/>
              </a:rPr>
              <a:t>中国語話者（日本在籍）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9288" y="1389888"/>
            <a:ext cx="3474720" cy="2011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9288" y="1389888"/>
            <a:ext cx="64008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618488"/>
            <a:ext cx="3108960" cy="9144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4000" b="1">
                <a:solidFill>
                  <a:srgbClr val="42A4AF"/>
                </a:solidFill>
                <a:latin typeface="Noto Sans JP"/>
              </a:rPr>
              <a:t>0回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624328"/>
            <a:ext cx="310896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300" b="0">
                <a:solidFill>
                  <a:srgbClr val="6B7280"/>
                </a:solidFill>
                <a:latin typeface="Noto Sans JP"/>
              </a:rPr>
              <a:t>外部AI研修の受講歴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84448"/>
            <a:ext cx="1371600" cy="47548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584448"/>
            <a:ext cx="1280160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チーム構成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37943" y="3584448"/>
            <a:ext cx="10058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11095" y="3584448"/>
            <a:ext cx="9893808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SaaS本部・SI本部に分かれ、合計約50〜60名のエンジニアが在籍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33087"/>
            <a:ext cx="1371600" cy="47548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133087"/>
            <a:ext cx="1280160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言語環境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7943" y="4133087"/>
            <a:ext cx="10058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11095" y="4133087"/>
            <a:ext cx="9893808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約半数が中国語話者。日本在籍だが日本語非対応のメンバーが多数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81728"/>
            <a:ext cx="1371600" cy="47548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4681728"/>
            <a:ext cx="1280160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研修歴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37943" y="4681728"/>
            <a:ext cx="10058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11095" y="4681728"/>
            <a:ext cx="9893808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外部AI研修の受講歴はゼロ。今回が初めての検討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230368"/>
            <a:ext cx="1371600" cy="47548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5230368"/>
            <a:ext cx="1280160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個人利用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37943" y="5230368"/>
            <a:ext cx="10058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11095" y="5230368"/>
            <a:ext cx="9893808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ChatGPT・Claudeを使うエンジニアは存在するが、全員が我流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ChatGPT Enterprise縛り・金融規制・本番運用不可という三重制約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現状②　AI活用と制約環境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15544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481328"/>
            <a:ext cx="14630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社内AI利用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1481328"/>
            <a:ext cx="932688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481328"/>
            <a:ext cx="9107424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個人レベルでChatGPT・Claudeを使用（我流）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15544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103120"/>
            <a:ext cx="14630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今後の方針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0824" y="2103120"/>
            <a:ext cx="9326880" cy="512064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2103120"/>
            <a:ext cx="9107424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3B82F6"/>
                </a:solidFill>
                <a:latin typeface="Noto Sans JP"/>
              </a:rPr>
              <a:t>ChatGPT Enterprise版を近日契約予定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24912"/>
            <a:ext cx="15544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724912"/>
            <a:ext cx="14630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資産利用許可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0824" y="2724912"/>
            <a:ext cx="9326880" cy="512064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0552" y="2724912"/>
            <a:ext cx="9107424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F59E0B"/>
                </a:solidFill>
                <a:latin typeface="Noto Sans JP"/>
              </a:rPr>
              <a:t>ChatGPT Enterpriseのみ（他ツールへの会社資産アップロードは不可）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46704"/>
            <a:ext cx="15544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346704"/>
            <a:ext cx="14630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グループ方針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20824" y="3346704"/>
            <a:ext cx="932688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0552" y="3346704"/>
            <a:ext cx="9107424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ソフトバンクグループ方針によりGPT中心の活用が前提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68496"/>
            <a:ext cx="15544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968496"/>
            <a:ext cx="14630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AI開発現状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0824" y="3968496"/>
            <a:ext cx="932688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0552" y="3968496"/>
            <a:ext cx="9107424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POC段階で海外ベンダーと共同実施中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90288"/>
            <a:ext cx="15544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4590288"/>
            <a:ext cx="14630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本番運用の壁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20824" y="4590288"/>
            <a:ext cx="9326880" cy="512064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0552" y="4590288"/>
            <a:ext cx="9107424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EF4444"/>
                </a:solidFill>
                <a:latin typeface="Noto Sans JP"/>
              </a:rPr>
              <a:t>金融規制上、海外ベンダーとの本番運用は不可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212080"/>
            <a:ext cx="15544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5212080"/>
            <a:ext cx="14630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3月末の予定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20824" y="5212080"/>
            <a:ext cx="9326880" cy="512064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30552" y="5212080"/>
            <a:ext cx="9107424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F59E0B"/>
                </a:solidFill>
                <a:latin typeface="Noto Sans JP"/>
              </a:rPr>
              <a:t>ソフトバンク親会社への企画書提出期限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課題は「人材・プロセス・制約・組織」の4層構造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課題①　課題の全体マップ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1202436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1202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9888"/>
            <a:ext cx="2926080" cy="12024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500" b="1">
                <a:solidFill>
                  <a:srgbClr val="EF4444"/>
                </a:solidFill>
                <a:latin typeface="Noto Sans JP"/>
              </a:rPr>
              <a:t>① 人材の課題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630375"/>
            <a:ext cx="27432" cy="72146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389888"/>
            <a:ext cx="7772400" cy="12024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AI実装できるエンジニアがいない／手法が属人化・我流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20340"/>
            <a:ext cx="11365992" cy="1202436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20340"/>
            <a:ext cx="64008" cy="1202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20340"/>
            <a:ext cx="2926080" cy="12024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500" b="1">
                <a:solidFill>
                  <a:srgbClr val="F59E0B"/>
                </a:solidFill>
                <a:latin typeface="Noto Sans JP"/>
              </a:rPr>
              <a:t>② プロセスの課題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960827"/>
            <a:ext cx="27432" cy="72146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720340"/>
            <a:ext cx="7772400" cy="12024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ビジネス要件をAIタスクに分解する方法が社内にない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50791"/>
            <a:ext cx="11365992" cy="1202436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050791"/>
            <a:ext cx="64008" cy="12024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50791"/>
            <a:ext cx="2926080" cy="12024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500" b="1">
                <a:solidFill>
                  <a:srgbClr val="3B82F6"/>
                </a:solidFill>
                <a:latin typeface="Noto Sans JP"/>
              </a:rPr>
              <a:t>③ 制約の課題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4291279"/>
            <a:ext cx="27432" cy="72146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4050791"/>
            <a:ext cx="7772400" cy="12024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海外ベンダー依存・金融規制・ChatGPT Enterprise縛り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381244"/>
            <a:ext cx="11365992" cy="1202436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381244"/>
            <a:ext cx="64008" cy="120243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381244"/>
            <a:ext cx="2926080" cy="12024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500" b="1">
                <a:solidFill>
                  <a:srgbClr val="42A4AF"/>
                </a:solidFill>
                <a:latin typeface="Noto Sans JP"/>
              </a:rPr>
              <a:t>④ 組織の課題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5621731"/>
            <a:ext cx="27432" cy="721461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5381244"/>
            <a:ext cx="7772400" cy="12024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言語の壁・ベストプラクティスの不在・優先順位不明確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AI非対応は、競争力喪失に直結する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課題②　市場リスク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2560320" cy="201168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2286000" cy="20116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500" b="1">
                <a:solidFill>
                  <a:srgbClr val="3B82F6"/>
                </a:solidFill>
                <a:latin typeface="Noto Sans JP"/>
              </a:rPr>
              <a:t>保険業界</a:t>
            </a:r>
          </a:p>
          <a:p>
            <a:pPr algn="ctr"/>
            <a:r>
              <a:rPr sz="1500" b="1">
                <a:solidFill>
                  <a:srgbClr val="3B82F6"/>
                </a:solidFill>
                <a:latin typeface="Noto Sans JP"/>
              </a:rPr>
              <a:t>AIトレンド加速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029967"/>
            <a:ext cx="18288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3B82F6"/>
                </a:solidFill>
                <a:latin typeface="Noto Sans JP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389888"/>
            <a:ext cx="2560320" cy="201168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2968" y="1389888"/>
            <a:ext cx="64008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389888"/>
            <a:ext cx="2286000" cy="20116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500" b="1">
                <a:solidFill>
                  <a:srgbClr val="F59E0B"/>
                </a:solidFill>
                <a:latin typeface="Noto Sans JP"/>
              </a:rPr>
              <a:t>顧客からの</a:t>
            </a:r>
          </a:p>
          <a:p>
            <a:pPr algn="ctr"/>
            <a:r>
              <a:rPr sz="1500" b="1">
                <a:solidFill>
                  <a:srgbClr val="F59E0B"/>
                </a:solidFill>
                <a:latin typeface="Noto Sans JP"/>
              </a:rPr>
              <a:t>POC要望が急増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9864" y="2029967"/>
            <a:ext cx="18288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59E0B"/>
                </a:solidFill>
                <a:latin typeface="Noto Sans JP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34456" y="1389888"/>
            <a:ext cx="2560320" cy="201168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34456" y="1389888"/>
            <a:ext cx="64008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1389888"/>
            <a:ext cx="2286000" cy="20116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500" b="1">
                <a:solidFill>
                  <a:srgbClr val="EF4444"/>
                </a:solidFill>
                <a:latin typeface="Noto Sans JP"/>
              </a:rPr>
              <a:t>社内に実装</a:t>
            </a:r>
          </a:p>
          <a:p>
            <a:pPr algn="ctr"/>
            <a:r>
              <a:rPr sz="1500" b="1">
                <a:solidFill>
                  <a:srgbClr val="EF4444"/>
                </a:solidFill>
                <a:latin typeface="Noto Sans JP"/>
              </a:rPr>
              <a:t>できる人材なし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1" y="2029967"/>
            <a:ext cx="18288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EF4444"/>
                </a:solidFill>
                <a:latin typeface="Noto Sans JP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95944" y="1389888"/>
            <a:ext cx="2560320" cy="201168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95944" y="1389888"/>
            <a:ext cx="64008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1389888"/>
            <a:ext cx="2286000" cy="20116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500" b="1">
                <a:solidFill>
                  <a:srgbClr val="EF4444"/>
                </a:solidFill>
                <a:latin typeface="Noto Sans JP"/>
              </a:rPr>
              <a:t>POCが</a:t>
            </a:r>
          </a:p>
          <a:p>
            <a:pPr algn="ctr"/>
            <a:r>
              <a:rPr sz="1500" b="1">
                <a:solidFill>
                  <a:srgbClr val="EF4444"/>
                </a:solidFill>
                <a:latin typeface="Noto Sans JP"/>
              </a:rPr>
              <a:t>本番化できない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84448"/>
            <a:ext cx="1136599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84448"/>
            <a:ext cx="64008" cy="5120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584448"/>
            <a:ext cx="1088136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保険業界のプロダクトにAI機能を組み込むことは、今や競争上の必須要件になりつつある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206240"/>
            <a:ext cx="1136599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206240"/>
            <a:ext cx="64008" cy="5120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06240"/>
            <a:ext cx="1088136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顧客（保険会社・代理店）からAI活用のPOC要望が次々と来ているが、社内に実装できる人材がいない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28031"/>
            <a:ext cx="1136599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828031"/>
            <a:ext cx="64008" cy="5120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828031"/>
            <a:ext cx="1088136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海外ベンダーとPOCを実施しているが、金融規制上、本番運用への移行ができない構造的矛盾がある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49823"/>
            <a:ext cx="11365992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449823"/>
            <a:ext cx="64008" cy="5120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449823"/>
            <a:ext cx="1088136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結果として：POC案件が「本番化できない状態」のまま滞留している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AI開発の手法が、社内に存在しない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課題③　技術ギャップ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566160" cy="182880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18288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81328"/>
            <a:ext cx="3291840" cy="1645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「ビジネス要件をAIタスクに</a:t>
            </a:r>
          </a:p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分解する方法がわからない」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2" y="1389888"/>
            <a:ext cx="3566160" cy="182880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2232" y="1389888"/>
            <a:ext cx="64008" cy="18288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81328"/>
            <a:ext cx="3291840" cy="1645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「要件定義・基本設計はわかるが、</a:t>
            </a:r>
          </a:p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AI開発の標準手法が不明」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72983" y="1389888"/>
            <a:ext cx="3566160" cy="182880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72983" y="1389888"/>
            <a:ext cx="64008" cy="18288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481328"/>
            <a:ext cx="3291840" cy="1645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「みんな我流。統一されたベスト</a:t>
            </a:r>
          </a:p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プラクティスが誰も持っていない」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10128"/>
            <a:ext cx="36576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▼ この発言が示す本質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30752"/>
            <a:ext cx="2011680" cy="47548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3730752"/>
            <a:ext cx="1920240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エンジニア基礎力はある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8024" y="3730752"/>
            <a:ext cx="9052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51176" y="3730752"/>
            <a:ext cx="8887968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システム開発の要件定義・設計プロセスは理解している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279392"/>
            <a:ext cx="2011680" cy="47548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" y="4279392"/>
            <a:ext cx="1920240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AI固有の手法が空白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78024" y="4279392"/>
            <a:ext cx="9052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51176" y="4279392"/>
            <a:ext cx="8887968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ビジネス課題→AIタスク分解→エージェント設計のプロセスがない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828032"/>
            <a:ext cx="2011680" cy="47548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4828032"/>
            <a:ext cx="1920240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見積もりすらできない状態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78024" y="4828032"/>
            <a:ext cx="9052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51176" y="4828032"/>
            <a:ext cx="8887968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新プロダクトのAI部分の工数・コスト試算が不可能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376672"/>
            <a:ext cx="2011680" cy="47548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" y="5376672"/>
            <a:ext cx="1920240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優先順位が不明確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78024" y="5376672"/>
            <a:ext cx="9052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51176" y="5376672"/>
            <a:ext cx="8887968" cy="47548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どのユースケースから着手するかの判断基準がない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3つの構造的ボトルネック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課題④　構造的制約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566160" cy="493776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4937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72768"/>
            <a:ext cx="329184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600" b="1">
                <a:solidFill>
                  <a:srgbClr val="3B82F6"/>
                </a:solidFill>
                <a:latin typeface="Noto Sans JP"/>
              </a:rPr>
              <a:t>ChatGPT</a:t>
            </a:r>
          </a:p>
          <a:p>
            <a:pPr algn="ctr"/>
            <a:r>
              <a:rPr sz="1600" b="1">
                <a:solidFill>
                  <a:srgbClr val="3B82F6"/>
                </a:solidFill>
                <a:latin typeface="Noto Sans JP"/>
              </a:rPr>
              <a:t>Enterprise縛り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95728"/>
            <a:ext cx="3017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32888"/>
            <a:ext cx="3291840" cy="35661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他ツールで会社資産を扱えない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活用範囲が狭く限定される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GPT以外のツール選定が困難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1389888"/>
            <a:ext cx="3566160" cy="493776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808" y="1389888"/>
            <a:ext cx="64008" cy="4937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572768"/>
            <a:ext cx="329184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600" b="1">
                <a:solidFill>
                  <a:srgbClr val="EF4444"/>
                </a:solidFill>
                <a:latin typeface="Noto Sans JP"/>
              </a:rPr>
              <a:t>金融規制の壁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8" y="2395728"/>
            <a:ext cx="301752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532888"/>
            <a:ext cx="3291840" cy="35661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海外ベンダーとのPOCを本番化できない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内製化が必須だが人材がいない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POC案件が永久に仮運用のまま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6136" y="1389888"/>
            <a:ext cx="3566160" cy="4937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6136" y="1389888"/>
            <a:ext cx="64008" cy="4937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572768"/>
            <a:ext cx="329184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600" b="1">
                <a:solidFill>
                  <a:srgbClr val="F59E0B"/>
                </a:solidFill>
                <a:latin typeface="Noto Sans JP"/>
              </a:rPr>
              <a:t>言語の壁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2395728"/>
            <a:ext cx="301752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2532888"/>
            <a:ext cx="3291840" cy="35661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約半数の中国語話者に日本語研修だと効果半減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チーム内でナレッジ共有ができない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共通言語・標準手法の浸透が阻まれる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3月末の企画書提出に間に合わないリスク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課題⑤　タイムラインの危機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640080"/>
          </a:xfrm>
          <a:prstGeom prst="rect">
            <a:avLst/>
          </a:prstGeom>
          <a:solidFill>
            <a:srgbClr val="FEF2F2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11365992" cy="640080"/>
          </a:xfrm>
          <a:prstGeom prst="rect">
            <a:avLst/>
          </a:prstGeom>
          <a:noFill/>
        </p:spPr>
        <p:txBody>
          <a:bodyPr wrap="square" anchor="ctr" lIns="182880" rIns="54864" tIns="54864" bIns="36576"/>
          <a:lstStyle/>
          <a:p>
            <a:pPr algn="l"/>
            <a:r>
              <a:rPr sz="1400" b="1">
                <a:solidFill>
                  <a:srgbClr val="EF4444"/>
                </a:solidFill>
                <a:latin typeface="Noto Sans JP"/>
              </a:rPr>
              <a:t>⚠️   期限：3月末 ─ ソフトバンク親会社への企画書提出（AI推進の実行計画を提示する必要あり）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54864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現状（提出に必要なものが揃っていない）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96896"/>
            <a:ext cx="5394960" cy="53035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596896"/>
            <a:ext cx="64008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96896"/>
            <a:ext cx="493776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EF4444"/>
                </a:solidFill>
                <a:latin typeface="Noto Sans JP"/>
              </a:rPr>
              <a:t>✗   社内にAI実装できる人材がいない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36976"/>
            <a:ext cx="5394960" cy="53035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236976"/>
            <a:ext cx="64008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36976"/>
            <a:ext cx="493776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EF4444"/>
                </a:solidFill>
                <a:latin typeface="Noto Sans JP"/>
              </a:rPr>
              <a:t>✗   どのユースケースから着手するか不明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77056"/>
            <a:ext cx="5394960" cy="53035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877056"/>
            <a:ext cx="64008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77056"/>
            <a:ext cx="493776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EF4444"/>
                </a:solidFill>
                <a:latin typeface="Noto Sans JP"/>
              </a:rPr>
              <a:t>✗   AI開発の標準プロセスが存在しない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517136"/>
            <a:ext cx="5394960" cy="53035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17136"/>
            <a:ext cx="64008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517136"/>
            <a:ext cx="493776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EF4444"/>
                </a:solidFill>
                <a:latin typeface="Noto Sans JP"/>
              </a:rPr>
              <a:t>✗   新プロダクトのAI部分の見積もりすらできない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12848"/>
            <a:ext cx="530352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今すぐ必要なアクション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596896"/>
            <a:ext cx="5394960" cy="53035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596896"/>
            <a:ext cx="64008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596896"/>
            <a:ext cx="493776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6A34A"/>
                </a:solidFill>
                <a:latin typeface="Noto Sans JP"/>
              </a:rPr>
              <a:t>✓   AI研修の内容・対象・日程を決定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36976"/>
            <a:ext cx="5394960" cy="53035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236976"/>
            <a:ext cx="64008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3236976"/>
            <a:ext cx="493776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6A34A"/>
                </a:solidFill>
                <a:latin typeface="Noto Sans JP"/>
              </a:rPr>
              <a:t>✓   助成金申請のための実施計画策定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877056"/>
            <a:ext cx="5394960" cy="53035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877056"/>
            <a:ext cx="64008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877056"/>
            <a:ext cx="493776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6A34A"/>
                </a:solidFill>
                <a:latin typeface="Noto Sans JP"/>
              </a:rPr>
              <a:t>✓   エヌイチとのヒアリング（2時間）を実施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517136"/>
            <a:ext cx="5394960" cy="53035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517136"/>
            <a:ext cx="64008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4517136"/>
            <a:ext cx="493776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6A34A"/>
                </a:solidFill>
                <a:latin typeface="Noto Sans JP"/>
              </a:rPr>
              <a:t>✓   社内承認を取得し着手準備を開始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3〜6ヶ月で、AIで自走できる組織へ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提案ゴール①　目指す姿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212080" cy="50292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5029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48463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EF4444"/>
                </a:solidFill>
                <a:latin typeface="Noto Sans JP"/>
              </a:rPr>
              <a:t>Before（現状）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EF4444"/>
                </a:solidFill>
                <a:latin typeface="Noto Sans JP"/>
              </a:rPr>
              <a:t>✗  要件分解の方法がわからない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EF4444"/>
                </a:solidFill>
                <a:latin typeface="Noto Sans JP"/>
              </a:rPr>
              <a:t>✗  AI開発は海外ベンダー依存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EF4444"/>
                </a:solidFill>
                <a:latin typeface="Noto Sans JP"/>
              </a:rPr>
              <a:t>✗  各自が我流でツールを使用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6732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EF4444"/>
                </a:solidFill>
                <a:latin typeface="Noto Sans JP"/>
              </a:rPr>
              <a:t>✗  POCを本番化できない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EF4444"/>
                </a:solidFill>
                <a:latin typeface="Noto Sans JP"/>
              </a:rPr>
              <a:t>✗  見積もりも優先順位もわからない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401568"/>
            <a:ext cx="7315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30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224528"/>
            <a:ext cx="137160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100" b="1">
                <a:solidFill>
                  <a:srgbClr val="42A4AF"/>
                </a:solidFill>
                <a:latin typeface="Noto Sans JP"/>
              </a:rPr>
              <a:t>Kawaru Team</a:t>
            </a:r>
          </a:p>
          <a:p>
            <a:pPr algn="ctr"/>
            <a:r>
              <a:rPr sz="1100" b="1">
                <a:solidFill>
                  <a:srgbClr val="42A4AF"/>
                </a:solidFill>
                <a:latin typeface="Noto Sans JP"/>
              </a:rPr>
              <a:t>研修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1389888"/>
            <a:ext cx="5212080" cy="502920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3952" y="1389888"/>
            <a:ext cx="64008" cy="5029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572768"/>
            <a:ext cx="48463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6A34A"/>
                </a:solidFill>
                <a:latin typeface="Noto Sans JP"/>
              </a:rPr>
              <a:t>After（3〜6ヶ月後）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12140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6A34A"/>
                </a:solidFill>
                <a:latin typeface="Noto Sans JP"/>
              </a:rPr>
              <a:t>✓  ビジネス要件→AIタスク分解が自力でできる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7004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6A34A"/>
                </a:solidFill>
                <a:latin typeface="Noto Sans JP"/>
              </a:rPr>
              <a:t>✓  ChatGPT Enterpriseの共通プロセスが確立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1868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6A34A"/>
                </a:solidFill>
                <a:latin typeface="Noto Sans JP"/>
              </a:rPr>
              <a:t>✓  チーム全員が同じ標準手法を使える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6A34A"/>
                </a:solidFill>
                <a:latin typeface="Noto Sans JP"/>
              </a:rPr>
              <a:t>✓  POC案件を社内主導で本番化できる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315968"/>
            <a:ext cx="466344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6A34A"/>
                </a:solidFill>
                <a:latin typeface="Noto Sans JP"/>
              </a:rPr>
              <a:t>✓  新プロダクトのAI部分を見積もれる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研修後に達成する3つの成果指標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提案ゴール②　成果指標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566160" cy="493776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4937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572768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12848"/>
            <a:ext cx="323697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3B82F6"/>
                </a:solidFill>
                <a:latin typeface="Noto Sans JP"/>
              </a:rPr>
              <a:t>スキルの定着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07208"/>
            <a:ext cx="3017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944368"/>
            <a:ext cx="3236976" cy="23774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ビジネス要件→AIタスク分解→エージェント設計のプロセスを自力で回せるエンジニアが育つ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5596127"/>
            <a:ext cx="316382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5596127"/>
            <a:ext cx="3163824" cy="4572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"わからない"の根本解消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2" y="1389888"/>
            <a:ext cx="3566160" cy="493776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2" y="1389888"/>
            <a:ext cx="64008" cy="49377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20" y="1572768"/>
            <a:ext cx="512064" cy="512064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323697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42A4AF"/>
                </a:solidFill>
                <a:latin typeface="Noto Sans JP"/>
              </a:rPr>
              <a:t>開発の標準化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7992" y="2807208"/>
            <a:ext cx="3017520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944368"/>
            <a:ext cx="3236976" cy="23774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ChatGPT Enterprise活用を前提とした、社内共通のAI開発プロセスが確立される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5596127"/>
            <a:ext cx="3163824" cy="4572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5596127"/>
            <a:ext cx="3163824" cy="4572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チームの共通言語が生まれる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5863" y="1389888"/>
            <a:ext cx="3566160" cy="493776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5863" y="1389888"/>
            <a:ext cx="64008" cy="4937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1311" y="1572768"/>
            <a:ext cx="512064" cy="51206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2212848"/>
            <a:ext cx="323697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6A34A"/>
                </a:solidFill>
                <a:latin typeface="Noto Sans JP"/>
              </a:rPr>
              <a:t>本番化への道筋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0183" y="2807208"/>
            <a:ext cx="3017520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2944368"/>
            <a:ext cx="3236976" cy="23774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現在POC中の案件（保険金請求自動化・AI-OCR等）を社内主導で本番化できる素地ができる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57031" y="5596127"/>
            <a:ext cx="3163824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5596127"/>
            <a:ext cx="3163824" cy="4572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海外ベンダー依存からの脱却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一般研修との6つの決定的な違い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提案根拠①　差別化比較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2743200" cy="6217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256032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JP"/>
              </a:rPr>
              <a:t>比較軸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89888"/>
            <a:ext cx="4160520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89888"/>
            <a:ext cx="3977639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200" b="1">
                <a:solidFill>
                  <a:srgbClr val="6B7280"/>
                </a:solidFill>
                <a:latin typeface="Noto Sans JP"/>
              </a:rPr>
              <a:t>一般的なAI研修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389888"/>
            <a:ext cx="4334256" cy="6217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389888"/>
            <a:ext cx="4151376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Kawaru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11680"/>
            <a:ext cx="274320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0"/>
            <a:ext cx="256032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コンテンツ設計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011680"/>
            <a:ext cx="416052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2011680"/>
            <a:ext cx="3941063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汎用カリキュラム（既製品）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011680"/>
            <a:ext cx="4334256" cy="621792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2011680"/>
            <a:ext cx="411480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御社の課題から0ベースで設計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679192"/>
            <a:ext cx="2743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79192"/>
            <a:ext cx="256032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講師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679192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2679192"/>
            <a:ext cx="3941063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教育専門家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679192"/>
            <a:ext cx="4334256" cy="621792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2679192"/>
            <a:ext cx="411480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自社でAIを日常開発する実務者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346704"/>
            <a:ext cx="274320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46704"/>
            <a:ext cx="256032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内容の深さ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346704"/>
            <a:ext cx="416052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8416" y="3346704"/>
            <a:ext cx="3941063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概念・ツール紹介が中心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46704"/>
            <a:ext cx="4334256" cy="621792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656" y="3346704"/>
            <a:ext cx="411480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ChatGPT Enterprise制約下の実践ノウハウ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014216"/>
            <a:ext cx="2743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014216"/>
            <a:ext cx="256032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事例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014216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8416" y="4014216"/>
            <a:ext cx="3941063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他業界の汎用事例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014216"/>
            <a:ext cx="4334256" cy="621792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6" y="4014216"/>
            <a:ext cx="411480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保険業界ユースケース（AI-OCR・請求自動化）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681728"/>
            <a:ext cx="274320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81728"/>
            <a:ext cx="256032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言語対応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681728"/>
            <a:ext cx="416052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8416" y="4681728"/>
            <a:ext cx="3941063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日本語のみ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681728"/>
            <a:ext cx="4334256" cy="621792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4656" y="4681728"/>
            <a:ext cx="411480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多言語対応可（AIツール活用の翻訳補助）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349240"/>
            <a:ext cx="2743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349240"/>
            <a:ext cx="256032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研修後サポート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349240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28416" y="5349240"/>
            <a:ext cx="3941063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なし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5349240"/>
            <a:ext cx="4334256" cy="621792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34656" y="5349240"/>
            <a:ext cx="4114800" cy="62179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伴走支援が可能（Kawaru Coach）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エヌイチは「毎日AIを実装している実務者集団」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提案根拠②　エヌイチが選ばれる理由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394960" cy="237744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377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54480"/>
            <a:ext cx="5084064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3B82F6"/>
                </a:solidFill>
                <a:latin typeface="Noto Sans JP"/>
              </a:rPr>
              <a:t>実務者が教える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03120"/>
            <a:ext cx="5084064" cy="14630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自社でAIエージェント・ツールを日常業務で開発・運用。「知識を教える」のではなく「現場で機能するノウハウ」を渡す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6752" y="1389888"/>
            <a:ext cx="5394960" cy="237744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16752" y="1389888"/>
            <a:ext cx="64008" cy="23774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5084064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42A4AF"/>
                </a:solidFill>
                <a:latin typeface="Noto Sans JP"/>
              </a:rPr>
              <a:t>保険業界ユースケースをそのまま教材に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5084064" cy="14630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AI-OCR・保険金請求自動化など、御社に直結するユースケースをケーススタディとして活用可能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95928"/>
            <a:ext cx="5394960" cy="237744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995928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4160520"/>
            <a:ext cx="5084064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F59E0B"/>
                </a:solidFill>
                <a:latin typeface="Noto Sans JP"/>
              </a:rPr>
              <a:t>ChatGPT制約下のノウハウを保有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709160"/>
            <a:ext cx="5084064" cy="14630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Enterprise環境での制約・回避策・活用パターンを実体験として持つ。制約内での最大活用を設計できる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6752" y="3995928"/>
            <a:ext cx="5394960" cy="237744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16752" y="3995928"/>
            <a:ext cx="64008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160520"/>
            <a:ext cx="5084064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6A34A"/>
                </a:solidFill>
                <a:latin typeface="Noto Sans JP"/>
              </a:rPr>
              <a:t>中国語話者への対応が可能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09160"/>
            <a:ext cx="5084064" cy="14630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AIツールを活用したリアルタイム翻訳補助により、言語の壁を超えた研修設計が可能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まず15〜25名でスタート・4モジュール構成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提案詳細①　研修対象・カリキュラム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840480" cy="146304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1463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27048"/>
            <a:ext cx="34747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推奨対象者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84248"/>
            <a:ext cx="3474720" cy="7315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SaaS本部・SI本部のエンジニア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まず15〜25名でスタート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389888"/>
            <a:ext cx="713232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89888"/>
            <a:ext cx="64008" cy="14630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527048"/>
            <a:ext cx="676656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横展開の設計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84248"/>
            <a:ext cx="6766560" cy="7315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中核メンバー25名を先に育成 → ナレッジ共有 → 全体展開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いきなり全員よりも定着率が大幅に向上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35808"/>
            <a:ext cx="54864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1C3557"/>
                </a:solidFill>
                <a:latin typeface="Noto Sans JP"/>
              </a:rPr>
              <a:t>研修カリキュラム（4モジュール）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5559552" cy="95097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74720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47872"/>
            <a:ext cx="10058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Module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547872"/>
            <a:ext cx="41148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AIエージェント設計の基礎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950208"/>
            <a:ext cx="5212080" cy="38404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概念・アーキテクチャ・ユースケース分類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474720"/>
            <a:ext cx="5559552" cy="95097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474720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547872"/>
            <a:ext cx="10058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Module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3547872"/>
            <a:ext cx="41148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ビジネス課題→AIタスク分解の方法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950208"/>
            <a:ext cx="5212080" cy="38404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要件定義からAIタスクへの変換手法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553712"/>
            <a:ext cx="5559552" cy="95097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553712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626864"/>
            <a:ext cx="10058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Module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4626864"/>
            <a:ext cx="41148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ChatGPT Enterpriseを使ったAI開発の標準プロセス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029200"/>
            <a:ext cx="5212080" cy="38404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実務ワークフロー・プロンプト設計・テスト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553712"/>
            <a:ext cx="5559552" cy="95097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553712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626864"/>
            <a:ext cx="10058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Module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4626864"/>
            <a:ext cx="41148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保険業界ユースケースで実践演習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5029200"/>
            <a:ext cx="5212080" cy="38404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AI-OCR・請求自動化をケーススタディに使用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訪問型・平日開催・多言語対応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提案詳細②　実施形式・日程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1463040" cy="60350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481328"/>
            <a:ext cx="1371600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研修時間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9384" y="1481328"/>
            <a:ext cx="9692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2536" y="1481328"/>
            <a:ext cx="9528048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10〜15時間（1日2〜3時間 × 3〜4日間）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76272"/>
            <a:ext cx="1463040" cy="60350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176272"/>
            <a:ext cx="1371600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実施形式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9384" y="2176272"/>
            <a:ext cx="9692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2536" y="2176272"/>
            <a:ext cx="9528048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御社オフィスへの訪問型（リアル開催）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71216"/>
            <a:ext cx="1463040" cy="60350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871216"/>
            <a:ext cx="1371600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実施日程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9384" y="2871216"/>
            <a:ext cx="9692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2871216"/>
            <a:ext cx="9528048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平日9〜18時（助成金適用の必須条件）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66160"/>
            <a:ext cx="1463040" cy="60350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566160"/>
            <a:ext cx="1371600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言語対応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9384" y="3566160"/>
            <a:ext cx="9692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02536" y="3566160"/>
            <a:ext cx="9528048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AIツールを活用したリアルタイム翻訳補助（中国語話者対応可）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261104"/>
            <a:ext cx="1463040" cy="60350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261104"/>
            <a:ext cx="1371600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事前準備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9384" y="4261104"/>
            <a:ext cx="9692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02536" y="4261104"/>
            <a:ext cx="9528048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エヌイチとのヒアリング2時間でコンテンツを共同設計（無料）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956048"/>
            <a:ext cx="1463040" cy="60350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4956048"/>
            <a:ext cx="1371600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研修後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9384" y="4956048"/>
            <a:ext cx="9692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02536" y="4956048"/>
            <a:ext cx="9528048" cy="60350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振り返りセッション実施・アフターフォロー相談可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327648"/>
            <a:ext cx="11365992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EF4444"/>
                </a:solidFill>
                <a:latin typeface="Noto Sans JP"/>
              </a:rPr>
              <a:t>※ 平日・訪問型の実施は助成金適用の条件です。週末・オンライン対応は助成金対象外となります。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助成金活用で実質 4.5〜6万円 ／ 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提案詳細③　費用・助成金シミュレーション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474720" cy="21945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194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72768"/>
            <a:ext cx="3145536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400" b="1">
                <a:solidFill>
                  <a:srgbClr val="1C3557"/>
                </a:solidFill>
                <a:latin typeface="Noto Sans JP"/>
              </a:rPr>
              <a:t>定価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94560"/>
            <a:ext cx="3145536" cy="11887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600" b="1">
                <a:solidFill>
                  <a:srgbClr val="1C3557"/>
                </a:solidFill>
                <a:latin typeface="Noto Sans JP"/>
              </a:rPr>
              <a:t>15万円/名</a:t>
            </a:r>
          </a:p>
          <a:p>
            <a:pPr algn="ctr"/>
            <a:r>
              <a:rPr sz="1600" b="1">
                <a:solidFill>
                  <a:srgbClr val="1C3557"/>
                </a:solidFill>
                <a:latin typeface="Noto Sans JP"/>
              </a:rPr>
              <a:t>× 20名 = 300万円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12848"/>
            <a:ext cx="2560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1C3557"/>
                </a:solidFill>
                <a:latin typeface="Noto Sans JP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2" y="1389888"/>
            <a:ext cx="3474720" cy="21945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42232" y="1389888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72768"/>
            <a:ext cx="3145536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400" b="1">
                <a:solidFill>
                  <a:srgbClr val="F59E0B"/>
                </a:solidFill>
                <a:latin typeface="Noto Sans JP"/>
              </a:rPr>
              <a:t>助成金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94560"/>
            <a:ext cx="3145536" cy="11887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600" b="1">
                <a:solidFill>
                  <a:srgbClr val="F59E0B"/>
                </a:solidFill>
                <a:latin typeface="Noto Sans JP"/>
              </a:rPr>
              <a:t>6〜7割還元</a:t>
            </a:r>
          </a:p>
          <a:p>
            <a:pPr algn="ctr"/>
            <a:r>
              <a:rPr sz="1600" b="1">
                <a:solidFill>
                  <a:srgbClr val="F59E0B"/>
                </a:solidFill>
                <a:latin typeface="Noto Sans JP"/>
              </a:rPr>
              <a:t>= 180〜210万円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212848"/>
            <a:ext cx="2560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59E0B"/>
                </a:solidFill>
                <a:latin typeface="Noto Sans JP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72983" y="1389888"/>
            <a:ext cx="3474720" cy="219456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72983" y="1389888"/>
            <a:ext cx="64008" cy="2194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1572768"/>
            <a:ext cx="3145536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400" b="1">
                <a:solidFill>
                  <a:srgbClr val="16A34A"/>
                </a:solidFill>
                <a:latin typeface="Noto Sans JP"/>
              </a:rPr>
              <a:t>実質負担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194560"/>
            <a:ext cx="3145536" cy="11887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600" b="1">
                <a:solidFill>
                  <a:srgbClr val="16A34A"/>
                </a:solidFill>
                <a:latin typeface="Noto Sans JP"/>
              </a:rPr>
              <a:t>約90〜120万円</a:t>
            </a:r>
          </a:p>
          <a:p>
            <a:pPr algn="ctr"/>
            <a:r>
              <a:rPr sz="1600" b="1">
                <a:solidFill>
                  <a:srgbClr val="16A34A"/>
                </a:solidFill>
                <a:latin typeface="Noto Sans JP"/>
              </a:rPr>
              <a:t>（4.5〜6万円/名）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13048"/>
            <a:ext cx="11365992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助成金について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24528"/>
            <a:ext cx="1554480" cy="50292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4224528"/>
            <a:ext cx="146303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種類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20824" y="4224528"/>
            <a:ext cx="969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93976" y="4224528"/>
            <a:ext cx="9528048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人材開発支援助成金（経済産業省・厚生労働省系）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800600"/>
            <a:ext cx="1554480" cy="50292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4800600"/>
            <a:ext cx="146303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適用条件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20824" y="4800600"/>
            <a:ext cx="969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93976" y="4800600"/>
            <a:ext cx="9528048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平日9〜18時実施・訪問型・受講報告等の書類整備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376672"/>
            <a:ext cx="1554480" cy="50292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5376672"/>
            <a:ext cx="146303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申請サポート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20824" y="5376672"/>
            <a:ext cx="969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93976" y="5376672"/>
            <a:ext cx="9528048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エヌイチがフルサポート（書類作成・申請手続きを含む）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952744"/>
            <a:ext cx="1554480" cy="50292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5952744"/>
            <a:ext cx="146303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想定スケジュール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20824" y="5952744"/>
            <a:ext cx="969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93976" y="5952744"/>
            <a:ext cx="9528048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研修実施→書類提出→2〜4ヶ月後に還付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ヒアリング2時間でカリキュラムをゼロ設計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提案詳細④　カリキュラム設計フロー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566160" cy="493776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4937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54480"/>
            <a:ext cx="323697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3B82F6"/>
                </a:solidFill>
                <a:latin typeface="Noto Sans JP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323697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C3557"/>
                </a:solidFill>
                <a:latin typeface="Noto Sans JP"/>
              </a:rPr>
              <a:t>ヒアリング（約2時間）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78608"/>
            <a:ext cx="30175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3236976" cy="29260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・研修対象者のスキルレベル確認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・習得させたいスキル・ユースケースの優先順位確認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・日程・実施環境の詳細確認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5705856"/>
            <a:ext cx="3163824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5705856"/>
            <a:ext cx="3163824" cy="4023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無料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5" y="3584448"/>
            <a:ext cx="201168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800" b="1">
                <a:solidFill>
                  <a:srgbClr val="3B82F6"/>
                </a:solidFill>
                <a:latin typeface="Noto Sans JP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8808" y="1389888"/>
            <a:ext cx="3566160" cy="493776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78808" y="1389888"/>
            <a:ext cx="64008" cy="49377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554480"/>
            <a:ext cx="323697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42A4AF"/>
                </a:solidFill>
                <a:latin typeface="Noto Sans JP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1993392"/>
            <a:ext cx="323697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C3557"/>
                </a:solidFill>
                <a:latin typeface="Noto Sans JP"/>
              </a:rPr>
              <a:t>コンテンツ設計（1〜2週間）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3128" y="2578608"/>
            <a:ext cx="3017520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2761488"/>
            <a:ext cx="3236976" cy="29260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・御社固有の課題に合わせたカリキュラム作成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・保険業界ユースケースの教材化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・ChatGPT Enterprise環境での演習設計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9976" y="5705856"/>
            <a:ext cx="3163824" cy="40233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6" y="5705856"/>
            <a:ext cx="3163824" cy="4023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1〜2週間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3584448"/>
            <a:ext cx="201168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8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6136" y="1389888"/>
            <a:ext cx="3566160" cy="493776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46136" y="1389888"/>
            <a:ext cx="64008" cy="4937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4" y="1554480"/>
            <a:ext cx="323697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16A34A"/>
                </a:solidFill>
                <a:latin typeface="Noto Sans JP"/>
              </a:rPr>
              <a:t>STEP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1993392"/>
            <a:ext cx="323697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C3557"/>
                </a:solidFill>
                <a:latin typeface="Noto Sans JP"/>
              </a:rPr>
              <a:t>詳細見積もり・スケジュール提示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2578608"/>
            <a:ext cx="3017520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7304" y="2761488"/>
            <a:ext cx="3236976" cy="29260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・人数・時間・日程を確定した正式提案書を提出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・助成金申請スケジュールの確認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・ご承認後、研修実施へ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47304" y="5705856"/>
            <a:ext cx="3163824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7304" y="5705856"/>
            <a:ext cx="3163824" cy="4023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確定後即着手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4STEPのネクストアクション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560320" cy="512064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64008" cy="5120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25880"/>
            <a:ext cx="223113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3B82F6"/>
                </a:solidFill>
                <a:latin typeface="Noto Sans JP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01368"/>
            <a:ext cx="223113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社内承認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386584"/>
            <a:ext cx="2048255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560320"/>
            <a:ext cx="2231136" cy="2560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呉様より社長への上申・承認取得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5577840"/>
            <a:ext cx="215798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5577840"/>
            <a:ext cx="2157984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3月上旬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201168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800" b="1">
                <a:solidFill>
                  <a:srgbClr val="3B82F6"/>
                </a:solidFill>
                <a:latin typeface="Noto Sans JP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143000"/>
            <a:ext cx="2560320" cy="512064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1143000"/>
            <a:ext cx="64008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325880"/>
            <a:ext cx="223113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42A4AF"/>
                </a:solidFill>
                <a:latin typeface="Noto Sans JP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1801368"/>
            <a:ext cx="223113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ヒアリング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386584"/>
            <a:ext cx="2048255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2560320"/>
            <a:ext cx="2231136" cy="2560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研修対象者・習得スキル・日程を詳細確認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（約2時間・無料）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74136" y="5577840"/>
            <a:ext cx="2157984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5577840"/>
            <a:ext cx="2157984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承認後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1〜2週間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3429000"/>
            <a:ext cx="201168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8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143000"/>
            <a:ext cx="2560320" cy="512064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34456" y="1143000"/>
            <a:ext cx="64008" cy="5120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1325880"/>
            <a:ext cx="223113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16A34A"/>
                </a:solidFill>
                <a:latin typeface="Noto Sans JP"/>
              </a:rPr>
              <a:t>STEP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5624" y="1801368"/>
            <a:ext cx="223113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コンテンツ設計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2386584"/>
            <a:ext cx="2048255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5624" y="2560320"/>
            <a:ext cx="2231136" cy="2560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御社専用カリキュラム作成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詳細費用・スケジュール提示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35624" y="5577840"/>
            <a:ext cx="2157984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35624" y="5577840"/>
            <a:ext cx="2157984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ヒアリング後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1〜2週間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1" y="3429000"/>
            <a:ext cx="201168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800" b="1">
                <a:solidFill>
                  <a:srgbClr val="16A34A"/>
                </a:solidFill>
                <a:latin typeface="Noto Sans JP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95944" y="1143000"/>
            <a:ext cx="2560320" cy="512064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95944" y="1143000"/>
            <a:ext cx="64008" cy="5120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1325880"/>
            <a:ext cx="223113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1">
                <a:solidFill>
                  <a:srgbClr val="F59E0B"/>
                </a:solidFill>
                <a:latin typeface="Noto Sans JP"/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2" y="1801368"/>
            <a:ext cx="223113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研修実施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1976" y="2386584"/>
            <a:ext cx="20482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2560320"/>
            <a:ext cx="2231136" cy="2560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3〜4日間のフルカスタマイズ研修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振り返り・アフターフォロー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97112" y="5577840"/>
            <a:ext cx="215798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97112" y="5577840"/>
            <a:ext cx="2157984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STEP3完了後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本日確認したい3点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1365992" cy="164592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64008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07592"/>
            <a:ext cx="10515600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3B82F6"/>
                </a:solidFill>
                <a:latin typeface="Noto Sans JP"/>
              </a:rPr>
              <a:t>① 社内承認の見込みスケジュール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37943"/>
            <a:ext cx="10515600" cy="8229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社長への1on1は来週木曜のご予定でしたが、その後の見通しはいかがでしょうか？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承認が取れ次第、すぐにヒアリング日程を設定させてください。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71800"/>
            <a:ext cx="11365992" cy="164592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971800"/>
            <a:ext cx="64008" cy="1645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36392"/>
            <a:ext cx="10515600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42A4AF"/>
                </a:solidFill>
                <a:latin typeface="Noto Sans JP"/>
              </a:rPr>
              <a:t>② 両本部長との連携タイミング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66744"/>
            <a:ext cx="10515600" cy="8229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SaaS本部（呉様）とSI本部との連携は、どの段階で行う予定でしょうか？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両本部を合わせた対象人数が確定すれば、費用・日程設計がより精緻になります。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00600"/>
            <a:ext cx="11365992" cy="164592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800600"/>
            <a:ext cx="6400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965192"/>
            <a:ext cx="10515600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6A34A"/>
                </a:solidFill>
                <a:latin typeface="Noto Sans JP"/>
              </a:rPr>
              <a:t>③ 中国語対応の優先度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95544"/>
            <a:ext cx="10515600" cy="8229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言語サポートは「あれば嬉しい」レベルか、「必須」レベルか、どちらに近いですか？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必須の場合は、カリキュラム設計の段階から翻訳補助の仕組みを組み込みます。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