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784848"/>
            <a:ext cx="1182319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78992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600" b="1">
                <a:solidFill>
                  <a:srgbClr val="42A4AF"/>
                </a:solidFill>
                <a:latin typeface="Noto Sans JP"/>
              </a:rPr>
              <a:t>生成AI支援 ご提案書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965960"/>
            <a:ext cx="5239512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789920" cy="10972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3800" b="1">
                <a:solidFill>
                  <a:srgbClr val="111827"/>
                </a:solidFill>
                <a:latin typeface="Noto Sans JP"/>
              </a:rPr>
              <a:t>リードインクス株式会社 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78992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700" b="0">
                <a:solidFill>
                  <a:srgbClr val="6B7280"/>
                </a:solidFill>
                <a:latin typeface="Noto Sans JP"/>
              </a:rPr>
              <a:t>「AIで自走できるエンジニア組織」を実現するための提案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7899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500" b="0">
                <a:solidFill>
                  <a:srgbClr val="6B7280"/>
                </a:solidFill>
                <a:latin typeface="Noto Sans JP"/>
              </a:rPr>
              <a:t>2026年3月25日　　株式会社エヌイチ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182319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9601200" cy="6400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800" b="1">
                <a:solidFill>
                  <a:srgbClr val="111827"/>
                </a:solidFill>
                <a:latin typeface="Noto Sans JP"/>
              </a:rPr>
              <a:t>目次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7432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22960"/>
            <a:ext cx="1164031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11640312" cy="950976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05840"/>
            <a:ext cx="1005840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05840"/>
            <a:ext cx="1005840" cy="95097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JP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91056" y="1170432"/>
            <a:ext cx="36576" cy="6217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1097280"/>
            <a:ext cx="4572000" cy="42062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振り返り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55648" y="1554480"/>
            <a:ext cx="100584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前回お打合せの振り返り・ヒアリング内容の確認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084832"/>
            <a:ext cx="11640312" cy="9509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084832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084832"/>
            <a:ext cx="1005840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084832"/>
            <a:ext cx="1005840" cy="95097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JP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91056" y="2249424"/>
            <a:ext cx="36576" cy="6217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55648" y="2176272"/>
            <a:ext cx="4572000" cy="42062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現状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2633472"/>
            <a:ext cx="100584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リードインクス様のビジネス環境・AI活用の現状分析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63824"/>
            <a:ext cx="11640312" cy="950976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163824"/>
            <a:ext cx="1005840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163824"/>
            <a:ext cx="1005840" cy="95097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JP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91056" y="3328416"/>
            <a:ext cx="36576" cy="6217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55648" y="3255264"/>
            <a:ext cx="4572000" cy="42062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課題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3712463"/>
            <a:ext cx="100584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3つの課題と市場リスク・開発能力ギャップの整理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242816"/>
            <a:ext cx="11640312" cy="95097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42816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42816"/>
            <a:ext cx="1005840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242816"/>
            <a:ext cx="1005840" cy="95097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JP"/>
              </a:rPr>
              <a:t>04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91056" y="4407408"/>
            <a:ext cx="36576" cy="6217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55648" y="4334256"/>
            <a:ext cx="4572000" cy="42062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ゴール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55648" y="4791456"/>
            <a:ext cx="100584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研修後に目指す姿・3〜6ヶ月後の成果指標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321808"/>
            <a:ext cx="11640312" cy="950976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321808"/>
            <a:ext cx="64008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321808"/>
            <a:ext cx="1005840" cy="9509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321808"/>
            <a:ext cx="1005840" cy="95097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JP"/>
              </a:rPr>
              <a:t>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591056" y="5486400"/>
            <a:ext cx="36576" cy="62179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55648" y="5413248"/>
            <a:ext cx="4572000" cy="42062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提案詳細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55648" y="5870448"/>
            <a:ext cx="100584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カリキュラム設計・実施形式・費用・助成金活用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7432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4114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0" b="1">
                <a:solidFill>
                  <a:srgbClr val="F1F5F9"/>
                </a:solidFill>
                <a:latin typeface="Noto Sans JP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011680"/>
            <a:ext cx="6675120" cy="1463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3800" b="1">
                <a:solidFill>
                  <a:srgbClr val="1C3557"/>
                </a:solidFill>
                <a:latin typeface="Noto Sans JP"/>
              </a:rPr>
              <a:t>振り返り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657600"/>
            <a:ext cx="667512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840480"/>
            <a:ext cx="667512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0">
                <a:solidFill>
                  <a:srgbClr val="6B7280"/>
                </a:solidFill>
                <a:latin typeface="Noto Sans JP"/>
              </a:rPr>
              <a:t>前回お打合せの内容確認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前回のお打合せ振り返り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振り返り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2011680" cy="65836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481328"/>
            <a:ext cx="1920240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日時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8024" y="1481328"/>
            <a:ext cx="9144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1176" y="1481328"/>
            <a:ext cx="8979408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2026年2月27日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31136"/>
            <a:ext cx="2011680" cy="65836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231136"/>
            <a:ext cx="1920240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参加者（先方）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78024" y="2231136"/>
            <a:ext cx="9144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1176" y="2231136"/>
            <a:ext cx="8979408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呉振宇 様（リードインクス株式会社 SaaS本部長）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80944"/>
            <a:ext cx="2011680" cy="65836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980944"/>
            <a:ext cx="1920240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参加者（自社）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8024" y="2980944"/>
            <a:ext cx="9144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51176" y="2980944"/>
            <a:ext cx="8979408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大川龍之介・髙橋悠（株式会社エヌイチ）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30752"/>
            <a:ext cx="2011680" cy="65836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730752"/>
            <a:ext cx="1920240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お話しした内容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78024" y="3730752"/>
            <a:ext cx="9144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51176" y="3730752"/>
            <a:ext cx="8979408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エヌイチ4サービス紹介 → リードインクス様のAI活用課題ヒアリング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480560"/>
            <a:ext cx="2011680" cy="65836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480560"/>
            <a:ext cx="1920240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先方の関心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78024" y="4480560"/>
            <a:ext cx="9144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51176" y="4480560"/>
            <a:ext cx="8979408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Kawaru Team（フルカスタマイズ研修）に最も強い関心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AI開発BPOは将来的な連携として検討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230368"/>
            <a:ext cx="2011680" cy="65836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5230368"/>
            <a:ext cx="1920240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合意したNX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78024" y="5230368"/>
            <a:ext cx="9144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51176" y="5230368"/>
            <a:ext cx="8979408" cy="65836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呉様 → 社長への1on1で研修提案を相談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エヌイチ → 本提案書を作成・お送り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7432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4114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0" b="1">
                <a:solidFill>
                  <a:srgbClr val="F1F5F9"/>
                </a:solidFill>
                <a:latin typeface="Noto Sans JP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011680"/>
            <a:ext cx="6675120" cy="1463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3800" b="1">
                <a:solidFill>
                  <a:srgbClr val="1C3557"/>
                </a:solidFill>
                <a:latin typeface="Noto Sans JP"/>
              </a:rPr>
              <a:t>現状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657600"/>
            <a:ext cx="667512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840480"/>
            <a:ext cx="667512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0">
                <a:solidFill>
                  <a:srgbClr val="6B7280"/>
                </a:solidFill>
                <a:latin typeface="Noto Sans JP"/>
              </a:rPr>
              <a:t>ビジネス環境・AI活用の現状分析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ソフトバンクグループ・保険SaaS特化の開発会社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現状①　事業・組織概要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1737360" cy="69494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481328"/>
            <a:ext cx="164591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グループ</a:t>
            </a:r>
          </a:p>
        </p:txBody>
      </p:sp>
      <p:sp>
        <p:nvSpPr>
          <p:cNvPr id="9" name="Rectangle 8"/>
          <p:cNvSpPr/>
          <p:nvPr/>
        </p:nvSpPr>
        <p:spPr>
          <a:xfrm>
            <a:off x="2203704" y="1481328"/>
            <a:ext cx="9235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76856" y="1481328"/>
            <a:ext cx="9070848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ソフトバンクグループ子会社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67712"/>
            <a:ext cx="1737360" cy="69494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267712"/>
            <a:ext cx="164591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主力事業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3704" y="2267712"/>
            <a:ext cx="9235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76856" y="2267712"/>
            <a:ext cx="9070848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保険会社・保険代理店向けSaaSプロダクトの開発・提供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054096"/>
            <a:ext cx="1737360" cy="69494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3054096"/>
            <a:ext cx="164591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SaaS本部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3704" y="3054096"/>
            <a:ext cx="9235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76856" y="3054096"/>
            <a:ext cx="9070848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保険業界向けSaaS製品の開発・運営（呉振宇 様ご担当）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40480"/>
            <a:ext cx="1737360" cy="69494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840480"/>
            <a:ext cx="164591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SI本部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3704" y="3840480"/>
            <a:ext cx="9235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76856" y="3840480"/>
            <a:ext cx="9070848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フルカスタマイズ開発中心（もう一方の本部）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626864"/>
            <a:ext cx="1737360" cy="69494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4626864"/>
            <a:ext cx="164591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エンジニア規模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3704" y="4626864"/>
            <a:ext cx="92354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76856" y="4626864"/>
            <a:ext cx="9070848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両本部合計 約50〜60名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413248"/>
            <a:ext cx="11365992" cy="1371600"/>
          </a:xfrm>
          <a:prstGeom prst="rect">
            <a:avLst/>
          </a:prstGeom>
          <a:solidFill>
            <a:srgbClr val="FDEFE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5413248"/>
            <a:ext cx="64008" cy="1371600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550408"/>
            <a:ext cx="4572000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C95454"/>
                </a:solidFill>
                <a:latin typeface="Noto Sans JP"/>
              </a:rPr>
              <a:t>【重要】エンジニアの約半数が中国語話者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71616"/>
            <a:ext cx="1051560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日本在籍だが日本語コミュニケーションが困難なメンバーが多数。研修設計において言語対応が必須条件となる。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個人の我流、ベストプラクティスなし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現状②　AI活用の実態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017520" cy="694944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3017520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Noto Sans JP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389888"/>
            <a:ext cx="4206240" cy="694944"/>
          </a:xfrm>
          <a:prstGeom prst="rect">
            <a:avLst/>
          </a:prstGeom>
          <a:solidFill>
            <a:srgbClr val="FDEFEF"/>
          </a:solidFill>
          <a:ln w="9525">
            <a:solidFill>
              <a:srgbClr val="C9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89888"/>
            <a:ext cx="4206240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400" b="1">
                <a:solidFill>
                  <a:srgbClr val="C95454"/>
                </a:solidFill>
                <a:latin typeface="Noto Sans JP"/>
              </a:rPr>
              <a:t>現状（事実）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389888"/>
            <a:ext cx="4069080" cy="694944"/>
          </a:xfrm>
          <a:prstGeom prst="rect">
            <a:avLst/>
          </a:prstGeom>
          <a:solidFill>
            <a:srgbClr val="EDF7F2"/>
          </a:solidFill>
          <a:ln w="9525">
            <a:solidFill>
              <a:srgbClr val="3A8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389888"/>
            <a:ext cx="4069080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400" b="1">
                <a:solidFill>
                  <a:srgbClr val="3A8F63"/>
                </a:solidFill>
                <a:latin typeface="Noto Sans JP"/>
              </a:rPr>
              <a:t>目指す姿（研修後）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084832"/>
            <a:ext cx="301752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84832"/>
            <a:ext cx="283463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AI活用状況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084832"/>
            <a:ext cx="420624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084832"/>
            <a:ext cx="402335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個人が我流でChatGPT/Claude利用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2084832"/>
            <a:ext cx="406908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19" y="2084832"/>
            <a:ext cx="3886200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3A8F63"/>
                </a:solidFill>
                <a:latin typeface="Noto Sans JP"/>
              </a:rPr>
              <a:t>チームで標準プロセスを共有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34640"/>
            <a:ext cx="30175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34640"/>
            <a:ext cx="283463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ベストプラクティス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2834640"/>
            <a:ext cx="4206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2834640"/>
            <a:ext cx="402335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未確立・誰も持っていない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26679" y="2834640"/>
            <a:ext cx="40690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19" y="2834640"/>
            <a:ext cx="3886200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3A8F63"/>
                </a:solidFill>
                <a:latin typeface="Noto Sans JP"/>
              </a:rPr>
              <a:t>AI開発の共通手法が社内に存在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584448"/>
            <a:ext cx="301752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584448"/>
            <a:ext cx="283463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スキルレベル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3584448"/>
            <a:ext cx="420624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3584448"/>
            <a:ext cx="402335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IT知識は高い。AI開発手法は未習得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26679" y="3584448"/>
            <a:ext cx="406908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19" y="3584448"/>
            <a:ext cx="3886200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3A8F63"/>
                </a:solidFill>
                <a:latin typeface="Noto Sans JP"/>
              </a:rPr>
              <a:t>要件→タスク分解→エージェント設計ができる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334256"/>
            <a:ext cx="301752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34256"/>
            <a:ext cx="283463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組織的取り組み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4334256"/>
            <a:ext cx="420624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334256"/>
            <a:ext cx="402335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外部研修の受講歴ゼロ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4334256"/>
            <a:ext cx="406908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19" y="4334256"/>
            <a:ext cx="3886200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3A8F63"/>
                </a:solidFill>
                <a:latin typeface="Noto Sans JP"/>
              </a:rPr>
              <a:t>フルカスタマイズ研修で一気に習得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084064"/>
            <a:ext cx="301752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084064"/>
            <a:ext cx="283463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AI開発経験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5084064"/>
            <a:ext cx="420624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5084064"/>
            <a:ext cx="4023359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海外ベンダーにBPO委託（POCのみ）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26679" y="5084064"/>
            <a:ext cx="4069080" cy="69494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19" y="5084064"/>
            <a:ext cx="3886200" cy="6949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3A8F63"/>
                </a:solidFill>
                <a:latin typeface="Noto Sans JP"/>
              </a:rPr>
              <a:t>社内主導で本番化できる体制へ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925312"/>
            <a:ext cx="11365992" cy="82296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5925312"/>
            <a:ext cx="64008" cy="8229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6016752"/>
            <a:ext cx="10789920" cy="6400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「みんな自分でネットで勉強して、自分のやり方でやってる。決まったベストプラクティスという知識は誰も持っていない」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─ 呉振宇 様（商談中の発言）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GPT縛り・金融規制・言語バリアの三重制約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現状③　制約・環境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566160" cy="502920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502920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3291840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4A6C8C"/>
                </a:solidFill>
                <a:latin typeface="Noto Sans JP"/>
              </a:rPr>
              <a:t>ツール制約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21408"/>
            <a:ext cx="3200400" cy="2743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04288"/>
            <a:ext cx="3291840" cy="3840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ChatGPT Enterprise版のみ会社資産のアップロードを許可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ソフトバンクグループ方針によりGPT中心の活用が前提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Cursor / Claude等は個人利用のみ可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389888"/>
            <a:ext cx="3566160" cy="5029200"/>
          </a:xfrm>
          <a:prstGeom prst="rect">
            <a:avLst/>
          </a:prstGeom>
          <a:solidFill>
            <a:srgbClr val="FDEFE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389888"/>
            <a:ext cx="64008" cy="5029200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572768"/>
            <a:ext cx="3291840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C95454"/>
                </a:solidFill>
                <a:latin typeface="Noto Sans JP"/>
              </a:rPr>
              <a:t>規制制約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2121408"/>
            <a:ext cx="3200400" cy="27432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2304288"/>
            <a:ext cx="3291840" cy="3840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保険業界の個人情報保護規制により海外ベンダーとの本番運用は法律上困難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POCは海外ベンダーと実施中だが、本番化するには国内完結が必須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3" y="1389888"/>
            <a:ext cx="3566160" cy="5029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3" y="1389888"/>
            <a:ext cx="64008" cy="50292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3" y="1572768"/>
            <a:ext cx="3291840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言語制約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38743" y="2121408"/>
            <a:ext cx="3200400" cy="2743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3" y="2304288"/>
            <a:ext cx="3291840" cy="3840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エンジニアの約半数が中国語話者で日本語コミュニケーション困難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翻訳ツール活用での研修に懸念あり（意味は伝わるが熱量が薄れる可能性）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7432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4114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0" b="1">
                <a:solidFill>
                  <a:srgbClr val="F1F5F9"/>
                </a:solidFill>
                <a:latin typeface="Noto Sans JP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011680"/>
            <a:ext cx="6675120" cy="1463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3800" b="1">
                <a:solidFill>
                  <a:srgbClr val="1C3557"/>
                </a:solidFill>
                <a:latin typeface="Noto Sans JP"/>
              </a:rPr>
              <a:t>課題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657600"/>
            <a:ext cx="667512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840480"/>
            <a:ext cx="667512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0">
                <a:solidFill>
                  <a:srgbClr val="6B7280"/>
                </a:solidFill>
                <a:latin typeface="Noto Sans JP"/>
              </a:rPr>
              <a:t>3つの課題と市場リスクの整理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課題は3層構造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課題①　全体マップ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11365992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11365992" cy="6400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Noto Sans JP"/>
              </a:rPr>
              <a:t>AI開発・活用能力の組織的欠如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2121408"/>
            <a:ext cx="27432" cy="3657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5004" y="2487168"/>
            <a:ext cx="7342631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26564" y="2487168"/>
            <a:ext cx="27432" cy="274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761488"/>
            <a:ext cx="3657600" cy="822960"/>
          </a:xfrm>
          <a:prstGeom prst="rect">
            <a:avLst/>
          </a:prstGeom>
          <a:solidFill>
            <a:srgbClr val="FDEFE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761488"/>
            <a:ext cx="64008" cy="822960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2761488"/>
            <a:ext cx="3474720" cy="8229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500" b="1">
                <a:solidFill>
                  <a:srgbClr val="C95454"/>
                </a:solidFill>
                <a:latin typeface="Noto Sans JP"/>
              </a:rPr>
              <a:t>① プロダクトへの</a:t>
            </a:r>
          </a:p>
          <a:p>
            <a:pPr algn="l"/>
            <a:r>
              <a:rPr sz="1500" b="1">
                <a:solidFill>
                  <a:srgbClr val="C95454"/>
                </a:solidFill>
                <a:latin typeface="Noto Sans JP"/>
              </a:rPr>
              <a:t>AI組み込み能力不足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3892" y="2487168"/>
            <a:ext cx="27432" cy="274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78808" y="2761488"/>
            <a:ext cx="3657600" cy="82296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78808" y="2761488"/>
            <a:ext cx="64008" cy="82296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2761488"/>
            <a:ext cx="3474720" cy="8229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500" b="1">
                <a:solidFill>
                  <a:srgbClr val="4A6C8C"/>
                </a:solidFill>
                <a:latin typeface="Noto Sans JP"/>
              </a:rPr>
              <a:t>② エンジニアのAIスキルの</a:t>
            </a:r>
          </a:p>
          <a:p>
            <a:pPr algn="l"/>
            <a:r>
              <a:rPr sz="1500" b="1">
                <a:solidFill>
                  <a:srgbClr val="4A6C8C"/>
                </a:solidFill>
                <a:latin typeface="Noto Sans JP"/>
              </a:rPr>
              <a:t>属人化・標準化不足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61219" y="2487168"/>
            <a:ext cx="27432" cy="2743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46136" y="2761488"/>
            <a:ext cx="365760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46136" y="2761488"/>
            <a:ext cx="64008" cy="8229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2761488"/>
            <a:ext cx="3474720" cy="8229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500" b="1">
                <a:solidFill>
                  <a:srgbClr val="1C3557"/>
                </a:solidFill>
                <a:latin typeface="Noto Sans JP"/>
              </a:rPr>
              <a:t>③ 多国籍チームへの</a:t>
            </a:r>
          </a:p>
          <a:p>
            <a:pPr algn="l"/>
            <a:r>
              <a:rPr sz="1500" b="1">
                <a:solidFill>
                  <a:srgbClr val="1C3557"/>
                </a:solidFill>
                <a:latin typeface="Noto Sans JP"/>
              </a:rPr>
              <a:t>展開障壁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21608"/>
            <a:ext cx="3584448" cy="548640"/>
          </a:xfrm>
          <a:prstGeom prst="rect">
            <a:avLst/>
          </a:prstGeom>
          <a:solidFill>
            <a:srgbClr val="FDEFE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721608"/>
            <a:ext cx="34564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C95454"/>
                </a:solidFill>
                <a:latin typeface="Noto Sans JP"/>
              </a:rPr>
              <a:t>ビジネス要件→AI実装への変換方法が未確立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47288" y="3813048"/>
            <a:ext cx="530352" cy="347472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288" y="3813048"/>
            <a:ext cx="530352" cy="3474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361688"/>
            <a:ext cx="3584448" cy="548640"/>
          </a:xfrm>
          <a:prstGeom prst="rect">
            <a:avLst/>
          </a:prstGeom>
          <a:solidFill>
            <a:srgbClr val="FDEFE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" y="4361688"/>
            <a:ext cx="34564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C95454"/>
                </a:solidFill>
                <a:latin typeface="Noto Sans JP"/>
              </a:rPr>
              <a:t>エージェント設計・タスク分解のノウハウがない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47288" y="4453128"/>
            <a:ext cx="530352" cy="347472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4453128"/>
            <a:ext cx="530352" cy="3474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001768"/>
            <a:ext cx="3584448" cy="548640"/>
          </a:xfrm>
          <a:prstGeom prst="rect">
            <a:avLst/>
          </a:prstGeom>
          <a:solidFill>
            <a:srgbClr val="FDEFE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5001768"/>
            <a:ext cx="34564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C95454"/>
                </a:solidFill>
                <a:latin typeface="Noto Sans JP"/>
              </a:rPr>
              <a:t>AI非対応プロダクトは市場競争力を失うリスク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47288" y="5093208"/>
            <a:ext cx="530352" cy="347472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7288" y="5093208"/>
            <a:ext cx="530352" cy="3474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【推察】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78808" y="3721608"/>
            <a:ext cx="3584448" cy="54864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06824" y="3721608"/>
            <a:ext cx="34564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4A6C8C"/>
                </a:solidFill>
                <a:latin typeface="Noto Sans JP"/>
              </a:rPr>
              <a:t>個人の我流でAI活用（ベストプラクティス未共有）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14616" y="3813048"/>
            <a:ext cx="530352" cy="34747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14616" y="3813048"/>
            <a:ext cx="530352" cy="3474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78808" y="4361688"/>
            <a:ext cx="3584448" cy="54864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06824" y="4361688"/>
            <a:ext cx="34564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4A6C8C"/>
                </a:solidFill>
                <a:latin typeface="Noto Sans JP"/>
              </a:rPr>
              <a:t>AI開発の標準プロセスを誰も知らない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4616" y="4453128"/>
            <a:ext cx="530352" cy="34747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14616" y="4453128"/>
            <a:ext cx="530352" cy="3474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78808" y="5001768"/>
            <a:ext cx="3584448" cy="54864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06824" y="5001768"/>
            <a:ext cx="34564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4A6C8C"/>
                </a:solidFill>
                <a:latin typeface="Noto Sans JP"/>
              </a:rPr>
              <a:t>ChatGPT Enterprise縛り・GPT中心方針が前提制約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14616" y="5093208"/>
            <a:ext cx="530352" cy="34747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14616" y="5093208"/>
            <a:ext cx="530352" cy="3474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46136" y="3721608"/>
            <a:ext cx="3584448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4152" y="3721608"/>
            <a:ext cx="34564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C3557"/>
                </a:solidFill>
                <a:latin typeface="Noto Sans JP"/>
              </a:rPr>
              <a:t>エンジニアの約半数が中国語話者（日本語不可）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981944" y="3813048"/>
            <a:ext cx="530352" cy="3474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81944" y="3813048"/>
            <a:ext cx="530352" cy="3474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46136" y="4361688"/>
            <a:ext cx="3584448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4152" y="4361688"/>
            <a:ext cx="34564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C3557"/>
                </a:solidFill>
                <a:latin typeface="Noto Sans JP"/>
              </a:rPr>
              <a:t>翻訳ツール活用での研修効果に懸念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981944" y="4453128"/>
            <a:ext cx="530352" cy="34747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81944" y="4453128"/>
            <a:ext cx="530352" cy="3474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AI非対応は、競争力喪失に直結する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課題②　市場リスク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2560320" cy="201168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0116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89888"/>
            <a:ext cx="2286000" cy="20116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700" b="1">
                <a:solidFill>
                  <a:srgbClr val="42A4AF"/>
                </a:solidFill>
                <a:latin typeface="Noto Sans JP"/>
              </a:rPr>
              <a:t>保険業界</a:t>
            </a:r>
          </a:p>
          <a:p>
            <a:pPr algn="ctr"/>
            <a:r>
              <a:rPr sz="1700" b="1">
                <a:solidFill>
                  <a:srgbClr val="42A4AF"/>
                </a:solidFill>
                <a:latin typeface="Noto Sans JP"/>
              </a:rPr>
              <a:t>AIトレンド加速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2029967"/>
            <a:ext cx="18288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2968" y="1389888"/>
            <a:ext cx="2560320" cy="201168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72968" y="1389888"/>
            <a:ext cx="64008" cy="201168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389888"/>
            <a:ext cx="2286000" cy="20116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700" b="1">
                <a:solidFill>
                  <a:srgbClr val="4A6C8C"/>
                </a:solidFill>
                <a:latin typeface="Noto Sans JP"/>
              </a:rPr>
              <a:t>顧客からの</a:t>
            </a:r>
          </a:p>
          <a:p>
            <a:pPr algn="ctr"/>
            <a:r>
              <a:rPr sz="1700" b="1">
                <a:solidFill>
                  <a:srgbClr val="4A6C8C"/>
                </a:solidFill>
                <a:latin typeface="Noto Sans JP"/>
              </a:rPr>
              <a:t>POC要望が急増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9864" y="2029967"/>
            <a:ext cx="18288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4A6C8C"/>
                </a:solidFill>
                <a:latin typeface="Noto Sans JP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34456" y="1389888"/>
            <a:ext cx="2560320" cy="2011680"/>
          </a:xfrm>
          <a:prstGeom prst="rect">
            <a:avLst/>
          </a:prstGeom>
          <a:solidFill>
            <a:srgbClr val="FDEFE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34456" y="1389888"/>
            <a:ext cx="64008" cy="2011680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1389888"/>
            <a:ext cx="2286000" cy="20116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700" b="1">
                <a:solidFill>
                  <a:srgbClr val="C95454"/>
                </a:solidFill>
                <a:latin typeface="Noto Sans JP"/>
              </a:rPr>
              <a:t>社内に実装</a:t>
            </a:r>
          </a:p>
          <a:p>
            <a:pPr algn="ctr"/>
            <a:r>
              <a:rPr sz="1700" b="1">
                <a:solidFill>
                  <a:srgbClr val="C95454"/>
                </a:solidFill>
                <a:latin typeface="Noto Sans JP"/>
              </a:rPr>
              <a:t>できる人材なし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1" y="2029967"/>
            <a:ext cx="18288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C95454"/>
                </a:solidFill>
                <a:latin typeface="Noto Sans JP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95944" y="1389888"/>
            <a:ext cx="2560320" cy="2011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95944" y="1389888"/>
            <a:ext cx="64008" cy="20116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78824" y="1389888"/>
            <a:ext cx="2286000" cy="20116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700" b="1">
                <a:solidFill>
                  <a:srgbClr val="1C3557"/>
                </a:solidFill>
                <a:latin typeface="Noto Sans JP"/>
              </a:rPr>
              <a:t>POCが</a:t>
            </a:r>
          </a:p>
          <a:p>
            <a:pPr algn="ctr"/>
            <a:r>
              <a:rPr sz="1700" b="1">
                <a:solidFill>
                  <a:srgbClr val="1C3557"/>
                </a:solidFill>
                <a:latin typeface="Noto Sans JP"/>
              </a:rPr>
              <a:t>本番化できない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30168"/>
            <a:ext cx="11365992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630168"/>
            <a:ext cx="640080" cy="530352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630168"/>
            <a:ext cx="64008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630168"/>
            <a:ext cx="1051560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保険業界のSaaSプロダクトへのAI機能組み込みは今や競争上の必須要件になりつつある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70248"/>
            <a:ext cx="11365992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270248"/>
            <a:ext cx="640080" cy="530352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270248"/>
            <a:ext cx="64008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270248"/>
            <a:ext cx="1051560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「従来のフォーム形式だとAIトレンドから見て古くなるリスクがある」（呉振宇 様）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10328"/>
            <a:ext cx="11365992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910328"/>
            <a:ext cx="640080" cy="53035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910328"/>
            <a:ext cx="64008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【事実】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910328"/>
            <a:ext cx="1051560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顧客（保険会社）からAI活用のPOC要望が来ているが、社内に実装できる人材がいない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550408"/>
            <a:ext cx="11365992" cy="53035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5550408"/>
            <a:ext cx="640080" cy="53035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550408"/>
            <a:ext cx="64008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</a:rPr>
              <a:t>【推察】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5550408"/>
            <a:ext cx="10515600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海外ベンダーに依存した状態では、本番運用移行後に自社開発力が不足する可能性がある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ビジネス要件をAIに落とせない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課題③　開発能力ギャップ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2286000" cy="768096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228600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Noto Sans JP"/>
              </a:rPr>
              <a:t>開発フェーズ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389888"/>
            <a:ext cx="4617720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389888"/>
            <a:ext cx="461772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400" b="1">
                <a:solidFill>
                  <a:srgbClr val="1C3557"/>
                </a:solidFill>
                <a:latin typeface="Noto Sans JP"/>
              </a:rPr>
              <a:t>従来のシステム開発（習熟済み）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389888"/>
            <a:ext cx="4334256" cy="768096"/>
          </a:xfrm>
          <a:prstGeom prst="rect">
            <a:avLst/>
          </a:prstGeom>
          <a:solidFill>
            <a:srgbClr val="FDEFEF"/>
          </a:solidFill>
          <a:ln w="9525">
            <a:solidFill>
              <a:srgbClr val="C95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389888"/>
            <a:ext cx="4334256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400" b="1">
                <a:solidFill>
                  <a:srgbClr val="C95454"/>
                </a:solidFill>
                <a:latin typeface="Noto Sans JP"/>
              </a:rPr>
              <a:t>AI開発（手法が不明）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57984"/>
            <a:ext cx="2286000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57984"/>
            <a:ext cx="210312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起点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157984"/>
            <a:ext cx="4617720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157984"/>
            <a:ext cx="443484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顧客要件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57984"/>
            <a:ext cx="4334256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157984"/>
            <a:ext cx="4151376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ビジネス課題・解決ゴール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980944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80944"/>
            <a:ext cx="210312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980944"/>
            <a:ext cx="46177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980944"/>
            <a:ext cx="443484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要件定義 → 基本設計 → 詳細設計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980944"/>
            <a:ext cx="433425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2980944"/>
            <a:ext cx="4151376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ゴール設定 → タスク分解 → エージェント設計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803904"/>
            <a:ext cx="2286000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03904"/>
            <a:ext cx="210312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実装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3803904"/>
            <a:ext cx="4617720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3803904"/>
            <a:ext cx="443484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コーディング（経験豊富）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803904"/>
            <a:ext cx="4334256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3803904"/>
            <a:ext cx="4151376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AIモデル/API活用（ノウハウなし）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626864"/>
            <a:ext cx="228600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26864"/>
            <a:ext cx="210312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検証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626864"/>
            <a:ext cx="461772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626864"/>
            <a:ext cx="443484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テスト・QA（標準化済み）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626864"/>
            <a:ext cx="4334256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79" y="4626864"/>
            <a:ext cx="4151376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精度評価・プロンプト調整（方法不明）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449823"/>
            <a:ext cx="2286000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449823"/>
            <a:ext cx="210312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習熟レベル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5449823"/>
            <a:ext cx="4617720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5449823"/>
            <a:ext cx="4434840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✅  標準手法を全員が理解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5449823"/>
            <a:ext cx="4334256" cy="768096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79" y="5449823"/>
            <a:ext cx="4151376" cy="76809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C95454"/>
                </a:solidFill>
                <a:latin typeface="Noto Sans JP"/>
              </a:rPr>
              <a:t>❌  誰も手法を知らない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6364223"/>
            <a:ext cx="11365992" cy="77724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1480" y="6364223"/>
            <a:ext cx="64008" cy="7772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6455663"/>
            <a:ext cx="10789920" cy="5943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「こういうものを作ってほしいと言われたら、どう形にしたらいいかが分からない」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「AIの世界で、こういう目標を実現するためにタスクをどう分配するか、そのノウハウは今ない」（呉振宇 様）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7432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4114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0" b="1">
                <a:solidFill>
                  <a:srgbClr val="F1F5F9"/>
                </a:solidFill>
                <a:latin typeface="Noto Sans JP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011680"/>
            <a:ext cx="6675120" cy="1463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3800" b="1">
                <a:solidFill>
                  <a:srgbClr val="1C3557"/>
                </a:solidFill>
                <a:latin typeface="Noto Sans JP"/>
              </a:rPr>
              <a:t>ゴール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657600"/>
            <a:ext cx="667512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840480"/>
            <a:ext cx="667512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0">
                <a:solidFill>
                  <a:srgbClr val="6B7280"/>
                </a:solidFill>
                <a:latin typeface="Noto Sans JP"/>
              </a:rPr>
              <a:t>研修後に目指す姿・成果指標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エンジニア全員がAIを武器に、プロダクトを進化させる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ゴール①　目指す姿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120640" cy="5029200"/>
          </a:xfrm>
          <a:prstGeom prst="rect">
            <a:avLst/>
          </a:prstGeom>
          <a:solidFill>
            <a:srgbClr val="FDEFE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5029200"/>
          </a:xfrm>
          <a:prstGeom prst="rect">
            <a:avLst/>
          </a:prstGeom>
          <a:solidFill>
            <a:srgbClr val="C95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4754879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C95454"/>
                </a:solidFill>
                <a:latin typeface="Noto Sans JP"/>
              </a:rPr>
              <a:t>Before（現在）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2140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C95454"/>
                </a:solidFill>
                <a:latin typeface="Noto Sans JP"/>
              </a:rPr>
              <a:t>✗  AI活用: 個人の我流・ベストプラクティスなし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6148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C95454"/>
                </a:solidFill>
                <a:latin typeface="Noto Sans JP"/>
              </a:rPr>
              <a:t>✗  開発力: ビジネス要件→AI実装の変換ができない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0156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C95454"/>
                </a:solidFill>
                <a:latin typeface="Noto Sans JP"/>
              </a:rPr>
              <a:t>✗  プロダクト: フォーム中心の従来型SaaS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04164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C95454"/>
                </a:solidFill>
                <a:latin typeface="Noto Sans JP"/>
              </a:rPr>
              <a:t>✗  依存状況: 海外BPO依存（本番移行に課題）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68172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C95454"/>
                </a:solidFill>
                <a:latin typeface="Noto Sans JP"/>
              </a:rPr>
              <a:t>✗  言語環境: 約半数が中国語話者で研修が難しい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3310128"/>
            <a:ext cx="7315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30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133087"/>
            <a:ext cx="1371600" cy="5943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300" b="1">
                <a:solidFill>
                  <a:srgbClr val="42A4AF"/>
                </a:solidFill>
                <a:latin typeface="Noto Sans JP"/>
              </a:rPr>
              <a:t>Kawaru</a:t>
            </a:r>
          </a:p>
          <a:p>
            <a:pPr algn="ctr"/>
            <a:r>
              <a:rPr sz="1300" b="1">
                <a:solidFill>
                  <a:srgbClr val="42A4AF"/>
                </a:solidFill>
                <a:latin typeface="Noto Sans JP"/>
              </a:rPr>
              <a:t>Team研修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7104" y="1389888"/>
            <a:ext cx="5120640" cy="5029200"/>
          </a:xfrm>
          <a:prstGeom prst="rect">
            <a:avLst/>
          </a:prstGeom>
          <a:solidFill>
            <a:srgbClr val="EDF7F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47104" y="1389888"/>
            <a:ext cx="64008" cy="502920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93992" y="1572768"/>
            <a:ext cx="4754879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3A8F63"/>
                </a:solidFill>
                <a:latin typeface="Noto Sans JP"/>
              </a:rPr>
              <a:t>After（3〜6ヶ月後）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3992" y="212140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3A8F63"/>
                </a:solidFill>
                <a:latin typeface="Noto Sans JP"/>
              </a:rPr>
              <a:t>✓  AI活用: チームで標準プロセスを共有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276148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3A8F63"/>
                </a:solidFill>
                <a:latin typeface="Noto Sans JP"/>
              </a:rPr>
              <a:t>✓  開発力: 要件→タスク分解→エージェント設計が自力で可能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340156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3A8F63"/>
                </a:solidFill>
                <a:latin typeface="Noto Sans JP"/>
              </a:rPr>
              <a:t>✓  プロダクト: AI機能を組み込んだ競争力あるSaaSへ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404164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3A8F63"/>
                </a:solidFill>
                <a:latin typeface="Noto Sans JP"/>
              </a:rPr>
              <a:t>✓  依存状況: 自社エンジニアが主体的にAI開発を推進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4681728"/>
            <a:ext cx="4663440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3A8F63"/>
                </a:solidFill>
                <a:latin typeface="Noto Sans JP"/>
              </a:rPr>
              <a:t>✓  言語環境: 多国籍チームへの研修設計を実現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3ヶ月後・6ヶ月後に何が変わるか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ゴール②　成果指標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394960" cy="228600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286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6360" y="1481328"/>
            <a:ext cx="512064" cy="512064"/>
          </a:xfrm>
          <a:prstGeom prst="ellipse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99616"/>
            <a:ext cx="448056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42A4AF"/>
                </a:solidFill>
                <a:latin typeface="Noto Sans JP"/>
              </a:rPr>
              <a:t>研修直後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03120"/>
            <a:ext cx="5029200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31136"/>
            <a:ext cx="5120640" cy="124358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AI開発の標準プロセスを全員が理解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ChatGPT Enterpriseを業務で活用できる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07608" y="1389888"/>
            <a:ext cx="5394960" cy="228600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389888"/>
            <a:ext cx="64008" cy="228600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62488" y="1481328"/>
            <a:ext cx="512064" cy="512064"/>
          </a:xfrm>
          <a:prstGeom prst="ellipse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1499616"/>
            <a:ext cx="448056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4A6C8C"/>
                </a:solidFill>
                <a:latin typeface="Noto Sans JP"/>
              </a:rPr>
              <a:t>1ヶ月後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2103120"/>
            <a:ext cx="5029200" cy="2743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0488" y="2231136"/>
            <a:ext cx="5120640" cy="124358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自社サービスへのAI機能組み込みアイデアを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チームで出せるようになる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58768"/>
            <a:ext cx="5394960" cy="2286000"/>
          </a:xfrm>
          <a:prstGeom prst="rect">
            <a:avLst/>
          </a:prstGeom>
          <a:solidFill>
            <a:srgbClr val="EDF7F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858768"/>
            <a:ext cx="64008" cy="228600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66360" y="3950208"/>
            <a:ext cx="512064" cy="512064"/>
          </a:xfrm>
          <a:prstGeom prst="ellipse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68496"/>
            <a:ext cx="448056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3A8F63"/>
                </a:solidFill>
                <a:latin typeface="Noto Sans JP"/>
              </a:rPr>
              <a:t>3ヶ月後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572000"/>
            <a:ext cx="5029200" cy="27432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00016"/>
            <a:ext cx="5120640" cy="124358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社内でAIエージェントのプロトタイプを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自力で設計・実装できる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07608" y="3858768"/>
            <a:ext cx="5394960" cy="22860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07608" y="3858768"/>
            <a:ext cx="64008" cy="22860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62488" y="3950208"/>
            <a:ext cx="512064" cy="512064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3968496"/>
            <a:ext cx="4480560" cy="47548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6ヶ月後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4572000"/>
            <a:ext cx="5029200" cy="2743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0488" y="4700016"/>
            <a:ext cx="5120640" cy="1243584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海外BPO依存から脱却し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自社主導でAI開発を推進する体制が整う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7432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4114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0" b="1">
                <a:solidFill>
                  <a:srgbClr val="F1F5F9"/>
                </a:solidFill>
                <a:latin typeface="Noto Sans JP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011680"/>
            <a:ext cx="6675120" cy="1463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3800" b="1">
                <a:solidFill>
                  <a:srgbClr val="1C3557"/>
                </a:solidFill>
                <a:latin typeface="Noto Sans JP"/>
              </a:rPr>
              <a:t>提案詳細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657600"/>
            <a:ext cx="6675120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840480"/>
            <a:ext cx="667512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0">
                <a:solidFill>
                  <a:srgbClr val="6B7280"/>
                </a:solidFill>
                <a:latin typeface="Noto Sans JP"/>
              </a:rPr>
              <a:t>カリキュラム・実施形式・費用・助成金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汎用研修では御社の課題は解けない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根拠①　他社との違い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2743200" cy="7315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25603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Noto Sans JP"/>
              </a:rPr>
              <a:t>比較軸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89888"/>
            <a:ext cx="4160520" cy="7315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89888"/>
            <a:ext cx="3977639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400" b="1">
                <a:solidFill>
                  <a:srgbClr val="6B7280"/>
                </a:solidFill>
                <a:latin typeface="Noto Sans JP"/>
              </a:rPr>
              <a:t>一般的なAI研修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389888"/>
            <a:ext cx="4334256" cy="731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389888"/>
            <a:ext cx="4151376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121408"/>
            <a:ext cx="274320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21408"/>
            <a:ext cx="25603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カリキュラム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21408"/>
            <a:ext cx="416052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28416" y="2121408"/>
            <a:ext cx="3941063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汎用コンテンツ（固定）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21408"/>
            <a:ext cx="4334256" cy="73152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2121408"/>
            <a:ext cx="411480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ヒアリング2時間でゼロから設計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898648"/>
            <a:ext cx="27432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898648"/>
            <a:ext cx="25603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講師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898648"/>
            <a:ext cx="4160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2898648"/>
            <a:ext cx="3941063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教育専門家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898648"/>
            <a:ext cx="4334256" cy="73152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2898648"/>
            <a:ext cx="411480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自社でAIを日常開発する実務者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675888"/>
            <a:ext cx="274320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675888"/>
            <a:ext cx="25603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対象者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675888"/>
            <a:ext cx="416052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28416" y="3675888"/>
            <a:ext cx="3941063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非エンジニア向けが多い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675888"/>
            <a:ext cx="4334256" cy="73152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656" y="3675888"/>
            <a:ext cx="411480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御社エンジニアに特化した内容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453128"/>
            <a:ext cx="27432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453128"/>
            <a:ext cx="25603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ツール対応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453128"/>
            <a:ext cx="4160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8416" y="4453128"/>
            <a:ext cx="3941063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汎用ツール前提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4453128"/>
            <a:ext cx="4334256" cy="73152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34656" y="4453128"/>
            <a:ext cx="411480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ChatGPT Enterprise縛り前提で設計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230368"/>
            <a:ext cx="274320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230368"/>
            <a:ext cx="25603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業界特化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5230368"/>
            <a:ext cx="416052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28416" y="5230368"/>
            <a:ext cx="3941063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汎用事例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5230368"/>
            <a:ext cx="4334256" cy="73152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4656" y="5230368"/>
            <a:ext cx="411480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保険業界ユースケースを教材化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6007608"/>
            <a:ext cx="27432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007608"/>
            <a:ext cx="256032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言語対応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6007608"/>
            <a:ext cx="41605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28416" y="6007608"/>
            <a:ext cx="3941063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6B7280"/>
                </a:solidFill>
                <a:latin typeface="Noto Sans JP"/>
              </a:rPr>
              <a:t>日本語のみ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6007608"/>
            <a:ext cx="4334256" cy="73152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34656" y="6007608"/>
            <a:ext cx="4114800" cy="7315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多国籍チームへの対応を考慮した設計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エヌイチが選ばれる2つの理由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根拠②　強み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246888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46888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11000232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4A6C8C"/>
                </a:solidFill>
                <a:latin typeface="Noto Sans JP"/>
              </a:rPr>
              <a:t>理由①  実務者が教える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908792" cy="2743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258568"/>
            <a:ext cx="11000232" cy="1417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自社でAIエージェント・ツールを日常業務で開発・運用している実務者が直接指導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「知識を教える」のではなく「現場で機能するノウハウ」を渡す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/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「私たちも普段からAIを使って開発を進めている。ゴール設定とプロセスをどう進めているかを実践目線でお伝えできる」（髙橋悠）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133087"/>
            <a:ext cx="11365992" cy="246888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4133087"/>
            <a:ext cx="64008" cy="2468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315968"/>
            <a:ext cx="11000232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42A4AF"/>
                </a:solidFill>
                <a:latin typeface="Noto Sans JP"/>
              </a:rPr>
              <a:t>理由②  完全フルカスタマイズ — 御社専用をゼロ設計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846320"/>
            <a:ext cx="109087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001768"/>
            <a:ext cx="11000232" cy="1417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動画提供・汎用コンテンツではなく、御社の課題・ゴール・ツール環境・言語条件をすべて踏まえた上でカリキュラムを一から構築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/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「御社が欲しい情報だけを整理して提供できる」（髙橋悠）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ChatGPT Enterprise制約・保険業界ユースケース・中国語対応まで設計に組み込む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研修対象・カリキュラム概要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詳細①　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5394960" cy="128016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1280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27048"/>
            <a:ext cx="50292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42A4AF"/>
                </a:solidFill>
                <a:latin typeface="Noto Sans JP"/>
              </a:rPr>
              <a:t>対象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56816"/>
            <a:ext cx="5029200" cy="5943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C3557"/>
                </a:solidFill>
                <a:latin typeface="Noto Sans JP"/>
              </a:rPr>
              <a:t>リードインクス SaaS本部・SI本部のエンジニア</a:t>
            </a:r>
          </a:p>
          <a:p>
            <a:pPr algn="l"/>
            <a:r>
              <a:rPr sz="1400" b="0">
                <a:solidFill>
                  <a:srgbClr val="1C3557"/>
                </a:solidFill>
                <a:latin typeface="Noto Sans JP"/>
              </a:rPr>
              <a:t>まず1セッション（15〜25名）からスタートを推奨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389888"/>
            <a:ext cx="5788152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1389888"/>
            <a:ext cx="64008" cy="12801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527048"/>
            <a:ext cx="539496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C3557"/>
                </a:solidFill>
                <a:latin typeface="Noto Sans JP"/>
              </a:rPr>
              <a:t>実施規模・セッション設計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956816"/>
            <a:ext cx="5394960" cy="5943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1セッション = 15〜25名（Kawaru Teamの定員）</a:t>
            </a:r>
          </a:p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両本部60名を受講させる場合 → 25名 × 3セッション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852928"/>
            <a:ext cx="54864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C3557"/>
                </a:solidFill>
                <a:latin typeface="Noto Sans JP"/>
              </a:rPr>
              <a:t>研修カリキュラム（4モジュール / 合計10〜15時間）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10128"/>
            <a:ext cx="5394960" cy="155448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10128"/>
            <a:ext cx="64008" cy="15544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3401568"/>
            <a:ext cx="1097280" cy="29260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Module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39" y="3401568"/>
            <a:ext cx="39776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AI開発の思考法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" y="3840480"/>
            <a:ext cx="5065776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950208"/>
            <a:ext cx="5120640" cy="7772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ビジネス課題をAIタスクに分解する考え方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エージェントとは何か・どう機能するか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07608" y="3310128"/>
            <a:ext cx="5394960" cy="155448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07608" y="3310128"/>
            <a:ext cx="64008" cy="155448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401568"/>
            <a:ext cx="1097280" cy="29260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A6C8C"/>
                </a:solidFill>
                <a:latin typeface="Noto Sans JP"/>
              </a:rPr>
              <a:t>Module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3401568"/>
            <a:ext cx="39776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エージェント設計の実践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840480"/>
            <a:ext cx="5065776" cy="2743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950208"/>
            <a:ext cx="5120640" cy="7772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ChatGPT Enterprise前提でエージェントを構築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実際に手を動かす演習形式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01768"/>
            <a:ext cx="5394960" cy="155448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001768"/>
            <a:ext cx="64008" cy="155448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5093208"/>
            <a:ext cx="1097280" cy="29260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A6C8C"/>
                </a:solidFill>
                <a:latin typeface="Noto Sans JP"/>
              </a:rPr>
              <a:t>Module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39" y="5093208"/>
            <a:ext cx="39776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保険業界ユースケース演習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" y="5532120"/>
            <a:ext cx="5065776" cy="2743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5641848"/>
            <a:ext cx="5120640" cy="7772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AI-OCR自動化・小額短期保険の自動判断を題材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呉様が言及した具体事例をそのまま教材化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07608" y="5001768"/>
            <a:ext cx="5394960" cy="1554480"/>
          </a:xfrm>
          <a:prstGeom prst="rect">
            <a:avLst/>
          </a:prstGeom>
          <a:solidFill>
            <a:srgbClr val="EDF7F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07608" y="5001768"/>
            <a:ext cx="64008" cy="155448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5093208"/>
            <a:ext cx="1097280" cy="292608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3A8F63"/>
                </a:solidFill>
                <a:latin typeface="Noto Sans JP"/>
              </a:rPr>
              <a:t>Module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7768" y="5093208"/>
            <a:ext cx="39776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AI開発プロセスの標準化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5532120"/>
            <a:ext cx="5065776" cy="27432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72200" y="5641848"/>
            <a:ext cx="5120640" cy="7772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チームでのAI開発の進め方・ドキュメント化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共通言語・ベストプラクティスの確立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3〜4日間、交代制で実施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詳細②　実施形式・スケジュール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1554480" cy="56692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" y="1481328"/>
            <a:ext cx="1463039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実施形式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0824" y="1481328"/>
            <a:ext cx="9601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1481328"/>
            <a:ext cx="9436608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御社オフィスへの訪問型（リアル開催）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03120"/>
            <a:ext cx="1554480" cy="56692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" y="2103120"/>
            <a:ext cx="1463039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1日の時間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0824" y="2103120"/>
            <a:ext cx="9601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93976" y="2103120"/>
            <a:ext cx="9436608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2〜3時間（業務への影響を最小化）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24912"/>
            <a:ext cx="1554480" cy="56692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" y="2724912"/>
            <a:ext cx="1463039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実施日数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20824" y="2724912"/>
            <a:ext cx="9601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93976" y="2724912"/>
            <a:ext cx="9436608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3〜4日間 / グループあたり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46704"/>
            <a:ext cx="1554480" cy="56692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" y="3346704"/>
            <a:ext cx="1463039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グループ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20824" y="3346704"/>
            <a:ext cx="9601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93976" y="3346704"/>
            <a:ext cx="9436608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15〜25名ずつ交代制で全員受講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68496"/>
            <a:ext cx="1554480" cy="56692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" y="3968496"/>
            <a:ext cx="1463039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実施時間帯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0824" y="3968496"/>
            <a:ext cx="9601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3968496"/>
            <a:ext cx="9436608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平日 9:00〜18:00 ★助成金適用の必須条件★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90288"/>
            <a:ext cx="1554480" cy="566928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" y="4590288"/>
            <a:ext cx="1463039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言語対応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20824" y="4590288"/>
            <a:ext cx="9601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93976" y="4590288"/>
            <a:ext cx="9436608" cy="5669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日本語＋翻訳ツール活用。資料は図解中心で設計（中国語話者への配慮）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349240"/>
            <a:ext cx="4572000" cy="3200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C3557"/>
                </a:solidFill>
                <a:latin typeface="Noto Sans JP"/>
              </a:rPr>
              <a:t>実施ロードマップ（目安）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5715000"/>
            <a:ext cx="3474720" cy="1115568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5715000"/>
            <a:ext cx="64008" cy="111556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5788152"/>
            <a:ext cx="3236976" cy="274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STEP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6099048"/>
            <a:ext cx="3236976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ヒアリング</a:t>
            </a:r>
          </a:p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カリキュラム設計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6656832"/>
            <a:ext cx="3236976" cy="16459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0">
                <a:solidFill>
                  <a:srgbClr val="42A4AF"/>
                </a:solidFill>
                <a:latin typeface="Noto Sans JP"/>
              </a:rPr>
              <a:t>目安: 2〜3週間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22776" y="6099048"/>
            <a:ext cx="201168" cy="4572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6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05656" y="5715000"/>
            <a:ext cx="3474720" cy="1115568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05656" y="5715000"/>
            <a:ext cx="64008" cy="1115568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70248" y="5788152"/>
            <a:ext cx="3236976" cy="274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A6C8C"/>
                </a:solidFill>
                <a:latin typeface="Noto Sans JP"/>
              </a:rPr>
              <a:t>STEP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6099048"/>
            <a:ext cx="3236976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第1グループ実施</a:t>
            </a:r>
          </a:p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（SaaS本部 前半）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70248" y="6656832"/>
            <a:ext cx="3236976" cy="16459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0">
                <a:solidFill>
                  <a:srgbClr val="4A6C8C"/>
                </a:solidFill>
                <a:latin typeface="Noto Sans JP"/>
              </a:rPr>
              <a:t>目安: 3〜4日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6951" y="6099048"/>
            <a:ext cx="201168" cy="4572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600" b="1">
                <a:solidFill>
                  <a:srgbClr val="4A6C8C"/>
                </a:solidFill>
                <a:latin typeface="Noto Sans JP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99831" y="5715000"/>
            <a:ext cx="3474720" cy="1115568"/>
          </a:xfrm>
          <a:prstGeom prst="rect">
            <a:avLst/>
          </a:prstGeom>
          <a:solidFill>
            <a:srgbClr val="EDF7F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99831" y="5715000"/>
            <a:ext cx="64008" cy="1115568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64423" y="5788152"/>
            <a:ext cx="3236976" cy="2743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3A8F63"/>
                </a:solidFill>
                <a:latin typeface="Noto Sans JP"/>
              </a:rPr>
              <a:t>STEP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64423" y="6099048"/>
            <a:ext cx="3236976" cy="53035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第2グループ実施</a:t>
            </a:r>
          </a:p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（後半・SI本部）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64423" y="6656832"/>
            <a:ext cx="3236976" cy="16459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0">
                <a:solidFill>
                  <a:srgbClr val="3A8F63"/>
                </a:solidFill>
                <a:latin typeface="Noto Sans JP"/>
              </a:rPr>
              <a:t>目安: 3〜4日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助成金活用で実質負担6〜7割減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詳細③　費用・投資対効果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474720" cy="2194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1945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572768"/>
            <a:ext cx="3145536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600" b="1">
                <a:solidFill>
                  <a:srgbClr val="1C3557"/>
                </a:solidFill>
                <a:latin typeface="Noto Sans JP"/>
              </a:rPr>
              <a:t>定価（1セッション）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194560"/>
            <a:ext cx="3145536" cy="11887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700" b="1">
                <a:solidFill>
                  <a:srgbClr val="1C3557"/>
                </a:solidFill>
                <a:latin typeface="Noto Sans JP"/>
              </a:rPr>
              <a:t>15万円 / 名</a:t>
            </a:r>
          </a:p>
          <a:p>
            <a:pPr algn="ctr"/>
            <a:r>
              <a:rPr sz="1700" b="1">
                <a:solidFill>
                  <a:srgbClr val="1C3557"/>
                </a:solidFill>
                <a:latin typeface="Noto Sans JP"/>
              </a:rPr>
              <a:t>× 25名 / セッション</a:t>
            </a:r>
          </a:p>
          <a:p>
            <a:pPr algn="ctr"/>
            <a:r>
              <a:rPr sz="1700" b="1">
                <a:solidFill>
                  <a:srgbClr val="1C3557"/>
                </a:solidFill>
                <a:latin typeface="Noto Sans JP"/>
              </a:rPr>
              <a:t>= 375万円 / 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12848"/>
            <a:ext cx="2560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1C3557"/>
                </a:solidFill>
                <a:latin typeface="Noto Sans JP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42232" y="1389888"/>
            <a:ext cx="3474720" cy="219456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42232" y="1389888"/>
            <a:ext cx="64008" cy="219456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72768"/>
            <a:ext cx="3145536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600" b="1">
                <a:solidFill>
                  <a:srgbClr val="4A6C8C"/>
                </a:solidFill>
                <a:latin typeface="Noto Sans JP"/>
              </a:rPr>
              <a:t>助成金還元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94560"/>
            <a:ext cx="3145536" cy="11887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700" b="1">
                <a:solidFill>
                  <a:srgbClr val="4A6C8C"/>
                </a:solidFill>
                <a:latin typeface="Noto Sans JP"/>
              </a:rPr>
              <a:t>6〜7割還元</a:t>
            </a:r>
          </a:p>
          <a:p>
            <a:pPr algn="ctr"/>
            <a:r>
              <a:rPr sz="1700" b="1">
                <a:solidFill>
                  <a:srgbClr val="4A6C8C"/>
                </a:solidFill>
                <a:latin typeface="Noto Sans JP"/>
              </a:rPr>
              <a:t>= 約225〜262万円 / 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62672" y="2212848"/>
            <a:ext cx="256032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4A6C8C"/>
                </a:solidFill>
                <a:latin typeface="Noto Sans JP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72983" y="1389888"/>
            <a:ext cx="3474720" cy="2194560"/>
          </a:xfrm>
          <a:prstGeom prst="rect">
            <a:avLst/>
          </a:prstGeom>
          <a:solidFill>
            <a:srgbClr val="EDF7F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72983" y="1389888"/>
            <a:ext cx="64008" cy="219456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1572768"/>
            <a:ext cx="3145536" cy="4572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600" b="1">
                <a:solidFill>
                  <a:srgbClr val="3A8F63"/>
                </a:solidFill>
                <a:latin typeface="Noto Sans JP"/>
              </a:rPr>
              <a:t>実質負担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2194560"/>
            <a:ext cx="3145536" cy="11887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700" b="1">
                <a:solidFill>
                  <a:srgbClr val="3A8F63"/>
                </a:solidFill>
                <a:latin typeface="Noto Sans JP"/>
              </a:rPr>
              <a:t>約112〜150万円 / 回</a:t>
            </a:r>
          </a:p>
          <a:p>
            <a:pPr algn="ctr"/>
            <a:r>
              <a:rPr sz="1700" b="1">
                <a:solidFill>
                  <a:srgbClr val="3A8F63"/>
                </a:solidFill>
                <a:latin typeface="Noto Sans JP"/>
              </a:rPr>
              <a:t>（4.5〜6万円 / 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813048"/>
            <a:ext cx="11365992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1C3557"/>
                </a:solidFill>
                <a:latin typeface="Noto Sans JP"/>
              </a:rPr>
              <a:t>助成金について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224528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4224528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種類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20824" y="4224528"/>
            <a:ext cx="9601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93976" y="4224528"/>
            <a:ext cx="94366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人材開発支援助成金（厚生労働省）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828032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4828032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適用条件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20824" y="4828032"/>
            <a:ext cx="9601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93976" y="4828032"/>
            <a:ext cx="94366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平日9:00〜18:00での実施・訪問型・受講記録等の書類整備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431536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5431536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申請サポート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20824" y="5431536"/>
            <a:ext cx="9601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93976" y="5431536"/>
            <a:ext cx="94366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エヌイチがフルサポート（書類作成・申請手続きを含む）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6035040"/>
            <a:ext cx="1554480" cy="53035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6035040"/>
            <a:ext cx="1463039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スケジュール目安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20824" y="6035040"/>
            <a:ext cx="9601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93976" y="6035040"/>
            <a:ext cx="9436608" cy="53035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研修実施 → 書類提出 → 2〜4ヶ月後に還付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464808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※ 1セッション25名が基本設計。50名受講の場合は25名×2セッション（750万円→実質225〜300万円）。正式見積りはヒアリング後に提示します。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800" b="1">
                <a:solidFill>
                  <a:srgbClr val="111827"/>
                </a:solidFill>
                <a:latin typeface="Noto Sans JP"/>
              </a:rPr>
              <a:t>次のステップ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560320" cy="521208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64008" cy="521208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07592"/>
            <a:ext cx="223113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4A6C8C"/>
                </a:solidFill>
                <a:latin typeface="Noto Sans JP"/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783080"/>
            <a:ext cx="223113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社内承認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2377440"/>
            <a:ext cx="2048255" cy="2743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560320"/>
            <a:ext cx="2231136" cy="23774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呉様より社長への上申・承認取得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5660136"/>
            <a:ext cx="2157984" cy="50292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5660136"/>
            <a:ext cx="2157984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（承認済の場合はSTEP 2へ）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29000"/>
            <a:ext cx="201168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800" b="1">
                <a:solidFill>
                  <a:srgbClr val="4A6C8C"/>
                </a:solidFill>
                <a:latin typeface="Noto Sans JP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143000"/>
            <a:ext cx="2560320" cy="521208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1143000"/>
            <a:ext cx="64008" cy="52120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1307592"/>
            <a:ext cx="223113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STEP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1783080"/>
            <a:ext cx="223113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ヒアリング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2377440"/>
            <a:ext cx="2048255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74136" y="2560320"/>
            <a:ext cx="2231136" cy="23774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研修対象者・習得スキル・日程を詳細確認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（約2時間・無料）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74136" y="5660136"/>
            <a:ext cx="2157984" cy="5029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5660136"/>
            <a:ext cx="2157984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承認後 即対応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3429000"/>
            <a:ext cx="201168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800" b="1">
                <a:solidFill>
                  <a:srgbClr val="42A4AF"/>
                </a:solidFill>
                <a:latin typeface="Noto Sans JP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34456" y="1143000"/>
            <a:ext cx="2560320" cy="5212080"/>
          </a:xfrm>
          <a:prstGeom prst="rect">
            <a:avLst/>
          </a:prstGeom>
          <a:solidFill>
            <a:srgbClr val="EDF7F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34456" y="1143000"/>
            <a:ext cx="64008" cy="521208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5624" y="1307592"/>
            <a:ext cx="223113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3A8F63"/>
                </a:solidFill>
                <a:latin typeface="Noto Sans JP"/>
              </a:rPr>
              <a:t>STEP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35624" y="1783080"/>
            <a:ext cx="223113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カリキュラム設計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0488" y="2377440"/>
            <a:ext cx="2048255" cy="27432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35624" y="2560320"/>
            <a:ext cx="2231136" cy="23774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御社専用カリキュラム作成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詳細費用・スケジュール提示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35624" y="5660136"/>
            <a:ext cx="2157984" cy="50292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35624" y="5660136"/>
            <a:ext cx="2157984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ヒアリング後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1〜2週間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1" y="3429000"/>
            <a:ext cx="201168" cy="5486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800" b="1">
                <a:solidFill>
                  <a:srgbClr val="3A8F63"/>
                </a:solidFill>
                <a:latin typeface="Noto Sans JP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95944" y="1143000"/>
            <a:ext cx="2560320" cy="52120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95944" y="1143000"/>
            <a:ext cx="64008" cy="5212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97112" y="1307592"/>
            <a:ext cx="2231136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C3557"/>
                </a:solidFill>
                <a:latin typeface="Noto Sans JP"/>
              </a:rPr>
              <a:t>STEP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2" y="1783080"/>
            <a:ext cx="2231136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700" b="1">
                <a:solidFill>
                  <a:srgbClr val="1C3557"/>
                </a:solidFill>
                <a:latin typeface="Noto Sans JP"/>
              </a:rPr>
              <a:t>研修実施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1976" y="2377440"/>
            <a:ext cx="2048255" cy="27432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2560320"/>
            <a:ext cx="2231136" cy="23774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3〜4日間のフルカスタマイズ研修</a:t>
            </a:r>
          </a:p>
          <a:p>
            <a:pPr algn="l"/>
            <a:r>
              <a:rPr sz="1500" b="0">
                <a:solidFill>
                  <a:srgbClr val="1E293B"/>
                </a:solidFill>
                <a:latin typeface="Noto Sans JP"/>
              </a:rPr>
              <a:t>振り返り・アフターフォロー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97112" y="5660136"/>
            <a:ext cx="2157984" cy="5029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97112" y="5660136"/>
            <a:ext cx="2157984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STEP 3完了後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6400800"/>
            <a:ext cx="11365992" cy="43891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6400800"/>
            <a:ext cx="10972800" cy="4389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FFFFFF"/>
                </a:solidFill>
                <a:latin typeface="Noto Sans JP"/>
              </a:rPr>
              <a:t>本日確認させていただきたいこと  ① カリキュラム・実施形式のご認識合わせ  ② 言語対応の方針  ③ ヒアリングの日程調整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5912" cy="25603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3000" b="1">
                <a:solidFill>
                  <a:srgbClr val="111827"/>
                </a:solidFill>
                <a:latin typeface="Noto Sans JP"/>
              </a:rPr>
              <a:t>私たちが提供するのは</a:t>
            </a:r>
          </a:p>
          <a:p>
            <a:pPr algn="ctr"/>
            <a:r>
              <a:rPr sz="3000" b="1">
                <a:solidFill>
                  <a:srgbClr val="111827"/>
                </a:solidFill>
                <a:latin typeface="Noto Sans JP"/>
              </a:rPr>
              <a:t>「ツール」や「研修」ではありません。</a:t>
            </a:r>
          </a:p>
          <a:p>
            <a:pPr algn="ctr"/>
            <a:r>
              <a:rPr sz="3000" b="1">
                <a:solidFill>
                  <a:srgbClr val="111827"/>
                </a:solidFill>
                <a:latin typeface="Noto Sans JP"/>
              </a:rPr>
              <a:t>貴社の未来を創る「AI人材」と、</a:t>
            </a:r>
          </a:p>
          <a:p>
            <a:pPr algn="ctr"/>
            <a:r>
              <a:rPr sz="3000" b="1">
                <a:solidFill>
                  <a:srgbClr val="111827"/>
                </a:solidFill>
                <a:latin typeface="Noto Sans JP"/>
              </a:rPr>
              <a:t>組織全体の「成長」です。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725912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800" b="1">
                <a:solidFill>
                  <a:srgbClr val="42A4AF"/>
                </a:solidFill>
                <a:latin typeface="Noto Sans JP"/>
              </a:rPr>
              <a:t>株式会社エヌイチ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11686032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91440"/>
            <a:ext cx="27432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4114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1000" b="1">
                <a:solidFill>
                  <a:srgbClr val="F1F5F9"/>
                </a:solidFill>
                <a:latin typeface="Noto Sans JP"/>
              </a:rPr>
              <a:t>REF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194560"/>
            <a:ext cx="6675120" cy="12801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3800" b="1">
                <a:solidFill>
                  <a:srgbClr val="6B7280"/>
                </a:solidFill>
                <a:latin typeface="Noto Sans JP"/>
              </a:rPr>
              <a:t>参考資料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3657600"/>
            <a:ext cx="667512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3840480"/>
            <a:ext cx="6675120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0">
                <a:solidFill>
                  <a:srgbClr val="6B7280"/>
                </a:solidFill>
                <a:latin typeface="Noto Sans JP"/>
              </a:rPr>
              <a:t>会社概要・導入実績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会社概要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1188720" cy="5943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" y="1005840"/>
            <a:ext cx="1097280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会社名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1655064" y="1005840"/>
            <a:ext cx="6675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28216" y="1005840"/>
            <a:ext cx="6510528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1188720" cy="5943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" y="1664208"/>
            <a:ext cx="1097280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経営陣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55064" y="1664208"/>
            <a:ext cx="6675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28216" y="1664208"/>
            <a:ext cx="6510528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代表取締役CEO 奥山幸生</a:t>
            </a:r>
          </a:p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取締役COO 髙橋悠　取締役CHRO 米澤浩明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322576"/>
            <a:ext cx="1188720" cy="5943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" y="2322576"/>
            <a:ext cx="1097280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資本金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55064" y="2322576"/>
            <a:ext cx="6675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28216" y="2322576"/>
            <a:ext cx="6510528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1,000万円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980944"/>
            <a:ext cx="1188720" cy="5943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" y="2980944"/>
            <a:ext cx="1097280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設立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55064" y="2980944"/>
            <a:ext cx="6675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28216" y="2980944"/>
            <a:ext cx="6510528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2023年10月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39312"/>
            <a:ext cx="1188720" cy="5943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3639312"/>
            <a:ext cx="1097280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所在地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55064" y="3639312"/>
            <a:ext cx="6675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28216" y="3639312"/>
            <a:ext cx="6510528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東京都新宿区西新宿3-7-30 フロンティアグラン西新宿12F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297679"/>
            <a:ext cx="1188720" cy="5943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" y="4297679"/>
            <a:ext cx="1097280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Mission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55064" y="4297679"/>
            <a:ext cx="6675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28216" y="4297679"/>
            <a:ext cx="6510528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新しい働く「カタチ」を創る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956048"/>
            <a:ext cx="1188720" cy="5943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" y="4956048"/>
            <a:ext cx="1097280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Vision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55064" y="4956048"/>
            <a:ext cx="667512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28216" y="4956048"/>
            <a:ext cx="6510528" cy="5943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AI（アイ）ある社会に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03920" y="1005840"/>
            <a:ext cx="3291840" cy="128016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1005840"/>
            <a:ext cx="64008" cy="12801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1143000"/>
            <a:ext cx="30175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42A4AF"/>
                </a:solidFill>
                <a:latin typeface="Noto Sans JP"/>
              </a:rPr>
              <a:t>Kawaru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1600200"/>
            <a:ext cx="301752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業務自動化SaaS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2450591"/>
            <a:ext cx="3291840" cy="128016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0" y="2450591"/>
            <a:ext cx="64008" cy="128016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2587751"/>
            <a:ext cx="30175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4A6C8C"/>
                </a:solidFill>
                <a:latin typeface="Noto Sans JP"/>
              </a:rPr>
              <a:t>Kawaru Team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044951"/>
            <a:ext cx="301752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フルカスタマイズAI研修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3895344"/>
            <a:ext cx="3291840" cy="1280160"/>
          </a:xfrm>
          <a:prstGeom prst="rect">
            <a:avLst/>
          </a:prstGeom>
          <a:solidFill>
            <a:srgbClr val="EDF7F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03920" y="3895344"/>
            <a:ext cx="64008" cy="128016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0" y="4032504"/>
            <a:ext cx="30175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3A8F63"/>
                </a:solidFill>
                <a:latin typeface="Noto Sans JP"/>
              </a:rPr>
              <a:t>Kawaru BPO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4489704"/>
            <a:ext cx="301752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AI業務効率化代行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20" y="5340096"/>
            <a:ext cx="3291840" cy="12801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03920" y="5340096"/>
            <a:ext cx="64008" cy="12801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0" y="5477256"/>
            <a:ext cx="30175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C3557"/>
                </a:solidFill>
                <a:latin typeface="Noto Sans JP"/>
              </a:rPr>
              <a:t>Kawaru Coach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5934456"/>
            <a:ext cx="301752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AI顧問サービス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500" b="1">
                <a:solidFill>
                  <a:srgbClr val="111827"/>
                </a:solidFill>
                <a:latin typeface="Noto Sans JP"/>
              </a:rPr>
              <a:t>導入実績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あらゆる規模の企業様に導入されています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44752"/>
            <a:ext cx="1375029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137502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1C3557"/>
                </a:solidFill>
                <a:latin typeface="Noto Sans JP"/>
              </a:rPr>
              <a:t>株式会社ブロードリンク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1832229" y="1444752"/>
            <a:ext cx="1375029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32229" y="1444752"/>
            <a:ext cx="137502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1C3557"/>
                </a:solidFill>
                <a:latin typeface="Noto Sans JP"/>
              </a:rPr>
              <a:t>株式会社中西製作所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2978" y="1444752"/>
            <a:ext cx="1375029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52978" y="1444752"/>
            <a:ext cx="137502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1C3557"/>
                </a:solidFill>
                <a:latin typeface="Noto Sans JP"/>
              </a:rPr>
              <a:t>株式会社ミズカラ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3727" y="1444752"/>
            <a:ext cx="1375029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3727" y="1444752"/>
            <a:ext cx="137502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1C3557"/>
                </a:solidFill>
                <a:latin typeface="Noto Sans JP"/>
              </a:rPr>
              <a:t>株式会社エル・ティー・エス リンク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6" y="1444752"/>
            <a:ext cx="1375029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6" y="1444752"/>
            <a:ext cx="137502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1C3557"/>
                </a:solidFill>
                <a:latin typeface="Noto Sans JP"/>
              </a:rPr>
              <a:t>FRUOR株式会社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15225" y="1444752"/>
            <a:ext cx="1375029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5225" y="1444752"/>
            <a:ext cx="137502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1C3557"/>
                </a:solidFill>
                <a:latin typeface="Noto Sans JP"/>
              </a:rPr>
              <a:t>株式会社BIRDY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35974" y="1444752"/>
            <a:ext cx="1375029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5974" y="1444752"/>
            <a:ext cx="137502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1C3557"/>
                </a:solidFill>
                <a:latin typeface="Noto Sans JP"/>
              </a:rPr>
              <a:t>株式会社オンシナジー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56722" y="1444752"/>
            <a:ext cx="1375029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56722" y="1444752"/>
            <a:ext cx="1375029" cy="502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1">
                <a:solidFill>
                  <a:srgbClr val="1C3557"/>
                </a:solidFill>
                <a:latin typeface="Noto Sans JP"/>
              </a:rPr>
              <a:t>キリングループ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103120"/>
            <a:ext cx="3666744" cy="4663440"/>
          </a:xfrm>
          <a:prstGeom prst="rect">
            <a:avLst/>
          </a:prstGeom>
          <a:solidFill>
            <a:srgbClr val="E0F4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103120"/>
            <a:ext cx="64008" cy="46634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286000"/>
            <a:ext cx="3392424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42A4AF"/>
                </a:solidFill>
                <a:latin typeface="Noto Sans JP"/>
              </a:rPr>
              <a:t>キリングループ様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761487"/>
            <a:ext cx="3300984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926079"/>
            <a:ext cx="3392424" cy="7315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課題：AI未経験、活用イメージなし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749039"/>
            <a:ext cx="3392424" cy="10972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42A4AF"/>
                </a:solidFill>
                <a:latin typeface="Noto Sans JP"/>
              </a:rPr>
              <a:t>成果：全員が「業務でAIを使いたい」と回答</a:t>
            </a:r>
          </a:p>
          <a:p>
            <a:pPr algn="l"/>
            <a:r>
              <a:rPr sz="1500" b="1">
                <a:solidFill>
                  <a:srgbClr val="42A4AF"/>
                </a:solidFill>
                <a:latin typeface="Noto Sans JP"/>
              </a:rPr>
              <a:t>満足度 8.5点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1104" y="2103120"/>
            <a:ext cx="3666744" cy="4663440"/>
          </a:xfrm>
          <a:prstGeom prst="rect">
            <a:avLst/>
          </a:prstGeom>
          <a:solidFill>
            <a:srgbClr val="EBF0F6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1104" y="2103120"/>
            <a:ext cx="64008" cy="4663440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3984" y="2286000"/>
            <a:ext cx="3392424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4A6C8C"/>
                </a:solidFill>
                <a:latin typeface="Noto Sans JP"/>
              </a:rPr>
              <a:t>株式会社ミズカラ様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3984" y="2761487"/>
            <a:ext cx="3300984" cy="27432"/>
          </a:xfrm>
          <a:prstGeom prst="rect">
            <a:avLst/>
          </a:prstGeom>
          <a:solidFill>
            <a:srgbClr val="4A6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43984" y="2926079"/>
            <a:ext cx="3392424" cy="7315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課題：問い合わせ対応に月283時間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4" y="3749039"/>
            <a:ext cx="3392424" cy="10972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4A6C8C"/>
                </a:solidFill>
                <a:latin typeface="Noto Sans JP"/>
              </a:rPr>
              <a:t>成果：月85時間へ削減</a:t>
            </a:r>
          </a:p>
          <a:p>
            <a:pPr algn="l"/>
            <a:r>
              <a:rPr sz="1500" b="1">
                <a:solidFill>
                  <a:srgbClr val="4A6C8C"/>
                </a:solidFill>
                <a:latin typeface="Noto Sans JP"/>
              </a:rPr>
              <a:t>（約200時間＝25営業日分の削減）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0727" y="2103120"/>
            <a:ext cx="3666744" cy="4663440"/>
          </a:xfrm>
          <a:prstGeom prst="rect">
            <a:avLst/>
          </a:prstGeom>
          <a:solidFill>
            <a:srgbClr val="EDF7F2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10727" y="2103120"/>
            <a:ext cx="64008" cy="4663440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7" y="2286000"/>
            <a:ext cx="3392424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3A8F63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93607" y="2761487"/>
            <a:ext cx="3300984" cy="27432"/>
          </a:xfrm>
          <a:prstGeom prst="rect">
            <a:avLst/>
          </a:prstGeom>
          <a:solidFill>
            <a:srgbClr val="3A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3607" y="2926079"/>
            <a:ext cx="3392424" cy="7315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E293B"/>
                </a:solidFill>
                <a:latin typeface="Noto Sans JP"/>
              </a:rPr>
              <a:t>課題：業務の属人化、営業効率の壁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93607" y="3749039"/>
            <a:ext cx="3392424" cy="10972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500" b="1">
                <a:solidFill>
                  <a:srgbClr val="3A8F63"/>
                </a:solidFill>
                <a:latin typeface="Noto Sans JP"/>
              </a:rPr>
              <a:t>成果：バックオフィス効率化</a:t>
            </a:r>
          </a:p>
          <a:p>
            <a:pPr algn="l"/>
            <a:r>
              <a:rPr sz="1500" b="1">
                <a:solidFill>
                  <a:srgbClr val="3A8F63"/>
                </a:solidFill>
                <a:latin typeface="Noto Sans JP"/>
              </a:rPr>
              <a:t>経営資源を成長領域にシフト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