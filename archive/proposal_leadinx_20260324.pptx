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0"/>
            <a:ext cx="12051792" cy="594360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"/>
            <a:ext cx="45720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31520"/>
            <a:ext cx="11640312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920240"/>
            <a:ext cx="9445752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4800" b="1">
                <a:solidFill>
                  <a:srgbClr val="000000"/>
                </a:solidFill>
                <a:latin typeface="Noto Sans JP"/>
              </a:rPr>
              <a:t>生成AI支援ご提案書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9445752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400" b="0">
                <a:solidFill>
                  <a:srgbClr val="4B5563"/>
                </a:solidFill>
                <a:latin typeface="Noto Sans JP"/>
              </a:rPr>
              <a:t>リードインクス株式会社 様向け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7448" y="3794760"/>
            <a:ext cx="2743200" cy="3200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59436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2026年3月24日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5897880"/>
            <a:ext cx="34747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会社概要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5943600" cy="52120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234439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会社名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234439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株式会社エヌイチ（n1 inc.）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19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設立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645919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2023年11月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5740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代表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05740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奥山 幸生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所在地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246888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東京都渋谷区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036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事業内容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88036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AI導入支援・研修・SaaS開発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従業員数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29184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約20名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40480"/>
            <a:ext cx="5577840" cy="7315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ミッション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「AI（アイ）ある社会に」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40480"/>
            <a:ext cx="45720" cy="731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0" y="105156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1051560"/>
            <a:ext cx="54864" cy="10972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118871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554480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業務自動化SaaS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33172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2331720"/>
            <a:ext cx="54864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246887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2834639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フルカスタマイズAI研修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611879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3611879"/>
            <a:ext cx="54864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374903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BPO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114800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AI業務効率化代行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489204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0" y="4892040"/>
            <a:ext cx="54864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0" y="5029200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Coach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394959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AI顧問サービス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導入実績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あらゆる規模の企業様に導入されています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株式会社ブロードリンク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株式会社中西製作所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株式会社ミズカラ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エル・ティー・エス リンク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FRUOR株式会社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株式会社BIRDY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株式会社オンシナジー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キリングループ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59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キリングループ様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AI未経験、活用イメージなし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34539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全員が「業務でAIを使いたい」と回答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満足度 8.5点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34256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71416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28616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株式会社ミズカラ様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3984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問い合わせ対応に月283時間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3984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11596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4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月85時間へ削減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約200時間＝25営業日分の削減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3984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11312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48472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05672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株式会社BIRDY様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業務の属人化、営業効率の壁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88652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バックオフィス効率化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経営資源を成長領域にシフト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貴社の現状と課題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初回ヒアリングを踏まえて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51206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554480"/>
            <a:ext cx="4800599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前回のお打合せ 振り返り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82296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日時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1965960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2026年2月27日（約46分）/ オンライン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50008"/>
            <a:ext cx="82296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参加者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2350008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呉振宇様（SaaS本部長） / 大川・髙橋（エヌイチ）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34056"/>
            <a:ext cx="82296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経緯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2734056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年会エクスポーでの名刺交換後 初回商談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18103"/>
            <a:ext cx="82296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内容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118103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エヌイチ4サービス紹介 → LINX社AI活用課題ヒアリング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02151"/>
            <a:ext cx="82296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反応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502151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Kawaru Teamに強い関心。費用・形式・言語対応を深掘り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23360"/>
            <a:ext cx="4937759" cy="82296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結論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社長との1on1（翌週木曜）で研修の件を相談 → OKが出たら研修設計に着手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023360"/>
            <a:ext cx="4572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89320" y="1417320"/>
            <a:ext cx="5742432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417320"/>
            <a:ext cx="54864" cy="51206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554480"/>
            <a:ext cx="523951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合意ネクストアクション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21031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1965960"/>
            <a:ext cx="4736592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呉様 → 社長1on1で研修を相談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2258568"/>
            <a:ext cx="4736592" cy="5029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来週木曜の定例1on1で研修の件を持ち上げる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2258568"/>
            <a:ext cx="45720" cy="502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17920" y="310896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2971800"/>
            <a:ext cx="4736592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エヌイチ → 商談概要メール送付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3264408"/>
            <a:ext cx="4736592" cy="5029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当日の商談内容をメールで送付済み 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3264408"/>
            <a:ext cx="45720" cy="502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7920" y="4114799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3977639"/>
            <a:ext cx="4736592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本日のゴール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0840" y="4270248"/>
            <a:ext cx="4736592" cy="5029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提案内容を確認し、社長への稟議を通すための材料を揃える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4270248"/>
            <a:ext cx="45720" cy="502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2本部・50〜60名のエンジニア組織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現状①  組織構造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51206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554480"/>
            <a:ext cx="48920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Noto Sans JP"/>
              </a:rPr>
              <a:t>会社・事業概要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会社名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965960"/>
            <a:ext cx="36576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リードインクス株式会社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50008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グループ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350008"/>
            <a:ext cx="36576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ソフトバンクグループ会社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34056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事業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734056"/>
            <a:ext cx="36576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保険業界向けSaaSプロダクト（保険会社・代理店向け）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18103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顧客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118103"/>
            <a:ext cx="36576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保険会社 / 保険代理店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02151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現状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3502151"/>
            <a:ext cx="36576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伝統的フォーム形式のSaaSを提供。AI機能対応が急務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417320"/>
            <a:ext cx="5742432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417320"/>
            <a:ext cx="54864" cy="5120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554480"/>
            <a:ext cx="533095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Noto Sans JP"/>
              </a:rPr>
              <a:t>エンジニア組織構成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965960"/>
            <a:ext cx="5376672" cy="5029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F2937"/>
                </a:solidFill>
                <a:latin typeface="Noto Sans JP"/>
              </a:rPr>
              <a:t>両本部エンジニア　合計 50〜60名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965960"/>
            <a:ext cx="45720" cy="502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2200" y="2651760"/>
            <a:ext cx="537667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651760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2724912"/>
            <a:ext cx="510235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SaaS本部（呉様）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3063240"/>
            <a:ext cx="510235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保険業界向けSaaSプロダクト開発・運営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657600"/>
            <a:ext cx="537667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657600"/>
            <a:ext cx="54864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3730752"/>
            <a:ext cx="510235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SI本部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069080"/>
            <a:ext cx="510235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伝統的なカスタマイズシステム開発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4754879"/>
            <a:ext cx="5376672" cy="64008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⚠  エンジニアの約半数（25〜30名）が中国語話者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　  日本語研修だけでは対応困難【事実】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754879"/>
            <a:ext cx="4572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AI活用は「個人の我流」のままで止まっている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現状②  AI活用の現状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5120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554480"/>
            <a:ext cx="48920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Noto Sans JP"/>
              </a:rPr>
              <a:t>現在の状況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個人活用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1965960"/>
            <a:ext cx="3657600" cy="621792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ChatGPT・Claudeを各自の判断で利用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ベストプラクティス・共有ルールなし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1965960"/>
            <a:ext cx="45720" cy="6217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AI開発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788920"/>
            <a:ext cx="3657600" cy="621792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海外ベンダーへのBPO委託でPOCを推進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本番運用は海外ベンダー利用が法規制上困難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788920"/>
            <a:ext cx="45720" cy="6217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611879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知識レベル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611879"/>
            <a:ext cx="3657600" cy="621792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一般的なIT知識あり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ただしAI開発プロセスは「一切わからない」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611879"/>
            <a:ext cx="45720" cy="6217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526279"/>
            <a:ext cx="4937759" cy="822960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D97706"/>
                </a:solidFill>
                <a:latin typeface="Noto Sans JP"/>
              </a:rPr>
              <a:t>「みんな我流でやってるんですね。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D97706"/>
                </a:solidFill>
                <a:latin typeface="Noto Sans JP"/>
              </a:rPr>
              <a:t>ベストプラクティスという知識は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D97706"/>
                </a:solidFill>
                <a:latin typeface="Noto Sans JP"/>
              </a:rPr>
              <a:t>みんな持っていなくて」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D97706"/>
                </a:solidFill>
                <a:latin typeface="Noto Sans JP"/>
              </a:rPr>
              <a:t>— 呉様（商談での発言）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26279"/>
            <a:ext cx="4572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28231" y="141732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1" y="1417320"/>
            <a:ext cx="54864" cy="51206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11112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48272" y="1554480"/>
            <a:ext cx="48920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Noto Sans JP"/>
              </a:rPr>
              <a:t>組織としての課題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11112" y="1965960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ツール利用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99831" y="1965960"/>
            <a:ext cx="3657600" cy="62179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ChatGPT Enterpriseのみ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会社資産アップロード可（近日契約予定）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11112" y="2788920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開発体制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1" y="2788920"/>
            <a:ext cx="3657600" cy="62179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AI開発ノウハウが社内に蓄積されていない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外部BPO依存で知見が残らない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11112" y="3611879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標準化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9831" y="3611879"/>
            <a:ext cx="3657600" cy="62179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社内の標準プロセスなし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本番運用移行のための体制が未整備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ChatGPT縛り・金融規制・言語の三重制約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現状③  AI活用環境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制約①　ツール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8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ChatGPT Enterprise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のみ使用可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ソフトバンク方針によりGPT中心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会社資産アップロードはChatGPT Enterpriseのみ許可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Copilot・Claude等は業務利用不可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" y="369417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近日ChatGPT Enterprise契約予定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4276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制約②　法規制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4276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4276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31436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本番運用で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海外ベンダー利用が困難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1436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31436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金融規制（個人情報保護）が適用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1436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POCは海外ベンダーで可能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1436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本番運用は日本国内ベンダー必須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1436" y="369417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外部AI人材依存を継続できない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7324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制約③　言語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7324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07324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44484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エンジニアの約半数が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中国語話者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44484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44484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日本語不可のエンジニアが25〜30名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4484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日本語研修では半数に届かない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44484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翻訳ツール活用は意味は伝わるが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44484" y="369417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研修効果（熱量）が薄れるリスク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課題は3層構造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920240" cy="51663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4864" cy="5166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43000"/>
            <a:ext cx="1719072" cy="4983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AIを活用できる組織・プロダクトへ転換できない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89433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24912" y="1143000"/>
            <a:ext cx="2423160" cy="15392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143000"/>
            <a:ext cx="54864" cy="1539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216152"/>
            <a:ext cx="2221991" cy="13929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① エンジニアの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AI開発力が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8072" y="138125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95544" y="117957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95544" y="117957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05272" y="121615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17957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AI開発プロセス（要件→タスク分解→実装）が分からない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8072" y="189433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95544" y="169265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95544" y="169265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05272" y="172923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169265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AIエージェント作成・活用の基礎知識がない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48072" y="240741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95544" y="220573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95544" y="220573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05272" y="224231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8776" y="220573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各自の我流どまり、組織的ベストプラクティスがゼロ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61645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24912" y="2865120"/>
            <a:ext cx="2423160" cy="15392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24912" y="2865120"/>
            <a:ext cx="54864" cy="1539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34640" y="2938272"/>
            <a:ext cx="2221991" cy="13929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② AI活用環境に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三重の制約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48072" y="310337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95544" y="290169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95544" y="290169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05272" y="293827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08776" y="290169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ツール制約：ChatGPT Enterprise以外は会社資産アップロード不可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48072" y="361645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95544" y="341477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95544" y="341477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05272" y="345135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08776" y="341477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法規制：金融規制により本番運用で海外ベンダー利用が不可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48072" y="412953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95544" y="392785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95544" y="392785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05272" y="396443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08776" y="392785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言語制約：エンジニアの約半数が中国語話者で日本語研修に参加困難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533857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724912" y="4587240"/>
            <a:ext cx="2423160" cy="15392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24912" y="4587240"/>
            <a:ext cx="54864" cy="1539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34640" y="4660392"/>
            <a:ext cx="2221991" cy="13929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③ 組織的な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AI推進体制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がない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48072" y="482549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495544" y="462381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95544" y="462381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605272" y="466039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08776" y="462381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AIノウハウが社内蓄積されず外部BPO依存が続く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48072" y="533857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495544" y="513689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95544" y="5136896"/>
            <a:ext cx="54864" cy="439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605272" y="517347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D97706"/>
                </a:solidFill>
                <a:latin typeface="Noto Sans JP"/>
              </a:rPr>
              <a:t>推察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08776" y="513689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3月末の親会社企画書通過のために社内AI体制整備の具体策が必要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48072" y="585165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495544" y="564997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95544" y="564997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605272" y="568655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08776" y="564997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研修・予算の社内承認プロセスがまだ動いていない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ご提案の全体像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Kawaru Team のフルカスタマイズAI研修で、AIエージェント活用力を高めます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5" y="1463040"/>
            <a:ext cx="320040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現在地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" y="1874519"/>
            <a:ext cx="32004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5" y="1874519"/>
            <a:ext cx="54864" cy="4572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5" y="2011679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「使う」だけで止まっている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5" y="2788920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ChatGPTをチャットとして使用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5" y="3172968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ビジネス要件にどう応えるか不明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5" y="3557015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「ピンと来ない」状態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5" y="3941063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伝統開発の手法しか知らない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1356" y="3977639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4276" y="1463040"/>
            <a:ext cx="320040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ギャップ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4276" y="1874519"/>
            <a:ext cx="32004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4276" y="1874519"/>
            <a:ext cx="54864" cy="4572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31436" y="2011679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AI開発プロセスが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分からない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1436" y="2788920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要件→タスク分解→実装の流れ不明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31436" y="3172968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AIエージェントの設計方法が不明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1436" y="3557015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ユースケースが社内にゼロ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1436" y="3941063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「どの道に進むか、誰も正解を知らない」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31836" y="3977639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4756" y="1463040"/>
            <a:ext cx="3200400" cy="320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66D37"/>
                </a:solidFill>
                <a:latin typeface="Noto Sans JP"/>
              </a:rPr>
              <a:t>目指す場所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4756" y="1463040"/>
            <a:ext cx="4572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4756" y="1874519"/>
            <a:ext cx="32004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34756" y="1874519"/>
            <a:ext cx="54864" cy="457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71916" y="2011679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「作れる」エンジニアへ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71916" y="2788920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課題→タスク分解→AI実装を自走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71916" y="3172968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AIエージェントを構築・活用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1916" y="3557015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保険金請求AI-OCRを自社で実装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1916" y="3941063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支払い判断自動化を社内開発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AI非対応プロダクトは競争力を失う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課題③  市場リスク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5120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554480"/>
            <a:ext cx="48920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Noto Sans JP"/>
              </a:rPr>
              <a:t>保険業界のAI化の現状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4937759" cy="7315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●  保険会社・代理店がAI活用による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UX向上を顧客に求められている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96596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834639"/>
            <a:ext cx="4937759" cy="7315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●  メインフレームからAI移行の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POCが業界全体で加速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34639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4937759" cy="7315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●  LINX社顧客も既にAI活用POCを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複数進めている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4937759" cy="7315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●  「伝統的なフォーム形式では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古くなるリスク」（呉様）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200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28231" y="141732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28231" y="1417320"/>
            <a:ext cx="54864" cy="5120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11112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48272" y="1554480"/>
            <a:ext cx="48920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Noto Sans JP"/>
              </a:rPr>
              <a:t>今動かないとどうなるか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1112" y="1965960"/>
            <a:ext cx="1097280" cy="685800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D97706"/>
                </a:solidFill>
                <a:latin typeface="Noto Sans JP"/>
              </a:rPr>
              <a:t>3月末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99831" y="1965960"/>
            <a:ext cx="3657600" cy="6858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親会社（ソフトバンク）への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AIプロダクト企画書提出期限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2834639"/>
            <a:ext cx="1097280" cy="685800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D97706"/>
                </a:solidFill>
                <a:latin typeface="Noto Sans JP"/>
              </a:rPr>
              <a:t>〜半年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9831" y="2834639"/>
            <a:ext cx="3657600" cy="6858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POCから本番運用フェーズへ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社内AI人材がいないと前進できない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11112" y="3703320"/>
            <a:ext cx="1097280" cy="685800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D97706"/>
                </a:solidFill>
                <a:latin typeface="Noto Sans JP"/>
              </a:rPr>
              <a:t>1年後〜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99831" y="3703320"/>
            <a:ext cx="3657600" cy="6858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競合他社がAI機能搭載SaaSで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市場シェアを拡大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11112" y="4663440"/>
            <a:ext cx="4937760" cy="6400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今こそ、社内AI開発体制を整備するタイミング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11112" y="4663440"/>
            <a:ext cx="45720" cy="6400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3ヶ月後、エンジニアはAIで開発できる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目指す姿  Before / After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362956" cy="5074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5074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490472"/>
            <a:ext cx="5088636" cy="3200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EF4444"/>
                </a:solidFill>
                <a:latin typeface="Noto Sans JP"/>
              </a:rPr>
              <a:t>Before  現在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0240"/>
            <a:ext cx="11887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AI開発プロセス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1920240"/>
            <a:ext cx="3671316" cy="59436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伝統的な開発手法しか分からない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97480"/>
            <a:ext cx="11887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エージェント活用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2697480"/>
            <a:ext cx="3671316" cy="59436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ChatGPTをチャットとして使うだけ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1887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ベストプラクティス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474720"/>
            <a:ext cx="3671316" cy="59436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各自の我流。知見の共有なし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51960"/>
            <a:ext cx="11887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プロダクト展開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4251960"/>
            <a:ext cx="3671316" cy="59436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ビジネス要件にAIをどう組み込むか不明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1596" y="3703320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4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8796" y="1417320"/>
            <a:ext cx="5362956" cy="5074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8796" y="1417320"/>
            <a:ext cx="54864" cy="5074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05956" y="1490472"/>
            <a:ext cx="5088636" cy="320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66D37"/>
                </a:solidFill>
                <a:latin typeface="Noto Sans JP"/>
              </a:rPr>
              <a:t>After  研修後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1676" y="1920240"/>
            <a:ext cx="1188720" cy="2743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AI開発プロセス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31836" y="1920240"/>
            <a:ext cx="3671316" cy="59436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課題→タスク分解→AI実装まで自走できる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51676" y="2697480"/>
            <a:ext cx="1188720" cy="2743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エージェント活用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31836" y="2697480"/>
            <a:ext cx="3671316" cy="59436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AIエージェントを構築・活用できる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1676" y="3474720"/>
            <a:ext cx="1188720" cy="2743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ベストプラクティス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1836" y="3474720"/>
            <a:ext cx="3671316" cy="59436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組織共通の標準プロセスが確立される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1676" y="4251960"/>
            <a:ext cx="1188720" cy="2743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プロダクト展開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31836" y="4251960"/>
            <a:ext cx="3671316" cy="59436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POC→本番運用への移行を社内で推進できる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達成すべき3つの状態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成果指標  KPI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KPI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8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AI開発プロセスの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習得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研修内ワークで「業務課題→AIタスク分解」が自力でできた参加者の割合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目標：参加者の80%以上が達成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測定：研修内ワーク成果で確認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" y="369417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参考：キリングループ満足度8.5点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4276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KPI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4276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4276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31436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受講者満足度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4.0以上（5点満点）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1436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31436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「業務でAIを活用できそう」回答率 90%以上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1436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測定：受講後アンケート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1436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参考：キリングループ「AIを活用できそう」100%回答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1436" y="369417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中国語話者への対応評価も含める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7324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KPI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7324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07324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44484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実践展開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30日以内に1件以上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44484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44484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研修後30日以内に学んだ手法を実業務に適用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4484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測定：1ヶ月後フォローアップ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44484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目標：参加者の60%以上が実業務適用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44484" y="369417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保険金請求AI化等での実践を期待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汎用研修では御社の課題に届かない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提案根拠①  他との違い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1828800" cy="365760"/>
          </a:xfrm>
          <a:prstGeom prst="roundRect">
            <a:avLst>
              <a:gd name="adj" fmla="val 2000"/>
            </a:avLst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比較項目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508760"/>
            <a:ext cx="3749039" cy="365760"/>
          </a:xfrm>
          <a:prstGeom prst="roundRect">
            <a:avLst>
              <a:gd name="adj" fmla="val 2000"/>
            </a:avLst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汎用AI研修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5239512" cy="36576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Kawaru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47672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カリキュラム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1947672"/>
            <a:ext cx="3749039" cy="5943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固定コンテンツ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947672"/>
            <a:ext cx="45720" cy="5943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47672"/>
            <a:ext cx="5239512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御社専用にゼロから設計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47672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596896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課題対応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2596896"/>
            <a:ext cx="3749039" cy="5943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一般的な業務効率化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596896"/>
            <a:ext cx="45720" cy="5943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596896"/>
            <a:ext cx="5239512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保険業界×エンジニア×AI開発プロセス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96896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24612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言語対応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3246120"/>
            <a:ext cx="3749039" cy="5943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日本語のみ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3246120"/>
            <a:ext cx="45720" cy="5943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3246120"/>
            <a:ext cx="5239512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中国語話者への対応設計可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24612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895344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ツール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3895344"/>
            <a:ext cx="3749039" cy="5943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汎用ツール前提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3895344"/>
            <a:ext cx="45720" cy="5943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895344"/>
            <a:ext cx="5239512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ChatGPT Enterprise縛り前提で設計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95344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4544568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講師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0" y="4544568"/>
            <a:ext cx="3749039" cy="5943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研修会社インストラクター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4544568"/>
            <a:ext cx="45720" cy="5943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4544568"/>
            <a:ext cx="5239512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AI開発の実践者（自社でAI開発を実施）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544568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「AI開発の実践者」が教える研修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提案根拠②  エヌイチならではの強み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05355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強み①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5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5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AI開発を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日常的に実践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5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0955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エヌイチ自身がAI SaaS（Kawaru）を開発・運営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5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AIエージェントを日常業務で活用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5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教科書ではなく実務ノウハウを提供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5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GPT中心での開発知見を保有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91356" y="3977639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4583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強み②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427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94276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31436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完全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フルカスタマイズ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1436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31436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御社の業務・課題・制約に合わせてゼロ設計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1436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GPT縛り・言語問題も研修内容に反映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1436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保険業界のユースケースで事例を構成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31436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「0から全部フルカスタマイズ」が他社との最大の違い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1836" y="3977639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8631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強み③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475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34756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71916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実績に基づく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設計力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1916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71916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キリングループ：満足度8.5点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1916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ミズカラ：月283時間→85時間へ削減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71916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BIRDY：商談件数1.5倍・バックオフィス効率化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71916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業界・規模を問わず導入実績多数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御社専用カリキュラムの設計方針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提案詳細①  研修内容（ヒアリング後に確定）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テーマ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8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AIエージェント基礎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エージェントとは何か・仕組み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作成方法と活用パターン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ChatGPT Enterpriseを使った実装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" y="369417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「チャットツールじゃなくてエージェントを」（呉様）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4276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テーマ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4276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4276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31436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ビジネス課題×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AIタスク分解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1436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31436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ビジネス要件をAIで解決する思考法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1436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できること・できないことの整理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1436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保険金請求AI-OCRの実装イメージ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1436" y="369417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小額短期保険の支払い判断自動化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7324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テーマ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7324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07324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44484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AI開発プロセス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実践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44484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44484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AI版の要件定義→設計→実装の流れ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4484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POC→本番運用への移行方法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44484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ChatGPT Enterprise前提の開発標準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44484" y="369417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「伝統的開発とAI開発の違いを学びたい」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ヒアリング2時間でカリキュラムをゼロ設計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提案詳細②  実施形式・スケジュール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05355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STEP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5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5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ヒアリング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（約2時間）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5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0955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課題・現場業務・ゴールを確認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5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中国語話者への対応方針を決定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5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ChatGPT Enterprise活用方針を確認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5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参加人数・日程を確定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91356" y="3977639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4583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STEP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427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94276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31436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カリキュラム設計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（1〜2週間）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1436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31436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御社専用コンテンツをゼロから作成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1436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保険業界ユースケースで事例を構成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1436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GPT縛り前提のカリキュラムに調整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31436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多言語対応の教材設計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1836" y="3977639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8631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STEP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475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34756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71916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研修実施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（10〜15時間）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1916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71916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平日9〜18時（助成金適用条件対応）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1916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1回あたり15〜25名・両本部交代制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71916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3〜4日間で完結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71916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修了後1ヶ月でフォローアップ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料金・スケジュール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530352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4864" cy="2011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161288"/>
            <a:ext cx="914400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料金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508760"/>
            <a:ext cx="4937759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600" b="1">
                <a:solidFill>
                  <a:srgbClr val="1F2937"/>
                </a:solidFill>
                <a:latin typeface="Noto Sans JP"/>
              </a:rPr>
              <a:t>1人あたり  150,000円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4937759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研修時間：10〜15時間  /  3〜4日間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対象：15〜25名（交代制で両本部をカバー）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5303520" cy="260604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54864" cy="2606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310128"/>
            <a:ext cx="1280160" cy="256032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助成金活用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4937759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>
                <a:solidFill>
                  <a:srgbClr val="166D37"/>
                </a:solidFill>
                <a:latin typeface="Noto Sans JP"/>
              </a:rPr>
              <a:t>助成金活用で実質 37,500〜60,000円 / 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4937759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● 助成金還元率：60〜75%（平日9〜18時の条件で適用）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● 25名参加の場合 総額3,750,000円 → 実質約937,500〜1,500,000円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● 条件：平日9〜18時での実施（対応可能）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● 申請手続きはエヌイチがサポート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051560"/>
            <a:ext cx="5742432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051560"/>
            <a:ext cx="54864" cy="4754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207007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1188719"/>
            <a:ext cx="523951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Noto Sans JP"/>
              </a:rPr>
              <a:t>スケジュール（目安）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1600200"/>
            <a:ext cx="5422392" cy="2743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社内承認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1600200"/>
            <a:ext cx="457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3912" y="1920240"/>
            <a:ext cx="5422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呉様→社長との1on1で承認取得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2331720"/>
            <a:ext cx="5422392" cy="2743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ヒアリング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331720"/>
            <a:ext cx="457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651760"/>
            <a:ext cx="5422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承認後すぐ（約2時間）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3063239"/>
            <a:ext cx="5422392" cy="2743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カリキュラム確定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3063239"/>
            <a:ext cx="457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3912" y="3383279"/>
            <a:ext cx="5422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ヒアリングから1〜2週間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3794759"/>
            <a:ext cx="5422392" cy="2743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研修実施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3794759"/>
            <a:ext cx="457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4114799"/>
            <a:ext cx="5422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日程調整後・平日3〜4日間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3912" y="4526279"/>
            <a:ext cx="5422392" cy="2743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フォローアップ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53912" y="4526279"/>
            <a:ext cx="457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4846319"/>
            <a:ext cx="5422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修了後1ヶ月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今後の進め方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提案詳細④  ネクストステップ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05355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STEP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5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5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社内承認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（呉様→社長）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5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0955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本提案資料を社長説明にご活用ください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5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助成金で実質負担が大幅削減の点を訴求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5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3月末の親会社企画書とも連動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5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承認結果をエヌイチへご連絡ください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91356" y="3977639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4583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STEP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427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94276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31436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研修設計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キックオフ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1436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31436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承認後すぐにヒアリング日程を調整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1436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課題・ゴール・言語対応を確定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1436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ChatGPT Enterprise活用方針を確認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31436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カリキュラム設計（1〜2週間）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1836" y="3977639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8631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STEP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475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34756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71916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研修実施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→ フォローアップ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1916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71916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15〜25名×交代制で実施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1916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平日9〜18時（助成金適用）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71916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10〜15時間・3〜4日間で完結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71916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修了後1ヶ月でKPI達成確認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ネクストアクション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720" y="1143000"/>
            <a:ext cx="10543032" cy="1734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143000"/>
            <a:ext cx="54864" cy="173431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9496" y="1772412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2877312"/>
            <a:ext cx="36576" cy="1645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3040" y="1234440"/>
            <a:ext cx="347472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社内承認（呉様→社長）を完了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1234440"/>
            <a:ext cx="45720" cy="3108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1618488"/>
            <a:ext cx="9902952" cy="1185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来週の社長1on1で研修の件を相談 → 承認結果をエヌイチへご連絡ください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041904"/>
            <a:ext cx="10543032" cy="1734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3041904"/>
            <a:ext cx="54864" cy="173431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9496" y="3671316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4776216"/>
            <a:ext cx="36576" cy="1645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63040" y="3133344"/>
            <a:ext cx="347472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承認結果の連絡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133344"/>
            <a:ext cx="45720" cy="3108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63040" y="3517392"/>
            <a:ext cx="9902952" cy="1185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承認後すぐにエヌイチへご連絡。研修設計キックオフの日程を調整します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940808"/>
            <a:ext cx="10543032" cy="1734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4940808"/>
            <a:ext cx="54864" cy="173431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9496" y="5570220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5032248"/>
            <a:ext cx="347472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研修設計キックオフ（ヒアリング）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5032248"/>
            <a:ext cx="45720" cy="3108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63040" y="5416296"/>
            <a:ext cx="9902952" cy="1185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承認連絡後3営業日以内に日程を確定。ヒアリング約2時間で設計に着手します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0"/>
            <a:ext cx="12051792" cy="594360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"/>
            <a:ext cx="45720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31520"/>
            <a:ext cx="11640312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9994392" cy="20116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私たちが提供するのは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「ツール」や「研修」ではありません。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/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貴社の未来を創る「AI人材」と、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組織全体の「成長」です。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5720" cy="2011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3749039"/>
            <a:ext cx="853135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B5563"/>
                </a:solidFill>
                <a:latin typeface="Noto Sans JP"/>
              </a:rPr>
              <a:t>貴社のAIパートナーとして、共に未来を創ることをお約束します。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389120"/>
            <a:ext cx="6702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846320"/>
            <a:ext cx="6702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AI（アイ）ある社会に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349240"/>
            <a:ext cx="5788152" cy="7772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大川 龍之介（Okawa Ryunosuke）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法人事業部 セールスマネージャー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TEL: 080-2646-2420  Mail: r.okawa@n1-inc.co.jp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