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19088"/>
            <a:ext cx="1219200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46304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商談後1時間以内に、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個別最適化された提案書を届ける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Skillによる営業提案の自動化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4114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AIハッカソン　｜　新規事業部　大川龍之介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なぜ「提案資料」が重要なのか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良いサービスも、伝わらなければ価値がない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E0F2F7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提案資料 = 伝達の核心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66160" cy="0"/>
          </a:xfrm>
          <a:prstGeom prst="line">
            <a:avLst/>
          </a:prstGeom>
          <a:noFill/>
          <a:ln w="10160">
            <a:solidFill>
              <a:srgbClr val="B2DF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良いプロダクト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32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提案資料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34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990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価値伝達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E0F2F7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 リソースの最適配分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3566160" cy="0"/>
          </a:xfrm>
          <a:prstGeom prst="line">
            <a:avLst/>
          </a:prstGeom>
          <a:noFill/>
          <a:ln w="10160">
            <a:solidFill>
              <a:srgbClr val="B2DF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920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作成にかける時間 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3042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対話・商談にかける時間 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743200"/>
            <a:ext cx="3566160" cy="0"/>
          </a:xfrm>
          <a:prstGeom prst="line">
            <a:avLst/>
          </a:prstGeom>
          <a:noFill/>
          <a:ln w="10160">
            <a:solidFill>
              <a:srgbClr val="B2DF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1635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「作成」ではなく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「商談・関係構築」に時間を使う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6035040"/>
            <a:ext cx="8321040" cy="41148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035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示唆：資料作成プロセスこそが、営業活動の隠れたレバレッジポイント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業界に共通する3つの構造的課題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517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1887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スピード不足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商談後の資料送付は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「当日〜翌日・次回商談」が業界標準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個別感ゼロ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395728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テンプレートで対応。クライアント固有の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課題・ゴールが反映されない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6517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1887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属人的バラつき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395728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提案ロジックの精度が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担当者によって異なる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6035040"/>
            <a:ext cx="8321040" cy="41148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035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結果：「どこにでもある資料」として受け取られ、検討が前に進まない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なぜ「既存のスライドAI」だけでは不十分か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/ Manus / Genspark を使うだけでは解決しない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114800" cy="411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既存ツールで解決できること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097280"/>
            <a:ext cx="41148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解決できないこと（本質的な問題）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411480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スライドのデザイン・見た目の生成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600200"/>
            <a:ext cx="411480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45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商談ヒアリング内容の構造化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14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テンプレートからの資料作成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24688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514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髙橋メソッドに基づくロジック設計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337560"/>
            <a:ext cx="411480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汎用的な構成の提案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17720" y="3337560"/>
            <a:ext cx="411480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383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クライアント固有の課題・ゴールの反映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06240" y="210312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521208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2120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必要なのは「スピード × 個別最適化 × 品質標準化」の同時実現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売上への接続ロジック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提案資料の改善が、売上の2つのドライバーに直結する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34640" y="1097280"/>
            <a:ext cx="3474720" cy="594360"/>
          </a:xfrm>
          <a:prstGeom prst="rect">
            <a:avLst/>
          </a:prstGeom>
          <a:solidFill>
            <a:srgbClr val="0891B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097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0" y="1691640"/>
            <a:ext cx="0" cy="32004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011680"/>
            <a:ext cx="5120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011680"/>
            <a:ext cx="0" cy="32004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2011680"/>
            <a:ext cx="0" cy="32004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331720"/>
            <a:ext cx="2011680" cy="530352"/>
          </a:xfrm>
          <a:prstGeom prst="rect">
            <a:avLst/>
          </a:prstGeom>
          <a:solidFill>
            <a:srgbClr val="E5E7E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3317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2011680" cy="530352"/>
          </a:xfrm>
          <a:prstGeom prst="rect">
            <a:avLst/>
          </a:prstGeom>
          <a:solidFill>
            <a:srgbClr val="E5E7EB"/>
          </a:solidFill>
          <a:ln w="1524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3317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受注単価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2862072"/>
            <a:ext cx="0" cy="32004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182112"/>
            <a:ext cx="20116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182112"/>
            <a:ext cx="0" cy="2743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3182112"/>
            <a:ext cx="0" cy="2743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56432"/>
            <a:ext cx="1645920" cy="594360"/>
          </a:xfrm>
          <a:prstGeom prst="rect">
            <a:avLst/>
          </a:prstGeom>
          <a:solidFill>
            <a:srgbClr val="E0F2F7"/>
          </a:solidFill>
          <a:ln w="15240">
            <a:solidFill>
              <a:srgbClr val="E0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5643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提案数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1645920" cy="594360"/>
          </a:xfrm>
          <a:prstGeom prst="rect">
            <a:avLst/>
          </a:prstGeom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456432"/>
            <a:ext cx="1645920" cy="594360"/>
          </a:xfrm>
          <a:prstGeom prst="rect">
            <a:avLst/>
          </a:prstGeom>
          <a:solidFill>
            <a:srgbClr val="E0F2F7"/>
          </a:solidFill>
          <a:ln w="15240">
            <a:solidFill>
              <a:srgbClr val="E0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345643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成約率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06040" y="3456432"/>
            <a:ext cx="1645920" cy="594360"/>
          </a:xfrm>
          <a:prstGeom prst="rect">
            <a:avLst/>
          </a:prstGeom>
          <a:ln w="254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4343400"/>
            <a:ext cx="0" cy="25603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599432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59943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作成時間短縮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より多くの案件に対応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4343400"/>
            <a:ext cx="0" cy="25603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4599432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4599432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個別最適化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意思決定を後押し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定量根拠：速さと個別最適化が成約率を上げる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143000"/>
            <a:ext cx="4754880" cy="10058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Business Review（224万件分析）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商談後1時間以内の接触は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1時間後より受注率↑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2331720"/>
            <a:ext cx="4754880" cy="10058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957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&amp; CEB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35〜50%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2024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B2B商談はファーストレスポンドの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企業が受注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52044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" y="3520440"/>
            <a:ext cx="4754880" cy="10058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844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8130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+10〜20%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20240" y="3794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パーソナライズにより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成約率・売上が向上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70916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4709160"/>
            <a:ext cx="4754880" cy="10058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731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QorusDocs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50017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920240" y="4983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提案書の個別化で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成約率が中央値で向上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1143000"/>
            <a:ext cx="3017520" cy="4709160"/>
          </a:xfrm>
          <a:prstGeom prst="roundRect">
            <a:avLst>
              <a:gd name="adj" fmla="val 3636"/>
            </a:avLst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エヌイチ AI-Pax実績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1691640"/>
            <a:ext cx="2743200" cy="0"/>
          </a:xfrm>
          <a:prstGeom prst="line">
            <a:avLst/>
          </a:prstGeom>
          <a:noFill/>
          <a:ln w="12700">
            <a:solidFill>
              <a:srgbClr val="B2D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着席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06440" y="21305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12件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8064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受注見込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06440" y="31363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5社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80644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検討中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06440" y="4142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3社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80644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想定成約率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06440" y="51480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≒30%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作ったもの：Claude Code Skill「/proposal-outline」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商談終了から資料送付まで、ほぼ全自動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572768" cy="2926080"/>
          </a:xfrm>
          <a:prstGeom prst="rect">
            <a:avLst/>
          </a:prstGeom>
          <a:solidFill>
            <a:srgbClr val="E0F2F7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1463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201168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商談終了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2999232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Notta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文字起こし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5603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39696" y="1371600"/>
            <a:ext cx="1572768" cy="2926080"/>
          </a:xfrm>
          <a:prstGeom prst="rect">
            <a:avLst/>
          </a:prstGeom>
          <a:solidFill>
            <a:srgbClr val="E0F2F7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463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12848" y="201168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/proposal-outline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12848" y="2999232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ファイルを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1クリック選択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12464" y="25603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31920" y="1371600"/>
            <a:ext cx="1572768" cy="2926080"/>
          </a:xfrm>
          <a:prstGeom prst="rect">
            <a:avLst/>
          </a:prstGeom>
          <a:solidFill>
            <a:srgbClr val="E0F2F7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9704" y="1463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489704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05072" y="201168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骨子を自動生成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05072" y="2999232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髙橋メソッド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自動適用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25603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24144" y="1371600"/>
            <a:ext cx="1572768" cy="2926080"/>
          </a:xfrm>
          <a:prstGeom prst="rect">
            <a:avLst/>
          </a:prstGeom>
          <a:solidFill>
            <a:srgbClr val="E0F2F7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1463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281928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97296" y="201168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「OK」と入力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97296" y="2999232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スライド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自動出力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96912" y="25603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16368" y="1371600"/>
            <a:ext cx="1572768" cy="2926080"/>
          </a:xfrm>
          <a:prstGeom prst="rect">
            <a:avLst/>
          </a:prstGeom>
          <a:solidFill>
            <a:srgbClr val="0891B2"/>
          </a:solidFill>
          <a:ln w="15240">
            <a:solidFill>
              <a:srgbClr val="076A8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463040"/>
            <a:ext cx="457200" cy="457200"/>
          </a:xfrm>
          <a:prstGeom prst="ellipse">
            <a:avLst/>
          </a:prstGeom>
          <a:solidFill>
            <a:srgbClr val="076A87"/>
          </a:solidFill>
          <a:ln/>
        </p:spPr>
      </p:sp>
      <p:sp>
        <p:nvSpPr>
          <p:cNvPr id="31" name="Text 29"/>
          <p:cNvSpPr/>
          <p:nvPr/>
        </p:nvSpPr>
        <p:spPr>
          <a:xfrm>
            <a:off x="807415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0" y="201168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1時間以内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に送付完了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0" y="2999232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Slides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髙橋COOの知見・実績に基づくロジックが全提案に標準装備される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時間短縮の実績：約90%削減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半日〜1日かかっていた作業が、30〜60分で完結する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骨子作成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43000" y="1664208"/>
            <a:ext cx="1307592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6642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約1時間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2057400"/>
            <a:ext cx="17830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2748" y="20574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約5分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スライド化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081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43000" y="3081528"/>
            <a:ext cx="59436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081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3〜4時間（深夜作業になることも）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43000" y="3474720"/>
            <a:ext cx="356616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91056" y="34747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約5〜10分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修正・仕上げ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4988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4498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892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43000" y="4892040"/>
            <a:ext cx="11887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4892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約20〜30分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5760720"/>
            <a:ext cx="83210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合計：半日〜1日　→　30〜60分へ　　生み出した時間を商談・フォローアップに再投資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3つの価値の同時実現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これが、単なるツール活用との違い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517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14630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スピード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業界水準（当日〜翌日）を超える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1時間以内 での送付を実現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1143000"/>
            <a:ext cx="26517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3319272" y="12344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42232" y="14630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10712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個別最適化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10712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文字起こしからクライアント固有の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課題・ゴールを自動反映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7064" y="1143000"/>
            <a:ext cx="26517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7064" y="12344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BBBBBB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50024" y="14630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18504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品質標準化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18504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髙橋COOの知見・実績に基づく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ロジックを全提案に標準装備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5715000"/>
            <a:ext cx="8321040" cy="45720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715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「ノンコア業務を効率化し、コア業務に時間を使う」を、自分たちが体現する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将来展望①：Kawaruシリーズへの統合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25880" y="1188720"/>
            <a:ext cx="5029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28016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今回の取り組み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Skillで社内実装・実証完了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5943600" cy="118872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834640"/>
            <a:ext cx="5715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Kawaru Team（AI研修）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5715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「営業提案資料の効率化」を他社への研修として展開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" y="4297680"/>
            <a:ext cx="6858000" cy="1188720"/>
          </a:xfrm>
          <a:prstGeom prst="rect">
            <a:avLst/>
          </a:prstGeom>
          <a:solidFill>
            <a:srgbClr val="0891B2"/>
          </a:solidFill>
          <a:ln w="19050">
            <a:solidFill>
              <a:srgbClr val="076A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89120"/>
            <a:ext cx="6629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Kawaru SaaS（4月1日リリース予定）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800600"/>
            <a:ext cx="6629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このワークフロー自体をSaaSに組み込み、顧客へ提供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1188720"/>
            <a:ext cx="1645920" cy="4663440"/>
          </a:xfrm>
          <a:prstGeom prst="roundRect">
            <a:avLst>
              <a:gd name="adj" fmla="val 555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自社で実証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6092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他社へ展開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3108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SaaSに内包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4892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売上直結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将来展望②：スクール事業部への横展開（私案）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同じ仕組みが、スクール事業の成約率を上げる可能性がある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474720" cy="6400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前半ヒアリング（1〜1.5時間）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377440"/>
            <a:ext cx="347472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クロージング（同じフォーマット）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個別感なし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3749040" cy="6400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前半ヒアリング（1〜1.5時間）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0600" y="2377440"/>
            <a:ext cx="374904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377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5分で個別提案資料を自動生成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0600" y="3337560"/>
            <a:ext cx="3749040" cy="64008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37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後半クロージングで投影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050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インサイトに刺さる提案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846320"/>
            <a:ext cx="1965960" cy="7772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成約率向上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87752" y="4846320"/>
            <a:ext cx="1965960" cy="7772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AI関心度向上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（実演効果）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64024" y="4846320"/>
            <a:ext cx="1965960" cy="7772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属人性排除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0296" y="4846320"/>
            <a:ext cx="1965960" cy="7772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0296" y="48463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商談時間短縮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→商談数増加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053328"/>
            <a:ext cx="121920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60533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新規事業部での実証　→　スクール事業部へ横展開　→　会社全体の売上貢献へ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商談後1時間以内に、個別最適化された提案書を届ける</dc:title>
  <dc:subject>PptxGenJS Presentation</dc:subject>
  <dc:creator>PptxGenJS</dc:creator>
  <cp:lastModifiedBy>PptxGenJS</cp:lastModifiedBy>
  <cp:revision>1</cp:revision>
  <dcterms:created xsi:type="dcterms:W3CDTF">2026-03-24T17:30:47Z</dcterms:created>
  <dcterms:modified xsi:type="dcterms:W3CDTF">2026-03-24T17:30:47Z</dcterms:modified>
</cp:coreProperties>
</file>