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91440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37160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資料作成の効率化が、</a:t>
            </a:r>
            <a:endParaRPr lang="en-US" sz="3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新規事業の売上を最大化させる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4069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提案資料作成の変革による営業力強化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4709160"/>
            <a:ext cx="5029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8463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AIハッカソン　｜　新規事業部　大川龍之介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なぜ「提案資料」が重要なのか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良いプロダクトも、顧客に伝わらなければ価値がない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49240" cy="498348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349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顧客との接点最大化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7091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5B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良いプロダクト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32888"/>
            <a:ext cx="4709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4709160" cy="658368"/>
          </a:xfrm>
          <a:prstGeom prst="rect">
            <a:avLst/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提案資料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767328"/>
            <a:ext cx="4709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7091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5B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価値伝達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82512" y="1097280"/>
            <a:ext cx="5349240" cy="498348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097280"/>
            <a:ext cx="534924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1280160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リソースの最適配分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6832" y="2103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296912" y="219456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作成にかける時間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65392" y="3063240"/>
            <a:ext cx="4983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40233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96912" y="411480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商談・関係構築の時間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65392" y="5669280"/>
            <a:ext cx="4983480" cy="274320"/>
          </a:xfrm>
          <a:prstGeom prst="rect">
            <a:avLst/>
          </a:prstGeom>
          <a:solidFill>
            <a:srgbClr val="E0F2F7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566928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「作成」ではなく「対話」に時間を使う必要がある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6309360"/>
            <a:ext cx="12188952" cy="475488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309360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示唆：資料作成プロセスこそが、営業活動の隠れたレバレッジポイント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営業現場を縛る「資料作成の課題」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1案件 半日〜1日の資料作成が、営業の行動量を制限している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5661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984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スピード不足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200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商談後の提案資料は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「当日〜翌日・次回商談」が業界標準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商談直後の検討意欲が最も高いタイミングに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資料が届かない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コア業務の時間減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ノンコア業務が増え、本来注力すべき業務に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取りかかれない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65676" y="1097280"/>
            <a:ext cx="35661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65676" y="118872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8556" y="12984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48556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個別感ゼロ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48556" y="2468880"/>
            <a:ext cx="3200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8556" y="25603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決まったテンプレートで対応するため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クライアント固有の課題・ゴールが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資料に反映されない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「どこにでもある資料」として受け取られ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検討が前に進まない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4152" y="1097280"/>
            <a:ext cx="356616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74152" y="118872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2700000">
              <a:srgbClr val="AAAAAA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57032" y="12984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57032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属人的バラつき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57032" y="2468880"/>
            <a:ext cx="3200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25603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テンプレ化されていない場合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提案ロジックの精度が担当者によって大きく異なる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トップ営業の思考・ロジックが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組織に蓄積されない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57032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（現在は標準化対応済み）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309360"/>
            <a:ext cx="12188952" cy="475488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309360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示唆：資料作成の工数削減が、営業力解放の第一歩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売上構造のロジックツリー（全体像）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売上を上げる打ち手は、構造的に特定できる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74552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4476" y="1755648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901952"/>
            <a:ext cx="85313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901952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0152" y="1901952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48256"/>
            <a:ext cx="55549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48256"/>
            <a:ext cx="55549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6772" y="2048256"/>
            <a:ext cx="55549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6772" y="2048256"/>
            <a:ext cx="55549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受注単価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34690" y="2615184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64742" y="2761488"/>
            <a:ext cx="3849624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4742" y="2761488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9554" y="2761488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4366" y="2761488"/>
            <a:ext cx="0" cy="146304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07792"/>
            <a:ext cx="1815084" cy="566928"/>
          </a:xfrm>
          <a:prstGeom prst="rect">
            <a:avLst/>
          </a:prstGeom>
          <a:solidFill>
            <a:srgbClr val="E0F2F7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07792"/>
            <a:ext cx="1815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提案数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82012" y="2907792"/>
            <a:ext cx="1815084" cy="566928"/>
          </a:xfrm>
          <a:prstGeom prst="rect">
            <a:avLst/>
          </a:prstGeom>
          <a:solidFill>
            <a:srgbClr val="E0F2F7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82012" y="2907792"/>
            <a:ext cx="1815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成約率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06824" y="2907792"/>
            <a:ext cx="1815084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2907792"/>
            <a:ext cx="18150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（単価）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64742" y="3474720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9554" y="3474720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0712" y="3621024"/>
            <a:ext cx="281863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0712" y="3621024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0031" y="3621024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9350" y="3621024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767328"/>
            <a:ext cx="1327023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67328"/>
            <a:ext cx="132702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66519" y="3767328"/>
            <a:ext cx="1327023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6519" y="3767328"/>
            <a:ext cx="132702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75838" y="3767328"/>
            <a:ext cx="1327023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5838" y="3767328"/>
            <a:ext cx="132702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85157" y="3767328"/>
            <a:ext cx="1327023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5157" y="3767328"/>
            <a:ext cx="132702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（単価）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83437" y="4480560"/>
            <a:ext cx="3376879" cy="0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0712" y="4334256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3437" y="4480560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0712" y="4334256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9064" y="4480560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20712" y="4334256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34690" y="4480560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20712" y="4334256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60316" y="4480560"/>
            <a:ext cx="0" cy="146304"/>
          </a:xfrm>
          <a:prstGeom prst="line">
            <a:avLst/>
          </a:prstGeom>
          <a:noFill/>
          <a:ln w="10160">
            <a:solidFill>
              <a:srgbClr val="6B72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626864"/>
            <a:ext cx="1052474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26864"/>
            <a:ext cx="10524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リード数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582826" y="4626864"/>
            <a:ext cx="1052474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82826" y="4626864"/>
            <a:ext cx="10524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商談化率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708453" y="4626864"/>
            <a:ext cx="1052474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08453" y="4626864"/>
            <a:ext cx="10524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提案率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834079" y="4626864"/>
            <a:ext cx="1052474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079" y="4626864"/>
            <a:ext cx="10524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959706" y="4626864"/>
            <a:ext cx="1052474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59706" y="4626864"/>
            <a:ext cx="10524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（単価）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0" y="6309360"/>
            <a:ext cx="12188952" cy="475488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309360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示唆：売上向上の打ち手は構造的に特定できる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売上を最大化させる2つの変数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「提案の数」を増やし、同時に「成約率」を上げる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4552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　＝　成約数　×　受注単価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　注力ポイント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487168"/>
            <a:ext cx="5029200" cy="1737360"/>
          </a:xfrm>
          <a:prstGeom prst="rect">
            <a:avLst/>
          </a:prstGeom>
          <a:solidFill>
            <a:srgbClr val="E0F2F7"/>
          </a:solidFill>
          <a:ln w="317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243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97280" y="33101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作成時間を半日→1時間に短縮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1日複数案件の対応が可能になる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2990088"/>
            <a:ext cx="301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45352" y="2487168"/>
            <a:ext cx="5029200" cy="1737360"/>
          </a:xfrm>
          <a:prstGeom prst="rect">
            <a:avLst/>
          </a:prstGeom>
          <a:solidFill>
            <a:srgbClr val="E0F2F7"/>
          </a:solidFill>
          <a:ln w="317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6243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28232" y="33101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スピード × 個別最適化 × 品質標準化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による意思決定の後押し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11274552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62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提案数↑の根拠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4462272"/>
            <a:ext cx="8714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資料作成が半日〜1日から30〜60分に短縮 → 1日あたりの対応案件数が増加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5212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成約率↑の根拠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5212080"/>
            <a:ext cx="8714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商談直後の送付（業界標準を大幅に超えるスピード）× ヒアリング内容の個別反映 × 髙橋COOのメソッドによる提案品質の標準化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309360"/>
            <a:ext cx="12188952" cy="475488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309360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示唆：2つの変数を同時に改善することで売上最大化を実現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定量根拠：速さと個別最適化が成約率を上げる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仮説ではなく、データが証明している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91440" cy="115900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7040880" cy="115900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Business Review（224万件分析）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63240" y="149047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受注率↑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325880"/>
            <a:ext cx="32918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商談後1時間以内の接触は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1時間後より受注率が7倍高い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11730"/>
            <a:ext cx="91440" cy="115900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411730"/>
            <a:ext cx="7040880" cy="115900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0317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&amp; CEB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75920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35〜50%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063240" y="275920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が受注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594610"/>
            <a:ext cx="32918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B2B商談はファーストレスポンドした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企業が受注する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80460"/>
            <a:ext cx="91440" cy="115900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80460"/>
            <a:ext cx="7040880" cy="115900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719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402793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+10〜20%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063240" y="402793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863340"/>
            <a:ext cx="32918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パーソナライズにより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成約率・売上が向上する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949190"/>
            <a:ext cx="91440" cy="115900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49190"/>
            <a:ext cx="7040880" cy="115900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4063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QorusDocs（第7回年次調査）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529666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063240" y="5296662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5132070"/>
            <a:ext cx="3291840" cy="930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提案書の個別化で成約率が中央値+25%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商談進捗速度+37%向上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91272" y="1143000"/>
            <a:ext cx="3840480" cy="5056632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91272" y="1143000"/>
            <a:ext cx="3840480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8074152" y="1325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エヌイチ　AI-Pax実績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74152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2026年2月18〜19日 出展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74152" y="2011680"/>
            <a:ext cx="3474720" cy="0"/>
          </a:xfrm>
          <a:prstGeom prst="line">
            <a:avLst/>
          </a:prstGeom>
          <a:noFill/>
          <a:ln w="12700">
            <a:solidFill>
              <a:srgbClr val="5BB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74152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商談確定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74152" y="240487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19社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074152" y="29535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（実質着席12件）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74152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受注見込み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74152" y="35021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5社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074152" y="4343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検討中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74152" y="45994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3社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074152" y="5440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想定成約率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74152" y="569671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≒30%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特定されたボトルネックと、既存AIでは解決できない理由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「資料作成の都度カスタマイズ」が提案数・成約率向上を阻害している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ボトルネックの構造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48056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提案資料の都度カスタマイズ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532888"/>
            <a:ext cx="448056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328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準備に 半日〜1日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（ボトルネック）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5584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739896"/>
            <a:ext cx="448056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989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提案数・成約率の向上　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コア業務の時間減：本来注力すべき商談・関係構築に取りかかれない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都度カスタマイズ：毎回ゼロから作り直す工数と精神的負荷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物理的限界：準備時間が重くのしかかり、商談数を増やせない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23560" y="1143000"/>
            <a:ext cx="0" cy="498348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143000"/>
            <a:ext cx="5833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なぜ既存スライドAIだけでは不十分か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97880" y="1490472"/>
            <a:ext cx="5833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/ Manus / Genspark を使うだけでは解決しない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828800"/>
            <a:ext cx="274192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1828800"/>
            <a:ext cx="274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既存ツールで解決できること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5520" y="1828800"/>
            <a:ext cx="3046232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5520" y="1828800"/>
            <a:ext cx="3046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解決できないこと（本質）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2212848"/>
            <a:ext cx="2741920" cy="8046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212848"/>
            <a:ext cx="255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スライドのデザイン・見た目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5520" y="2212848"/>
            <a:ext cx="3046232" cy="8046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6960" y="2212848"/>
            <a:ext cx="2909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商談ヒアリング内容の構造化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97880" y="3017520"/>
            <a:ext cx="2741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017520"/>
            <a:ext cx="255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テンプレートからの資料作成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5520" y="3017520"/>
            <a:ext cx="304623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6960" y="3017520"/>
            <a:ext cx="2909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髙橋メソッドに基づくロジック設計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97880" y="3822192"/>
            <a:ext cx="2741920" cy="8046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822192"/>
            <a:ext cx="255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汎用的な構成の提案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85520" y="3822192"/>
            <a:ext cx="3046232" cy="8046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6960" y="3822192"/>
            <a:ext cx="2909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クライアント固有の課題・ゴールの反映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97880" y="5257800"/>
            <a:ext cx="5833872" cy="566928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5257800"/>
            <a:ext cx="5559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必要なのは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スピード × 個別最適化 × 品質標準化 の同時実現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309360"/>
            <a:ext cx="12188952" cy="475488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309360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示唆：ボトルネック解消が売上向上の最短ルート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AIがもたらす「時間の再定義」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資料作成時間を 半日〜1日 から 30〜60分 へ短縮できる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骨子作成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（構成・ロジック）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150876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280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約1時間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13716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約5分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27455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スライド化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788920"/>
            <a:ext cx="6858000" cy="38404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469880" y="27889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3〜4時間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（深夜作業も）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337560"/>
            <a:ext cx="34290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954780" y="3337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約5〜10分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1127455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434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修正・仕上げ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4297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7180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4846320"/>
            <a:ext cx="116586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77740" y="4846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約20〜30分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10235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3つの効果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504688"/>
            <a:ext cx="3636264" cy="114300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596128"/>
            <a:ext cx="3361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作成工数90%削減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4360" y="5943600"/>
            <a:ext cx="3361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半日〜1日 → 30〜60分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圧倒的な時間創出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6344" y="5504688"/>
            <a:ext cx="3636264" cy="114300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13504" y="5596128"/>
            <a:ext cx="3361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質の標準化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13504" y="5943600"/>
            <a:ext cx="3361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髙橋COOのメソッドで属人化防止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常に高い提案品質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5488" y="5504688"/>
            <a:ext cx="3636264" cy="114300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2648" y="5596128"/>
            <a:ext cx="3361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作業から選択へ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32648" y="5943600"/>
            <a:ext cx="3361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ゼロから作らず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AIの提案を選択・修正する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次世代資料作成ワークフロー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商談終了から資料送付まで、ほぼ全自動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145182" cy="320040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7183" y="141732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237183" y="14173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9623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商談終了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779422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19623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Notta文字起こし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Driveに自動保存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1526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39542" y="1234440"/>
            <a:ext cx="2145182" cy="320040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9526" y="141732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519526" y="14173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0982" y="2148840"/>
            <a:ext cx="19623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/proposal-outline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2422" y="3063240"/>
            <a:ext cx="1779422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0982" y="3154680"/>
            <a:ext cx="19623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ファイルを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1クリック選択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3869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1885" y="1234440"/>
            <a:ext cx="2145182" cy="320040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1868" y="141732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801868" y="14173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13325" y="2148840"/>
            <a:ext cx="19623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骨子を自動生成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04765" y="3063240"/>
            <a:ext cx="1779422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3325" y="3154680"/>
            <a:ext cx="19623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髙橋メソッド自動適用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ロジック設計完了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6211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04227" y="1234440"/>
            <a:ext cx="2145182" cy="320040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4210" y="1417320"/>
            <a:ext cx="585216" cy="5852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8084210" y="14173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95667" y="2148840"/>
            <a:ext cx="19623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「OK」と入力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87107" y="3063240"/>
            <a:ext cx="1779422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5667" y="3154680"/>
            <a:ext cx="19623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スライド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自動出力（5〜10分）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58554" y="260604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86570" y="1234440"/>
            <a:ext cx="2145182" cy="3200400"/>
          </a:xfrm>
          <a:prstGeom prst="rect">
            <a:avLst/>
          </a:prstGeom>
          <a:solidFill>
            <a:srgbClr val="0891B2"/>
          </a:solidFill>
          <a:ln w="19050">
            <a:solidFill>
              <a:srgbClr val="076A8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66553" y="1417320"/>
            <a:ext cx="585216" cy="585216"/>
          </a:xfrm>
          <a:prstGeom prst="ellipse">
            <a:avLst/>
          </a:prstGeom>
          <a:solidFill>
            <a:srgbClr val="076A87"/>
          </a:solidFill>
          <a:ln/>
        </p:spPr>
      </p:sp>
      <p:sp>
        <p:nvSpPr>
          <p:cNvPr id="35" name="Text 33"/>
          <p:cNvSpPr/>
          <p:nvPr/>
        </p:nvSpPr>
        <p:spPr>
          <a:xfrm>
            <a:off x="10366553" y="14173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78010" y="2148840"/>
            <a:ext cx="196230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1時間以内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送付完了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769450" y="3063240"/>
            <a:ext cx="1779422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8010" y="3154680"/>
            <a:ext cx="19623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0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Slides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0E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完成・送付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髙橋COO（事業部責任者）の知見・実績・提案ロジックが全提案に標準装備される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010912"/>
            <a:ext cx="5454396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010912"/>
            <a:ext cx="52715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従来：「作業」　ゼロから毎回作り直す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85916" y="5010912"/>
            <a:ext cx="5454396" cy="566928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8796" y="5010912"/>
            <a:ext cx="52715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現在：「選択」　AIの提案から選ぶだけ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将来展望①：Kawaruシリーズへの統合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今回の取り組みは、サービスそのものになる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28800" y="1188720"/>
            <a:ext cx="7772400" cy="1097280"/>
          </a:xfrm>
          <a:prstGeom prst="rect">
            <a:avLst/>
          </a:prstGeom>
          <a:solidFill>
            <a:srgbClr val="FFFFFF"/>
          </a:solidFill>
          <a:ln w="2286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280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今回の取り組み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57400" y="166420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Skillで社内実装・実証完了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エヌイチ新規事業部にて商談→提案資料作成を全自動化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9601200" cy="1097280"/>
          </a:xfrm>
          <a:prstGeom prst="rect">
            <a:avLst/>
          </a:prstGeom>
          <a:solidFill>
            <a:srgbClr val="E0F2F7"/>
          </a:solidFill>
          <a:ln w="2286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2491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Kawaru Team（AI研修）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108960"/>
            <a:ext cx="9144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「営業部門：提案資料作成効率化」を他社への研修として展開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Kawaru Teamの研修カスタマイズ例として既に設計済み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3075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078224"/>
            <a:ext cx="11274552" cy="1188720"/>
          </a:xfrm>
          <a:prstGeom prst="rect">
            <a:avLst/>
          </a:prstGeom>
          <a:solidFill>
            <a:srgbClr val="0891B2"/>
          </a:solidFill>
          <a:ln w="22860">
            <a:solidFill>
              <a:srgbClr val="076A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9664"/>
            <a:ext cx="10817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Kawaru SaaS（4月1日リリース予定）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553712"/>
            <a:ext cx="10817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このワークフロー自体をSaaSに組み込み、顧客へ提供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「営業の資料自動化をしたい」という需要をKawaruが叶えられるようになる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自社で実証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67850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7850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研修で他社へ展開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8915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9980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SaaSに内包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1045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121102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売上直結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74552" cy="502920"/>
          </a:xfrm>
          <a:prstGeom prst="rect">
            <a:avLst/>
          </a:prstGeom>
          <a:solidFill>
            <a:srgbClr val="E0F2F7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自社で実証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067850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7850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研修で他社へ展開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8915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9980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SaaSに内包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10451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21102" y="5120640"/>
            <a:ext cx="16106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売上直結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将来展望②：スクール事業部への横展開（私案）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同じ仕組みが、スクール事業の成約率を上げる可能性がある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143000"/>
            <a:ext cx="50292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245352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23560" y="2240280"/>
            <a:ext cx="484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4480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02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前半ヒアリング（1〜1.5時間）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587752"/>
            <a:ext cx="4480560" cy="82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8775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クロージング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（全員が同じフォーマット）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個別感なし → 検討が前に進まない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9672" y="1600200"/>
            <a:ext cx="4480560" cy="640080"/>
          </a:xfrm>
          <a:prstGeom prst="rect">
            <a:avLst/>
          </a:prstGeom>
          <a:solidFill>
            <a:srgbClr val="F3F4F6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02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前半ヒアリング（1〜1.5時間）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19672" y="224028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19672" y="2587752"/>
            <a:ext cx="4480560" cy="640080"/>
          </a:xfrm>
          <a:prstGeom prst="rect">
            <a:avLst/>
          </a:prstGeom>
          <a:solidFill>
            <a:srgbClr val="0891B2"/>
          </a:solidFill>
          <a:ln w="19050">
            <a:solidFill>
              <a:srgbClr val="076A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58775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5分で個別提案資料を自動生成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9672" y="322783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19672" y="3575304"/>
            <a:ext cx="4480560" cy="640080"/>
          </a:xfrm>
          <a:prstGeom prst="rect">
            <a:avLst/>
          </a:prstGeom>
          <a:solidFill>
            <a:srgbClr val="E0F2F7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57530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後半クロージングで投影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19672" y="42336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インサイトに刺さる提案で意思決定を後押し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2715768" cy="12344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271576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4904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成約率向上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2532888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06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ヒアリング内容を反映した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提案で意思決定を後押し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10128" y="3611880"/>
            <a:ext cx="2715768" cy="12344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3611880"/>
            <a:ext cx="271576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3401568" y="374904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AI関心度向上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01568" y="4133088"/>
            <a:ext cx="2532888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4206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目の前でリアルタイム生成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実演効果で関心が高まる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3056" y="3611880"/>
            <a:ext cx="2715768" cy="12344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63056" y="3611880"/>
            <a:ext cx="271576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254496" y="374904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54496" y="4133088"/>
            <a:ext cx="2532888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4206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トップ営業のロジックを全員に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属人性を排除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15984" y="3611880"/>
            <a:ext cx="2715768" cy="1234440"/>
          </a:xfrm>
          <a:prstGeom prst="rect">
            <a:avLst/>
          </a:prstGeom>
          <a:solidFill>
            <a:srgbClr val="E0F2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15984" y="3611880"/>
            <a:ext cx="2715768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9107424" y="3749040"/>
            <a:ext cx="2532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6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商談数増加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107424" y="4133088"/>
            <a:ext cx="2532888" cy="0"/>
          </a:xfrm>
          <a:prstGeom prst="line">
            <a:avLst/>
          </a:prstGeom>
          <a:noFill/>
          <a:ln w="10160">
            <a:solidFill>
              <a:srgbClr val="5BB8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07424" y="4206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商談時間の短縮により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1日の対応件数が増える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実現課題：文字起こしと録画の同時進行によるPC負荷、録画停止タイミングの調整など　→ 実現可能性は十分にあると判断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5413248"/>
            <a:ext cx="12188952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413248"/>
            <a:ext cx="11274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新規事業部での実証　→　スクール事業部へ横展開　→　会社全体の売上貢献へ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2026-03-24T17:45:59Z</dcterms:created>
  <dcterms:modified xsi:type="dcterms:W3CDTF">2026-03-24T17:45:59Z</dcterms:modified>
</cp:coreProperties>
</file>