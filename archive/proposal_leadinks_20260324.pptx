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920240"/>
            <a:ext cx="9445752" cy="10058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4800" b="1">
                <a:solidFill>
                  <a:srgbClr val="000000"/>
                </a:solidFill>
                <a:latin typeface="Noto Sans JP"/>
              </a:rPr>
              <a:t>生成AI支援ご提案書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45752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400" b="0">
                <a:solidFill>
                  <a:srgbClr val="4B5563"/>
                </a:solidFill>
                <a:latin typeface="Noto Sans JP"/>
              </a:rPr>
              <a:t>リードインクス株式会社 様向け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7448" y="3794760"/>
            <a:ext cx="2743200" cy="3200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5943600"/>
            <a:ext cx="2286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2026年2月27日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5897880"/>
            <a:ext cx="3474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943600" cy="52120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23443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23443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株式会社エヌイチ（n1 inc.）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19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645919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2023年11月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代表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05740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奥山 幸生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46888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東京都渋谷区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事業内容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88036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AI導入支援・研修・SaaS開発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91840"/>
            <a:ext cx="1463040" cy="292608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従業員数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3291840"/>
            <a:ext cx="402336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約20名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40480"/>
            <a:ext cx="5577840" cy="73152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ミッション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「AI（アイ）ある社会に」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80"/>
            <a:ext cx="45720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75120" y="105156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51560"/>
            <a:ext cx="54864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118871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55448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業務自動化SaaS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33172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233172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246887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283463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3611879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75120" y="3611879"/>
            <a:ext cx="54864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0" y="3749039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BPO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892040"/>
            <a:ext cx="5056632" cy="109728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489204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0" y="5029200"/>
            <a:ext cx="469087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1F2937"/>
                </a:solidFill>
                <a:latin typeface="Noto Sans JP"/>
              </a:rPr>
              <a:t>Kawaru Coach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394959"/>
            <a:ext cx="46908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463040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FRUOR株式会社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株式会社BIRDY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856232"/>
            <a:ext cx="2606040" cy="301752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4B5563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59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AI未経験、活用イメージなし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34539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全員が「業務でAIを使いたい」と回答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満足度 8.5点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34256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71416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問い合わせ対応に月283時間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3984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11596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4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月85時間へ削減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約200時間＝25営業日分の削減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11312" y="2240280"/>
            <a:ext cx="3520440" cy="42062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48472" y="23317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5672" y="2350008"/>
            <a:ext cx="27432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788920"/>
            <a:ext cx="3300984" cy="77724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課題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業務の属人化、営業効率の壁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21040" y="2788920"/>
            <a:ext cx="45720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8652" y="3611880"/>
            <a:ext cx="36576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931920"/>
            <a:ext cx="3300984" cy="146304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成果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バックオフィス効率化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経営資源を成長領域にシフト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3931920"/>
            <a:ext cx="45720" cy="1463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貴社の現状と課題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初回ヒアリングを踏まえて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3035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5120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554480"/>
            <a:ext cx="480059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前回のお打合せ 振り返り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日時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1965960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2026年2月27日（初回商談）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350008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先方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350008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リードインクス株式会社 呉振宇氏（本部長）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34056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自社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2734056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大川龍之介・髙橋悠（COO）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18103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18103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エヌイチのサービス紹介 → 現状・ニーズのヒアリング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02151"/>
            <a:ext cx="82296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先方反応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502151"/>
            <a:ext cx="3886200" cy="2743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1F2937"/>
                </a:solidFill>
                <a:latin typeface="Noto Sans JP"/>
              </a:rPr>
              <a:t>Kawaru Team（フルカスタマイズ研修）に高い関心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4937759" cy="822960"/>
          </a:xfrm>
          <a:prstGeom prst="roundRect">
            <a:avLst>
              <a:gd name="adj" fmla="val 2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結論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研修（Kawaru Team）を軸に進める方向性で合意。社長稟議を経て詳細設計へ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45720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1417320"/>
            <a:ext cx="5742432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417320"/>
            <a:ext cx="54864" cy="5120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57276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554480"/>
            <a:ext cx="52395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11827"/>
                </a:solidFill>
                <a:latin typeface="Noto Sans JP"/>
              </a:rPr>
              <a:t>確認された課題</a:t>
            </a:r>
          </a:p>
        </p:txBody>
      </p:sp>
      <p:sp>
        <p:nvSpPr>
          <p:cNvPr id="29" name="Oval 28"/>
          <p:cNvSpPr/>
          <p:nvPr/>
        </p:nvSpPr>
        <p:spPr>
          <a:xfrm>
            <a:off x="6217920" y="210312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1965960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AI活用が個人任せの状態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225856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ChatGPTを各自が我流で使用。組織としてのベストプラクティスが未確立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258568"/>
            <a:ext cx="45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17920" y="3108960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0840" y="2971800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AI開発の方法論が不明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326440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ウォーターフォール/アジャイルは理解しているが、AI開発のプロセスは未知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3264408"/>
            <a:ext cx="45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17920" y="4114799"/>
            <a:ext cx="365760" cy="365760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0840" y="3977639"/>
            <a:ext cx="473659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本番は国内対応が必須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4270248"/>
            <a:ext cx="4736592" cy="50292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金融規制上、海外ベンダーはPOCのみ可。本番運用は国内限定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4270248"/>
            <a:ext cx="457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御社が直面している「3つの壁」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920240" cy="51663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" cy="5166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43000"/>
            <a:ext cx="1719072" cy="4983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組織として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AIを開発・活用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する力がなく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顧客への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AI価値提供が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遅れている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8943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24912" y="114300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114300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40" y="121615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AI開発の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方法論・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知識不足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72" y="13812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95544" y="11795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95544" y="117957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05272" y="12161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1795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AIエージェント開発のプロセスが社内に存在しない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18943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95544" y="169265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95544" y="169265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05272" y="172923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69265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ビジネス要件をAIタスクに分解する方法が不明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072" y="240741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95544" y="220573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95544" y="220573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05272" y="224231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220573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個人の我流利用にとどまり組織知が蓄積されていない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6164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24912" y="286512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24912" y="286512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34640" y="293827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組織環境の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制約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48072" y="31033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95544" y="290169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5544" y="290169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05272" y="293827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08776" y="290169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ツール利用がChatGPT Enterprise限定（ソフトバンク方針）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48072" y="36164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95544" y="34147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95544" y="341477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05272" y="34513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08776" y="34147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多言語チーム（日中混在）による研修実施の障壁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48072" y="412953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95544" y="392785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95544" y="392785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05272" y="396443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776" y="392785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金融規制により本番運用は国内ベンダー限定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53385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724912" y="4587240"/>
            <a:ext cx="2423160" cy="153924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24912" y="4587240"/>
            <a:ext cx="54864" cy="1539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34640" y="4660392"/>
            <a:ext cx="2221991" cy="1392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POCから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本番実装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F2937"/>
                </a:solidFill>
                <a:latin typeface="Noto Sans JP"/>
              </a:rPr>
              <a:t>への壁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48072" y="482549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495544" y="462381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95544" y="462381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05272" y="466039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08776" y="462381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海外ベンダーは本番運用に使えない（法規制）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48072" y="533857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95544" y="513689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95544" y="5136896"/>
            <a:ext cx="54864" cy="4399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05272" y="517347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8776" y="513689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自社エンジニアのAI開発スキルが不足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48072" y="5851652"/>
            <a:ext cx="347472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495544" y="5649976"/>
            <a:ext cx="6391656" cy="439928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95544" y="5649976"/>
            <a:ext cx="54864" cy="439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605272" y="5686552"/>
            <a:ext cx="530352" cy="366776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D97706"/>
                </a:solidFill>
                <a:latin typeface="Noto Sans JP"/>
              </a:rPr>
              <a:t>推察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08776" y="5649976"/>
            <a:ext cx="5586984" cy="439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1F2937"/>
                </a:solidFill>
                <a:latin typeface="Noto Sans JP"/>
              </a:rPr>
              <a:t>保険業界特有ユースケースの実現方法が不明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109728"/>
            <a:ext cx="283464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005840"/>
            <a:ext cx="10972800" cy="109728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400" b="1">
                <a:solidFill>
                  <a:srgbClr val="111827"/>
                </a:solidFill>
                <a:latin typeface="Noto Sans JP"/>
              </a:rPr>
              <a:t>3ヶ月で、エンジニアが「AI開発の型」を持って自走できる組織へ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005840"/>
            <a:ext cx="45720" cy="10972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240280"/>
            <a:ext cx="1097280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B5563"/>
                </a:solidFill>
                <a:latin typeface="Noto Sans JP"/>
              </a:rPr>
              <a:t>御社の課題・業界知識をベースに設計したフルカスタマイズ研修で、AIをビジネスに実装する力を身につけます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98648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3492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ご提案のポイント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607040" cy="38404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●  AIエージェント開発の標準プロセスと、ビジネス要件からタスクを分解する思考法を習得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45720" cy="38404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21608"/>
            <a:ext cx="10607040" cy="38404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●  保険業界のユースケース（AI-OCR・自動判断）を題材にした実践演習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21608"/>
            <a:ext cx="45720" cy="38404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97096"/>
            <a:ext cx="10607040" cy="38404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●  ChatGPT Enterpriseを前提とした、実務にそのまま使える設計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97096"/>
            <a:ext cx="45720" cy="38404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672583"/>
            <a:ext cx="10607040" cy="38404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1F2937"/>
                </a:solidFill>
                <a:latin typeface="Noto Sans JP"/>
              </a:rPr>
              <a:t>●  多言語チームへの対応も含めたカスタマイズ（日中バイリンガル資料オプション）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72583"/>
            <a:ext cx="45720" cy="38404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530352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500" b="1">
                <a:solidFill>
                  <a:srgbClr val="42A4AF"/>
                </a:solidFill>
                <a:latin typeface="Noto Sans JP"/>
              </a:rPr>
              <a:t>助成金活用で実質負担を大幅削減 ｜ 1人15万円 → 助成金適用で実質4.5〜6万円程度（6〜7割還元）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303520"/>
            <a:ext cx="45720" cy="5486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943600"/>
            <a:ext cx="109728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B7280"/>
                </a:solidFill>
                <a:latin typeface="Noto Sans JP"/>
              </a:rPr>
              <a:t>※ 本ご提案は、初回ヒアリングの内容に基づいて設計しています。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なぜKawaru Teamか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一般的なAI研修との違い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一般的なAI研修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既成カリキュラムをそのまま提供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8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汎用的な内容で自社業務への応用は自己解決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研修後の実践サポートなし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多言語・多国籍チームへの対応困難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4276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Kawaru Team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94276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94276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1436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御社の課題から0設計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1436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1436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課題ヒアリング後にカリキュラムをフルカスタマイズ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31436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保険業界のユースケースを題材に設計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1436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日中バイリンガル対応オプションあり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07324" y="1463040"/>
            <a:ext cx="3200400" cy="27432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42A4AF"/>
                </a:solidFill>
                <a:latin typeface="Noto Sans JP"/>
              </a:rPr>
              <a:t>期待できる成果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7324" y="1828800"/>
            <a:ext cx="32004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7324" y="1828800"/>
            <a:ext cx="54864" cy="4846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44484" y="1938528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研修後に自走できる組織へ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44484" y="1938528"/>
            <a:ext cx="45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44484" y="2651760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AI開発の型が組織に定着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44484" y="299923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海外BPO依存を段階的に脱却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44484" y="3346703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3月末の企画書提出に間に合う投資対効果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Kawaru Teamの進め方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0">
                <a:solidFill>
                  <a:srgbClr val="4B5563"/>
                </a:solidFill>
                <a:latin typeface="Noto Sans JP"/>
              </a:rPr>
              <a:t>ヒアリングからフォローまで、すべて伴走します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05355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5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5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5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ヒアリング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課題整理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5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0955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現状・ゴールの深掘りヒアリング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5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学習対象者のスキルレベル確認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5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研修テーマ・到達目標の設定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5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ChatGPT Enterprise環境の確認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9135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4583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9427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427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3143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カリキュラム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143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3143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御社専用カリキュラムを0から設計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3143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保険業界のユースケースを題材に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3143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日中バイリンガル資料の作成（オプション）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3143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平日9〜18時での実施スケジュール調整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1836" y="3977639"/>
            <a:ext cx="36576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86316" y="1463040"/>
            <a:ext cx="1097280" cy="292608"/>
          </a:xfrm>
          <a:prstGeom prst="roundRect">
            <a:avLst>
              <a:gd name="adj" fmla="val 2000"/>
            </a:avLst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4756" y="1856232"/>
            <a:ext cx="320040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34756" y="1856232"/>
            <a:ext cx="54864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71916" y="1965960"/>
            <a:ext cx="2926080" cy="59436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研修実施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フォロー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1916" y="1965960"/>
            <a:ext cx="45720" cy="5943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71916" y="2679192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1日2〜3時間 × 3〜5日、25名以内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1916" y="3026664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実施中の質疑対応・進捗確認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71916" y="3374136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実施後フォローアップMTG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71916" y="3721608"/>
            <a:ext cx="2926080" cy="292608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●  助成金申請サポート（対象条件確認）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料金・スケジュール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161288"/>
            <a:ext cx="914400" cy="256032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42A4AF"/>
                </a:solidFill>
                <a:latin typeface="Noto Sans JP"/>
              </a:rPr>
              <a:t>料金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08760"/>
            <a:ext cx="4937759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600" b="1">
                <a:solidFill>
                  <a:srgbClr val="1F2937"/>
                </a:solidFill>
                <a:latin typeface="Noto Sans JP"/>
              </a:rPr>
              <a:t>1人あたり 15万円（税別）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4937759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研修時間：10〜15時間（3〜5日間に分割実施）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対象：エンジニア 25名まで（両本部交代参加も可）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実施形態：御社オフィスへ講師が訪問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5303520" cy="260604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4864" cy="2606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310128"/>
            <a:ext cx="1280160" cy="256032"/>
          </a:xfrm>
          <a:prstGeom prst="roundRect">
            <a:avLst>
              <a:gd name="adj" fmla="val 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Noto Sans JP"/>
              </a:rPr>
              <a:t>助成金活用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4937759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66D37"/>
                </a:solidFill>
                <a:latin typeface="Noto Sans JP"/>
              </a:rPr>
              <a:t>助成金活用で実質 4.5〜6万円 / 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4937759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人材開発支援助成金（事業展開等リスキリング支援コース）活用の場合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・還元率：6〜7割程度（最大75%）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・適用条件：平日 9:00〜18:00 での実施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・申請サポートはエヌイチがご支援します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051560"/>
            <a:ext cx="5742432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1051560"/>
            <a:ext cx="54864" cy="4754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207007"/>
            <a:ext cx="45720" cy="23774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1188719"/>
            <a:ext cx="523951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11827"/>
                </a:solidFill>
                <a:latin typeface="Noto Sans JP"/>
              </a:rPr>
              <a:t>スケジュール（目安）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1600200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今週〜来週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1600200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912" y="1920240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社長1on1で相談・方向性確認（呉様）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2331720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承認後 Week1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2331720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53912" y="2651760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ヒアリングMTG（60〜90分）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3063239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承認後 Week2〜3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3912" y="3063239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3912" y="3383279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カリキュラム設計・お見積り提示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3794759"/>
            <a:ext cx="5422392" cy="27432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1F2937"/>
                </a:solidFill>
                <a:latin typeface="Noto Sans JP"/>
              </a:rPr>
              <a:t>承認後 1ヶ月目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3794759"/>
            <a:ext cx="457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4114799"/>
            <a:ext cx="5422392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4B5563"/>
                </a:solidFill>
                <a:latin typeface="Noto Sans JP"/>
              </a:rPr>
              <a:t>研修キックオフ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7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411480"/>
            <a:ext cx="23774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4B5563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96112"/>
            <a:ext cx="11274552" cy="228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720" y="1143000"/>
            <a:ext cx="10543032" cy="12595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1143000"/>
            <a:ext cx="54864" cy="125958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9496" y="1535049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402586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1234440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社長1on1での相談（呉様）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234440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1618488"/>
            <a:ext cx="9902952" cy="7109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来週木曜日の社長1on1で本提案をご相談いただき、方向性をご確認ください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20" y="2567178"/>
            <a:ext cx="10543032" cy="12595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2567178"/>
            <a:ext cx="54864" cy="125958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6" y="2959227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" y="3826764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63040" y="2658618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社長承認後：ヒアリングMTGの設定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658618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3042666"/>
            <a:ext cx="9902952" cy="7109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承認が得られたら、エヌイチとのヒアリングMTG（60〜90分）を設定します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991356"/>
            <a:ext cx="10543032" cy="12595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3991356"/>
            <a:ext cx="54864" cy="125958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9496" y="4383405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" y="5250942"/>
            <a:ext cx="36576" cy="1645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63040" y="4082796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カリキュラム設計・お見積りの提示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082796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4466844"/>
            <a:ext cx="9902952" cy="7109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ヒアリング完了後、御社専用カリキュラム案と正式見積りをご提示します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5415534"/>
            <a:ext cx="10543032" cy="125958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88720" y="5415534"/>
            <a:ext cx="54864" cy="125958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9496" y="5807583"/>
            <a:ext cx="475488" cy="475488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3040" y="5506974"/>
            <a:ext cx="3474720" cy="31089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1F2937"/>
                </a:solidFill>
                <a:latin typeface="Noto Sans JP"/>
              </a:rPr>
              <a:t>BPOパートナーご紹介（別途）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5506974"/>
            <a:ext cx="45720" cy="31089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63040" y="5891022"/>
            <a:ext cx="9902952" cy="7109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0">
                <a:solidFill>
                  <a:srgbClr val="4B5563"/>
                </a:solidFill>
                <a:latin typeface="Noto Sans JP"/>
              </a:rPr>
              <a:t>AIプロダクト開発のBPO候補をエヌイチ社内で選定し、ご紹介の準備をします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0"/>
            <a:ext cx="12051792" cy="594360"/>
          </a:xfrm>
          <a:prstGeom prst="rect">
            <a:avLst/>
          </a:prstGeom>
          <a:solidFill>
            <a:srgbClr val="1E4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"/>
            <a:ext cx="457200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731520"/>
            <a:ext cx="11640312" cy="594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9994392" cy="2011680"/>
          </a:xfrm>
          <a:prstGeom prst="roundRect">
            <a:avLst>
              <a:gd name="adj" fmla="val 2000"/>
            </a:avLst>
          </a:prstGeom>
          <a:solidFill>
            <a:srgbClr val="EA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私たちが提供するのは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貴社の未来を創る「AI人材」と、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200" b="1">
                <a:solidFill>
                  <a:srgbClr val="111827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5720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85313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B5563"/>
                </a:solidFill>
                <a:latin typeface="Noto Sans JP"/>
              </a:rPr>
              <a:t>貴社のAIパートナーとして、共に未来を創ることをお約束します。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389120"/>
            <a:ext cx="6702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2000" b="1">
                <a:solidFill>
                  <a:srgbClr val="1F293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846320"/>
            <a:ext cx="6702552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0">
                <a:solidFill>
                  <a:srgbClr val="42A4AF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5349240"/>
            <a:ext cx="5788152" cy="777240"/>
          </a:xfrm>
          <a:prstGeom prst="roundRect">
            <a:avLst>
              <a:gd name="adj" fmla="val 2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 bIns="54864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大川 龍之介（Okawa Ryunosuke）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法人事業部 セールスマネージャー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Noto Sans JP"/>
              </a:rPr>
              <a:t>TEL: 080-2646-2420  Mail: r.okawa@n1-inc.co.jp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