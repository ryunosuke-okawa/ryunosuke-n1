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6784848"/>
            <a:ext cx="11823192" cy="7315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789920" cy="5029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ctr"/>
            <a:r>
              <a:rPr sz="1600" b="1">
                <a:solidFill>
                  <a:srgbClr val="42A4AF"/>
                </a:solidFill>
                <a:latin typeface="Noto Sans JP"/>
              </a:rPr>
              <a:t>生成AI支援 ご提案書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0" y="2212848"/>
            <a:ext cx="5788152" cy="36576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789920" cy="128016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4400" b="1">
                <a:solidFill>
                  <a:srgbClr val="111827"/>
                </a:solidFill>
                <a:latin typeface="Noto Sans JP"/>
              </a:rPr>
              <a:t>リードインクス株式会社 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789920" cy="5029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ctr"/>
            <a:r>
              <a:rPr sz="1800" b="0">
                <a:solidFill>
                  <a:srgbClr val="6B7280"/>
                </a:solidFill>
                <a:latin typeface="Noto Sans JP"/>
              </a:rPr>
              <a:t>「AI開発の型」を持って自走できる組織をつくる提案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60"/>
            <a:ext cx="10789920" cy="41148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300" b="0">
                <a:solidFill>
                  <a:srgbClr val="6B7280"/>
                </a:solidFill>
                <a:latin typeface="Noto Sans JP"/>
              </a:rPr>
              <a:t>2026年3月24日　　株式会社エヌイチ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600" b="1">
                <a:solidFill>
                  <a:srgbClr val="111827"/>
                </a:solidFill>
                <a:latin typeface="Noto Sans JP"/>
              </a:rPr>
              <a:t>会社概要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77824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05840"/>
            <a:ext cx="5486400" cy="55778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05840"/>
            <a:ext cx="64008" cy="55778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43000"/>
            <a:ext cx="5120640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200" b="1">
                <a:solidFill>
                  <a:srgbClr val="42A4AF"/>
                </a:solidFill>
                <a:latin typeface="Noto Sans JP"/>
              </a:rPr>
              <a:t>基本情報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1097280" cy="512064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572768"/>
            <a:ext cx="1005839" cy="51206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会社名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719072" y="1572768"/>
            <a:ext cx="40965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92224" y="1572768"/>
            <a:ext cx="3931920" cy="51206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148840"/>
            <a:ext cx="1097280" cy="512064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2148840"/>
            <a:ext cx="1005839" cy="51206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経営陣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719072" y="2148840"/>
            <a:ext cx="40965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792224" y="2148840"/>
            <a:ext cx="3931920" cy="51206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CEO 奥山幸生 / COO 髙橋悠 / CHRO 米澤浩明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724912"/>
            <a:ext cx="1097280" cy="512064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2724912"/>
            <a:ext cx="1005839" cy="51206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資本金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19072" y="2724912"/>
            <a:ext cx="40965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792224" y="2724912"/>
            <a:ext cx="3931920" cy="51206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1,000万円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300984"/>
            <a:ext cx="1097280" cy="512064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300984"/>
            <a:ext cx="1005839" cy="51206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設立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719072" y="3300984"/>
            <a:ext cx="40965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792224" y="3300984"/>
            <a:ext cx="3931920" cy="51206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2023年10月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877056"/>
            <a:ext cx="1097280" cy="512064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" y="3877056"/>
            <a:ext cx="1005839" cy="51206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所在地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19072" y="3877056"/>
            <a:ext cx="40965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792224" y="3877056"/>
            <a:ext cx="3931920" cy="51206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東京都新宿区西新宿3-7-30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4453128"/>
            <a:ext cx="1097280" cy="512064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" y="4453128"/>
            <a:ext cx="1005839" cy="51206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事業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19072" y="4453128"/>
            <a:ext cx="40965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92224" y="4453128"/>
            <a:ext cx="3931920" cy="51206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AI活用DX支援 / AI研修 / AIスクール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5029200"/>
            <a:ext cx="1097280" cy="512064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1792" y="5029200"/>
            <a:ext cx="1005839" cy="51206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Mission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719072" y="5029200"/>
            <a:ext cx="40965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792224" y="5029200"/>
            <a:ext cx="3931920" cy="51206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新しい「働くカタチ」を創る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" y="5605272"/>
            <a:ext cx="1097280" cy="512064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5605272"/>
            <a:ext cx="1005839" cy="51206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Vision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719072" y="5605272"/>
            <a:ext cx="4096512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792224" y="5605272"/>
            <a:ext cx="3931920" cy="51206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AI（アイ）ある社会に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17920" y="1005840"/>
            <a:ext cx="5559552" cy="1291590"/>
          </a:xfrm>
          <a:prstGeom prst="rect">
            <a:avLst/>
          </a:prstGeom>
          <a:solidFill>
            <a:srgbClr val="E0F4F6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17920" y="1005840"/>
            <a:ext cx="64008" cy="129159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19088" y="1115568"/>
            <a:ext cx="5212080" cy="41148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600" b="1">
                <a:solidFill>
                  <a:srgbClr val="111827"/>
                </a:solidFill>
                <a:latin typeface="Noto Sans JP"/>
              </a:rPr>
              <a:t>Kawaru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19088" y="1651635"/>
            <a:ext cx="521208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6B7280"/>
                </a:solidFill>
                <a:latin typeface="Noto Sans JP"/>
              </a:rPr>
              <a:t>業務自動化SaaS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17920" y="2434590"/>
            <a:ext cx="5559552" cy="1291590"/>
          </a:xfrm>
          <a:prstGeom prst="rect">
            <a:avLst/>
          </a:prstGeom>
          <a:solidFill>
            <a:srgbClr val="EF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217920" y="2434590"/>
            <a:ext cx="64008" cy="129159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19088" y="2544318"/>
            <a:ext cx="5212080" cy="41148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600" b="1">
                <a:solidFill>
                  <a:srgbClr val="111827"/>
                </a:solidFill>
                <a:latin typeface="Noto Sans JP"/>
              </a:rPr>
              <a:t>Kawaru Team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19088" y="3080385"/>
            <a:ext cx="521208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6B7280"/>
                </a:solidFill>
                <a:latin typeface="Noto Sans JP"/>
              </a:rPr>
              <a:t>フルカスタマイズAI研修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17920" y="3863339"/>
            <a:ext cx="5559552" cy="1291590"/>
          </a:xfrm>
          <a:prstGeom prst="rect">
            <a:avLst/>
          </a:prstGeom>
          <a:solidFill>
            <a:srgbClr val="F0FDF4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17920" y="3863339"/>
            <a:ext cx="64008" cy="129159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19088" y="3973068"/>
            <a:ext cx="5212080" cy="41148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600" b="1">
                <a:solidFill>
                  <a:srgbClr val="111827"/>
                </a:solidFill>
                <a:latin typeface="Noto Sans JP"/>
              </a:rPr>
              <a:t>Kawaru BPO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19088" y="4509134"/>
            <a:ext cx="521208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6B7280"/>
                </a:solidFill>
                <a:latin typeface="Noto Sans JP"/>
              </a:rPr>
              <a:t>AI業務効率化代行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17920" y="5292090"/>
            <a:ext cx="5559552" cy="129159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217920" y="5292090"/>
            <a:ext cx="64008" cy="129159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19088" y="5401818"/>
            <a:ext cx="5212080" cy="41148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600" b="1">
                <a:solidFill>
                  <a:srgbClr val="111827"/>
                </a:solidFill>
                <a:latin typeface="Noto Sans JP"/>
              </a:rPr>
              <a:t>Kawaru Coach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19088" y="5937884"/>
            <a:ext cx="521208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6B7280"/>
                </a:solidFill>
                <a:latin typeface="Noto Sans JP"/>
              </a:rPr>
              <a:t>AI顧問サービス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600" b="1">
                <a:solidFill>
                  <a:srgbClr val="111827"/>
                </a:solidFill>
                <a:latin typeface="Noto Sans JP"/>
              </a:rPr>
              <a:t>導入実績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6B7280"/>
                </a:solidFill>
                <a:latin typeface="Noto Sans JP"/>
              </a:rPr>
              <a:t>あらゆる規模・業種の企業様に導入されています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81328"/>
            <a:ext cx="2679192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81328"/>
            <a:ext cx="2587752" cy="38404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100" b="0">
                <a:solidFill>
                  <a:srgbClr val="6B7280"/>
                </a:solidFill>
                <a:latin typeface="Noto Sans JP"/>
              </a:rPr>
              <a:t>株式会社ブロードリンク</a:t>
            </a:r>
          </a:p>
        </p:txBody>
      </p:sp>
      <p:sp>
        <p:nvSpPr>
          <p:cNvPr id="9" name="Rectangle 8"/>
          <p:cNvSpPr/>
          <p:nvPr/>
        </p:nvSpPr>
        <p:spPr>
          <a:xfrm>
            <a:off x="3273552" y="1481328"/>
            <a:ext cx="2679192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64992" y="1481328"/>
            <a:ext cx="2587752" cy="38404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100" b="0">
                <a:solidFill>
                  <a:srgbClr val="6B7280"/>
                </a:solidFill>
                <a:latin typeface="Noto Sans JP"/>
              </a:rPr>
              <a:t>株式会社中西製作所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35624" y="1481328"/>
            <a:ext cx="2679192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27064" y="1481328"/>
            <a:ext cx="2587752" cy="38404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100" b="0">
                <a:solidFill>
                  <a:srgbClr val="6B7280"/>
                </a:solidFill>
                <a:latin typeface="Noto Sans JP"/>
              </a:rPr>
              <a:t>株式会社ミズカラ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997696" y="1481328"/>
            <a:ext cx="2679192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89136" y="1481328"/>
            <a:ext cx="2587752" cy="38404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100" b="0">
                <a:solidFill>
                  <a:srgbClr val="6B7280"/>
                </a:solidFill>
                <a:latin typeface="Noto Sans JP"/>
              </a:rPr>
              <a:t>エル・ティー・エス リンク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1993392"/>
            <a:ext cx="2679192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1993392"/>
            <a:ext cx="2587752" cy="38404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100" b="0">
                <a:solidFill>
                  <a:srgbClr val="6B7280"/>
                </a:solidFill>
                <a:latin typeface="Noto Sans JP"/>
              </a:rPr>
              <a:t>FRUOR株式会社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73552" y="1993392"/>
            <a:ext cx="2679192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64992" y="1993392"/>
            <a:ext cx="2587752" cy="38404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100" b="0">
                <a:solidFill>
                  <a:srgbClr val="6B7280"/>
                </a:solidFill>
                <a:latin typeface="Noto Sans JP"/>
              </a:rPr>
              <a:t>株式会社BIRDY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35624" y="1993392"/>
            <a:ext cx="2679192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27064" y="1993392"/>
            <a:ext cx="2587752" cy="38404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100" b="0">
                <a:solidFill>
                  <a:srgbClr val="6B7280"/>
                </a:solidFill>
                <a:latin typeface="Noto Sans JP"/>
              </a:rPr>
              <a:t>株式会社オンシナジー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97696" y="1993392"/>
            <a:ext cx="2679192" cy="384048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89136" y="1993392"/>
            <a:ext cx="2587752" cy="38404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100" b="0">
                <a:solidFill>
                  <a:srgbClr val="6B7280"/>
                </a:solidFill>
                <a:latin typeface="Noto Sans JP"/>
              </a:rPr>
              <a:t>キリングループ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2468880"/>
            <a:ext cx="3715512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2468880"/>
            <a:ext cx="64008" cy="41605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2615184"/>
            <a:ext cx="3395472" cy="41148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1">
                <a:solidFill>
                  <a:srgbClr val="111827"/>
                </a:solidFill>
                <a:latin typeface="Noto Sans JP"/>
              </a:rPr>
              <a:t>キリングループ様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127248"/>
            <a:ext cx="3441192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200400"/>
            <a:ext cx="548640" cy="23774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900" b="1">
                <a:solidFill>
                  <a:srgbClr val="EF4444"/>
                </a:solidFill>
                <a:latin typeface="Noto Sans JP"/>
              </a:rPr>
              <a:t>課題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200400"/>
            <a:ext cx="3441192" cy="1248156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48640" y="3200400"/>
            <a:ext cx="64008" cy="124815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3200400"/>
            <a:ext cx="3304032" cy="124815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AI未経験でツール選定もできない状態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503420"/>
            <a:ext cx="548640" cy="23774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900" b="1">
                <a:solidFill>
                  <a:srgbClr val="16A34A"/>
                </a:solidFill>
                <a:latin typeface="Noto Sans JP"/>
              </a:rPr>
              <a:t>成果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503420"/>
            <a:ext cx="3441192" cy="2071115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503420"/>
            <a:ext cx="64008" cy="207111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4503420"/>
            <a:ext cx="3304032" cy="2071115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111827"/>
                </a:solidFill>
                <a:latin typeface="Noto Sans JP"/>
              </a:rPr>
              <a:t>全員が「業務でAIを使いたい」と回答</a:t>
            </a:r>
          </a:p>
          <a:p>
            <a:pPr algn="l"/>
            <a:r>
              <a:rPr sz="1200" b="1">
                <a:solidFill>
                  <a:srgbClr val="111827"/>
                </a:solidFill>
                <a:latin typeface="Noto Sans JP"/>
              </a:rPr>
              <a:t>満足度 8.5点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36720" y="2468880"/>
            <a:ext cx="3715512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236720" y="2468880"/>
            <a:ext cx="64008" cy="41605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7888" y="2615184"/>
            <a:ext cx="3395472" cy="41148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1">
                <a:solidFill>
                  <a:srgbClr val="111827"/>
                </a:solidFill>
                <a:latin typeface="Noto Sans JP"/>
              </a:rPr>
              <a:t>株式会社ミズカラ様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73880" y="3127248"/>
            <a:ext cx="3441192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73880" y="3200400"/>
            <a:ext cx="548640" cy="23774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900" b="1">
                <a:solidFill>
                  <a:srgbClr val="EF4444"/>
                </a:solidFill>
                <a:latin typeface="Noto Sans JP"/>
              </a:rPr>
              <a:t>課題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373880" y="3200400"/>
            <a:ext cx="3441192" cy="1248156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73880" y="3200400"/>
            <a:ext cx="64008" cy="124815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11040" y="3200400"/>
            <a:ext cx="3304032" cy="124815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問い合わせ対応に月283時間を費やしていた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73880" y="4503420"/>
            <a:ext cx="548640" cy="23774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900" b="1">
                <a:solidFill>
                  <a:srgbClr val="16A34A"/>
                </a:solidFill>
                <a:latin typeface="Noto Sans JP"/>
              </a:rPr>
              <a:t>成果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373880" y="4503420"/>
            <a:ext cx="3441192" cy="2071115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373880" y="4503420"/>
            <a:ext cx="64008" cy="207111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11040" y="4503420"/>
            <a:ext cx="3304032" cy="2071115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111827"/>
                </a:solidFill>
                <a:latin typeface="Noto Sans JP"/>
              </a:rPr>
              <a:t>月85時間に削減</a:t>
            </a:r>
          </a:p>
          <a:p>
            <a:pPr algn="l"/>
            <a:r>
              <a:rPr sz="1200" b="1">
                <a:solidFill>
                  <a:srgbClr val="111827"/>
                </a:solidFill>
                <a:latin typeface="Noto Sans JP"/>
              </a:rPr>
              <a:t>約200時間（25営業日分）の工数削減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61960" y="2468880"/>
            <a:ext cx="3715512" cy="41605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61960" y="2468880"/>
            <a:ext cx="64008" cy="41605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63128" y="2615184"/>
            <a:ext cx="3395472" cy="41148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1">
                <a:solidFill>
                  <a:srgbClr val="111827"/>
                </a:solidFill>
                <a:latin typeface="Noto Sans JP"/>
              </a:rPr>
              <a:t>株式会社BIRDY様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99120" y="3127248"/>
            <a:ext cx="3441192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99120" y="3200400"/>
            <a:ext cx="548640" cy="23774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900" b="1">
                <a:solidFill>
                  <a:srgbClr val="EF4444"/>
                </a:solidFill>
                <a:latin typeface="Noto Sans JP"/>
              </a:rPr>
              <a:t>課題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99120" y="3200400"/>
            <a:ext cx="3441192" cy="1248156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199120" y="3200400"/>
            <a:ext cx="64008" cy="124815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36280" y="3200400"/>
            <a:ext cx="3304032" cy="124815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業務の属人化・営業効率改善の停滞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99120" y="4503420"/>
            <a:ext cx="548640" cy="23774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900" b="1">
                <a:solidFill>
                  <a:srgbClr val="16A34A"/>
                </a:solidFill>
                <a:latin typeface="Noto Sans JP"/>
              </a:rPr>
              <a:t>成果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99120" y="4503420"/>
            <a:ext cx="3441192" cy="2071115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199120" y="4503420"/>
            <a:ext cx="64008" cy="2071115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336280" y="4503420"/>
            <a:ext cx="3304032" cy="2071115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1">
                <a:solidFill>
                  <a:srgbClr val="111827"/>
                </a:solidFill>
                <a:latin typeface="Noto Sans JP"/>
              </a:rPr>
              <a:t>バックオフィス効率化を実現</a:t>
            </a:r>
          </a:p>
          <a:p>
            <a:pPr algn="l"/>
            <a:r>
              <a:rPr sz="1200" b="1">
                <a:solidFill>
                  <a:srgbClr val="111827"/>
                </a:solidFill>
                <a:latin typeface="Noto Sans JP"/>
              </a:rPr>
              <a:t>経営資源を成長領域にシフト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600" b="1">
                <a:solidFill>
                  <a:srgbClr val="111827"/>
                </a:solidFill>
                <a:latin typeface="Noto Sans JP"/>
              </a:rPr>
              <a:t>前回お打合せの振り返り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6B7280"/>
                </a:solidFill>
                <a:latin typeface="Noto Sans JP"/>
              </a:rPr>
              <a:t>2026年2月27日（初回商談）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11365992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89888"/>
            <a:ext cx="64008" cy="25603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10972800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200" b="1">
                <a:solidFill>
                  <a:srgbClr val="42A4AF"/>
                </a:solidFill>
                <a:latin typeface="Noto Sans JP"/>
              </a:rPr>
              <a:t>商談サマリー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984248"/>
            <a:ext cx="1371600" cy="329184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3" y="1984248"/>
            <a:ext cx="1280160" cy="32918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参加者（先方）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75104" y="1984248"/>
            <a:ext cx="96012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8256" y="1984248"/>
            <a:ext cx="9436608" cy="32918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リードインクス株式会社　呉振宇氏（本部長）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368296"/>
            <a:ext cx="1371600" cy="329184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3503" y="2368296"/>
            <a:ext cx="1280160" cy="32918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参加者（自社）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75104" y="2368296"/>
            <a:ext cx="96012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48256" y="2368296"/>
            <a:ext cx="9436608" cy="32918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大川龍之介・髙橋悠（COO）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52344"/>
            <a:ext cx="1371600" cy="329184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3" y="2752344"/>
            <a:ext cx="1280160" cy="32918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商談内容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75104" y="2752344"/>
            <a:ext cx="96012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48256" y="2752344"/>
            <a:ext cx="9436608" cy="32918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エヌイチのサービス紹介 → 御社の現状・ニーズのヒアリング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136391"/>
            <a:ext cx="1371600" cy="329184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3" y="3136391"/>
            <a:ext cx="1280160" cy="32918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先方の反応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975104" y="3136391"/>
            <a:ext cx="96012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48256" y="3136391"/>
            <a:ext cx="9436608" cy="32918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Kawaru Team（フルカスタマイズ研修）に強い関心を示していただいた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520439"/>
            <a:ext cx="1371600" cy="329184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3" y="3520439"/>
            <a:ext cx="1280160" cy="32918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000" b="1">
                <a:solidFill>
                  <a:srgbClr val="42A4AF"/>
                </a:solidFill>
                <a:latin typeface="Noto Sans JP"/>
              </a:rPr>
              <a:t>合意事項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75104" y="3520439"/>
            <a:ext cx="9601200" cy="3291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48256" y="3520439"/>
            <a:ext cx="9436608" cy="32918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E293B"/>
                </a:solidFill>
                <a:latin typeface="Noto Sans JP"/>
              </a:rPr>
              <a:t>研修（Kawaru Team）を軸に進める方向性で合意。社長稟議を経て詳細設計へ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4087368"/>
            <a:ext cx="11365992" cy="38862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4087368"/>
            <a:ext cx="64008" cy="3886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242816"/>
            <a:ext cx="10972800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200" b="1">
                <a:solidFill>
                  <a:srgbClr val="3B82F6"/>
                </a:solidFill>
                <a:latin typeface="Noto Sans JP"/>
              </a:rPr>
              <a:t>前回合意したネクストアクション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4700016"/>
            <a:ext cx="1463040" cy="1508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5216" y="4700016"/>
            <a:ext cx="1389888" cy="150876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1">
                <a:solidFill>
                  <a:srgbClr val="3B82F6"/>
                </a:solidFill>
                <a:latin typeface="Noto Sans JP"/>
              </a:rPr>
              <a:t>呉振宇氏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57400" y="4700016"/>
            <a:ext cx="9674352" cy="1508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94560" y="4700016"/>
            <a:ext cx="9491472" cy="150876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来週木曜日の社長1on1でAI研修提案（本提案書の内容）についてご相談いただく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6345936"/>
            <a:ext cx="1463040" cy="1508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85216" y="6345936"/>
            <a:ext cx="1389888" cy="150876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1">
                <a:solidFill>
                  <a:srgbClr val="3B82F6"/>
                </a:solidFill>
                <a:latin typeface="Noto Sans JP"/>
              </a:rPr>
              <a:t>エヌイチ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057400" y="6345936"/>
            <a:ext cx="9674352" cy="1508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194560" y="6345936"/>
            <a:ext cx="9491472" cy="150876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AI開発BPOパートナーを社内で選定し、承認後にご紹介できる準備を進める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600" b="1">
                <a:solidFill>
                  <a:srgbClr val="111827"/>
                </a:solidFill>
                <a:latin typeface="Noto Sans JP"/>
              </a:rPr>
              <a:t>ヒアリングで把握した御社の現状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6B7280"/>
                </a:solidFill>
                <a:latin typeface="Noto Sans JP"/>
              </a:rPr>
              <a:t>※ いずれも商談での発言に基づく事実です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81328"/>
            <a:ext cx="11365992" cy="12527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81328"/>
            <a:ext cx="64008" cy="1252728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72768"/>
            <a:ext cx="1920240" cy="106984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1">
                <a:solidFill>
                  <a:srgbClr val="42A4AF"/>
                </a:solidFill>
                <a:latin typeface="Noto Sans JP"/>
              </a:rPr>
              <a:t>事業・組織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1669237"/>
            <a:ext cx="27432" cy="87690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81328"/>
            <a:ext cx="8897112" cy="125272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ソフトバンクグループ会社として保険会社・保険代理店向けSaaSプロダクトを開発・提供。エンジニアは両本部合計で50〜60名。多国籍チーム（日本語話者・中国語話者が混在）。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2825496"/>
            <a:ext cx="11365992" cy="12527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825496"/>
            <a:ext cx="64008" cy="1252728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916936"/>
            <a:ext cx="1920240" cy="106984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1">
                <a:solidFill>
                  <a:srgbClr val="42A4AF"/>
                </a:solidFill>
                <a:latin typeface="Noto Sans JP"/>
              </a:rPr>
              <a:t>AI活用の現状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06040" y="3013405"/>
            <a:ext cx="27432" cy="87690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0" y="2825496"/>
            <a:ext cx="8897112" cy="125272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AI活用はメンバー個人レベルのChatGPT利用が中心。組織としてのベストプラクティスは未確立。ソフトバンクの方針によりChatGPT Enterpriseを中心とした活用が前提となっている。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4169664"/>
            <a:ext cx="11365992" cy="12527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4169664"/>
            <a:ext cx="64008" cy="1252728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261104"/>
            <a:ext cx="1920240" cy="106984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1">
                <a:solidFill>
                  <a:srgbClr val="42A4AF"/>
                </a:solidFill>
                <a:latin typeface="Noto Sans JP"/>
              </a:rPr>
              <a:t>法規制上の制約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06040" y="4357573"/>
            <a:ext cx="27432" cy="87690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0" y="4169664"/>
            <a:ext cx="8897112" cy="125272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金融規制上、個人情報を含む本番運用は海外ベンダーへの委託が不可。AIのPOCは海外ベンダーと実施中だが、本番運用は国内ベンダー限定。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5513832"/>
            <a:ext cx="11365992" cy="125272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11480" y="5513832"/>
            <a:ext cx="64008" cy="1252728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5272"/>
            <a:ext cx="1920240" cy="106984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1">
                <a:solidFill>
                  <a:srgbClr val="42A4AF"/>
                </a:solidFill>
                <a:latin typeface="Noto Sans JP"/>
              </a:rPr>
              <a:t>直近の締め切り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06040" y="5701741"/>
            <a:ext cx="27432" cy="87690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0" y="5513832"/>
            <a:ext cx="8897112" cy="1252728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2026年3月末に親会社（ソフトバンク）へのAIプロダクト企画書提出を予定。この締め切りに向けて、AI開発・活用の方向性を早急に固める必要がある。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600" b="1">
                <a:solidFill>
                  <a:srgbClr val="111827"/>
                </a:solidFill>
                <a:latin typeface="Noto Sans JP"/>
              </a:rPr>
              <a:t>御社が直面している「3つの壁」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6B7280"/>
                </a:solidFill>
                <a:latin typeface="Noto Sans JP"/>
              </a:rPr>
              <a:t>事実ベースのヒアリング内容から特定した構造的な課題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2194560" cy="5285232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89888"/>
            <a:ext cx="64008" cy="528523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389888"/>
            <a:ext cx="1965960" cy="528523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500" b="1">
                <a:solidFill>
                  <a:srgbClr val="111827"/>
                </a:solidFill>
                <a:latin typeface="Noto Sans JP"/>
              </a:rPr>
              <a:t>組織として</a:t>
            </a:r>
          </a:p>
          <a:p>
            <a:pPr algn="ctr"/>
            <a:r>
              <a:rPr sz="1500" b="1">
                <a:solidFill>
                  <a:srgbClr val="111827"/>
                </a:solidFill>
                <a:latin typeface="Noto Sans JP"/>
              </a:rPr>
              <a:t>AIを活用・開発</a:t>
            </a:r>
          </a:p>
          <a:p>
            <a:pPr algn="ctr"/>
            <a:r>
              <a:rPr sz="1500" b="1">
                <a:solidFill>
                  <a:srgbClr val="111827"/>
                </a:solidFill>
                <a:latin typeface="Noto Sans JP"/>
              </a:rPr>
              <a:t>する力がなく</a:t>
            </a:r>
          </a:p>
          <a:p>
            <a:pPr algn="ctr"/>
            <a:r>
              <a:rPr sz="1500" b="1">
                <a:solidFill>
                  <a:srgbClr val="111827"/>
                </a:solidFill>
                <a:latin typeface="Noto Sans JP"/>
              </a:rPr>
              <a:t>顧客への</a:t>
            </a:r>
          </a:p>
          <a:p>
            <a:pPr algn="ctr"/>
            <a:r>
              <a:rPr sz="1500" b="1">
                <a:solidFill>
                  <a:srgbClr val="111827"/>
                </a:solidFill>
                <a:latin typeface="Noto Sans JP"/>
              </a:rPr>
              <a:t>AI価値提供が</a:t>
            </a:r>
          </a:p>
          <a:p>
            <a:pPr algn="ctr"/>
            <a:r>
              <a:rPr sz="1500" b="1">
                <a:solidFill>
                  <a:srgbClr val="111827"/>
                </a:solidFill>
                <a:latin typeface="Noto Sans JP"/>
              </a:rPr>
              <a:t>遅れている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06040" y="4005072"/>
            <a:ext cx="274320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15768" y="2243328"/>
            <a:ext cx="164592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80360" y="1481328"/>
            <a:ext cx="2103120" cy="1578864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880360" y="1481328"/>
            <a:ext cx="64008" cy="1578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044952" y="1481328"/>
            <a:ext cx="1847087" cy="157886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300" b="1">
                <a:solidFill>
                  <a:srgbClr val="111827"/>
                </a:solidFill>
                <a:latin typeface="Noto Sans JP"/>
              </a:rPr>
              <a:t>AI開発の</a:t>
            </a:r>
          </a:p>
          <a:p>
            <a:pPr algn="ctr"/>
            <a:r>
              <a:rPr sz="1300" b="1">
                <a:solidFill>
                  <a:srgbClr val="111827"/>
                </a:solidFill>
                <a:latin typeface="Noto Sans JP"/>
              </a:rPr>
              <a:t>方法論・知識不足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83479" y="2243328"/>
            <a:ext cx="164592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48071" y="1517904"/>
            <a:ext cx="6720840" cy="447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48071" y="1517904"/>
            <a:ext cx="64008" cy="4470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294375" y="1572768"/>
            <a:ext cx="548640" cy="337312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94375" y="1572768"/>
            <a:ext cx="548640" cy="33731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9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34455" y="1517904"/>
            <a:ext cx="5843016" cy="4470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11827"/>
                </a:solidFill>
                <a:latin typeface="Noto Sans JP"/>
              </a:rPr>
              <a:t>AIエージェント開発のプロセスが社内に存在しない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148071" y="2019808"/>
            <a:ext cx="6720840" cy="447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148071" y="2019808"/>
            <a:ext cx="64008" cy="4470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294375" y="2074672"/>
            <a:ext cx="548640" cy="337312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94375" y="2074672"/>
            <a:ext cx="548640" cy="33731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9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34455" y="2019808"/>
            <a:ext cx="5843016" cy="4470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11827"/>
                </a:solidFill>
                <a:latin typeface="Noto Sans JP"/>
              </a:rPr>
              <a:t>ビジネス要件をAIタスクに分解する方法が不明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48071" y="2521712"/>
            <a:ext cx="6720840" cy="447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48071" y="2521712"/>
            <a:ext cx="64008" cy="4470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94375" y="2576576"/>
            <a:ext cx="548640" cy="337312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94375" y="2576576"/>
            <a:ext cx="548640" cy="33731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9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34455" y="2521712"/>
            <a:ext cx="5843016" cy="4470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11827"/>
                </a:solidFill>
                <a:latin typeface="Noto Sans JP"/>
              </a:rPr>
              <a:t>個人の我流利用にとどまり組織知が蓄積されない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15768" y="4005072"/>
            <a:ext cx="164592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880360" y="3243072"/>
            <a:ext cx="2103120" cy="1578864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880360" y="3243072"/>
            <a:ext cx="64008" cy="1578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44952" y="3243072"/>
            <a:ext cx="1847087" cy="157886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300" b="1">
                <a:solidFill>
                  <a:srgbClr val="111827"/>
                </a:solidFill>
                <a:latin typeface="Noto Sans JP"/>
              </a:rPr>
              <a:t>組織環境の制約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83479" y="4005072"/>
            <a:ext cx="164592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48071" y="3279648"/>
            <a:ext cx="6720840" cy="447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148071" y="3279648"/>
            <a:ext cx="64008" cy="4470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294375" y="3334512"/>
            <a:ext cx="548640" cy="337312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94375" y="3334512"/>
            <a:ext cx="548640" cy="33731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9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34455" y="3279648"/>
            <a:ext cx="5843016" cy="4470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11827"/>
                </a:solidFill>
                <a:latin typeface="Noto Sans JP"/>
              </a:rPr>
              <a:t>ツール利用がChatGPT Enterprise限定（ソフトバンク方針）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148071" y="3781552"/>
            <a:ext cx="6720840" cy="447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148071" y="3781552"/>
            <a:ext cx="64008" cy="4470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294375" y="3836415"/>
            <a:ext cx="548640" cy="337312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94375" y="3836415"/>
            <a:ext cx="548640" cy="33731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9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34455" y="3781552"/>
            <a:ext cx="5843016" cy="4470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11827"/>
                </a:solidFill>
                <a:latin typeface="Noto Sans JP"/>
              </a:rPr>
              <a:t>多言語チーム（日中混在）による研修実施の障壁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48071" y="4283456"/>
            <a:ext cx="6720840" cy="447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148071" y="4283456"/>
            <a:ext cx="64008" cy="4470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294375" y="4338320"/>
            <a:ext cx="548640" cy="337312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294375" y="4338320"/>
            <a:ext cx="548640" cy="33731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9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34455" y="4283456"/>
            <a:ext cx="5843016" cy="4470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11827"/>
                </a:solidFill>
                <a:latin typeface="Noto Sans JP"/>
              </a:rPr>
              <a:t>金融規制により本番運用は国内ベンダー限定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15768" y="5766815"/>
            <a:ext cx="164592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880360" y="5004815"/>
            <a:ext cx="2103120" cy="1578864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880360" y="5004815"/>
            <a:ext cx="64008" cy="1578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044952" y="5004815"/>
            <a:ext cx="1847087" cy="157886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300" b="1">
                <a:solidFill>
                  <a:srgbClr val="111827"/>
                </a:solidFill>
                <a:latin typeface="Noto Sans JP"/>
              </a:rPr>
              <a:t>POCから本番実装への壁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983479" y="5766815"/>
            <a:ext cx="164592" cy="5486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148071" y="5041391"/>
            <a:ext cx="6720840" cy="447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148071" y="5041391"/>
            <a:ext cx="64008" cy="4470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294375" y="5096255"/>
            <a:ext cx="548640" cy="337312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294375" y="5096255"/>
            <a:ext cx="548640" cy="33731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9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34455" y="5041391"/>
            <a:ext cx="5843016" cy="4470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11827"/>
                </a:solidFill>
                <a:latin typeface="Noto Sans JP"/>
              </a:rPr>
              <a:t>海外ベンダーは本番運用に使えない（法規制）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148071" y="5543295"/>
            <a:ext cx="6720840" cy="447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148071" y="5543295"/>
            <a:ext cx="64008" cy="4470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294375" y="5598159"/>
            <a:ext cx="548640" cy="337312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294375" y="5598159"/>
            <a:ext cx="548640" cy="33731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900" b="1">
                <a:solidFill>
                  <a:srgbClr val="42A4AF"/>
                </a:solidFill>
                <a:latin typeface="Noto Sans JP"/>
              </a:rPr>
              <a:t>事実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934455" y="5543295"/>
            <a:ext cx="5843016" cy="4470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11827"/>
                </a:solidFill>
                <a:latin typeface="Noto Sans JP"/>
              </a:rPr>
              <a:t>自社エンジニアのAI開発スキルが不足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48071" y="6045200"/>
            <a:ext cx="6720840" cy="44704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148071" y="6045200"/>
            <a:ext cx="64008" cy="4470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294375" y="6100063"/>
            <a:ext cx="548640" cy="337312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294375" y="6100063"/>
            <a:ext cx="548640" cy="33731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900" b="1">
                <a:solidFill>
                  <a:srgbClr val="F59E0B"/>
                </a:solidFill>
                <a:latin typeface="Noto Sans JP"/>
              </a:rPr>
              <a:t>推察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934455" y="6045200"/>
            <a:ext cx="5843016" cy="4470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200" b="0">
                <a:solidFill>
                  <a:srgbClr val="111827"/>
                </a:solidFill>
                <a:latin typeface="Noto Sans JP"/>
              </a:rPr>
              <a:t>保険業界特有ユースケースの実現方法が不明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600" b="1">
                <a:solidFill>
                  <a:srgbClr val="111827"/>
                </a:solidFill>
                <a:latin typeface="Noto Sans JP"/>
              </a:rPr>
              <a:t>ご提案のゴール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77824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05840"/>
            <a:ext cx="11365992" cy="1463040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05840"/>
            <a:ext cx="64008" cy="14630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11091672" cy="14630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2800" b="1">
                <a:solidFill>
                  <a:srgbClr val="111827"/>
                </a:solidFill>
                <a:latin typeface="Noto Sans JP"/>
              </a:rPr>
              <a:t>3ヶ月で、エンジニアが「AI開発の型」を持って</a:t>
            </a:r>
          </a:p>
          <a:p>
            <a:pPr algn="ctr"/>
            <a:r>
              <a:rPr sz="2800" b="1">
                <a:solidFill>
                  <a:srgbClr val="111827"/>
                </a:solidFill>
                <a:latin typeface="Noto Sans JP"/>
              </a:rPr>
              <a:t>自走できる組織をつくります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560320"/>
            <a:ext cx="11365992" cy="99441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560320"/>
            <a:ext cx="64008" cy="99441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2560320"/>
            <a:ext cx="502920" cy="99441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2560320"/>
            <a:ext cx="502920" cy="99441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633472"/>
            <a:ext cx="2743200" cy="84810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1">
                <a:solidFill>
                  <a:srgbClr val="42A4AF"/>
                </a:solidFill>
                <a:latin typeface="Noto Sans JP"/>
              </a:rPr>
              <a:t>AI開発の方法論を習得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2709481"/>
            <a:ext cx="27432" cy="6960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23360" y="2560320"/>
            <a:ext cx="7616952" cy="99441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AIエージェント開発の標準プロセスと、ビジネス要件をAIタスクに分解する思考法を体系的に習得します。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646170"/>
            <a:ext cx="11365992" cy="99441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11480" y="3646170"/>
            <a:ext cx="64008" cy="99441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11480" y="3646170"/>
            <a:ext cx="502920" cy="99441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3646170"/>
            <a:ext cx="502920" cy="99441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719322"/>
            <a:ext cx="2743200" cy="84810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1">
                <a:solidFill>
                  <a:srgbClr val="42A4AF"/>
                </a:solidFill>
                <a:latin typeface="Noto Sans JP"/>
              </a:rPr>
              <a:t>保険業界特化の実践演習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3795331"/>
            <a:ext cx="27432" cy="6960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0" y="3646170"/>
            <a:ext cx="7616952" cy="99441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御社のユースケース（AI-OCR・保険金自動判断）を題材にした実践演習で、研修後すぐに業務へ応用できます。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732020"/>
            <a:ext cx="11365992" cy="99441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11480" y="4732020"/>
            <a:ext cx="64008" cy="99441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4732020"/>
            <a:ext cx="502920" cy="99441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732020"/>
            <a:ext cx="502920" cy="99441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805172"/>
            <a:ext cx="2743200" cy="84810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1">
                <a:solidFill>
                  <a:srgbClr val="42A4AF"/>
                </a:solidFill>
                <a:latin typeface="Noto Sans JP"/>
              </a:rPr>
              <a:t>ChatGPT Enterprise前提の設計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0" y="4881181"/>
            <a:ext cx="27432" cy="6960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23360" y="4732020"/>
            <a:ext cx="7616952" cy="99441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ソフトバンクの方針に合わせ、ChatGPT Enterpriseを前提に設計。現場にそのままつながる内容にします。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5817870"/>
            <a:ext cx="11365992" cy="99441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11480" y="5817870"/>
            <a:ext cx="64008" cy="99441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11480" y="5817870"/>
            <a:ext cx="502920" cy="99441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5817870"/>
            <a:ext cx="502920" cy="99441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5891022"/>
            <a:ext cx="2743200" cy="84810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1">
                <a:solidFill>
                  <a:srgbClr val="42A4AF"/>
                </a:solidFill>
                <a:latin typeface="Noto Sans JP"/>
              </a:rPr>
              <a:t>多言語チームへの対応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840480" y="5967031"/>
            <a:ext cx="27432" cy="696087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23360" y="5817870"/>
            <a:ext cx="7616952" cy="99441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日中バイリンガル資料オプションで、中国語話者も含む全メンバーが同じレベルで参加可能にします。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600" b="1">
                <a:solidFill>
                  <a:srgbClr val="111827"/>
                </a:solidFill>
                <a:latin typeface="Noto Sans JP"/>
              </a:rPr>
              <a:t>助成金活用で、実質負担を大幅削減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77824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05840"/>
            <a:ext cx="11365992" cy="164592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11091672" cy="164592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2600" b="1">
                <a:solidFill>
                  <a:srgbClr val="111827"/>
                </a:solidFill>
                <a:latin typeface="Noto Sans JP"/>
              </a:rPr>
              <a:t>通常 1人15万円 → 助成金適用で実質 4.5〜6万円 / 人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834640"/>
            <a:ext cx="3727704" cy="2194560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2834640"/>
            <a:ext cx="64008" cy="219456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2971800"/>
            <a:ext cx="3453384" cy="41148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1">
                <a:solidFill>
                  <a:srgbClr val="42A4AF"/>
                </a:solidFill>
                <a:latin typeface="Noto Sans JP"/>
              </a:rPr>
              <a:t>制度名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3456432"/>
            <a:ext cx="3453384" cy="1463039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0">
                <a:solidFill>
                  <a:srgbClr val="111827"/>
                </a:solidFill>
                <a:latin typeface="Noto Sans JP"/>
              </a:rPr>
              <a:t>人材開発支援助成金</a:t>
            </a:r>
          </a:p>
          <a:p>
            <a:pPr algn="l"/>
            <a:r>
              <a:rPr sz="1400" b="0">
                <a:solidFill>
                  <a:srgbClr val="111827"/>
                </a:solidFill>
                <a:latin typeface="Noto Sans JP"/>
              </a:rPr>
              <a:t>事業展開等リスキリング支援コース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30624" y="2834640"/>
            <a:ext cx="3727704" cy="219456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30624" y="2834640"/>
            <a:ext cx="64008" cy="21945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5216" y="2971800"/>
            <a:ext cx="3453384" cy="41148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1">
                <a:solidFill>
                  <a:srgbClr val="F59E0B"/>
                </a:solidFill>
                <a:latin typeface="Noto Sans JP"/>
              </a:rPr>
              <a:t>還元率・条件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5216" y="3456432"/>
            <a:ext cx="3453384" cy="1463039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0">
                <a:solidFill>
                  <a:srgbClr val="111827"/>
                </a:solidFill>
                <a:latin typeface="Noto Sans JP"/>
              </a:rPr>
              <a:t>最大75%（6〜7割程度）</a:t>
            </a:r>
          </a:p>
          <a:p>
            <a:pPr algn="l"/>
            <a:r>
              <a:rPr sz="1400" b="0">
                <a:solidFill>
                  <a:srgbClr val="111827"/>
                </a:solidFill>
                <a:latin typeface="Noto Sans JP"/>
              </a:rPr>
              <a:t>平日9:00〜18:00での実施が条件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9767" y="2834640"/>
            <a:ext cx="3727704" cy="219456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9767" y="2834640"/>
            <a:ext cx="64008" cy="219456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14359" y="2971800"/>
            <a:ext cx="3453384" cy="41148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1">
                <a:solidFill>
                  <a:srgbClr val="16A34A"/>
                </a:solidFill>
                <a:latin typeface="Noto Sans JP"/>
              </a:rPr>
              <a:t>申請サポート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14359" y="3456432"/>
            <a:ext cx="3453384" cy="1463039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0">
                <a:solidFill>
                  <a:srgbClr val="111827"/>
                </a:solidFill>
                <a:latin typeface="Noto Sans JP"/>
              </a:rPr>
              <a:t>エヌイチが申請サポートを提供</a:t>
            </a:r>
          </a:p>
          <a:p>
            <a:pPr algn="l"/>
            <a:r>
              <a:rPr sz="1400" b="0">
                <a:solidFill>
                  <a:srgbClr val="111827"/>
                </a:solidFill>
                <a:latin typeface="Noto Sans JP"/>
              </a:rPr>
              <a:t>適用条件の確認からご支援します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212079"/>
            <a:ext cx="11365992" cy="54864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100" b="0">
                <a:solidFill>
                  <a:srgbClr val="6B7280"/>
                </a:solidFill>
                <a:latin typeface="Noto Sans JP"/>
              </a:rPr>
              <a:t>※ 助成金の適用条件・金額は個社の状況により異なります。詳細はエヌイチがヒアリング後にご案内します。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600" b="1">
                <a:solidFill>
                  <a:srgbClr val="111827"/>
                </a:solidFill>
                <a:latin typeface="Noto Sans JP"/>
              </a:rPr>
              <a:t>なぜKawaru Teamか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6B7280"/>
                </a:solidFill>
                <a:latin typeface="Noto Sans JP"/>
              </a:rPr>
              <a:t>一般的なAI研修との違い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389888"/>
            <a:ext cx="3727704" cy="528523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389888"/>
            <a:ext cx="64008" cy="5285232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6072" y="1527048"/>
            <a:ext cx="3453384" cy="5029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ctr"/>
            <a:r>
              <a:rPr sz="1700" b="1">
                <a:solidFill>
                  <a:srgbClr val="1E293B"/>
                </a:solidFill>
                <a:latin typeface="Noto Sans JP"/>
              </a:rPr>
              <a:t>一般的なAI研修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03120"/>
            <a:ext cx="3453384" cy="36576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267712"/>
            <a:ext cx="3453384" cy="10149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267712"/>
            <a:ext cx="64008" cy="101498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2267712"/>
            <a:ext cx="3224784" cy="101498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既成カリキュラムをそのまま提供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392424"/>
            <a:ext cx="3453384" cy="10149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392424"/>
            <a:ext cx="64008" cy="101498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392424"/>
            <a:ext cx="3224784" cy="101498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自社業務・業界への応用は自己解決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517136"/>
            <a:ext cx="3453384" cy="10149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517136"/>
            <a:ext cx="64008" cy="101498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4517136"/>
            <a:ext cx="3224784" cy="101498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研修後の実践サポートなし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641848"/>
            <a:ext cx="3453384" cy="10149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5641848"/>
            <a:ext cx="64008" cy="1014984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5641848"/>
            <a:ext cx="3224784" cy="101498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E293B"/>
                </a:solidFill>
                <a:latin typeface="Noto Sans JP"/>
              </a:rPr>
              <a:t>多言語・多国籍チームへの対応が困難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30624" y="1389888"/>
            <a:ext cx="3727704" cy="5285232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30624" y="1389888"/>
            <a:ext cx="64008" cy="52852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95216" y="1527048"/>
            <a:ext cx="3453384" cy="5029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ctr"/>
            <a:r>
              <a:rPr sz="1700" b="1">
                <a:solidFill>
                  <a:srgbClr val="111827"/>
                </a:solidFill>
                <a:latin typeface="Noto Sans JP"/>
              </a:rPr>
              <a:t>Kawaru Team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67784" y="2103120"/>
            <a:ext cx="3453384" cy="36576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7784" y="2267712"/>
            <a:ext cx="3453384" cy="10149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67784" y="2267712"/>
            <a:ext cx="64008" cy="101498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23232" y="2267712"/>
            <a:ext cx="3224784" cy="101498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11827"/>
                </a:solidFill>
                <a:latin typeface="Noto Sans JP"/>
              </a:rPr>
              <a:t>課題ヒアリング後にカリキュラムを0から設計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67784" y="3392424"/>
            <a:ext cx="3453384" cy="10149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67784" y="3392424"/>
            <a:ext cx="64008" cy="101498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23232" y="3392424"/>
            <a:ext cx="3224784" cy="101498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11827"/>
                </a:solidFill>
                <a:latin typeface="Noto Sans JP"/>
              </a:rPr>
              <a:t>保険業界のユースケースを題材に構成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67784" y="4517136"/>
            <a:ext cx="3453384" cy="10149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67784" y="4517136"/>
            <a:ext cx="64008" cy="101498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3232" y="4517136"/>
            <a:ext cx="3224784" cy="101498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11827"/>
                </a:solidFill>
                <a:latin typeface="Noto Sans JP"/>
              </a:rPr>
              <a:t>ChatGPT Enterprise前提で実務直結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67784" y="5641848"/>
            <a:ext cx="3453384" cy="10149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67784" y="5641848"/>
            <a:ext cx="64008" cy="101498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3232" y="5641848"/>
            <a:ext cx="3224784" cy="101498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11827"/>
                </a:solidFill>
                <a:latin typeface="Noto Sans JP"/>
              </a:rPr>
              <a:t>日中バイリンガル対応オプションあり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049768" y="1389888"/>
            <a:ext cx="3727704" cy="528523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049768" y="1389888"/>
            <a:ext cx="64008" cy="528523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14360" y="1527048"/>
            <a:ext cx="3453384" cy="5029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ctr"/>
            <a:r>
              <a:rPr sz="1700" b="1">
                <a:solidFill>
                  <a:srgbClr val="111827"/>
                </a:solidFill>
                <a:latin typeface="Noto Sans JP"/>
              </a:rPr>
              <a:t>期待できる成果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86928" y="2103120"/>
            <a:ext cx="3453384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86928" y="2267712"/>
            <a:ext cx="3453384" cy="10149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186928" y="2267712"/>
            <a:ext cx="64008" cy="101498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42376" y="2267712"/>
            <a:ext cx="3224784" cy="101498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11827"/>
                </a:solidFill>
                <a:latin typeface="Noto Sans JP"/>
              </a:rPr>
              <a:t>AI開発の型が組織に定着する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186928" y="3392424"/>
            <a:ext cx="3453384" cy="10149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186928" y="3392424"/>
            <a:ext cx="64008" cy="101498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42376" y="3392424"/>
            <a:ext cx="3224784" cy="101498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11827"/>
                </a:solidFill>
                <a:latin typeface="Noto Sans JP"/>
              </a:rPr>
              <a:t>海外BPO依存を段階的に脱却できる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186928" y="4517136"/>
            <a:ext cx="3453384" cy="10149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186928" y="4517136"/>
            <a:ext cx="64008" cy="101498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42376" y="4517136"/>
            <a:ext cx="3224784" cy="101498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11827"/>
                </a:solidFill>
                <a:latin typeface="Noto Sans JP"/>
              </a:rPr>
              <a:t>エンジニアが自走してAIを実装できる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86928" y="5641848"/>
            <a:ext cx="3453384" cy="101498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186928" y="5641848"/>
            <a:ext cx="64008" cy="101498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42376" y="5641848"/>
            <a:ext cx="3224784" cy="101498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11827"/>
                </a:solidFill>
                <a:latin typeface="Noto Sans JP"/>
              </a:rPr>
              <a:t>3月末の企画書提出に間に合う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600" b="1">
                <a:solidFill>
                  <a:srgbClr val="111827"/>
                </a:solidFill>
                <a:latin typeface="Noto Sans JP"/>
              </a:rPr>
              <a:t>Kawaru Teamの進め方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6B7280"/>
                </a:solidFill>
                <a:latin typeface="Noto Sans JP"/>
              </a:rPr>
              <a:t>ヒアリングから研修後フォローまで、すべて伴走します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43812" y="1389888"/>
            <a:ext cx="1463040" cy="4572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43812" y="1389888"/>
            <a:ext cx="1463040" cy="4572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STEP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57472" y="4032504"/>
            <a:ext cx="164592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ctr"/>
            <a:r>
              <a:rPr sz="3000" b="1">
                <a:solidFill>
                  <a:srgbClr val="42A4AF"/>
                </a:solidFill>
                <a:latin typeface="Noto Sans JP"/>
              </a:rPr>
              <a:t>›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920240"/>
            <a:ext cx="3727704" cy="4754880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920240"/>
            <a:ext cx="64008" cy="475488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" y="2011680"/>
            <a:ext cx="3471672" cy="91440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ctr"/>
            <a:r>
              <a:rPr sz="1900" b="1">
                <a:solidFill>
                  <a:srgbClr val="111827"/>
                </a:solidFill>
                <a:latin typeface="Noto Sans JP"/>
              </a:rPr>
              <a:t>ヒアリング</a:t>
            </a:r>
          </a:p>
          <a:p>
            <a:pPr algn="ctr"/>
            <a:r>
              <a:rPr sz="1900" b="1">
                <a:solidFill>
                  <a:srgbClr val="111827"/>
                </a:solidFill>
                <a:latin typeface="Noto Sans JP"/>
              </a:rPr>
              <a:t>課題整理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62656"/>
            <a:ext cx="3453384" cy="36576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090672"/>
            <a:ext cx="3453384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090672"/>
            <a:ext cx="64008" cy="80467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090672"/>
            <a:ext cx="3224784" cy="80467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11827"/>
                </a:solidFill>
                <a:latin typeface="Noto Sans JP"/>
              </a:rPr>
              <a:t>現状・ゴールの深掘りヒアリング（60〜90分）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986784"/>
            <a:ext cx="3453384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986784"/>
            <a:ext cx="64008" cy="80467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4088" y="3986784"/>
            <a:ext cx="3224784" cy="80467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11827"/>
                </a:solidFill>
                <a:latin typeface="Noto Sans JP"/>
              </a:rPr>
              <a:t>学習対象者のスキルレベル確認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82896"/>
            <a:ext cx="3453384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4882896"/>
            <a:ext cx="64008" cy="80467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4882896"/>
            <a:ext cx="3224784" cy="80467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11827"/>
                </a:solidFill>
                <a:latin typeface="Noto Sans JP"/>
              </a:rPr>
              <a:t>研修テーマ・到達目標の設定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79008"/>
            <a:ext cx="3453384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5779008"/>
            <a:ext cx="64008" cy="80467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779008"/>
            <a:ext cx="3224784" cy="80467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11827"/>
                </a:solidFill>
                <a:latin typeface="Noto Sans JP"/>
              </a:rPr>
              <a:t>ChatGPT Enterprise環境・前提条件の確認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62956" y="1389888"/>
            <a:ext cx="146304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62956" y="1389888"/>
            <a:ext cx="1463040" cy="4572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STEP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76615" y="4032504"/>
            <a:ext cx="164592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ctr"/>
            <a:r>
              <a:rPr sz="3000" b="1">
                <a:solidFill>
                  <a:srgbClr val="3B82F6"/>
                </a:solidFill>
                <a:latin typeface="Noto Sans JP"/>
              </a:rPr>
              <a:t>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30624" y="1920240"/>
            <a:ext cx="3727704" cy="475488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30624" y="1920240"/>
            <a:ext cx="64008" cy="475488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95216" y="2011680"/>
            <a:ext cx="3471672" cy="91440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ctr"/>
            <a:r>
              <a:rPr sz="1900" b="1">
                <a:solidFill>
                  <a:srgbClr val="111827"/>
                </a:solidFill>
                <a:latin typeface="Noto Sans JP"/>
              </a:rPr>
              <a:t>カリキュラム</a:t>
            </a:r>
          </a:p>
          <a:p>
            <a:pPr algn="ctr"/>
            <a:r>
              <a:rPr sz="1900" b="1">
                <a:solidFill>
                  <a:srgbClr val="111827"/>
                </a:solidFill>
                <a:latin typeface="Noto Sans JP"/>
              </a:rPr>
              <a:t>設計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367784" y="2962656"/>
            <a:ext cx="3453384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67784" y="3090672"/>
            <a:ext cx="3453384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367784" y="3090672"/>
            <a:ext cx="64008" cy="8046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23232" y="3090672"/>
            <a:ext cx="3224784" cy="80467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11827"/>
                </a:solidFill>
                <a:latin typeface="Noto Sans JP"/>
              </a:rPr>
              <a:t>御社専用カリキュラムを0から設計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67784" y="3986784"/>
            <a:ext cx="3453384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367784" y="3986784"/>
            <a:ext cx="64008" cy="8046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23232" y="3986784"/>
            <a:ext cx="3224784" cy="80467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11827"/>
                </a:solidFill>
                <a:latin typeface="Noto Sans JP"/>
              </a:rPr>
              <a:t>保険業界ユースケースを題材に構成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67784" y="4882896"/>
            <a:ext cx="3453384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67784" y="4882896"/>
            <a:ext cx="64008" cy="8046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23232" y="4882896"/>
            <a:ext cx="3224784" cy="80467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11827"/>
                </a:solidFill>
                <a:latin typeface="Noto Sans JP"/>
              </a:rPr>
              <a:t>日中バイリンガル資料の作成（オプション）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67784" y="5779008"/>
            <a:ext cx="3453384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367784" y="5779008"/>
            <a:ext cx="64008" cy="80467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23232" y="5779008"/>
            <a:ext cx="3224784" cy="80467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11827"/>
                </a:solidFill>
                <a:latin typeface="Noto Sans JP"/>
              </a:rPr>
              <a:t>平日9〜18時での実施スケジュール調整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82100" y="1389888"/>
            <a:ext cx="1463040" cy="4572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82100" y="1389888"/>
            <a:ext cx="1463040" cy="4572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JP"/>
              </a:rPr>
              <a:t>STEP 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049768" y="1920240"/>
            <a:ext cx="3727704" cy="475488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049768" y="1920240"/>
            <a:ext cx="64008" cy="475488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14360" y="2011680"/>
            <a:ext cx="3471672" cy="91440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ctr"/>
            <a:r>
              <a:rPr sz="1900" b="1">
                <a:solidFill>
                  <a:srgbClr val="111827"/>
                </a:solidFill>
                <a:latin typeface="Noto Sans JP"/>
              </a:rPr>
              <a:t>研修実施</a:t>
            </a:r>
          </a:p>
          <a:p>
            <a:pPr algn="ctr"/>
            <a:r>
              <a:rPr sz="1900" b="1">
                <a:solidFill>
                  <a:srgbClr val="111827"/>
                </a:solidFill>
                <a:latin typeface="Noto Sans JP"/>
              </a:rPr>
              <a:t>フォロー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86928" y="2962656"/>
            <a:ext cx="3453384" cy="36576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86928" y="3090672"/>
            <a:ext cx="3453384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186928" y="3090672"/>
            <a:ext cx="64008" cy="8046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42376" y="3090672"/>
            <a:ext cx="3224784" cy="80467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11827"/>
                </a:solidFill>
                <a:latin typeface="Noto Sans JP"/>
              </a:rPr>
              <a:t>1日2〜3時間 × 3〜5日、25名以内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186928" y="3986784"/>
            <a:ext cx="3453384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186928" y="3986784"/>
            <a:ext cx="64008" cy="8046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342376" y="3986784"/>
            <a:ext cx="3224784" cy="80467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11827"/>
                </a:solidFill>
                <a:latin typeface="Noto Sans JP"/>
              </a:rPr>
              <a:t>実施中の質疑応答・進捗確認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186928" y="4882896"/>
            <a:ext cx="3453384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8186928" y="4882896"/>
            <a:ext cx="64008" cy="8046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342376" y="4882896"/>
            <a:ext cx="3224784" cy="80467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11827"/>
                </a:solidFill>
                <a:latin typeface="Noto Sans JP"/>
              </a:rPr>
              <a:t>実施後フォローアップMTG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186928" y="5779008"/>
            <a:ext cx="3453384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8186928" y="5779008"/>
            <a:ext cx="64008" cy="80467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342376" y="5779008"/>
            <a:ext cx="3224784" cy="80467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111827"/>
                </a:solidFill>
                <a:latin typeface="Noto Sans JP"/>
              </a:rPr>
              <a:t>助成金申請サポート（対象条件確認）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600" b="1">
                <a:solidFill>
                  <a:srgbClr val="111827"/>
                </a:solidFill>
                <a:latin typeface="Noto Sans JP"/>
              </a:rPr>
              <a:t>費用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77824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05840"/>
            <a:ext cx="11365992" cy="1828800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005840"/>
            <a:ext cx="64008" cy="18288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05840"/>
            <a:ext cx="11091672" cy="1828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4400" b="1">
                <a:solidFill>
                  <a:srgbClr val="111827"/>
                </a:solidFill>
                <a:latin typeface="Noto Sans JP"/>
              </a:rPr>
              <a:t>1人あたり 15万円（税別）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017520"/>
            <a:ext cx="11365992" cy="8915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3017520"/>
            <a:ext cx="64008" cy="8915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017520"/>
            <a:ext cx="2011680" cy="8915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1">
                <a:solidFill>
                  <a:srgbClr val="42A4AF"/>
                </a:solidFill>
                <a:latin typeface="Noto Sans JP"/>
              </a:rPr>
              <a:t>研修時間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70048" y="3151251"/>
            <a:ext cx="27432" cy="62407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3017520"/>
            <a:ext cx="8805672" cy="8915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111827"/>
                </a:solidFill>
                <a:latin typeface="Noto Sans JP"/>
              </a:rPr>
              <a:t>10〜15時間（3〜5日間に分割して実施）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4000500"/>
            <a:ext cx="11365992" cy="8915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4000500"/>
            <a:ext cx="64008" cy="8915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000500"/>
            <a:ext cx="2011680" cy="8915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1">
                <a:solidFill>
                  <a:srgbClr val="42A4AF"/>
                </a:solidFill>
                <a:latin typeface="Noto Sans JP"/>
              </a:rPr>
              <a:t>対象人数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70048" y="4134231"/>
            <a:ext cx="27432" cy="62407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834640" y="4000500"/>
            <a:ext cx="8805672" cy="8915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111827"/>
                </a:solidFill>
                <a:latin typeface="Noto Sans JP"/>
              </a:rPr>
              <a:t>エンジニア 25名まで（両本部交代参加も可）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983480"/>
            <a:ext cx="11365992" cy="8915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1480" y="4983480"/>
            <a:ext cx="64008" cy="8915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983480"/>
            <a:ext cx="2011680" cy="8915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1">
                <a:solidFill>
                  <a:srgbClr val="42A4AF"/>
                </a:solidFill>
                <a:latin typeface="Noto Sans JP"/>
              </a:rPr>
              <a:t>実施形態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70048" y="5117211"/>
            <a:ext cx="27432" cy="62407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34640" y="4983480"/>
            <a:ext cx="8805672" cy="8915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111827"/>
                </a:solidFill>
                <a:latin typeface="Noto Sans JP"/>
              </a:rPr>
              <a:t>御社オフィスへ講師が訪問して実施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5966460"/>
            <a:ext cx="11365992" cy="8915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11480" y="5966460"/>
            <a:ext cx="64008" cy="89154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966460"/>
            <a:ext cx="2011680" cy="8915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1">
                <a:solidFill>
                  <a:srgbClr val="42A4AF"/>
                </a:solidFill>
                <a:latin typeface="Noto Sans JP"/>
              </a:rPr>
              <a:t>カスタマイズ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70048" y="6100191"/>
            <a:ext cx="27432" cy="62407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34640" y="5966460"/>
            <a:ext cx="8805672" cy="89154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400" b="0">
                <a:solidFill>
                  <a:srgbClr val="111827"/>
                </a:solidFill>
                <a:latin typeface="Noto Sans JP"/>
              </a:rPr>
              <a:t>御社の課題・業界・ツール環境に合わせてカリキュラムを完全設計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600" b="1">
                <a:solidFill>
                  <a:srgbClr val="111827"/>
                </a:solidFill>
                <a:latin typeface="Noto Sans JP"/>
              </a:rPr>
              <a:t>スケジュール目安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877824"/>
            <a:ext cx="11365992" cy="347472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300" b="0">
                <a:solidFill>
                  <a:srgbClr val="6B7280"/>
                </a:solidFill>
                <a:latin typeface="Noto Sans JP"/>
              </a:rPr>
              <a:t>社長承認から研修キックオフまでの流れ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1261872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1481328"/>
            <a:ext cx="2011680" cy="1239012"/>
          </a:xfrm>
          <a:prstGeom prst="rect">
            <a:avLst/>
          </a:prstGeom>
          <a:solidFill>
            <a:srgbClr val="E0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81328"/>
            <a:ext cx="73152" cy="123901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52" y="1481328"/>
            <a:ext cx="1865376" cy="123901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1">
                <a:solidFill>
                  <a:srgbClr val="42A4AF"/>
                </a:solidFill>
                <a:latin typeface="Noto Sans JP"/>
              </a:rPr>
              <a:t>今週〜来週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87168" y="1481328"/>
            <a:ext cx="9290304" cy="12390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87168" y="1481328"/>
            <a:ext cx="64008" cy="123901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06624" y="1536192"/>
            <a:ext cx="594360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1">
                <a:solidFill>
                  <a:srgbClr val="111827"/>
                </a:solidFill>
                <a:latin typeface="Noto Sans JP"/>
              </a:rPr>
              <a:t>社長1on1での相談（呉様）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6624" y="1938528"/>
            <a:ext cx="8805672" cy="726947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200" b="0">
                <a:solidFill>
                  <a:srgbClr val="6B7280"/>
                </a:solidFill>
                <a:latin typeface="Noto Sans JP"/>
              </a:rPr>
              <a:t>来週木曜日の社長1on1でAI研修の方向性をご確認いただく。ご承認いただければ、翌週よりヒアリングMTGを設定します。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830068"/>
            <a:ext cx="2011680" cy="1239012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" y="2830068"/>
            <a:ext cx="73152" cy="123901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0352" y="2830068"/>
            <a:ext cx="1865376" cy="123901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1">
                <a:solidFill>
                  <a:srgbClr val="3B82F6"/>
                </a:solidFill>
                <a:latin typeface="Noto Sans JP"/>
              </a:rPr>
              <a:t>承認後 Week1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87168" y="2830068"/>
            <a:ext cx="9290304" cy="12390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7168" y="2830068"/>
            <a:ext cx="64008" cy="123901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06624" y="2884932"/>
            <a:ext cx="594360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1">
                <a:solidFill>
                  <a:srgbClr val="111827"/>
                </a:solidFill>
                <a:latin typeface="Noto Sans JP"/>
              </a:rPr>
              <a:t>ヒアリングMTG（60〜90分）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06624" y="3287268"/>
            <a:ext cx="8805672" cy="726947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200" b="0">
                <a:solidFill>
                  <a:srgbClr val="6B7280"/>
                </a:solidFill>
                <a:latin typeface="Noto Sans JP"/>
              </a:rPr>
              <a:t>御社の現状・課題・ゴールを深掘りヒアリング。対象者のスキルレベルや業務内容も確認し、カリキュラム設計の前提を揃えます。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178808"/>
            <a:ext cx="2011680" cy="1239012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178808"/>
            <a:ext cx="73152" cy="12390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0352" y="4178808"/>
            <a:ext cx="1865376" cy="123901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1">
                <a:solidFill>
                  <a:srgbClr val="16A34A"/>
                </a:solidFill>
                <a:latin typeface="Noto Sans JP"/>
              </a:rPr>
              <a:t>承認後 Week2〜3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7168" y="4178808"/>
            <a:ext cx="9290304" cy="12390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487168" y="4178808"/>
            <a:ext cx="64008" cy="1239012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06624" y="4233672"/>
            <a:ext cx="594360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1">
                <a:solidFill>
                  <a:srgbClr val="111827"/>
                </a:solidFill>
                <a:latin typeface="Noto Sans JP"/>
              </a:rPr>
              <a:t>カリキュラム設計・お見積り提示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06624" y="4636008"/>
            <a:ext cx="8805672" cy="726947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200" b="0">
                <a:solidFill>
                  <a:srgbClr val="6B7280"/>
                </a:solidFill>
                <a:latin typeface="Noto Sans JP"/>
              </a:rPr>
              <a:t>御社専用カリキュラム案を作成し、正式見積りとともにご提示します。内容確認・調整後、研修スケジュールを確定します。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527548"/>
            <a:ext cx="2011680" cy="1239012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11480" y="5527548"/>
            <a:ext cx="73152" cy="12390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30352" y="5527548"/>
            <a:ext cx="1865376" cy="1239012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1">
                <a:solidFill>
                  <a:srgbClr val="F59E0B"/>
                </a:solidFill>
                <a:latin typeface="Noto Sans JP"/>
              </a:rPr>
              <a:t>承認後 1ヶ月目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487168" y="5527548"/>
            <a:ext cx="9290304" cy="12390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487168" y="5527548"/>
            <a:ext cx="64008" cy="12390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06624" y="5582412"/>
            <a:ext cx="594360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400" b="1">
                <a:solidFill>
                  <a:srgbClr val="111827"/>
                </a:solidFill>
                <a:latin typeface="Noto Sans JP"/>
              </a:rPr>
              <a:t>研修キックオフ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06624" y="5984748"/>
            <a:ext cx="8805672" cy="726947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l"/>
            <a:r>
              <a:rPr sz="1200" b="0">
                <a:solidFill>
                  <a:srgbClr val="6B7280"/>
                </a:solidFill>
                <a:latin typeface="Noto Sans JP"/>
              </a:rPr>
              <a:t>エンジニアチームへの研修をスタート。実施期間中は進捗確認とQ&amp;A対応を行い、終了後にフォローアップMTGを実施します。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0" y="91440"/>
            <a:ext cx="301752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601200" cy="68580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2600" b="1">
                <a:solidFill>
                  <a:srgbClr val="111827"/>
                </a:solidFill>
                <a:latin typeface="Noto Sans JP"/>
              </a:rPr>
              <a:t>ネクストアクション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877824"/>
            <a:ext cx="11365992" cy="2743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097280"/>
            <a:ext cx="502920" cy="133502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097280"/>
            <a:ext cx="502920" cy="133502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" y="2432304"/>
            <a:ext cx="109728" cy="109728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87552" y="1097280"/>
            <a:ext cx="10789920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87552" y="1097280"/>
            <a:ext cx="64008" cy="1335024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1188720"/>
            <a:ext cx="10177272" cy="40233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600" b="1">
                <a:solidFill>
                  <a:srgbClr val="111827"/>
                </a:solidFill>
                <a:latin typeface="Noto Sans JP"/>
              </a:rPr>
              <a:t>① 社長1on1での相談（呉様）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1791492"/>
            <a:ext cx="10360152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7008" y="1831543"/>
            <a:ext cx="10177272" cy="534009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6B7280"/>
                </a:solidFill>
                <a:latin typeface="Noto Sans JP"/>
              </a:rPr>
              <a:t>来週木曜日の社長1on1で本提案書の内容についてご相談いただき、AI研修実施の方向性をご確認ください。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542032"/>
            <a:ext cx="502920" cy="133502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2542032"/>
            <a:ext cx="502920" cy="133502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" y="3877056"/>
            <a:ext cx="109728" cy="10972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87552" y="2542032"/>
            <a:ext cx="10789920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87552" y="2542032"/>
            <a:ext cx="64008" cy="133502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8" y="2633472"/>
            <a:ext cx="10177272" cy="40233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600" b="1">
                <a:solidFill>
                  <a:srgbClr val="111827"/>
                </a:solidFill>
                <a:latin typeface="Noto Sans JP"/>
              </a:rPr>
              <a:t>② 社長承認後：ヒアリングMTGの設定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3236244"/>
            <a:ext cx="10360152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07008" y="3276295"/>
            <a:ext cx="10177272" cy="534009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6B7280"/>
                </a:solidFill>
                <a:latin typeface="Noto Sans JP"/>
              </a:rPr>
              <a:t>社長承認が得られたら、エヌイチとのヒアリングMTG（60〜90分）を設定します。日程はご承認直後に調整可能です。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3986784"/>
            <a:ext cx="502920" cy="133502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3986784"/>
            <a:ext cx="502920" cy="133502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>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" y="5321808"/>
            <a:ext cx="109728" cy="10972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87552" y="3986784"/>
            <a:ext cx="10789920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87552" y="3986784"/>
            <a:ext cx="64008" cy="1335024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07008" y="4078224"/>
            <a:ext cx="10177272" cy="40233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600" b="1">
                <a:solidFill>
                  <a:srgbClr val="111827"/>
                </a:solidFill>
                <a:latin typeface="Noto Sans JP"/>
              </a:rPr>
              <a:t>③ カリキュラム設計・お見積り提示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97280" y="4680996"/>
            <a:ext cx="10360152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07008" y="4721047"/>
            <a:ext cx="10177272" cy="534009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6B7280"/>
                </a:solidFill>
                <a:latin typeface="Noto Sans JP"/>
              </a:rPr>
              <a:t>ヒアリング完了後、御社専用カリキュラム案と正式見積りをご提示します。内容確認後、研修スケジュールを確定します。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11480" y="5431536"/>
            <a:ext cx="502920" cy="133502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5431536"/>
            <a:ext cx="502920" cy="1335024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2200" b="1">
                <a:solidFill>
                  <a:srgbClr val="FFFFFF"/>
                </a:solidFill>
                <a:latin typeface="Noto Sans JP"/>
              </a:rPr>
              <a:t>4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87552" y="5431536"/>
            <a:ext cx="10789920" cy="1335024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87552" y="5431536"/>
            <a:ext cx="64008" cy="133502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07008" y="5522976"/>
            <a:ext cx="10177272" cy="402336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600" b="1">
                <a:solidFill>
                  <a:srgbClr val="111827"/>
                </a:solidFill>
                <a:latin typeface="Noto Sans JP"/>
              </a:rPr>
              <a:t>④ BPOパートナーご紹介（別途）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97280" y="6125748"/>
            <a:ext cx="10360152" cy="2743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07008" y="6165799"/>
            <a:ext cx="10177272" cy="534009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l"/>
            <a:r>
              <a:rPr sz="1300" b="0">
                <a:solidFill>
                  <a:srgbClr val="6B7280"/>
                </a:solidFill>
                <a:latin typeface="Noto Sans JP"/>
              </a:rPr>
              <a:t>AIプロダクト開発のBPO候補をエヌイチ社内で選定し、ご紹介の準備を並行して進めます（承認後にご連絡します）。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6784848"/>
            <a:ext cx="11823192" cy="73152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164592"/>
            <a:ext cx="2651760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r"/>
            <a:r>
              <a:rPr sz="1100" b="0">
                <a:solidFill>
                  <a:srgbClr val="6B7280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1000232" cy="54864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ctr"/>
            <a:r>
              <a:rPr sz="2000" b="0">
                <a:solidFill>
                  <a:srgbClr val="6B7280"/>
                </a:solidFill>
                <a:latin typeface="Noto Sans JP"/>
              </a:rPr>
              <a:t>私たちが提供するのは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67712"/>
            <a:ext cx="11000232" cy="109728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ctr"/>
            <a:r>
              <a:rPr sz="3400" b="1">
                <a:solidFill>
                  <a:srgbClr val="111827"/>
                </a:solidFill>
                <a:latin typeface="Noto Sans JP"/>
              </a:rPr>
              <a:t>「ツール」や「研修」ではありません。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3511296"/>
            <a:ext cx="4873752" cy="45720"/>
          </a:xfrm>
          <a:prstGeom prst="rect">
            <a:avLst/>
          </a:prstGeom>
          <a:solidFill>
            <a:srgbClr val="42A4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675887"/>
            <a:ext cx="11000232" cy="1097280"/>
          </a:xfrm>
          <a:prstGeom prst="rect">
            <a:avLst/>
          </a:prstGeom>
          <a:noFill/>
        </p:spPr>
        <p:txBody>
          <a:bodyPr wrap="square" anchor="ctr" rIns="54864" tIns="54864" bIns="36576"/>
          <a:lstStyle/>
          <a:p>
            <a:pPr algn="ctr"/>
            <a:r>
              <a:rPr sz="2600" b="1">
                <a:solidFill>
                  <a:srgbClr val="42A4AF"/>
                </a:solidFill>
                <a:latin typeface="Noto Sans JP"/>
              </a:rPr>
              <a:t>貴社の未来を創る「AI人材」と、</a:t>
            </a:r>
          </a:p>
          <a:p>
            <a:pPr algn="ctr"/>
            <a:r>
              <a:rPr sz="2600" b="1">
                <a:solidFill>
                  <a:srgbClr val="42A4AF"/>
                </a:solidFill>
                <a:latin typeface="Noto Sans JP"/>
              </a:rPr>
              <a:t>組織全体の「成長」です。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029200"/>
            <a:ext cx="11000232" cy="50292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ctr"/>
            <a:r>
              <a:rPr sz="1800" b="1">
                <a:solidFill>
                  <a:srgbClr val="111827"/>
                </a:solidFill>
                <a:latin typeface="Noto Sans JP"/>
              </a:rPr>
              <a:t>株式会社エヌイチ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59552"/>
            <a:ext cx="11000232" cy="365760"/>
          </a:xfrm>
          <a:prstGeom prst="rect">
            <a:avLst/>
          </a:prstGeom>
          <a:noFill/>
        </p:spPr>
        <p:txBody>
          <a:bodyPr wrap="square" anchor="t" rIns="54864" tIns="54864" bIns="36576"/>
          <a:lstStyle/>
          <a:p>
            <a:pPr algn="ctr"/>
            <a:r>
              <a:rPr sz="1300" b="0">
                <a:solidFill>
                  <a:srgbClr val="6B7280"/>
                </a:solidFill>
                <a:latin typeface="Noto Sans JP"/>
              </a:rPr>
              <a:t>大川 龍之介　080-2646-2420　r.okawa@n1-inc.co.jp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