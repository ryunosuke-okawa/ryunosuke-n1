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40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5303520"/>
            <a:ext cx="11914632" cy="36576"/>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5394960"/>
            <a:ext cx="10058400" cy="457200"/>
          </a:xfrm>
          <a:prstGeom prst="rect">
            <a:avLst/>
          </a:prstGeom>
          <a:noFill/>
        </p:spPr>
        <p:txBody>
          <a:bodyPr wrap="square" anchor="t" lIns="73152" rIns="45720" bIns="27432"/>
          <a:lstStyle/>
          <a:p>
            <a:pPr algn="r"/>
            <a:r>
              <a:rPr sz="1400" b="0">
                <a:solidFill>
                  <a:srgbClr val="FFFFFF"/>
                </a:solidFill>
                <a:latin typeface="Noto Sans JP"/>
              </a:rPr>
              <a:t>株式会社エヌイチ</a:t>
            </a:r>
          </a:p>
        </p:txBody>
      </p:sp>
      <p:sp>
        <p:nvSpPr>
          <p:cNvPr id="6" name="TextBox 5"/>
          <p:cNvSpPr txBox="1"/>
          <p:nvPr/>
        </p:nvSpPr>
        <p:spPr>
          <a:xfrm>
            <a:off x="1097280" y="1828800"/>
            <a:ext cx="10058400" cy="1097280"/>
          </a:xfrm>
          <a:prstGeom prst="rect">
            <a:avLst/>
          </a:prstGeom>
          <a:noFill/>
        </p:spPr>
        <p:txBody>
          <a:bodyPr wrap="square" anchor="ctr" lIns="73152" rIns="45720" bIns="27432"/>
          <a:lstStyle/>
          <a:p>
            <a:pPr algn="ctr"/>
            <a:r>
              <a:rPr sz="5200" b="1">
                <a:solidFill>
                  <a:srgbClr val="FFFFFF"/>
                </a:solidFill>
                <a:latin typeface="Noto Sans JP"/>
              </a:rPr>
              <a:t>生成AI支援 ご提案書</a:t>
            </a:r>
          </a:p>
        </p:txBody>
      </p:sp>
      <p:sp>
        <p:nvSpPr>
          <p:cNvPr id="7" name="TextBox 6"/>
          <p:cNvSpPr txBox="1"/>
          <p:nvPr/>
        </p:nvSpPr>
        <p:spPr>
          <a:xfrm>
            <a:off x="1097280" y="3108960"/>
            <a:ext cx="10058400" cy="548640"/>
          </a:xfrm>
          <a:prstGeom prst="rect">
            <a:avLst/>
          </a:prstGeom>
          <a:noFill/>
        </p:spPr>
        <p:txBody>
          <a:bodyPr wrap="square" anchor="t" lIns="73152" rIns="45720" bIns="27432"/>
          <a:lstStyle/>
          <a:p>
            <a:pPr algn="ctr"/>
            <a:r>
              <a:rPr sz="2200" b="0">
                <a:solidFill>
                  <a:srgbClr val="E0F4F6"/>
                </a:solidFill>
                <a:latin typeface="Noto Sans JP"/>
              </a:rPr>
              <a:t>リードインクス株式会社 様向け</a:t>
            </a:r>
          </a:p>
        </p:txBody>
      </p:sp>
      <p:sp>
        <p:nvSpPr>
          <p:cNvPr id="8" name="TextBox 7"/>
          <p:cNvSpPr txBox="1"/>
          <p:nvPr/>
        </p:nvSpPr>
        <p:spPr>
          <a:xfrm>
            <a:off x="1097280" y="5989320"/>
            <a:ext cx="10058400" cy="502920"/>
          </a:xfrm>
          <a:prstGeom prst="rect">
            <a:avLst/>
          </a:prstGeom>
          <a:noFill/>
        </p:spPr>
        <p:txBody>
          <a:bodyPr wrap="square" anchor="t" lIns="73152" rIns="45720" bIns="27432"/>
          <a:lstStyle/>
          <a:p>
            <a:pPr algn="r"/>
            <a:r>
              <a:rPr sz="1400" b="0">
                <a:solidFill>
                  <a:srgbClr val="64748B"/>
                </a:solidFill>
                <a:latin typeface="Noto Sans JP"/>
              </a:rPr>
              <a:t>2026年2月27日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8686800" cy="694944"/>
          </a:xfrm>
          <a:prstGeom prst="rect">
            <a:avLst/>
          </a:prstGeom>
          <a:noFill/>
        </p:spPr>
        <p:txBody>
          <a:bodyPr wrap="square" anchor="ctr" lIns="73152" rIns="45720" bIns="27432"/>
          <a:lstStyle/>
          <a:p>
            <a:pPr algn="l"/>
            <a:r>
              <a:rPr sz="2400" b="1">
                <a:solidFill>
                  <a:srgbClr val="FFFFFF"/>
                </a:solidFill>
                <a:latin typeface="Noto Sans JP"/>
              </a:rPr>
              <a:t>会社概要</a:t>
            </a:r>
          </a:p>
        </p:txBody>
      </p:sp>
      <p:sp>
        <p:nvSpPr>
          <p:cNvPr id="4" name="TextBox 3"/>
          <p:cNvSpPr txBox="1"/>
          <p:nvPr/>
        </p:nvSpPr>
        <p:spPr>
          <a:xfrm>
            <a:off x="9692640" y="164592"/>
            <a:ext cx="2286000" cy="548640"/>
          </a:xfrm>
          <a:prstGeom prst="rect">
            <a:avLst/>
          </a:prstGeom>
          <a:noFill/>
        </p:spPr>
        <p:txBody>
          <a:bodyPr wrap="square" anchor="ctr" lIns="73152" rIns="45720" bIns="27432"/>
          <a:lstStyle/>
          <a:p>
            <a:pPr algn="r"/>
            <a:r>
              <a:rPr sz="1100" b="0">
                <a:solidFill>
                  <a:srgbClr val="FFFFFF"/>
                </a:solidFill>
                <a:latin typeface="Noto Sans JP"/>
              </a:rPr>
              <a:t>株式会社エヌイチ</a:t>
            </a:r>
          </a:p>
        </p:txBody>
      </p:sp>
      <p:sp>
        <p:nvSpPr>
          <p:cNvPr id="5" name="Rounded Rectangle 4"/>
          <p:cNvSpPr/>
          <p:nvPr/>
        </p:nvSpPr>
        <p:spPr>
          <a:xfrm>
            <a:off x="365760" y="1005840"/>
            <a:ext cx="5486400" cy="5394960"/>
          </a:xfrm>
          <a:prstGeom prst="roundRect">
            <a:avLst>
              <a:gd name="adj" fmla="val 3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05840"/>
            <a:ext cx="54864" cy="539496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188720"/>
            <a:ext cx="1097280" cy="47548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3" y="1188720"/>
            <a:ext cx="1024127" cy="475488"/>
          </a:xfrm>
          <a:prstGeom prst="rect">
            <a:avLst/>
          </a:prstGeom>
          <a:noFill/>
        </p:spPr>
        <p:txBody>
          <a:bodyPr wrap="square" anchor="ctr" lIns="73152" rIns="45720" bIns="27432"/>
          <a:lstStyle/>
          <a:p>
            <a:pPr algn="l"/>
            <a:r>
              <a:rPr sz="1000" b="1">
                <a:solidFill>
                  <a:srgbClr val="42A4AF"/>
                </a:solidFill>
                <a:latin typeface="Noto Sans JP"/>
              </a:rPr>
              <a:t>会社名</a:t>
            </a:r>
          </a:p>
        </p:txBody>
      </p:sp>
      <p:sp>
        <p:nvSpPr>
          <p:cNvPr id="9" name="Rectangle 8"/>
          <p:cNvSpPr/>
          <p:nvPr/>
        </p:nvSpPr>
        <p:spPr>
          <a:xfrm>
            <a:off x="1691639" y="1188720"/>
            <a:ext cx="4023360" cy="475488"/>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55648" y="1188720"/>
            <a:ext cx="3886200" cy="475488"/>
          </a:xfrm>
          <a:prstGeom prst="rect">
            <a:avLst/>
          </a:prstGeom>
          <a:noFill/>
        </p:spPr>
        <p:txBody>
          <a:bodyPr wrap="square" anchor="ctr" lIns="73152" rIns="45720" bIns="27432"/>
          <a:lstStyle/>
          <a:p>
            <a:pPr algn="l"/>
            <a:r>
              <a:rPr sz="1200" b="0">
                <a:solidFill>
                  <a:srgbClr val="1E293B"/>
                </a:solidFill>
                <a:latin typeface="Noto Sans JP"/>
              </a:rPr>
              <a:t>株式会社エヌイチ</a:t>
            </a:r>
          </a:p>
        </p:txBody>
      </p:sp>
      <p:sp>
        <p:nvSpPr>
          <p:cNvPr id="11" name="Rectangle 10"/>
          <p:cNvSpPr/>
          <p:nvPr/>
        </p:nvSpPr>
        <p:spPr>
          <a:xfrm>
            <a:off x="548640" y="1728216"/>
            <a:ext cx="1097280" cy="47548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3" y="1728216"/>
            <a:ext cx="1024127" cy="475488"/>
          </a:xfrm>
          <a:prstGeom prst="rect">
            <a:avLst/>
          </a:prstGeom>
          <a:noFill/>
        </p:spPr>
        <p:txBody>
          <a:bodyPr wrap="square" anchor="ctr" lIns="73152" rIns="45720" bIns="27432"/>
          <a:lstStyle/>
          <a:p>
            <a:pPr algn="l"/>
            <a:r>
              <a:rPr sz="1000" b="1">
                <a:solidFill>
                  <a:srgbClr val="42A4AF"/>
                </a:solidFill>
                <a:latin typeface="Noto Sans JP"/>
              </a:rPr>
              <a:t>経営陣</a:t>
            </a:r>
          </a:p>
        </p:txBody>
      </p:sp>
      <p:sp>
        <p:nvSpPr>
          <p:cNvPr id="13" name="Rectangle 12"/>
          <p:cNvSpPr/>
          <p:nvPr/>
        </p:nvSpPr>
        <p:spPr>
          <a:xfrm>
            <a:off x="1691639" y="1728216"/>
            <a:ext cx="4023360" cy="475488"/>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55648" y="1728216"/>
            <a:ext cx="3886200" cy="475488"/>
          </a:xfrm>
          <a:prstGeom prst="rect">
            <a:avLst/>
          </a:prstGeom>
          <a:noFill/>
        </p:spPr>
        <p:txBody>
          <a:bodyPr wrap="square" anchor="ctr" lIns="73152" rIns="45720" bIns="27432"/>
          <a:lstStyle/>
          <a:p>
            <a:pPr algn="l"/>
            <a:r>
              <a:rPr sz="1200" b="0">
                <a:solidFill>
                  <a:srgbClr val="1E293B"/>
                </a:solidFill>
                <a:latin typeface="Noto Sans JP"/>
              </a:rPr>
              <a:t>CEO 奥山幸生 / COO 髙橋悠 / CHRO 米澤浩明</a:t>
            </a:r>
          </a:p>
        </p:txBody>
      </p:sp>
      <p:sp>
        <p:nvSpPr>
          <p:cNvPr id="15" name="Rectangle 14"/>
          <p:cNvSpPr/>
          <p:nvPr/>
        </p:nvSpPr>
        <p:spPr>
          <a:xfrm>
            <a:off x="548640" y="2267712"/>
            <a:ext cx="1097280" cy="47548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3" y="2267712"/>
            <a:ext cx="1024127" cy="475488"/>
          </a:xfrm>
          <a:prstGeom prst="rect">
            <a:avLst/>
          </a:prstGeom>
          <a:noFill/>
        </p:spPr>
        <p:txBody>
          <a:bodyPr wrap="square" anchor="ctr" lIns="73152" rIns="45720" bIns="27432"/>
          <a:lstStyle/>
          <a:p>
            <a:pPr algn="l"/>
            <a:r>
              <a:rPr sz="1000" b="1">
                <a:solidFill>
                  <a:srgbClr val="42A4AF"/>
                </a:solidFill>
                <a:latin typeface="Noto Sans JP"/>
              </a:rPr>
              <a:t>資本金</a:t>
            </a:r>
          </a:p>
        </p:txBody>
      </p:sp>
      <p:sp>
        <p:nvSpPr>
          <p:cNvPr id="17" name="Rectangle 16"/>
          <p:cNvSpPr/>
          <p:nvPr/>
        </p:nvSpPr>
        <p:spPr>
          <a:xfrm>
            <a:off x="1691639" y="2267712"/>
            <a:ext cx="4023360" cy="475488"/>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55648" y="2267712"/>
            <a:ext cx="3886200" cy="475488"/>
          </a:xfrm>
          <a:prstGeom prst="rect">
            <a:avLst/>
          </a:prstGeom>
          <a:noFill/>
        </p:spPr>
        <p:txBody>
          <a:bodyPr wrap="square" anchor="ctr" lIns="73152" rIns="45720" bIns="27432"/>
          <a:lstStyle/>
          <a:p>
            <a:pPr algn="l"/>
            <a:r>
              <a:rPr sz="1200" b="0">
                <a:solidFill>
                  <a:srgbClr val="1E293B"/>
                </a:solidFill>
                <a:latin typeface="Noto Sans JP"/>
              </a:rPr>
              <a:t>1,000万円</a:t>
            </a:r>
          </a:p>
        </p:txBody>
      </p:sp>
      <p:sp>
        <p:nvSpPr>
          <p:cNvPr id="19" name="Rectangle 18"/>
          <p:cNvSpPr/>
          <p:nvPr/>
        </p:nvSpPr>
        <p:spPr>
          <a:xfrm>
            <a:off x="548640" y="2807208"/>
            <a:ext cx="1097280" cy="47548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3" y="2807208"/>
            <a:ext cx="1024127" cy="475488"/>
          </a:xfrm>
          <a:prstGeom prst="rect">
            <a:avLst/>
          </a:prstGeom>
          <a:noFill/>
        </p:spPr>
        <p:txBody>
          <a:bodyPr wrap="square" anchor="ctr" lIns="73152" rIns="45720" bIns="27432"/>
          <a:lstStyle/>
          <a:p>
            <a:pPr algn="l"/>
            <a:r>
              <a:rPr sz="1000" b="1">
                <a:solidFill>
                  <a:srgbClr val="42A4AF"/>
                </a:solidFill>
                <a:latin typeface="Noto Sans JP"/>
              </a:rPr>
              <a:t>設立</a:t>
            </a:r>
          </a:p>
        </p:txBody>
      </p:sp>
      <p:sp>
        <p:nvSpPr>
          <p:cNvPr id="21" name="Rectangle 20"/>
          <p:cNvSpPr/>
          <p:nvPr/>
        </p:nvSpPr>
        <p:spPr>
          <a:xfrm>
            <a:off x="1691639" y="2807208"/>
            <a:ext cx="4023360" cy="475488"/>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55648" y="2807208"/>
            <a:ext cx="3886200" cy="475488"/>
          </a:xfrm>
          <a:prstGeom prst="rect">
            <a:avLst/>
          </a:prstGeom>
          <a:noFill/>
        </p:spPr>
        <p:txBody>
          <a:bodyPr wrap="square" anchor="ctr" lIns="73152" rIns="45720" bIns="27432"/>
          <a:lstStyle/>
          <a:p>
            <a:pPr algn="l"/>
            <a:r>
              <a:rPr sz="1200" b="0">
                <a:solidFill>
                  <a:srgbClr val="1E293B"/>
                </a:solidFill>
                <a:latin typeface="Noto Sans JP"/>
              </a:rPr>
              <a:t>2023年10月</a:t>
            </a:r>
          </a:p>
        </p:txBody>
      </p:sp>
      <p:sp>
        <p:nvSpPr>
          <p:cNvPr id="23" name="Rectangle 22"/>
          <p:cNvSpPr/>
          <p:nvPr/>
        </p:nvSpPr>
        <p:spPr>
          <a:xfrm>
            <a:off x="548640" y="3346704"/>
            <a:ext cx="1097280" cy="47548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3" y="3346704"/>
            <a:ext cx="1024127" cy="475488"/>
          </a:xfrm>
          <a:prstGeom prst="rect">
            <a:avLst/>
          </a:prstGeom>
          <a:noFill/>
        </p:spPr>
        <p:txBody>
          <a:bodyPr wrap="square" anchor="ctr" lIns="73152" rIns="45720" bIns="27432"/>
          <a:lstStyle/>
          <a:p>
            <a:pPr algn="l"/>
            <a:r>
              <a:rPr sz="1000" b="1">
                <a:solidFill>
                  <a:srgbClr val="42A4AF"/>
                </a:solidFill>
                <a:latin typeface="Noto Sans JP"/>
              </a:rPr>
              <a:t>所在地</a:t>
            </a:r>
          </a:p>
        </p:txBody>
      </p:sp>
      <p:sp>
        <p:nvSpPr>
          <p:cNvPr id="25" name="Rectangle 24"/>
          <p:cNvSpPr/>
          <p:nvPr/>
        </p:nvSpPr>
        <p:spPr>
          <a:xfrm>
            <a:off x="1691639" y="3346704"/>
            <a:ext cx="4023360" cy="475488"/>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55648" y="3346704"/>
            <a:ext cx="3886200" cy="475488"/>
          </a:xfrm>
          <a:prstGeom prst="rect">
            <a:avLst/>
          </a:prstGeom>
          <a:noFill/>
        </p:spPr>
        <p:txBody>
          <a:bodyPr wrap="square" anchor="ctr" lIns="73152" rIns="45720" bIns="27432"/>
          <a:lstStyle/>
          <a:p>
            <a:pPr algn="l"/>
            <a:r>
              <a:rPr sz="1200" b="0">
                <a:solidFill>
                  <a:srgbClr val="1E293B"/>
                </a:solidFill>
                <a:latin typeface="Noto Sans JP"/>
              </a:rPr>
              <a:t>東京都新宿区西新宿3-7-30</a:t>
            </a:r>
          </a:p>
        </p:txBody>
      </p:sp>
      <p:sp>
        <p:nvSpPr>
          <p:cNvPr id="27" name="Rectangle 26"/>
          <p:cNvSpPr/>
          <p:nvPr/>
        </p:nvSpPr>
        <p:spPr>
          <a:xfrm>
            <a:off x="548640" y="3886200"/>
            <a:ext cx="1097280" cy="47548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3503" y="3886200"/>
            <a:ext cx="1024127" cy="475488"/>
          </a:xfrm>
          <a:prstGeom prst="rect">
            <a:avLst/>
          </a:prstGeom>
          <a:noFill/>
        </p:spPr>
        <p:txBody>
          <a:bodyPr wrap="square" anchor="ctr" lIns="73152" rIns="45720" bIns="27432"/>
          <a:lstStyle/>
          <a:p>
            <a:pPr algn="l"/>
            <a:r>
              <a:rPr sz="1000" b="1">
                <a:solidFill>
                  <a:srgbClr val="42A4AF"/>
                </a:solidFill>
                <a:latin typeface="Noto Sans JP"/>
              </a:rPr>
              <a:t>事業</a:t>
            </a:r>
          </a:p>
        </p:txBody>
      </p:sp>
      <p:sp>
        <p:nvSpPr>
          <p:cNvPr id="29" name="Rectangle 28"/>
          <p:cNvSpPr/>
          <p:nvPr/>
        </p:nvSpPr>
        <p:spPr>
          <a:xfrm>
            <a:off x="1691639" y="3886200"/>
            <a:ext cx="4023360" cy="475488"/>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755648" y="3886200"/>
            <a:ext cx="3886200" cy="475488"/>
          </a:xfrm>
          <a:prstGeom prst="rect">
            <a:avLst/>
          </a:prstGeom>
          <a:noFill/>
        </p:spPr>
        <p:txBody>
          <a:bodyPr wrap="square" anchor="ctr" lIns="73152" rIns="45720" bIns="27432"/>
          <a:lstStyle/>
          <a:p>
            <a:pPr algn="l"/>
            <a:r>
              <a:rPr sz="1200" b="0">
                <a:solidFill>
                  <a:srgbClr val="1E293B"/>
                </a:solidFill>
                <a:latin typeface="Noto Sans JP"/>
              </a:rPr>
              <a:t>AI活用DX支援 / AI研修 / AIスクール</a:t>
            </a:r>
          </a:p>
        </p:txBody>
      </p:sp>
      <p:sp>
        <p:nvSpPr>
          <p:cNvPr id="31" name="Rectangle 30"/>
          <p:cNvSpPr/>
          <p:nvPr/>
        </p:nvSpPr>
        <p:spPr>
          <a:xfrm>
            <a:off x="548640" y="4425696"/>
            <a:ext cx="1097280" cy="47548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3503" y="4425696"/>
            <a:ext cx="1024127" cy="475488"/>
          </a:xfrm>
          <a:prstGeom prst="rect">
            <a:avLst/>
          </a:prstGeom>
          <a:noFill/>
        </p:spPr>
        <p:txBody>
          <a:bodyPr wrap="square" anchor="ctr" lIns="73152" rIns="45720" bIns="27432"/>
          <a:lstStyle/>
          <a:p>
            <a:pPr algn="l"/>
            <a:r>
              <a:rPr sz="1000" b="1">
                <a:solidFill>
                  <a:srgbClr val="42A4AF"/>
                </a:solidFill>
                <a:latin typeface="Noto Sans JP"/>
              </a:rPr>
              <a:t>Mission</a:t>
            </a:r>
          </a:p>
        </p:txBody>
      </p:sp>
      <p:sp>
        <p:nvSpPr>
          <p:cNvPr id="33" name="Rectangle 32"/>
          <p:cNvSpPr/>
          <p:nvPr/>
        </p:nvSpPr>
        <p:spPr>
          <a:xfrm>
            <a:off x="1691639" y="4425696"/>
            <a:ext cx="4023360" cy="475488"/>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755648" y="4425696"/>
            <a:ext cx="3886200" cy="475488"/>
          </a:xfrm>
          <a:prstGeom prst="rect">
            <a:avLst/>
          </a:prstGeom>
          <a:noFill/>
        </p:spPr>
        <p:txBody>
          <a:bodyPr wrap="square" anchor="ctr" lIns="73152" rIns="45720" bIns="27432"/>
          <a:lstStyle/>
          <a:p>
            <a:pPr algn="l"/>
            <a:r>
              <a:rPr sz="1200" b="0">
                <a:solidFill>
                  <a:srgbClr val="1E293B"/>
                </a:solidFill>
                <a:latin typeface="Noto Sans JP"/>
              </a:rPr>
              <a:t>新しい「働くカタチ」を創る</a:t>
            </a:r>
          </a:p>
        </p:txBody>
      </p:sp>
      <p:sp>
        <p:nvSpPr>
          <p:cNvPr id="35" name="Rectangle 34"/>
          <p:cNvSpPr/>
          <p:nvPr/>
        </p:nvSpPr>
        <p:spPr>
          <a:xfrm>
            <a:off x="548640" y="4965192"/>
            <a:ext cx="1097280" cy="47548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3503" y="4965192"/>
            <a:ext cx="1024127" cy="475488"/>
          </a:xfrm>
          <a:prstGeom prst="rect">
            <a:avLst/>
          </a:prstGeom>
          <a:noFill/>
        </p:spPr>
        <p:txBody>
          <a:bodyPr wrap="square" anchor="ctr" lIns="73152" rIns="45720" bIns="27432"/>
          <a:lstStyle/>
          <a:p>
            <a:pPr algn="l"/>
            <a:r>
              <a:rPr sz="1000" b="1">
                <a:solidFill>
                  <a:srgbClr val="42A4AF"/>
                </a:solidFill>
                <a:latin typeface="Noto Sans JP"/>
              </a:rPr>
              <a:t>Vision</a:t>
            </a:r>
          </a:p>
        </p:txBody>
      </p:sp>
      <p:sp>
        <p:nvSpPr>
          <p:cNvPr id="37" name="Rectangle 36"/>
          <p:cNvSpPr/>
          <p:nvPr/>
        </p:nvSpPr>
        <p:spPr>
          <a:xfrm>
            <a:off x="1691639" y="4965192"/>
            <a:ext cx="4023360" cy="475488"/>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755648" y="4965192"/>
            <a:ext cx="3886200" cy="475488"/>
          </a:xfrm>
          <a:prstGeom prst="rect">
            <a:avLst/>
          </a:prstGeom>
          <a:noFill/>
        </p:spPr>
        <p:txBody>
          <a:bodyPr wrap="square" anchor="ctr" lIns="73152" rIns="45720" bIns="27432"/>
          <a:lstStyle/>
          <a:p>
            <a:pPr algn="l"/>
            <a:r>
              <a:rPr sz="1200" b="0">
                <a:solidFill>
                  <a:srgbClr val="1E293B"/>
                </a:solidFill>
                <a:latin typeface="Noto Sans JP"/>
              </a:rPr>
              <a:t>AI（アイ）ある社会に</a:t>
            </a:r>
          </a:p>
        </p:txBody>
      </p:sp>
      <p:sp>
        <p:nvSpPr>
          <p:cNvPr id="39" name="Rounded Rectangle 38"/>
          <p:cNvSpPr/>
          <p:nvPr/>
        </p:nvSpPr>
        <p:spPr>
          <a:xfrm>
            <a:off x="6263640" y="1005840"/>
            <a:ext cx="5577840" cy="1188720"/>
          </a:xfrm>
          <a:prstGeom prst="roundRect">
            <a:avLst>
              <a:gd name="adj" fmla="val 3000"/>
            </a:avLst>
          </a:prstGeom>
          <a:solidFill>
            <a:srgbClr val="E0F4F6"/>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63640" y="1005840"/>
            <a:ext cx="54864" cy="118872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92240" y="1115568"/>
            <a:ext cx="5120640" cy="411480"/>
          </a:xfrm>
          <a:prstGeom prst="rect">
            <a:avLst/>
          </a:prstGeom>
          <a:noFill/>
        </p:spPr>
        <p:txBody>
          <a:bodyPr wrap="square" anchor="t" lIns="73152" rIns="45720" bIns="27432"/>
          <a:lstStyle/>
          <a:p>
            <a:pPr algn="l"/>
            <a:r>
              <a:rPr sz="1600" b="1">
                <a:solidFill>
                  <a:srgbClr val="1E293B"/>
                </a:solidFill>
                <a:latin typeface="Noto Sans JP"/>
              </a:rPr>
              <a:t>Kawaru</a:t>
            </a:r>
          </a:p>
        </p:txBody>
      </p:sp>
      <p:sp>
        <p:nvSpPr>
          <p:cNvPr id="42" name="TextBox 41"/>
          <p:cNvSpPr txBox="1"/>
          <p:nvPr/>
        </p:nvSpPr>
        <p:spPr>
          <a:xfrm>
            <a:off x="6492240" y="1572768"/>
            <a:ext cx="5120640" cy="411480"/>
          </a:xfrm>
          <a:prstGeom prst="rect">
            <a:avLst/>
          </a:prstGeom>
          <a:noFill/>
        </p:spPr>
        <p:txBody>
          <a:bodyPr wrap="square" anchor="t" lIns="73152" rIns="45720" bIns="27432"/>
          <a:lstStyle/>
          <a:p>
            <a:pPr algn="l"/>
            <a:r>
              <a:rPr sz="1300" b="0">
                <a:solidFill>
                  <a:srgbClr val="64748B"/>
                </a:solidFill>
                <a:latin typeface="Noto Sans JP"/>
              </a:rPr>
              <a:t>業務自動化SaaS</a:t>
            </a:r>
          </a:p>
        </p:txBody>
      </p:sp>
      <p:sp>
        <p:nvSpPr>
          <p:cNvPr id="43" name="Rounded Rectangle 42"/>
          <p:cNvSpPr/>
          <p:nvPr/>
        </p:nvSpPr>
        <p:spPr>
          <a:xfrm>
            <a:off x="6263640" y="2331720"/>
            <a:ext cx="5577840" cy="1188720"/>
          </a:xfrm>
          <a:prstGeom prst="roundRect">
            <a:avLst>
              <a:gd name="adj" fmla="val 3000"/>
            </a:avLst>
          </a:prstGeom>
          <a:solidFill>
            <a:srgbClr val="EFF6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63640" y="2331720"/>
            <a:ext cx="54864" cy="1188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92240" y="2441448"/>
            <a:ext cx="5120640" cy="411480"/>
          </a:xfrm>
          <a:prstGeom prst="rect">
            <a:avLst/>
          </a:prstGeom>
          <a:noFill/>
        </p:spPr>
        <p:txBody>
          <a:bodyPr wrap="square" anchor="t" lIns="73152" rIns="45720" bIns="27432"/>
          <a:lstStyle/>
          <a:p>
            <a:pPr algn="l"/>
            <a:r>
              <a:rPr sz="1600" b="1">
                <a:solidFill>
                  <a:srgbClr val="1E293B"/>
                </a:solidFill>
                <a:latin typeface="Noto Sans JP"/>
              </a:rPr>
              <a:t>Kawaru Team</a:t>
            </a:r>
          </a:p>
        </p:txBody>
      </p:sp>
      <p:sp>
        <p:nvSpPr>
          <p:cNvPr id="46" name="TextBox 45"/>
          <p:cNvSpPr txBox="1"/>
          <p:nvPr/>
        </p:nvSpPr>
        <p:spPr>
          <a:xfrm>
            <a:off x="6492240" y="2898648"/>
            <a:ext cx="5120640" cy="411480"/>
          </a:xfrm>
          <a:prstGeom prst="rect">
            <a:avLst/>
          </a:prstGeom>
          <a:noFill/>
        </p:spPr>
        <p:txBody>
          <a:bodyPr wrap="square" anchor="t" lIns="73152" rIns="45720" bIns="27432"/>
          <a:lstStyle/>
          <a:p>
            <a:pPr algn="l"/>
            <a:r>
              <a:rPr sz="1300" b="0">
                <a:solidFill>
                  <a:srgbClr val="64748B"/>
                </a:solidFill>
                <a:latin typeface="Noto Sans JP"/>
              </a:rPr>
              <a:t>フルカスタマイズAI研修</a:t>
            </a:r>
          </a:p>
        </p:txBody>
      </p:sp>
      <p:sp>
        <p:nvSpPr>
          <p:cNvPr id="47" name="Rounded Rectangle 46"/>
          <p:cNvSpPr/>
          <p:nvPr/>
        </p:nvSpPr>
        <p:spPr>
          <a:xfrm>
            <a:off x="6263640" y="3657600"/>
            <a:ext cx="5577840" cy="1188720"/>
          </a:xfrm>
          <a:prstGeom prst="roundRect">
            <a:avLst>
              <a:gd name="adj" fmla="val 3000"/>
            </a:avLst>
          </a:prstGeom>
          <a:solidFill>
            <a:srgbClr val="F0FDF4"/>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63640" y="3657600"/>
            <a:ext cx="54864" cy="11887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92240" y="3767328"/>
            <a:ext cx="5120640" cy="411480"/>
          </a:xfrm>
          <a:prstGeom prst="rect">
            <a:avLst/>
          </a:prstGeom>
          <a:noFill/>
        </p:spPr>
        <p:txBody>
          <a:bodyPr wrap="square" anchor="t" lIns="73152" rIns="45720" bIns="27432"/>
          <a:lstStyle/>
          <a:p>
            <a:pPr algn="l"/>
            <a:r>
              <a:rPr sz="1600" b="1">
                <a:solidFill>
                  <a:srgbClr val="1E293B"/>
                </a:solidFill>
                <a:latin typeface="Noto Sans JP"/>
              </a:rPr>
              <a:t>Kawaru BPO</a:t>
            </a:r>
          </a:p>
        </p:txBody>
      </p:sp>
      <p:sp>
        <p:nvSpPr>
          <p:cNvPr id="50" name="TextBox 49"/>
          <p:cNvSpPr txBox="1"/>
          <p:nvPr/>
        </p:nvSpPr>
        <p:spPr>
          <a:xfrm>
            <a:off x="6492240" y="4224528"/>
            <a:ext cx="5120640" cy="411480"/>
          </a:xfrm>
          <a:prstGeom prst="rect">
            <a:avLst/>
          </a:prstGeom>
          <a:noFill/>
        </p:spPr>
        <p:txBody>
          <a:bodyPr wrap="square" anchor="t" lIns="73152" rIns="45720" bIns="27432"/>
          <a:lstStyle/>
          <a:p>
            <a:pPr algn="l"/>
            <a:r>
              <a:rPr sz="1300" b="0">
                <a:solidFill>
                  <a:srgbClr val="64748B"/>
                </a:solidFill>
                <a:latin typeface="Noto Sans JP"/>
              </a:rPr>
              <a:t>AI業務効率化代行</a:t>
            </a:r>
          </a:p>
        </p:txBody>
      </p:sp>
      <p:sp>
        <p:nvSpPr>
          <p:cNvPr id="51" name="Rounded Rectangle 50"/>
          <p:cNvSpPr/>
          <p:nvPr/>
        </p:nvSpPr>
        <p:spPr>
          <a:xfrm>
            <a:off x="6263640" y="4983480"/>
            <a:ext cx="5577840" cy="1188720"/>
          </a:xfrm>
          <a:prstGeom prst="roundRect">
            <a:avLst>
              <a:gd name="adj" fmla="val 3000"/>
            </a:avLst>
          </a:prstGeom>
          <a:solidFill>
            <a:srgbClr val="FEF3C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263640" y="4983480"/>
            <a:ext cx="54864" cy="1188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92240" y="5093208"/>
            <a:ext cx="5120640" cy="411480"/>
          </a:xfrm>
          <a:prstGeom prst="rect">
            <a:avLst/>
          </a:prstGeom>
          <a:noFill/>
        </p:spPr>
        <p:txBody>
          <a:bodyPr wrap="square" anchor="t" lIns="73152" rIns="45720" bIns="27432"/>
          <a:lstStyle/>
          <a:p>
            <a:pPr algn="l"/>
            <a:r>
              <a:rPr sz="1600" b="1">
                <a:solidFill>
                  <a:srgbClr val="1E293B"/>
                </a:solidFill>
                <a:latin typeface="Noto Sans JP"/>
              </a:rPr>
              <a:t>Kawaru Coach</a:t>
            </a:r>
          </a:p>
        </p:txBody>
      </p:sp>
      <p:sp>
        <p:nvSpPr>
          <p:cNvPr id="54" name="TextBox 53"/>
          <p:cNvSpPr txBox="1"/>
          <p:nvPr/>
        </p:nvSpPr>
        <p:spPr>
          <a:xfrm>
            <a:off x="6492240" y="5550408"/>
            <a:ext cx="5120640" cy="411480"/>
          </a:xfrm>
          <a:prstGeom prst="rect">
            <a:avLst/>
          </a:prstGeom>
          <a:noFill/>
        </p:spPr>
        <p:txBody>
          <a:bodyPr wrap="square" anchor="t" lIns="73152" rIns="45720" bIns="27432"/>
          <a:lstStyle/>
          <a:p>
            <a:pPr algn="l"/>
            <a:r>
              <a:rPr sz="1300" b="0">
                <a:solidFill>
                  <a:srgbClr val="64748B"/>
                </a:solidFill>
                <a:latin typeface="Noto Sans JP"/>
              </a:rPr>
              <a:t>AI顧問サービス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8686800" cy="694944"/>
          </a:xfrm>
          <a:prstGeom prst="rect">
            <a:avLst/>
          </a:prstGeom>
          <a:noFill/>
        </p:spPr>
        <p:txBody>
          <a:bodyPr wrap="square" anchor="ctr" lIns="73152" rIns="45720" bIns="27432"/>
          <a:lstStyle/>
          <a:p>
            <a:pPr algn="l"/>
            <a:r>
              <a:rPr sz="2400" b="1">
                <a:solidFill>
                  <a:srgbClr val="FFFFFF"/>
                </a:solidFill>
                <a:latin typeface="Noto Sans JP"/>
              </a:rPr>
              <a:t>導入実績</a:t>
            </a:r>
          </a:p>
        </p:txBody>
      </p:sp>
      <p:sp>
        <p:nvSpPr>
          <p:cNvPr id="4" name="TextBox 3"/>
          <p:cNvSpPr txBox="1"/>
          <p:nvPr/>
        </p:nvSpPr>
        <p:spPr>
          <a:xfrm>
            <a:off x="9692640" y="164592"/>
            <a:ext cx="2286000" cy="548640"/>
          </a:xfrm>
          <a:prstGeom prst="rect">
            <a:avLst/>
          </a:prstGeom>
          <a:noFill/>
        </p:spPr>
        <p:txBody>
          <a:bodyPr wrap="square" anchor="ctr" lIns="73152" rIns="45720" bIns="27432"/>
          <a:lstStyle/>
          <a:p>
            <a:pPr algn="r"/>
            <a:r>
              <a:rPr sz="1100" b="0">
                <a:solidFill>
                  <a:srgbClr val="FFFFFF"/>
                </a:solidFill>
                <a:latin typeface="Noto Sans JP"/>
              </a:rPr>
              <a:t>株式会社エヌイチ</a:t>
            </a:r>
          </a:p>
        </p:txBody>
      </p:sp>
      <p:sp>
        <p:nvSpPr>
          <p:cNvPr id="5" name="Rectangle 4"/>
          <p:cNvSpPr/>
          <p:nvPr/>
        </p:nvSpPr>
        <p:spPr>
          <a:xfrm>
            <a:off x="0" y="914400"/>
            <a:ext cx="12188952" cy="38404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941832"/>
            <a:ext cx="11430000" cy="329184"/>
          </a:xfrm>
          <a:prstGeom prst="rect">
            <a:avLst/>
          </a:prstGeom>
          <a:noFill/>
        </p:spPr>
        <p:txBody>
          <a:bodyPr wrap="square" anchor="t" lIns="73152" rIns="45720" bIns="27432"/>
          <a:lstStyle/>
          <a:p>
            <a:pPr algn="l"/>
            <a:r>
              <a:rPr sz="1200" b="0">
                <a:solidFill>
                  <a:srgbClr val="1E405F"/>
                </a:solidFill>
                <a:latin typeface="Noto Sans JP"/>
              </a:rPr>
              <a:t>あらゆる規模の企業様に導入されています</a:t>
            </a:r>
          </a:p>
        </p:txBody>
      </p:sp>
      <p:sp>
        <p:nvSpPr>
          <p:cNvPr id="7" name="Rounded Rectangle 6"/>
          <p:cNvSpPr/>
          <p:nvPr/>
        </p:nvSpPr>
        <p:spPr>
          <a:xfrm>
            <a:off x="365760" y="1481328"/>
            <a:ext cx="2679192" cy="347472"/>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81328"/>
            <a:ext cx="2587752" cy="347472"/>
          </a:xfrm>
          <a:prstGeom prst="rect">
            <a:avLst/>
          </a:prstGeom>
          <a:noFill/>
        </p:spPr>
        <p:txBody>
          <a:bodyPr wrap="square" anchor="ctr" lIns="73152" rIns="45720" bIns="27432"/>
          <a:lstStyle/>
          <a:p>
            <a:pPr algn="ctr"/>
            <a:r>
              <a:rPr sz="1100" b="0">
                <a:solidFill>
                  <a:srgbClr val="64748B"/>
                </a:solidFill>
                <a:latin typeface="Noto Sans JP"/>
              </a:rPr>
              <a:t>株式会社ブロードリンク</a:t>
            </a:r>
          </a:p>
        </p:txBody>
      </p:sp>
      <p:sp>
        <p:nvSpPr>
          <p:cNvPr id="9" name="Rounded Rectangle 8"/>
          <p:cNvSpPr/>
          <p:nvPr/>
        </p:nvSpPr>
        <p:spPr>
          <a:xfrm>
            <a:off x="3246120" y="1481328"/>
            <a:ext cx="2679192" cy="347472"/>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37560" y="1481328"/>
            <a:ext cx="2587752" cy="347472"/>
          </a:xfrm>
          <a:prstGeom prst="rect">
            <a:avLst/>
          </a:prstGeom>
          <a:noFill/>
        </p:spPr>
        <p:txBody>
          <a:bodyPr wrap="square" anchor="ctr" lIns="73152" rIns="45720" bIns="27432"/>
          <a:lstStyle/>
          <a:p>
            <a:pPr algn="ctr"/>
            <a:r>
              <a:rPr sz="1100" b="0">
                <a:solidFill>
                  <a:srgbClr val="64748B"/>
                </a:solidFill>
                <a:latin typeface="Noto Sans JP"/>
              </a:rPr>
              <a:t>株式会社中西製作所</a:t>
            </a:r>
          </a:p>
        </p:txBody>
      </p:sp>
      <p:sp>
        <p:nvSpPr>
          <p:cNvPr id="11" name="Rounded Rectangle 10"/>
          <p:cNvSpPr/>
          <p:nvPr/>
        </p:nvSpPr>
        <p:spPr>
          <a:xfrm>
            <a:off x="6126480" y="1481328"/>
            <a:ext cx="2679192" cy="347472"/>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481328"/>
            <a:ext cx="2587752" cy="347472"/>
          </a:xfrm>
          <a:prstGeom prst="rect">
            <a:avLst/>
          </a:prstGeom>
          <a:noFill/>
        </p:spPr>
        <p:txBody>
          <a:bodyPr wrap="square" anchor="ctr" lIns="73152" rIns="45720" bIns="27432"/>
          <a:lstStyle/>
          <a:p>
            <a:pPr algn="ctr"/>
            <a:r>
              <a:rPr sz="1100" b="0">
                <a:solidFill>
                  <a:srgbClr val="64748B"/>
                </a:solidFill>
                <a:latin typeface="Noto Sans JP"/>
              </a:rPr>
              <a:t>株式会社ミズカラ</a:t>
            </a:r>
          </a:p>
        </p:txBody>
      </p:sp>
      <p:sp>
        <p:nvSpPr>
          <p:cNvPr id="13" name="Rounded Rectangle 12"/>
          <p:cNvSpPr/>
          <p:nvPr/>
        </p:nvSpPr>
        <p:spPr>
          <a:xfrm>
            <a:off x="9006840" y="1481328"/>
            <a:ext cx="2679192" cy="347472"/>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1481328"/>
            <a:ext cx="2587752" cy="347472"/>
          </a:xfrm>
          <a:prstGeom prst="rect">
            <a:avLst/>
          </a:prstGeom>
          <a:noFill/>
        </p:spPr>
        <p:txBody>
          <a:bodyPr wrap="square" anchor="ctr" lIns="73152" rIns="45720" bIns="27432"/>
          <a:lstStyle/>
          <a:p>
            <a:pPr algn="ctr"/>
            <a:r>
              <a:rPr sz="1100" b="0">
                <a:solidFill>
                  <a:srgbClr val="64748B"/>
                </a:solidFill>
                <a:latin typeface="Noto Sans JP"/>
              </a:rPr>
              <a:t>エル・ティー・エス リンク</a:t>
            </a:r>
          </a:p>
        </p:txBody>
      </p:sp>
      <p:sp>
        <p:nvSpPr>
          <p:cNvPr id="15" name="Rounded Rectangle 14"/>
          <p:cNvSpPr/>
          <p:nvPr/>
        </p:nvSpPr>
        <p:spPr>
          <a:xfrm>
            <a:off x="365760" y="1938528"/>
            <a:ext cx="2679192" cy="347472"/>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938528"/>
            <a:ext cx="2587752" cy="347472"/>
          </a:xfrm>
          <a:prstGeom prst="rect">
            <a:avLst/>
          </a:prstGeom>
          <a:noFill/>
        </p:spPr>
        <p:txBody>
          <a:bodyPr wrap="square" anchor="ctr" lIns="73152" rIns="45720" bIns="27432"/>
          <a:lstStyle/>
          <a:p>
            <a:pPr algn="ctr"/>
            <a:r>
              <a:rPr sz="1100" b="0">
                <a:solidFill>
                  <a:srgbClr val="64748B"/>
                </a:solidFill>
                <a:latin typeface="Noto Sans JP"/>
              </a:rPr>
              <a:t>FRUOR株式会社</a:t>
            </a:r>
          </a:p>
        </p:txBody>
      </p:sp>
      <p:sp>
        <p:nvSpPr>
          <p:cNvPr id="17" name="Rounded Rectangle 16"/>
          <p:cNvSpPr/>
          <p:nvPr/>
        </p:nvSpPr>
        <p:spPr>
          <a:xfrm>
            <a:off x="3246120" y="1938528"/>
            <a:ext cx="2679192" cy="347472"/>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37560" y="1938528"/>
            <a:ext cx="2587752" cy="347472"/>
          </a:xfrm>
          <a:prstGeom prst="rect">
            <a:avLst/>
          </a:prstGeom>
          <a:noFill/>
        </p:spPr>
        <p:txBody>
          <a:bodyPr wrap="square" anchor="ctr" lIns="73152" rIns="45720" bIns="27432"/>
          <a:lstStyle/>
          <a:p>
            <a:pPr algn="ctr"/>
            <a:r>
              <a:rPr sz="1100" b="0">
                <a:solidFill>
                  <a:srgbClr val="64748B"/>
                </a:solidFill>
                <a:latin typeface="Noto Sans JP"/>
              </a:rPr>
              <a:t>株式会社BIRDY</a:t>
            </a:r>
          </a:p>
        </p:txBody>
      </p:sp>
      <p:sp>
        <p:nvSpPr>
          <p:cNvPr id="19" name="Rounded Rectangle 18"/>
          <p:cNvSpPr/>
          <p:nvPr/>
        </p:nvSpPr>
        <p:spPr>
          <a:xfrm>
            <a:off x="6126480" y="1938528"/>
            <a:ext cx="2679192" cy="347472"/>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938528"/>
            <a:ext cx="2587752" cy="347472"/>
          </a:xfrm>
          <a:prstGeom prst="rect">
            <a:avLst/>
          </a:prstGeom>
          <a:noFill/>
        </p:spPr>
        <p:txBody>
          <a:bodyPr wrap="square" anchor="ctr" lIns="73152" rIns="45720" bIns="27432"/>
          <a:lstStyle/>
          <a:p>
            <a:pPr algn="ctr"/>
            <a:r>
              <a:rPr sz="1100" b="0">
                <a:solidFill>
                  <a:srgbClr val="64748B"/>
                </a:solidFill>
                <a:latin typeface="Noto Sans JP"/>
              </a:rPr>
              <a:t>株式会社オンシナジー</a:t>
            </a:r>
          </a:p>
        </p:txBody>
      </p:sp>
      <p:sp>
        <p:nvSpPr>
          <p:cNvPr id="21" name="Rounded Rectangle 20"/>
          <p:cNvSpPr/>
          <p:nvPr/>
        </p:nvSpPr>
        <p:spPr>
          <a:xfrm>
            <a:off x="9006840" y="1938528"/>
            <a:ext cx="2679192" cy="347472"/>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98280" y="1938528"/>
            <a:ext cx="2587752" cy="347472"/>
          </a:xfrm>
          <a:prstGeom prst="rect">
            <a:avLst/>
          </a:prstGeom>
          <a:noFill/>
        </p:spPr>
        <p:txBody>
          <a:bodyPr wrap="square" anchor="ctr" lIns="73152" rIns="45720" bIns="27432"/>
          <a:lstStyle/>
          <a:p>
            <a:pPr algn="ctr"/>
            <a:r>
              <a:rPr sz="1100" b="0">
                <a:solidFill>
                  <a:srgbClr val="64748B"/>
                </a:solidFill>
                <a:latin typeface="Noto Sans JP"/>
              </a:rPr>
              <a:t>キリングループ</a:t>
            </a:r>
          </a:p>
        </p:txBody>
      </p:sp>
      <p:sp>
        <p:nvSpPr>
          <p:cNvPr id="23" name="Rounded Rectangle 22"/>
          <p:cNvSpPr/>
          <p:nvPr/>
        </p:nvSpPr>
        <p:spPr>
          <a:xfrm>
            <a:off x="365760" y="2395728"/>
            <a:ext cx="3584448" cy="4279392"/>
          </a:xfrm>
          <a:prstGeom prst="roundRect">
            <a:avLst>
              <a:gd name="adj" fmla="val 3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2395728"/>
            <a:ext cx="54864" cy="4279392"/>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2532888"/>
            <a:ext cx="3264408" cy="347472"/>
          </a:xfrm>
          <a:prstGeom prst="rect">
            <a:avLst/>
          </a:prstGeom>
          <a:noFill/>
        </p:spPr>
        <p:txBody>
          <a:bodyPr wrap="square" anchor="t" lIns="73152" rIns="45720" bIns="27432"/>
          <a:lstStyle/>
          <a:p>
            <a:pPr algn="l"/>
            <a:r>
              <a:rPr sz="1400" b="1">
                <a:solidFill>
                  <a:srgbClr val="1E293B"/>
                </a:solidFill>
                <a:latin typeface="Noto Sans JP"/>
              </a:rPr>
              <a:t>キリングループ様</a:t>
            </a:r>
          </a:p>
        </p:txBody>
      </p:sp>
      <p:sp>
        <p:nvSpPr>
          <p:cNvPr id="26" name="Rounded Rectangle 25"/>
          <p:cNvSpPr/>
          <p:nvPr/>
        </p:nvSpPr>
        <p:spPr>
          <a:xfrm>
            <a:off x="502920" y="2962656"/>
            <a:ext cx="3310128" cy="1005840"/>
          </a:xfrm>
          <a:prstGeom prst="roundRect">
            <a:avLst>
              <a:gd name="adj" fmla="val 2000"/>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2962656"/>
            <a:ext cx="54864" cy="10058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017520"/>
            <a:ext cx="3127248" cy="256032"/>
          </a:xfrm>
          <a:prstGeom prst="rect">
            <a:avLst/>
          </a:prstGeom>
          <a:noFill/>
        </p:spPr>
        <p:txBody>
          <a:bodyPr wrap="square" anchor="t" lIns="73152" rIns="45720" bIns="27432"/>
          <a:lstStyle/>
          <a:p>
            <a:pPr algn="l"/>
            <a:r>
              <a:rPr sz="1000" b="1">
                <a:solidFill>
                  <a:srgbClr val="EF4444"/>
                </a:solidFill>
                <a:latin typeface="Noto Sans JP"/>
              </a:rPr>
              <a:t>課題</a:t>
            </a:r>
          </a:p>
        </p:txBody>
      </p:sp>
      <p:sp>
        <p:nvSpPr>
          <p:cNvPr id="29" name="TextBox 28"/>
          <p:cNvSpPr txBox="1"/>
          <p:nvPr/>
        </p:nvSpPr>
        <p:spPr>
          <a:xfrm>
            <a:off x="640080" y="3310128"/>
            <a:ext cx="3127248" cy="530352"/>
          </a:xfrm>
          <a:prstGeom prst="rect">
            <a:avLst/>
          </a:prstGeom>
          <a:noFill/>
        </p:spPr>
        <p:txBody>
          <a:bodyPr wrap="square" anchor="t" lIns="73152" rIns="45720" bIns="27432"/>
          <a:lstStyle/>
          <a:p>
            <a:pPr algn="l"/>
            <a:r>
              <a:rPr sz="1200" b="0">
                <a:solidFill>
                  <a:srgbClr val="1E293B"/>
                </a:solidFill>
                <a:latin typeface="Noto Sans JP"/>
              </a:rPr>
              <a:t>AI未経験、活用イメージなし</a:t>
            </a:r>
          </a:p>
        </p:txBody>
      </p:sp>
      <p:sp>
        <p:nvSpPr>
          <p:cNvPr id="30" name="TextBox 29"/>
          <p:cNvSpPr txBox="1"/>
          <p:nvPr/>
        </p:nvSpPr>
        <p:spPr>
          <a:xfrm>
            <a:off x="2020824" y="4041648"/>
            <a:ext cx="274320" cy="292608"/>
          </a:xfrm>
          <a:prstGeom prst="rect">
            <a:avLst/>
          </a:prstGeom>
          <a:noFill/>
        </p:spPr>
        <p:txBody>
          <a:bodyPr wrap="square" anchor="ctr" lIns="73152" rIns="45720" bIns="27432"/>
          <a:lstStyle/>
          <a:p>
            <a:pPr algn="ctr"/>
            <a:r>
              <a:rPr sz="1400" b="0">
                <a:solidFill>
                  <a:srgbClr val="42A4AF"/>
                </a:solidFill>
                <a:latin typeface="Noto Sans JP"/>
              </a:rPr>
              <a:t>▼</a:t>
            </a:r>
          </a:p>
        </p:txBody>
      </p:sp>
      <p:sp>
        <p:nvSpPr>
          <p:cNvPr id="31" name="Rounded Rectangle 30"/>
          <p:cNvSpPr/>
          <p:nvPr/>
        </p:nvSpPr>
        <p:spPr>
          <a:xfrm>
            <a:off x="502920" y="4425696"/>
            <a:ext cx="3310128" cy="1188720"/>
          </a:xfrm>
          <a:prstGeom prst="roundRect">
            <a:avLst>
              <a:gd name="adj" fmla="val 2000"/>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4425696"/>
            <a:ext cx="54864" cy="11887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4480560"/>
            <a:ext cx="3127248" cy="256032"/>
          </a:xfrm>
          <a:prstGeom prst="rect">
            <a:avLst/>
          </a:prstGeom>
          <a:noFill/>
        </p:spPr>
        <p:txBody>
          <a:bodyPr wrap="square" anchor="t" lIns="73152" rIns="45720" bIns="27432"/>
          <a:lstStyle/>
          <a:p>
            <a:pPr algn="l"/>
            <a:r>
              <a:rPr sz="1000" b="1">
                <a:solidFill>
                  <a:srgbClr val="16A34A"/>
                </a:solidFill>
                <a:latin typeface="Noto Sans JP"/>
              </a:rPr>
              <a:t>成果</a:t>
            </a:r>
          </a:p>
        </p:txBody>
      </p:sp>
      <p:sp>
        <p:nvSpPr>
          <p:cNvPr id="34" name="TextBox 33"/>
          <p:cNvSpPr txBox="1"/>
          <p:nvPr/>
        </p:nvSpPr>
        <p:spPr>
          <a:xfrm>
            <a:off x="640080" y="4773168"/>
            <a:ext cx="3127248" cy="713232"/>
          </a:xfrm>
          <a:prstGeom prst="rect">
            <a:avLst/>
          </a:prstGeom>
          <a:noFill/>
        </p:spPr>
        <p:txBody>
          <a:bodyPr wrap="square" anchor="t" lIns="73152" rIns="45720" bIns="27432"/>
          <a:lstStyle/>
          <a:p>
            <a:pPr algn="l"/>
            <a:r>
              <a:rPr sz="1200" b="1">
                <a:solidFill>
                  <a:srgbClr val="1E293B"/>
                </a:solidFill>
                <a:latin typeface="Noto Sans JP"/>
              </a:rPr>
              <a:t>全員が「業務でAIを使いたい」と回答</a:t>
            </a:r>
          </a:p>
          <a:p>
            <a:pPr algn="l"/>
            <a:r>
              <a:rPr sz="1200" b="1">
                <a:solidFill>
                  <a:srgbClr val="1E293B"/>
                </a:solidFill>
                <a:latin typeface="Noto Sans JP"/>
              </a:rPr>
              <a:t>満足度 8.5点</a:t>
            </a:r>
          </a:p>
        </p:txBody>
      </p:sp>
      <p:sp>
        <p:nvSpPr>
          <p:cNvPr id="35" name="Rounded Rectangle 34"/>
          <p:cNvSpPr/>
          <p:nvPr/>
        </p:nvSpPr>
        <p:spPr>
          <a:xfrm>
            <a:off x="4197096" y="2395728"/>
            <a:ext cx="3584448" cy="4279392"/>
          </a:xfrm>
          <a:prstGeom prst="roundRect">
            <a:avLst>
              <a:gd name="adj" fmla="val 3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197096" y="2395728"/>
            <a:ext cx="54864" cy="4279392"/>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98264" y="2532888"/>
            <a:ext cx="3264408" cy="347472"/>
          </a:xfrm>
          <a:prstGeom prst="rect">
            <a:avLst/>
          </a:prstGeom>
          <a:noFill/>
        </p:spPr>
        <p:txBody>
          <a:bodyPr wrap="square" anchor="t" lIns="73152" rIns="45720" bIns="27432"/>
          <a:lstStyle/>
          <a:p>
            <a:pPr algn="l"/>
            <a:r>
              <a:rPr sz="1400" b="1">
                <a:solidFill>
                  <a:srgbClr val="1E293B"/>
                </a:solidFill>
                <a:latin typeface="Noto Sans JP"/>
              </a:rPr>
              <a:t>株式会社ミズカラ様</a:t>
            </a:r>
          </a:p>
        </p:txBody>
      </p:sp>
      <p:sp>
        <p:nvSpPr>
          <p:cNvPr id="38" name="Rounded Rectangle 37"/>
          <p:cNvSpPr/>
          <p:nvPr/>
        </p:nvSpPr>
        <p:spPr>
          <a:xfrm>
            <a:off x="4334256" y="2962656"/>
            <a:ext cx="3310128" cy="1005840"/>
          </a:xfrm>
          <a:prstGeom prst="roundRect">
            <a:avLst>
              <a:gd name="adj" fmla="val 2000"/>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334256" y="2962656"/>
            <a:ext cx="54864" cy="10058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71416" y="3017520"/>
            <a:ext cx="3127248" cy="256032"/>
          </a:xfrm>
          <a:prstGeom prst="rect">
            <a:avLst/>
          </a:prstGeom>
          <a:noFill/>
        </p:spPr>
        <p:txBody>
          <a:bodyPr wrap="square" anchor="t" lIns="73152" rIns="45720" bIns="27432"/>
          <a:lstStyle/>
          <a:p>
            <a:pPr algn="l"/>
            <a:r>
              <a:rPr sz="1000" b="1">
                <a:solidFill>
                  <a:srgbClr val="EF4444"/>
                </a:solidFill>
                <a:latin typeface="Noto Sans JP"/>
              </a:rPr>
              <a:t>課題</a:t>
            </a:r>
          </a:p>
        </p:txBody>
      </p:sp>
      <p:sp>
        <p:nvSpPr>
          <p:cNvPr id="41" name="TextBox 40"/>
          <p:cNvSpPr txBox="1"/>
          <p:nvPr/>
        </p:nvSpPr>
        <p:spPr>
          <a:xfrm>
            <a:off x="4471416" y="3310128"/>
            <a:ext cx="3127248" cy="530352"/>
          </a:xfrm>
          <a:prstGeom prst="rect">
            <a:avLst/>
          </a:prstGeom>
          <a:noFill/>
        </p:spPr>
        <p:txBody>
          <a:bodyPr wrap="square" anchor="t" lIns="73152" rIns="45720" bIns="27432"/>
          <a:lstStyle/>
          <a:p>
            <a:pPr algn="l"/>
            <a:r>
              <a:rPr sz="1200" b="0">
                <a:solidFill>
                  <a:srgbClr val="1E293B"/>
                </a:solidFill>
                <a:latin typeface="Noto Sans JP"/>
              </a:rPr>
              <a:t>問い合わせ対応に月283時間</a:t>
            </a:r>
          </a:p>
        </p:txBody>
      </p:sp>
      <p:sp>
        <p:nvSpPr>
          <p:cNvPr id="42" name="TextBox 41"/>
          <p:cNvSpPr txBox="1"/>
          <p:nvPr/>
        </p:nvSpPr>
        <p:spPr>
          <a:xfrm>
            <a:off x="5852159" y="4041648"/>
            <a:ext cx="274320" cy="292608"/>
          </a:xfrm>
          <a:prstGeom prst="rect">
            <a:avLst/>
          </a:prstGeom>
          <a:noFill/>
        </p:spPr>
        <p:txBody>
          <a:bodyPr wrap="square" anchor="ctr" lIns="73152" rIns="45720" bIns="27432"/>
          <a:lstStyle/>
          <a:p>
            <a:pPr algn="ctr"/>
            <a:r>
              <a:rPr sz="1400" b="0">
                <a:solidFill>
                  <a:srgbClr val="42A4AF"/>
                </a:solidFill>
                <a:latin typeface="Noto Sans JP"/>
              </a:rPr>
              <a:t>▼</a:t>
            </a:r>
          </a:p>
        </p:txBody>
      </p:sp>
      <p:sp>
        <p:nvSpPr>
          <p:cNvPr id="43" name="Rounded Rectangle 42"/>
          <p:cNvSpPr/>
          <p:nvPr/>
        </p:nvSpPr>
        <p:spPr>
          <a:xfrm>
            <a:off x="4334256" y="4425696"/>
            <a:ext cx="3310128" cy="1188720"/>
          </a:xfrm>
          <a:prstGeom prst="roundRect">
            <a:avLst>
              <a:gd name="adj" fmla="val 2000"/>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334256" y="4425696"/>
            <a:ext cx="54864" cy="11887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71416" y="4480560"/>
            <a:ext cx="3127248" cy="256032"/>
          </a:xfrm>
          <a:prstGeom prst="rect">
            <a:avLst/>
          </a:prstGeom>
          <a:noFill/>
        </p:spPr>
        <p:txBody>
          <a:bodyPr wrap="square" anchor="t" lIns="73152" rIns="45720" bIns="27432"/>
          <a:lstStyle/>
          <a:p>
            <a:pPr algn="l"/>
            <a:r>
              <a:rPr sz="1000" b="1">
                <a:solidFill>
                  <a:srgbClr val="16A34A"/>
                </a:solidFill>
                <a:latin typeface="Noto Sans JP"/>
              </a:rPr>
              <a:t>成果</a:t>
            </a:r>
          </a:p>
        </p:txBody>
      </p:sp>
      <p:sp>
        <p:nvSpPr>
          <p:cNvPr id="46" name="TextBox 45"/>
          <p:cNvSpPr txBox="1"/>
          <p:nvPr/>
        </p:nvSpPr>
        <p:spPr>
          <a:xfrm>
            <a:off x="4471416" y="4773168"/>
            <a:ext cx="3127248" cy="713232"/>
          </a:xfrm>
          <a:prstGeom prst="rect">
            <a:avLst/>
          </a:prstGeom>
          <a:noFill/>
        </p:spPr>
        <p:txBody>
          <a:bodyPr wrap="square" anchor="t" lIns="73152" rIns="45720" bIns="27432"/>
          <a:lstStyle/>
          <a:p>
            <a:pPr algn="l"/>
            <a:r>
              <a:rPr sz="1200" b="1">
                <a:solidFill>
                  <a:srgbClr val="1E293B"/>
                </a:solidFill>
                <a:latin typeface="Noto Sans JP"/>
              </a:rPr>
              <a:t>月85時間へ削減</a:t>
            </a:r>
          </a:p>
          <a:p>
            <a:pPr algn="l"/>
            <a:r>
              <a:rPr sz="1200" b="1">
                <a:solidFill>
                  <a:srgbClr val="1E293B"/>
                </a:solidFill>
                <a:latin typeface="Noto Sans JP"/>
              </a:rPr>
              <a:t>約200時間＝25営業日分を削減</a:t>
            </a:r>
          </a:p>
        </p:txBody>
      </p:sp>
      <p:sp>
        <p:nvSpPr>
          <p:cNvPr id="47" name="Rounded Rectangle 46"/>
          <p:cNvSpPr/>
          <p:nvPr/>
        </p:nvSpPr>
        <p:spPr>
          <a:xfrm>
            <a:off x="8028431" y="2395728"/>
            <a:ext cx="3584448" cy="4279392"/>
          </a:xfrm>
          <a:prstGeom prst="roundRect">
            <a:avLst>
              <a:gd name="adj" fmla="val 3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028431" y="2395728"/>
            <a:ext cx="54864" cy="4279392"/>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9600" y="2532888"/>
            <a:ext cx="3264408" cy="347472"/>
          </a:xfrm>
          <a:prstGeom prst="rect">
            <a:avLst/>
          </a:prstGeom>
          <a:noFill/>
        </p:spPr>
        <p:txBody>
          <a:bodyPr wrap="square" anchor="t" lIns="73152" rIns="45720" bIns="27432"/>
          <a:lstStyle/>
          <a:p>
            <a:pPr algn="l"/>
            <a:r>
              <a:rPr sz="1400" b="1">
                <a:solidFill>
                  <a:srgbClr val="1E293B"/>
                </a:solidFill>
                <a:latin typeface="Noto Sans JP"/>
              </a:rPr>
              <a:t>株式会社BIRDY様</a:t>
            </a:r>
          </a:p>
        </p:txBody>
      </p:sp>
      <p:sp>
        <p:nvSpPr>
          <p:cNvPr id="50" name="Rounded Rectangle 49"/>
          <p:cNvSpPr/>
          <p:nvPr/>
        </p:nvSpPr>
        <p:spPr>
          <a:xfrm>
            <a:off x="8165592" y="2962656"/>
            <a:ext cx="3310128" cy="1005840"/>
          </a:xfrm>
          <a:prstGeom prst="roundRect">
            <a:avLst>
              <a:gd name="adj" fmla="val 2000"/>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165592" y="2962656"/>
            <a:ext cx="54864" cy="10058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02752" y="3017520"/>
            <a:ext cx="3127248" cy="256032"/>
          </a:xfrm>
          <a:prstGeom prst="rect">
            <a:avLst/>
          </a:prstGeom>
          <a:noFill/>
        </p:spPr>
        <p:txBody>
          <a:bodyPr wrap="square" anchor="t" lIns="73152" rIns="45720" bIns="27432"/>
          <a:lstStyle/>
          <a:p>
            <a:pPr algn="l"/>
            <a:r>
              <a:rPr sz="1000" b="1">
                <a:solidFill>
                  <a:srgbClr val="EF4444"/>
                </a:solidFill>
                <a:latin typeface="Noto Sans JP"/>
              </a:rPr>
              <a:t>課題</a:t>
            </a:r>
          </a:p>
        </p:txBody>
      </p:sp>
      <p:sp>
        <p:nvSpPr>
          <p:cNvPr id="53" name="TextBox 52"/>
          <p:cNvSpPr txBox="1"/>
          <p:nvPr/>
        </p:nvSpPr>
        <p:spPr>
          <a:xfrm>
            <a:off x="8302752" y="3310128"/>
            <a:ext cx="3127248" cy="530352"/>
          </a:xfrm>
          <a:prstGeom prst="rect">
            <a:avLst/>
          </a:prstGeom>
          <a:noFill/>
        </p:spPr>
        <p:txBody>
          <a:bodyPr wrap="square" anchor="t" lIns="73152" rIns="45720" bIns="27432"/>
          <a:lstStyle/>
          <a:p>
            <a:pPr algn="l"/>
            <a:r>
              <a:rPr sz="1200" b="0">
                <a:solidFill>
                  <a:srgbClr val="1E293B"/>
                </a:solidFill>
                <a:latin typeface="Noto Sans JP"/>
              </a:rPr>
              <a:t>業務の属人化・営業効率の壁</a:t>
            </a:r>
          </a:p>
        </p:txBody>
      </p:sp>
      <p:sp>
        <p:nvSpPr>
          <p:cNvPr id="54" name="TextBox 53"/>
          <p:cNvSpPr txBox="1"/>
          <p:nvPr/>
        </p:nvSpPr>
        <p:spPr>
          <a:xfrm>
            <a:off x="9683495" y="4041648"/>
            <a:ext cx="274320" cy="292608"/>
          </a:xfrm>
          <a:prstGeom prst="rect">
            <a:avLst/>
          </a:prstGeom>
          <a:noFill/>
        </p:spPr>
        <p:txBody>
          <a:bodyPr wrap="square" anchor="ctr" lIns="73152" rIns="45720" bIns="27432"/>
          <a:lstStyle/>
          <a:p>
            <a:pPr algn="ctr"/>
            <a:r>
              <a:rPr sz="1400" b="0">
                <a:solidFill>
                  <a:srgbClr val="42A4AF"/>
                </a:solidFill>
                <a:latin typeface="Noto Sans JP"/>
              </a:rPr>
              <a:t>▼</a:t>
            </a:r>
          </a:p>
        </p:txBody>
      </p:sp>
      <p:sp>
        <p:nvSpPr>
          <p:cNvPr id="55" name="Rounded Rectangle 54"/>
          <p:cNvSpPr/>
          <p:nvPr/>
        </p:nvSpPr>
        <p:spPr>
          <a:xfrm>
            <a:off x="8165592" y="4425696"/>
            <a:ext cx="3310128" cy="1188720"/>
          </a:xfrm>
          <a:prstGeom prst="roundRect">
            <a:avLst>
              <a:gd name="adj" fmla="val 2000"/>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165592" y="4425696"/>
            <a:ext cx="54864" cy="11887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302752" y="4480560"/>
            <a:ext cx="3127248" cy="256032"/>
          </a:xfrm>
          <a:prstGeom prst="rect">
            <a:avLst/>
          </a:prstGeom>
          <a:noFill/>
        </p:spPr>
        <p:txBody>
          <a:bodyPr wrap="square" anchor="t" lIns="73152" rIns="45720" bIns="27432"/>
          <a:lstStyle/>
          <a:p>
            <a:pPr algn="l"/>
            <a:r>
              <a:rPr sz="1000" b="1">
                <a:solidFill>
                  <a:srgbClr val="16A34A"/>
                </a:solidFill>
                <a:latin typeface="Noto Sans JP"/>
              </a:rPr>
              <a:t>成果</a:t>
            </a:r>
          </a:p>
        </p:txBody>
      </p:sp>
      <p:sp>
        <p:nvSpPr>
          <p:cNvPr id="58" name="TextBox 57"/>
          <p:cNvSpPr txBox="1"/>
          <p:nvPr/>
        </p:nvSpPr>
        <p:spPr>
          <a:xfrm>
            <a:off x="8302752" y="4773168"/>
            <a:ext cx="3127248" cy="713232"/>
          </a:xfrm>
          <a:prstGeom prst="rect">
            <a:avLst/>
          </a:prstGeom>
          <a:noFill/>
        </p:spPr>
        <p:txBody>
          <a:bodyPr wrap="square" anchor="t" lIns="73152" rIns="45720" bIns="27432"/>
          <a:lstStyle/>
          <a:p>
            <a:pPr algn="l"/>
            <a:r>
              <a:rPr sz="1200" b="1">
                <a:solidFill>
                  <a:srgbClr val="1E293B"/>
                </a:solidFill>
                <a:latin typeface="Noto Sans JP"/>
              </a:rPr>
              <a:t>バックオフィス効率化</a:t>
            </a:r>
          </a:p>
          <a:p>
            <a:pPr algn="l"/>
            <a:r>
              <a:rPr sz="1200" b="1">
                <a:solidFill>
                  <a:srgbClr val="1E293B"/>
                </a:solidFill>
                <a:latin typeface="Noto Sans JP"/>
              </a:rPr>
              <a:t>経営資源を成長領域にシフト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8686800" cy="694944"/>
          </a:xfrm>
          <a:prstGeom prst="rect">
            <a:avLst/>
          </a:prstGeom>
          <a:noFill/>
        </p:spPr>
        <p:txBody>
          <a:bodyPr wrap="square" anchor="ctr" lIns="73152" rIns="45720" bIns="27432"/>
          <a:lstStyle/>
          <a:p>
            <a:pPr algn="l"/>
            <a:r>
              <a:rPr sz="2400" b="1">
                <a:solidFill>
                  <a:srgbClr val="FFFFFF"/>
                </a:solidFill>
                <a:latin typeface="Noto Sans JP"/>
              </a:rPr>
              <a:t>前回お打合せの振り返り</a:t>
            </a:r>
          </a:p>
        </p:txBody>
      </p:sp>
      <p:sp>
        <p:nvSpPr>
          <p:cNvPr id="4" name="TextBox 3"/>
          <p:cNvSpPr txBox="1"/>
          <p:nvPr/>
        </p:nvSpPr>
        <p:spPr>
          <a:xfrm>
            <a:off x="9692640" y="164592"/>
            <a:ext cx="2286000" cy="548640"/>
          </a:xfrm>
          <a:prstGeom prst="rect">
            <a:avLst/>
          </a:prstGeom>
          <a:noFill/>
        </p:spPr>
        <p:txBody>
          <a:bodyPr wrap="square" anchor="ctr" lIns="73152" rIns="45720" bIns="27432"/>
          <a:lstStyle/>
          <a:p>
            <a:pPr algn="r"/>
            <a:r>
              <a:rPr sz="1100" b="0">
                <a:solidFill>
                  <a:srgbClr val="FFFFFF"/>
                </a:solidFill>
                <a:latin typeface="Noto Sans JP"/>
              </a:rPr>
              <a:t>株式会社エヌイチ</a:t>
            </a:r>
          </a:p>
        </p:txBody>
      </p:sp>
      <p:sp>
        <p:nvSpPr>
          <p:cNvPr id="5" name="Rectangle 4"/>
          <p:cNvSpPr/>
          <p:nvPr/>
        </p:nvSpPr>
        <p:spPr>
          <a:xfrm>
            <a:off x="0" y="914400"/>
            <a:ext cx="12188952" cy="38404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941832"/>
            <a:ext cx="11430000" cy="329184"/>
          </a:xfrm>
          <a:prstGeom prst="rect">
            <a:avLst/>
          </a:prstGeom>
          <a:noFill/>
        </p:spPr>
        <p:txBody>
          <a:bodyPr wrap="square" anchor="t" lIns="73152" rIns="45720" bIns="27432"/>
          <a:lstStyle/>
          <a:p>
            <a:pPr algn="l"/>
            <a:r>
              <a:rPr sz="1200" b="0">
                <a:solidFill>
                  <a:srgbClr val="1E405F"/>
                </a:solidFill>
                <a:latin typeface="Noto Sans JP"/>
              </a:rPr>
              <a:t>2026年2月27日 初回商談</a:t>
            </a:r>
          </a:p>
        </p:txBody>
      </p:sp>
      <p:sp>
        <p:nvSpPr>
          <p:cNvPr id="7" name="Rounded Rectangle 6"/>
          <p:cNvSpPr/>
          <p:nvPr/>
        </p:nvSpPr>
        <p:spPr>
          <a:xfrm>
            <a:off x="365760" y="1389888"/>
            <a:ext cx="5486400" cy="5394960"/>
          </a:xfrm>
          <a:prstGeom prst="roundRect">
            <a:avLst>
              <a:gd name="adj" fmla="val 3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389888"/>
            <a:ext cx="54864" cy="539496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27048"/>
            <a:ext cx="5029200" cy="320040"/>
          </a:xfrm>
          <a:prstGeom prst="rect">
            <a:avLst/>
          </a:prstGeom>
          <a:noFill/>
        </p:spPr>
        <p:txBody>
          <a:bodyPr wrap="square" anchor="t" lIns="73152" rIns="45720" bIns="27432"/>
          <a:lstStyle/>
          <a:p>
            <a:pPr algn="l"/>
            <a:r>
              <a:rPr sz="1300" b="1">
                <a:solidFill>
                  <a:srgbClr val="42A4AF"/>
                </a:solidFill>
                <a:latin typeface="Noto Sans JP"/>
              </a:rPr>
              <a:t>商談概要</a:t>
            </a:r>
          </a:p>
        </p:txBody>
      </p:sp>
      <p:sp>
        <p:nvSpPr>
          <p:cNvPr id="10" name="Rectangle 9"/>
          <p:cNvSpPr/>
          <p:nvPr/>
        </p:nvSpPr>
        <p:spPr>
          <a:xfrm>
            <a:off x="530352" y="1920240"/>
            <a:ext cx="1097280" cy="47548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5" y="1920240"/>
            <a:ext cx="1024127" cy="475488"/>
          </a:xfrm>
          <a:prstGeom prst="rect">
            <a:avLst/>
          </a:prstGeom>
          <a:noFill/>
        </p:spPr>
        <p:txBody>
          <a:bodyPr wrap="square" anchor="ctr" lIns="73152" rIns="45720" bIns="27432"/>
          <a:lstStyle/>
          <a:p>
            <a:pPr algn="l"/>
            <a:r>
              <a:rPr sz="1000" b="1">
                <a:solidFill>
                  <a:srgbClr val="42A4AF"/>
                </a:solidFill>
                <a:latin typeface="Noto Sans JP"/>
              </a:rPr>
              <a:t>先方</a:t>
            </a:r>
          </a:p>
        </p:txBody>
      </p:sp>
      <p:sp>
        <p:nvSpPr>
          <p:cNvPr id="12" name="Rectangle 11"/>
          <p:cNvSpPr/>
          <p:nvPr/>
        </p:nvSpPr>
        <p:spPr>
          <a:xfrm>
            <a:off x="1673351" y="1920240"/>
            <a:ext cx="4251960" cy="475488"/>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37360" y="1920240"/>
            <a:ext cx="4114800" cy="475488"/>
          </a:xfrm>
          <a:prstGeom prst="rect">
            <a:avLst/>
          </a:prstGeom>
          <a:noFill/>
        </p:spPr>
        <p:txBody>
          <a:bodyPr wrap="square" anchor="ctr" lIns="73152" rIns="45720" bIns="27432"/>
          <a:lstStyle/>
          <a:p>
            <a:pPr algn="l"/>
            <a:r>
              <a:rPr sz="1200" b="0">
                <a:solidFill>
                  <a:srgbClr val="1E293B"/>
                </a:solidFill>
                <a:latin typeface="Noto Sans JP"/>
              </a:rPr>
              <a:t>リードインクス株式会社 呉振宇氏（本部長）</a:t>
            </a:r>
          </a:p>
        </p:txBody>
      </p:sp>
      <p:sp>
        <p:nvSpPr>
          <p:cNvPr id="14" name="Rectangle 13"/>
          <p:cNvSpPr/>
          <p:nvPr/>
        </p:nvSpPr>
        <p:spPr>
          <a:xfrm>
            <a:off x="530352" y="2468880"/>
            <a:ext cx="1097280" cy="47548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5" y="2468880"/>
            <a:ext cx="1024127" cy="475488"/>
          </a:xfrm>
          <a:prstGeom prst="rect">
            <a:avLst/>
          </a:prstGeom>
          <a:noFill/>
        </p:spPr>
        <p:txBody>
          <a:bodyPr wrap="square" anchor="ctr" lIns="73152" rIns="45720" bIns="27432"/>
          <a:lstStyle/>
          <a:p>
            <a:pPr algn="l"/>
            <a:r>
              <a:rPr sz="1000" b="1">
                <a:solidFill>
                  <a:srgbClr val="42A4AF"/>
                </a:solidFill>
                <a:latin typeface="Noto Sans JP"/>
              </a:rPr>
              <a:t>自社</a:t>
            </a:r>
          </a:p>
        </p:txBody>
      </p:sp>
      <p:sp>
        <p:nvSpPr>
          <p:cNvPr id="16" name="Rectangle 15"/>
          <p:cNvSpPr/>
          <p:nvPr/>
        </p:nvSpPr>
        <p:spPr>
          <a:xfrm>
            <a:off x="1673351" y="2468880"/>
            <a:ext cx="4251960" cy="475488"/>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2468880"/>
            <a:ext cx="4114800" cy="475488"/>
          </a:xfrm>
          <a:prstGeom prst="rect">
            <a:avLst/>
          </a:prstGeom>
          <a:noFill/>
        </p:spPr>
        <p:txBody>
          <a:bodyPr wrap="square" anchor="ctr" lIns="73152" rIns="45720" bIns="27432"/>
          <a:lstStyle/>
          <a:p>
            <a:pPr algn="l"/>
            <a:r>
              <a:rPr sz="1200" b="0">
                <a:solidFill>
                  <a:srgbClr val="1E293B"/>
                </a:solidFill>
                <a:latin typeface="Noto Sans JP"/>
              </a:rPr>
              <a:t>大川龍之介・髙橋悠（COO）</a:t>
            </a:r>
          </a:p>
        </p:txBody>
      </p:sp>
      <p:sp>
        <p:nvSpPr>
          <p:cNvPr id="18" name="Rectangle 17"/>
          <p:cNvSpPr/>
          <p:nvPr/>
        </p:nvSpPr>
        <p:spPr>
          <a:xfrm>
            <a:off x="530352" y="3017520"/>
            <a:ext cx="1097280" cy="47548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5215" y="3017520"/>
            <a:ext cx="1024127" cy="475488"/>
          </a:xfrm>
          <a:prstGeom prst="rect">
            <a:avLst/>
          </a:prstGeom>
          <a:noFill/>
        </p:spPr>
        <p:txBody>
          <a:bodyPr wrap="square" anchor="ctr" lIns="73152" rIns="45720" bIns="27432"/>
          <a:lstStyle/>
          <a:p>
            <a:pPr algn="l"/>
            <a:r>
              <a:rPr sz="1000" b="1">
                <a:solidFill>
                  <a:srgbClr val="42A4AF"/>
                </a:solidFill>
                <a:latin typeface="Noto Sans JP"/>
              </a:rPr>
              <a:t>内容</a:t>
            </a:r>
          </a:p>
        </p:txBody>
      </p:sp>
      <p:sp>
        <p:nvSpPr>
          <p:cNvPr id="20" name="Rectangle 19"/>
          <p:cNvSpPr/>
          <p:nvPr/>
        </p:nvSpPr>
        <p:spPr>
          <a:xfrm>
            <a:off x="1673351" y="3017520"/>
            <a:ext cx="4251960" cy="475488"/>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737360" y="3017520"/>
            <a:ext cx="4114800" cy="475488"/>
          </a:xfrm>
          <a:prstGeom prst="rect">
            <a:avLst/>
          </a:prstGeom>
          <a:noFill/>
        </p:spPr>
        <p:txBody>
          <a:bodyPr wrap="square" anchor="ctr" lIns="73152" rIns="45720" bIns="27432"/>
          <a:lstStyle/>
          <a:p>
            <a:pPr algn="l"/>
            <a:r>
              <a:rPr sz="1200" b="0">
                <a:solidFill>
                  <a:srgbClr val="1E293B"/>
                </a:solidFill>
                <a:latin typeface="Noto Sans JP"/>
              </a:rPr>
              <a:t>エヌイチのサービス紹介 → 現状・ニーズのヒアリング</a:t>
            </a:r>
          </a:p>
        </p:txBody>
      </p:sp>
      <p:sp>
        <p:nvSpPr>
          <p:cNvPr id="22" name="Rectangle 21"/>
          <p:cNvSpPr/>
          <p:nvPr/>
        </p:nvSpPr>
        <p:spPr>
          <a:xfrm>
            <a:off x="530352" y="3566160"/>
            <a:ext cx="1097280" cy="47548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5215" y="3566160"/>
            <a:ext cx="1024127" cy="475488"/>
          </a:xfrm>
          <a:prstGeom prst="rect">
            <a:avLst/>
          </a:prstGeom>
          <a:noFill/>
        </p:spPr>
        <p:txBody>
          <a:bodyPr wrap="square" anchor="ctr" lIns="73152" rIns="45720" bIns="27432"/>
          <a:lstStyle/>
          <a:p>
            <a:pPr algn="l"/>
            <a:r>
              <a:rPr sz="1000" b="1">
                <a:solidFill>
                  <a:srgbClr val="42A4AF"/>
                </a:solidFill>
                <a:latin typeface="Noto Sans JP"/>
              </a:rPr>
              <a:t>先方反応</a:t>
            </a:r>
          </a:p>
        </p:txBody>
      </p:sp>
      <p:sp>
        <p:nvSpPr>
          <p:cNvPr id="24" name="Rectangle 23"/>
          <p:cNvSpPr/>
          <p:nvPr/>
        </p:nvSpPr>
        <p:spPr>
          <a:xfrm>
            <a:off x="1673351" y="3566160"/>
            <a:ext cx="4251960" cy="475488"/>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737360" y="3566160"/>
            <a:ext cx="4114800" cy="475488"/>
          </a:xfrm>
          <a:prstGeom prst="rect">
            <a:avLst/>
          </a:prstGeom>
          <a:noFill/>
        </p:spPr>
        <p:txBody>
          <a:bodyPr wrap="square" anchor="ctr" lIns="73152" rIns="45720" bIns="27432"/>
          <a:lstStyle/>
          <a:p>
            <a:pPr algn="l"/>
            <a:r>
              <a:rPr sz="1200" b="0">
                <a:solidFill>
                  <a:srgbClr val="1E293B"/>
                </a:solidFill>
                <a:latin typeface="Noto Sans JP"/>
              </a:rPr>
              <a:t>Kawaru Team（フルカスタマイズ研修）に高い関心</a:t>
            </a:r>
          </a:p>
        </p:txBody>
      </p:sp>
      <p:sp>
        <p:nvSpPr>
          <p:cNvPr id="26" name="Rectangle 25"/>
          <p:cNvSpPr/>
          <p:nvPr/>
        </p:nvSpPr>
        <p:spPr>
          <a:xfrm>
            <a:off x="530352" y="4114800"/>
            <a:ext cx="1097280" cy="47548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5215" y="4114800"/>
            <a:ext cx="1024127" cy="475488"/>
          </a:xfrm>
          <a:prstGeom prst="rect">
            <a:avLst/>
          </a:prstGeom>
          <a:noFill/>
        </p:spPr>
        <p:txBody>
          <a:bodyPr wrap="square" anchor="ctr" lIns="73152" rIns="45720" bIns="27432"/>
          <a:lstStyle/>
          <a:p>
            <a:pPr algn="l"/>
            <a:r>
              <a:rPr sz="1000" b="1">
                <a:solidFill>
                  <a:srgbClr val="42A4AF"/>
                </a:solidFill>
                <a:latin typeface="Noto Sans JP"/>
              </a:rPr>
              <a:t>合意</a:t>
            </a:r>
          </a:p>
        </p:txBody>
      </p:sp>
      <p:sp>
        <p:nvSpPr>
          <p:cNvPr id="28" name="Rectangle 27"/>
          <p:cNvSpPr/>
          <p:nvPr/>
        </p:nvSpPr>
        <p:spPr>
          <a:xfrm>
            <a:off x="1673351" y="4114800"/>
            <a:ext cx="4251960" cy="475488"/>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37360" y="4114800"/>
            <a:ext cx="4114800" cy="475488"/>
          </a:xfrm>
          <a:prstGeom prst="rect">
            <a:avLst/>
          </a:prstGeom>
          <a:noFill/>
        </p:spPr>
        <p:txBody>
          <a:bodyPr wrap="square" anchor="ctr" lIns="73152" rIns="45720" bIns="27432"/>
          <a:lstStyle/>
          <a:p>
            <a:pPr algn="l"/>
            <a:r>
              <a:rPr sz="1200" b="0">
                <a:solidFill>
                  <a:srgbClr val="1E293B"/>
                </a:solidFill>
                <a:latin typeface="Noto Sans JP"/>
              </a:rPr>
              <a:t>研修を軸に進める方向性で合意。社長稟議を経て詳細設計へ</a:t>
            </a:r>
          </a:p>
        </p:txBody>
      </p:sp>
      <p:sp>
        <p:nvSpPr>
          <p:cNvPr id="30" name="Rounded Rectangle 29"/>
          <p:cNvSpPr/>
          <p:nvPr/>
        </p:nvSpPr>
        <p:spPr>
          <a:xfrm>
            <a:off x="6217920" y="1389888"/>
            <a:ext cx="5577840" cy="5394960"/>
          </a:xfrm>
          <a:prstGeom prst="roundRect">
            <a:avLst>
              <a:gd name="adj" fmla="val 3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1389888"/>
            <a:ext cx="54864" cy="53949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1527048"/>
            <a:ext cx="5120640" cy="320040"/>
          </a:xfrm>
          <a:prstGeom prst="rect">
            <a:avLst/>
          </a:prstGeom>
          <a:noFill/>
        </p:spPr>
        <p:txBody>
          <a:bodyPr wrap="square" anchor="t" lIns="73152" rIns="45720" bIns="27432"/>
          <a:lstStyle/>
          <a:p>
            <a:pPr algn="l"/>
            <a:r>
              <a:rPr sz="1300" b="1">
                <a:solidFill>
                  <a:srgbClr val="3B82F6"/>
                </a:solidFill>
                <a:latin typeface="Noto Sans JP"/>
              </a:rPr>
              <a:t>合意したネクストアクション</a:t>
            </a:r>
          </a:p>
        </p:txBody>
      </p:sp>
      <p:sp>
        <p:nvSpPr>
          <p:cNvPr id="33" name="Rectangle 32"/>
          <p:cNvSpPr/>
          <p:nvPr/>
        </p:nvSpPr>
        <p:spPr>
          <a:xfrm>
            <a:off x="6400800" y="1984248"/>
            <a:ext cx="1097280" cy="310896"/>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1984248"/>
            <a:ext cx="1051560" cy="310896"/>
          </a:xfrm>
          <a:prstGeom prst="rect">
            <a:avLst/>
          </a:prstGeom>
          <a:noFill/>
        </p:spPr>
        <p:txBody>
          <a:bodyPr wrap="square" anchor="ctr" lIns="73152" rIns="45720" bIns="27432"/>
          <a:lstStyle/>
          <a:p>
            <a:pPr algn="l"/>
            <a:r>
              <a:rPr sz="1100" b="1">
                <a:solidFill>
                  <a:srgbClr val="3B82F6"/>
                </a:solidFill>
                <a:latin typeface="Noto Sans JP"/>
              </a:rPr>
              <a:t>呉振宇氏</a:t>
            </a:r>
          </a:p>
        </p:txBody>
      </p:sp>
      <p:sp>
        <p:nvSpPr>
          <p:cNvPr id="35" name="Rectangle 34"/>
          <p:cNvSpPr/>
          <p:nvPr/>
        </p:nvSpPr>
        <p:spPr>
          <a:xfrm>
            <a:off x="7543800" y="1984248"/>
            <a:ext cx="4069080" cy="310896"/>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35240" y="1984248"/>
            <a:ext cx="3931920" cy="310896"/>
          </a:xfrm>
          <a:prstGeom prst="rect">
            <a:avLst/>
          </a:prstGeom>
          <a:noFill/>
        </p:spPr>
        <p:txBody>
          <a:bodyPr wrap="square" anchor="ctr" lIns="73152" rIns="45720" bIns="27432"/>
          <a:lstStyle/>
          <a:p>
            <a:pPr algn="l"/>
            <a:r>
              <a:rPr sz="1200" b="0">
                <a:solidFill>
                  <a:srgbClr val="1E293B"/>
                </a:solidFill>
                <a:latin typeface="Noto Sans JP"/>
              </a:rPr>
              <a:t>来週木曜日の社長1on1でAI研修提案について相談</a:t>
            </a:r>
          </a:p>
        </p:txBody>
      </p:sp>
      <p:sp>
        <p:nvSpPr>
          <p:cNvPr id="37" name="Rectangle 36"/>
          <p:cNvSpPr/>
          <p:nvPr/>
        </p:nvSpPr>
        <p:spPr>
          <a:xfrm>
            <a:off x="6400800" y="2459736"/>
            <a:ext cx="1097280" cy="310896"/>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46520" y="2459736"/>
            <a:ext cx="1051560" cy="310896"/>
          </a:xfrm>
          <a:prstGeom prst="rect">
            <a:avLst/>
          </a:prstGeom>
          <a:noFill/>
        </p:spPr>
        <p:txBody>
          <a:bodyPr wrap="square" anchor="ctr" lIns="73152" rIns="45720" bIns="27432"/>
          <a:lstStyle/>
          <a:p>
            <a:pPr algn="l"/>
            <a:r>
              <a:rPr sz="1100" b="1">
                <a:solidFill>
                  <a:srgbClr val="3B82F6"/>
                </a:solidFill>
                <a:latin typeface="Noto Sans JP"/>
              </a:rPr>
              <a:t>エヌイチ</a:t>
            </a:r>
          </a:p>
        </p:txBody>
      </p:sp>
      <p:sp>
        <p:nvSpPr>
          <p:cNvPr id="39" name="Rectangle 38"/>
          <p:cNvSpPr/>
          <p:nvPr/>
        </p:nvSpPr>
        <p:spPr>
          <a:xfrm>
            <a:off x="7543800" y="2459736"/>
            <a:ext cx="4069080" cy="310896"/>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35240" y="2459736"/>
            <a:ext cx="3931920" cy="310896"/>
          </a:xfrm>
          <a:prstGeom prst="rect">
            <a:avLst/>
          </a:prstGeom>
          <a:noFill/>
        </p:spPr>
        <p:txBody>
          <a:bodyPr wrap="square" anchor="ctr" lIns="73152" rIns="45720" bIns="27432"/>
          <a:lstStyle/>
          <a:p>
            <a:pPr algn="l"/>
            <a:r>
              <a:rPr sz="1200" b="0">
                <a:solidFill>
                  <a:srgbClr val="1E293B"/>
                </a:solidFill>
                <a:latin typeface="Noto Sans JP"/>
              </a:rPr>
              <a:t>AI開発BPOパートナーの紹介準備（社内承認後）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8686800" cy="694944"/>
          </a:xfrm>
          <a:prstGeom prst="rect">
            <a:avLst/>
          </a:prstGeom>
          <a:noFill/>
        </p:spPr>
        <p:txBody>
          <a:bodyPr wrap="square" anchor="ctr" lIns="73152" rIns="45720" bIns="27432"/>
          <a:lstStyle/>
          <a:p>
            <a:pPr algn="l"/>
            <a:r>
              <a:rPr sz="2400" b="1">
                <a:solidFill>
                  <a:srgbClr val="FFFFFF"/>
                </a:solidFill>
                <a:latin typeface="Noto Sans JP"/>
              </a:rPr>
              <a:t>御社の現状整理</a:t>
            </a:r>
          </a:p>
        </p:txBody>
      </p:sp>
      <p:sp>
        <p:nvSpPr>
          <p:cNvPr id="4" name="TextBox 3"/>
          <p:cNvSpPr txBox="1"/>
          <p:nvPr/>
        </p:nvSpPr>
        <p:spPr>
          <a:xfrm>
            <a:off x="9692640" y="164592"/>
            <a:ext cx="2286000" cy="548640"/>
          </a:xfrm>
          <a:prstGeom prst="rect">
            <a:avLst/>
          </a:prstGeom>
          <a:noFill/>
        </p:spPr>
        <p:txBody>
          <a:bodyPr wrap="square" anchor="ctr" lIns="73152" rIns="45720" bIns="27432"/>
          <a:lstStyle/>
          <a:p>
            <a:pPr algn="r"/>
            <a:r>
              <a:rPr sz="1100" b="0">
                <a:solidFill>
                  <a:srgbClr val="FFFFFF"/>
                </a:solidFill>
                <a:latin typeface="Noto Sans JP"/>
              </a:rPr>
              <a:t>株式会社エヌイチ</a:t>
            </a:r>
          </a:p>
        </p:txBody>
      </p:sp>
      <p:sp>
        <p:nvSpPr>
          <p:cNvPr id="5" name="Rectangle 4"/>
          <p:cNvSpPr/>
          <p:nvPr/>
        </p:nvSpPr>
        <p:spPr>
          <a:xfrm>
            <a:off x="0" y="914400"/>
            <a:ext cx="12188952" cy="38404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941832"/>
            <a:ext cx="11430000" cy="329184"/>
          </a:xfrm>
          <a:prstGeom prst="rect">
            <a:avLst/>
          </a:prstGeom>
          <a:noFill/>
        </p:spPr>
        <p:txBody>
          <a:bodyPr wrap="square" anchor="t" lIns="73152" rIns="45720" bIns="27432"/>
          <a:lstStyle/>
          <a:p>
            <a:pPr algn="l"/>
            <a:r>
              <a:rPr sz="1200" b="0">
                <a:solidFill>
                  <a:srgbClr val="1E405F"/>
                </a:solidFill>
                <a:latin typeface="Noto Sans JP"/>
              </a:rPr>
              <a:t>初回ヒアリングで確認できた事実ベースの情報</a:t>
            </a:r>
          </a:p>
        </p:txBody>
      </p:sp>
      <p:sp>
        <p:nvSpPr>
          <p:cNvPr id="7" name="Rectangle 6"/>
          <p:cNvSpPr/>
          <p:nvPr/>
        </p:nvSpPr>
        <p:spPr>
          <a:xfrm>
            <a:off x="365760" y="1481328"/>
            <a:ext cx="73152" cy="758951"/>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81328"/>
            <a:ext cx="11320272" cy="758951"/>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81328"/>
            <a:ext cx="10881360" cy="758951"/>
          </a:xfrm>
          <a:prstGeom prst="rect">
            <a:avLst/>
          </a:prstGeom>
          <a:noFill/>
        </p:spPr>
        <p:txBody>
          <a:bodyPr wrap="square" anchor="ctr" lIns="73152" rIns="45720" bIns="27432"/>
          <a:lstStyle/>
          <a:p>
            <a:pPr algn="l"/>
            <a:r>
              <a:rPr sz="1400" b="0">
                <a:solidFill>
                  <a:srgbClr val="1E293B"/>
                </a:solidFill>
                <a:latin typeface="Noto Sans JP"/>
              </a:rPr>
              <a:t>ソフトバンクグループ会社として保険会社・保険代理店向けのSaaSプロダクトを開発・提供</a:t>
            </a:r>
          </a:p>
        </p:txBody>
      </p:sp>
      <p:sp>
        <p:nvSpPr>
          <p:cNvPr id="10" name="Rectangle 9"/>
          <p:cNvSpPr/>
          <p:nvPr/>
        </p:nvSpPr>
        <p:spPr>
          <a:xfrm>
            <a:off x="365760" y="2331720"/>
            <a:ext cx="73152" cy="758951"/>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331720"/>
            <a:ext cx="11320272" cy="758951"/>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31720"/>
            <a:ext cx="10881360" cy="758951"/>
          </a:xfrm>
          <a:prstGeom prst="rect">
            <a:avLst/>
          </a:prstGeom>
          <a:noFill/>
        </p:spPr>
        <p:txBody>
          <a:bodyPr wrap="square" anchor="ctr" lIns="73152" rIns="45720" bIns="27432"/>
          <a:lstStyle/>
          <a:p>
            <a:pPr algn="l"/>
            <a:r>
              <a:rPr sz="1400" b="0">
                <a:solidFill>
                  <a:srgbClr val="1E293B"/>
                </a:solidFill>
                <a:latin typeface="Noto Sans JP"/>
              </a:rPr>
              <a:t>エンジニアは両本部合計で50〜60名。多国籍チーム（日本語話者・中国語話者が混在）</a:t>
            </a:r>
          </a:p>
        </p:txBody>
      </p:sp>
      <p:sp>
        <p:nvSpPr>
          <p:cNvPr id="13" name="Rectangle 12"/>
          <p:cNvSpPr/>
          <p:nvPr/>
        </p:nvSpPr>
        <p:spPr>
          <a:xfrm>
            <a:off x="365760" y="3182111"/>
            <a:ext cx="73152" cy="758951"/>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182111"/>
            <a:ext cx="11320272" cy="758951"/>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182111"/>
            <a:ext cx="10881360" cy="758951"/>
          </a:xfrm>
          <a:prstGeom prst="rect">
            <a:avLst/>
          </a:prstGeom>
          <a:noFill/>
        </p:spPr>
        <p:txBody>
          <a:bodyPr wrap="square" anchor="ctr" lIns="73152" rIns="45720" bIns="27432"/>
          <a:lstStyle/>
          <a:p>
            <a:pPr algn="l"/>
            <a:r>
              <a:rPr sz="1400" b="0">
                <a:solidFill>
                  <a:srgbClr val="1E293B"/>
                </a:solidFill>
                <a:latin typeface="Noto Sans JP"/>
              </a:rPr>
              <a:t>AI活用は個人レベルのChatGPT利用が中心。組織としてのベストプラクティスが未確立</a:t>
            </a:r>
          </a:p>
        </p:txBody>
      </p:sp>
      <p:sp>
        <p:nvSpPr>
          <p:cNvPr id="16" name="Rectangle 15"/>
          <p:cNvSpPr/>
          <p:nvPr/>
        </p:nvSpPr>
        <p:spPr>
          <a:xfrm>
            <a:off x="365760" y="4032504"/>
            <a:ext cx="73152" cy="758951"/>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4032504"/>
            <a:ext cx="11320272" cy="758951"/>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032504"/>
            <a:ext cx="10881360" cy="758951"/>
          </a:xfrm>
          <a:prstGeom prst="rect">
            <a:avLst/>
          </a:prstGeom>
          <a:noFill/>
        </p:spPr>
        <p:txBody>
          <a:bodyPr wrap="square" anchor="ctr" lIns="73152" rIns="45720" bIns="27432"/>
          <a:lstStyle/>
          <a:p>
            <a:pPr algn="l"/>
            <a:r>
              <a:rPr sz="1400" b="0">
                <a:solidFill>
                  <a:srgbClr val="1E293B"/>
                </a:solidFill>
                <a:latin typeface="Noto Sans JP"/>
              </a:rPr>
              <a:t>ソフトバンクの方針によりChatGPT Enterprise中心の活用が前提</a:t>
            </a:r>
          </a:p>
        </p:txBody>
      </p:sp>
      <p:sp>
        <p:nvSpPr>
          <p:cNvPr id="19" name="Rectangle 18"/>
          <p:cNvSpPr/>
          <p:nvPr/>
        </p:nvSpPr>
        <p:spPr>
          <a:xfrm>
            <a:off x="365760" y="4882896"/>
            <a:ext cx="73152" cy="758951"/>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4882896"/>
            <a:ext cx="11320272" cy="758951"/>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882896"/>
            <a:ext cx="10881360" cy="758951"/>
          </a:xfrm>
          <a:prstGeom prst="rect">
            <a:avLst/>
          </a:prstGeom>
          <a:noFill/>
        </p:spPr>
        <p:txBody>
          <a:bodyPr wrap="square" anchor="ctr" lIns="73152" rIns="45720" bIns="27432"/>
          <a:lstStyle/>
          <a:p>
            <a:pPr algn="l"/>
            <a:r>
              <a:rPr sz="1400" b="0">
                <a:solidFill>
                  <a:srgbClr val="1E293B"/>
                </a:solidFill>
                <a:latin typeface="Noto Sans JP"/>
              </a:rPr>
              <a:t>金融規制上、個人情報を含む本番運用は海外ベンダーへの委託不可。AIのPOCは海外と実施中</a:t>
            </a:r>
          </a:p>
        </p:txBody>
      </p:sp>
      <p:sp>
        <p:nvSpPr>
          <p:cNvPr id="22" name="Rectangle 21"/>
          <p:cNvSpPr/>
          <p:nvPr/>
        </p:nvSpPr>
        <p:spPr>
          <a:xfrm>
            <a:off x="365760" y="5733288"/>
            <a:ext cx="73152" cy="758951"/>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5733288"/>
            <a:ext cx="11320272" cy="758951"/>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733288"/>
            <a:ext cx="10881360" cy="758951"/>
          </a:xfrm>
          <a:prstGeom prst="rect">
            <a:avLst/>
          </a:prstGeom>
          <a:noFill/>
        </p:spPr>
        <p:txBody>
          <a:bodyPr wrap="square" anchor="ctr" lIns="73152" rIns="45720" bIns="27432"/>
          <a:lstStyle/>
          <a:p>
            <a:pPr algn="l"/>
            <a:r>
              <a:rPr sz="1400" b="0">
                <a:solidFill>
                  <a:srgbClr val="1E293B"/>
                </a:solidFill>
                <a:latin typeface="Noto Sans JP"/>
              </a:rPr>
              <a:t>3月末に親会社（ソフトバンク）へのAIプロダクト企画書提出を予定</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8686800" cy="694944"/>
          </a:xfrm>
          <a:prstGeom prst="rect">
            <a:avLst/>
          </a:prstGeom>
          <a:noFill/>
        </p:spPr>
        <p:txBody>
          <a:bodyPr wrap="square" anchor="ctr" lIns="73152" rIns="45720" bIns="27432"/>
          <a:lstStyle/>
          <a:p>
            <a:pPr algn="l"/>
            <a:r>
              <a:rPr sz="2400" b="1">
                <a:solidFill>
                  <a:srgbClr val="FFFFFF"/>
                </a:solidFill>
                <a:latin typeface="Noto Sans JP"/>
              </a:rPr>
              <a:t>御社が直面している「3つの壁」</a:t>
            </a:r>
          </a:p>
        </p:txBody>
      </p:sp>
      <p:sp>
        <p:nvSpPr>
          <p:cNvPr id="4" name="TextBox 3"/>
          <p:cNvSpPr txBox="1"/>
          <p:nvPr/>
        </p:nvSpPr>
        <p:spPr>
          <a:xfrm>
            <a:off x="9692640" y="164592"/>
            <a:ext cx="2286000" cy="548640"/>
          </a:xfrm>
          <a:prstGeom prst="rect">
            <a:avLst/>
          </a:prstGeom>
          <a:noFill/>
        </p:spPr>
        <p:txBody>
          <a:bodyPr wrap="square" anchor="ctr" lIns="73152" rIns="45720" bIns="27432"/>
          <a:lstStyle/>
          <a:p>
            <a:pPr algn="r"/>
            <a:r>
              <a:rPr sz="1100" b="0">
                <a:solidFill>
                  <a:srgbClr val="FFFFFF"/>
                </a:solidFill>
                <a:latin typeface="Noto Sans JP"/>
              </a:rPr>
              <a:t>株式会社エヌイチ</a:t>
            </a:r>
          </a:p>
        </p:txBody>
      </p:sp>
      <p:sp>
        <p:nvSpPr>
          <p:cNvPr id="5" name="Rectangle 4"/>
          <p:cNvSpPr/>
          <p:nvPr/>
        </p:nvSpPr>
        <p:spPr>
          <a:xfrm>
            <a:off x="0" y="914400"/>
            <a:ext cx="12188952" cy="38404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941832"/>
            <a:ext cx="11430000" cy="329184"/>
          </a:xfrm>
          <a:prstGeom prst="rect">
            <a:avLst/>
          </a:prstGeom>
          <a:noFill/>
        </p:spPr>
        <p:txBody>
          <a:bodyPr wrap="square" anchor="t" lIns="73152" rIns="45720" bIns="27432"/>
          <a:lstStyle/>
          <a:p>
            <a:pPr algn="l"/>
            <a:r>
              <a:rPr sz="1200" b="0">
                <a:solidFill>
                  <a:srgbClr val="1E405F"/>
                </a:solidFill>
                <a:latin typeface="Noto Sans JP"/>
              </a:rPr>
              <a:t>現状の事実から導かれる構造的な課題</a:t>
            </a:r>
          </a:p>
        </p:txBody>
      </p:sp>
      <p:sp>
        <p:nvSpPr>
          <p:cNvPr id="7" name="Rounded Rectangle 6"/>
          <p:cNvSpPr/>
          <p:nvPr/>
        </p:nvSpPr>
        <p:spPr>
          <a:xfrm>
            <a:off x="365760" y="1389888"/>
            <a:ext cx="2011680" cy="5394960"/>
          </a:xfrm>
          <a:prstGeom prst="roundRect">
            <a:avLst>
              <a:gd name="adj" fmla="val 3000"/>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389888"/>
            <a:ext cx="54864" cy="53949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389888"/>
            <a:ext cx="1737360" cy="5394960"/>
          </a:xfrm>
          <a:prstGeom prst="rect">
            <a:avLst/>
          </a:prstGeom>
          <a:noFill/>
        </p:spPr>
        <p:txBody>
          <a:bodyPr wrap="square" anchor="ctr" lIns="73152" rIns="45720" bIns="27432"/>
          <a:lstStyle/>
          <a:p>
            <a:pPr algn="ctr"/>
            <a:r>
              <a:rPr sz="1400" b="1">
                <a:solidFill>
                  <a:srgbClr val="1E293B"/>
                </a:solidFill>
                <a:latin typeface="Noto Sans JP"/>
              </a:rPr>
              <a:t>組織として</a:t>
            </a:r>
          </a:p>
          <a:p>
            <a:pPr algn="ctr"/>
            <a:r>
              <a:rPr sz="1400" b="1">
                <a:solidFill>
                  <a:srgbClr val="1E293B"/>
                </a:solidFill>
                <a:latin typeface="Noto Sans JP"/>
              </a:rPr>
              <a:t>AIを活用・開発</a:t>
            </a:r>
          </a:p>
          <a:p>
            <a:pPr algn="ctr"/>
            <a:r>
              <a:rPr sz="1400" b="1">
                <a:solidFill>
                  <a:srgbClr val="1E293B"/>
                </a:solidFill>
                <a:latin typeface="Noto Sans JP"/>
              </a:rPr>
              <a:t>する力がなく</a:t>
            </a:r>
          </a:p>
          <a:p>
            <a:pPr algn="ctr"/>
            <a:r>
              <a:rPr sz="1400" b="1">
                <a:solidFill>
                  <a:srgbClr val="1E293B"/>
                </a:solidFill>
                <a:latin typeface="Noto Sans JP"/>
              </a:rPr>
              <a:t>顧客への</a:t>
            </a:r>
          </a:p>
          <a:p>
            <a:pPr algn="ctr"/>
            <a:r>
              <a:rPr sz="1400" b="1">
                <a:solidFill>
                  <a:srgbClr val="1E293B"/>
                </a:solidFill>
                <a:latin typeface="Noto Sans JP"/>
              </a:rPr>
              <a:t>AI価値提供が</a:t>
            </a:r>
          </a:p>
          <a:p>
            <a:pPr algn="ctr"/>
            <a:r>
              <a:rPr sz="1400" b="1">
                <a:solidFill>
                  <a:srgbClr val="1E293B"/>
                </a:solidFill>
                <a:latin typeface="Noto Sans JP"/>
              </a:rPr>
              <a:t>遅れている</a:t>
            </a:r>
          </a:p>
        </p:txBody>
      </p:sp>
      <p:sp>
        <p:nvSpPr>
          <p:cNvPr id="10" name="Rectangle 9"/>
          <p:cNvSpPr/>
          <p:nvPr/>
        </p:nvSpPr>
        <p:spPr>
          <a:xfrm>
            <a:off x="2377440" y="2270760"/>
            <a:ext cx="228600" cy="36576"/>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606040" y="1499616"/>
            <a:ext cx="2286000" cy="1578864"/>
          </a:xfrm>
          <a:prstGeom prst="roundRect">
            <a:avLst>
              <a:gd name="adj" fmla="val 3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606040" y="1499616"/>
            <a:ext cx="54864" cy="1578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70632" y="1499616"/>
            <a:ext cx="2057400" cy="1578864"/>
          </a:xfrm>
          <a:prstGeom prst="rect">
            <a:avLst/>
          </a:prstGeom>
          <a:noFill/>
        </p:spPr>
        <p:txBody>
          <a:bodyPr wrap="square" anchor="ctr" lIns="73152" rIns="45720" bIns="27432"/>
          <a:lstStyle/>
          <a:p>
            <a:pPr algn="ctr"/>
            <a:r>
              <a:rPr sz="1300" b="1">
                <a:solidFill>
                  <a:srgbClr val="1E293B"/>
                </a:solidFill>
                <a:latin typeface="Noto Sans JP"/>
              </a:rPr>
              <a:t>AI開発の</a:t>
            </a:r>
          </a:p>
          <a:p>
            <a:pPr algn="ctr"/>
            <a:r>
              <a:rPr sz="1300" b="1">
                <a:solidFill>
                  <a:srgbClr val="1E293B"/>
                </a:solidFill>
                <a:latin typeface="Noto Sans JP"/>
              </a:rPr>
              <a:t>方法論・知識不足</a:t>
            </a:r>
          </a:p>
        </p:txBody>
      </p:sp>
      <p:sp>
        <p:nvSpPr>
          <p:cNvPr id="14" name="Rectangle 13"/>
          <p:cNvSpPr/>
          <p:nvPr/>
        </p:nvSpPr>
        <p:spPr>
          <a:xfrm>
            <a:off x="4892040" y="2270760"/>
            <a:ext cx="228600" cy="36576"/>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20640" y="1527048"/>
            <a:ext cx="6702552" cy="462280"/>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20640" y="1527048"/>
            <a:ext cx="54864" cy="46228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57800" y="1563624"/>
            <a:ext cx="548640" cy="38912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66944" y="1563624"/>
            <a:ext cx="530352" cy="389128"/>
          </a:xfrm>
          <a:prstGeom prst="rect">
            <a:avLst/>
          </a:prstGeom>
          <a:noFill/>
        </p:spPr>
        <p:txBody>
          <a:bodyPr wrap="square" anchor="ctr" lIns="73152" rIns="45720" bIns="27432"/>
          <a:lstStyle/>
          <a:p>
            <a:pPr algn="ctr"/>
            <a:r>
              <a:rPr sz="900" b="1">
                <a:solidFill>
                  <a:srgbClr val="42A4AF"/>
                </a:solidFill>
                <a:latin typeface="Noto Sans JP"/>
              </a:rPr>
              <a:t>事実</a:t>
            </a:r>
          </a:p>
        </p:txBody>
      </p:sp>
      <p:sp>
        <p:nvSpPr>
          <p:cNvPr id="19" name="TextBox 18"/>
          <p:cNvSpPr txBox="1"/>
          <p:nvPr/>
        </p:nvSpPr>
        <p:spPr>
          <a:xfrm>
            <a:off x="5897879" y="1527048"/>
            <a:ext cx="5833872" cy="462280"/>
          </a:xfrm>
          <a:prstGeom prst="rect">
            <a:avLst/>
          </a:prstGeom>
          <a:noFill/>
        </p:spPr>
        <p:txBody>
          <a:bodyPr wrap="square" anchor="ctr" lIns="73152" rIns="45720" bIns="27432"/>
          <a:lstStyle/>
          <a:p>
            <a:pPr algn="l"/>
            <a:r>
              <a:rPr sz="1200" b="0">
                <a:solidFill>
                  <a:srgbClr val="1E293B"/>
                </a:solidFill>
                <a:latin typeface="Noto Sans JP"/>
              </a:rPr>
              <a:t>AIエージェント開発のプロセスが社内に存在しない</a:t>
            </a:r>
          </a:p>
        </p:txBody>
      </p:sp>
      <p:sp>
        <p:nvSpPr>
          <p:cNvPr id="20" name="Rounded Rectangle 19"/>
          <p:cNvSpPr/>
          <p:nvPr/>
        </p:nvSpPr>
        <p:spPr>
          <a:xfrm>
            <a:off x="5120640" y="2035047"/>
            <a:ext cx="6702552" cy="462280"/>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2035047"/>
            <a:ext cx="54864" cy="46228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57800" y="2071623"/>
            <a:ext cx="548640" cy="38912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66944" y="2071623"/>
            <a:ext cx="530352" cy="389128"/>
          </a:xfrm>
          <a:prstGeom prst="rect">
            <a:avLst/>
          </a:prstGeom>
          <a:noFill/>
        </p:spPr>
        <p:txBody>
          <a:bodyPr wrap="square" anchor="ctr" lIns="73152" rIns="45720" bIns="27432"/>
          <a:lstStyle/>
          <a:p>
            <a:pPr algn="ctr"/>
            <a:r>
              <a:rPr sz="900" b="1">
                <a:solidFill>
                  <a:srgbClr val="42A4AF"/>
                </a:solidFill>
                <a:latin typeface="Noto Sans JP"/>
              </a:rPr>
              <a:t>事実</a:t>
            </a:r>
          </a:p>
        </p:txBody>
      </p:sp>
      <p:sp>
        <p:nvSpPr>
          <p:cNvPr id="24" name="TextBox 23"/>
          <p:cNvSpPr txBox="1"/>
          <p:nvPr/>
        </p:nvSpPr>
        <p:spPr>
          <a:xfrm>
            <a:off x="5897879" y="2035047"/>
            <a:ext cx="5833872" cy="462280"/>
          </a:xfrm>
          <a:prstGeom prst="rect">
            <a:avLst/>
          </a:prstGeom>
          <a:noFill/>
        </p:spPr>
        <p:txBody>
          <a:bodyPr wrap="square" anchor="ctr" lIns="73152" rIns="45720" bIns="27432"/>
          <a:lstStyle/>
          <a:p>
            <a:pPr algn="l"/>
            <a:r>
              <a:rPr sz="1200" b="0">
                <a:solidFill>
                  <a:srgbClr val="1E293B"/>
                </a:solidFill>
                <a:latin typeface="Noto Sans JP"/>
              </a:rPr>
              <a:t>ビジネス要件をAIタスクに分解する方法が不明</a:t>
            </a:r>
          </a:p>
        </p:txBody>
      </p:sp>
      <p:sp>
        <p:nvSpPr>
          <p:cNvPr id="25" name="Rounded Rectangle 24"/>
          <p:cNvSpPr/>
          <p:nvPr/>
        </p:nvSpPr>
        <p:spPr>
          <a:xfrm>
            <a:off x="5120640" y="2543048"/>
            <a:ext cx="6702552" cy="462280"/>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120640" y="2543048"/>
            <a:ext cx="54864" cy="46228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57800" y="2579624"/>
            <a:ext cx="548640" cy="38912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66944" y="2579624"/>
            <a:ext cx="530352" cy="389128"/>
          </a:xfrm>
          <a:prstGeom prst="rect">
            <a:avLst/>
          </a:prstGeom>
          <a:noFill/>
        </p:spPr>
        <p:txBody>
          <a:bodyPr wrap="square" anchor="ctr" lIns="73152" rIns="45720" bIns="27432"/>
          <a:lstStyle/>
          <a:p>
            <a:pPr algn="ctr"/>
            <a:r>
              <a:rPr sz="900" b="1">
                <a:solidFill>
                  <a:srgbClr val="42A4AF"/>
                </a:solidFill>
                <a:latin typeface="Noto Sans JP"/>
              </a:rPr>
              <a:t>事実</a:t>
            </a:r>
          </a:p>
        </p:txBody>
      </p:sp>
      <p:sp>
        <p:nvSpPr>
          <p:cNvPr id="29" name="TextBox 28"/>
          <p:cNvSpPr txBox="1"/>
          <p:nvPr/>
        </p:nvSpPr>
        <p:spPr>
          <a:xfrm>
            <a:off x="5897879" y="2543048"/>
            <a:ext cx="5833872" cy="462280"/>
          </a:xfrm>
          <a:prstGeom prst="rect">
            <a:avLst/>
          </a:prstGeom>
          <a:noFill/>
        </p:spPr>
        <p:txBody>
          <a:bodyPr wrap="square" anchor="ctr" lIns="73152" rIns="45720" bIns="27432"/>
          <a:lstStyle/>
          <a:p>
            <a:pPr algn="l"/>
            <a:r>
              <a:rPr sz="1200" b="0">
                <a:solidFill>
                  <a:srgbClr val="1E293B"/>
                </a:solidFill>
                <a:latin typeface="Noto Sans JP"/>
              </a:rPr>
              <a:t>個人の我流利用にとどまり組織知が蓄積されない</a:t>
            </a:r>
          </a:p>
        </p:txBody>
      </p:sp>
      <p:sp>
        <p:nvSpPr>
          <p:cNvPr id="30" name="Rectangle 29"/>
          <p:cNvSpPr/>
          <p:nvPr/>
        </p:nvSpPr>
        <p:spPr>
          <a:xfrm>
            <a:off x="2377440" y="4069080"/>
            <a:ext cx="228600" cy="36576"/>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606040" y="3297936"/>
            <a:ext cx="2286000" cy="1578864"/>
          </a:xfrm>
          <a:prstGeom prst="roundRect">
            <a:avLst>
              <a:gd name="adj" fmla="val 3000"/>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606040" y="3297936"/>
            <a:ext cx="54864" cy="1578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70632" y="3297936"/>
            <a:ext cx="2057400" cy="1578864"/>
          </a:xfrm>
          <a:prstGeom prst="rect">
            <a:avLst/>
          </a:prstGeom>
          <a:noFill/>
        </p:spPr>
        <p:txBody>
          <a:bodyPr wrap="square" anchor="ctr" lIns="73152" rIns="45720" bIns="27432"/>
          <a:lstStyle/>
          <a:p>
            <a:pPr algn="ctr"/>
            <a:r>
              <a:rPr sz="1300" b="1">
                <a:solidFill>
                  <a:srgbClr val="1E293B"/>
                </a:solidFill>
                <a:latin typeface="Noto Sans JP"/>
              </a:rPr>
              <a:t>組織環境の制約</a:t>
            </a:r>
          </a:p>
        </p:txBody>
      </p:sp>
      <p:sp>
        <p:nvSpPr>
          <p:cNvPr id="34" name="Rectangle 33"/>
          <p:cNvSpPr/>
          <p:nvPr/>
        </p:nvSpPr>
        <p:spPr>
          <a:xfrm>
            <a:off x="4892040" y="4069080"/>
            <a:ext cx="228600" cy="36576"/>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120640" y="3325368"/>
            <a:ext cx="6702552" cy="462280"/>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120640" y="3325368"/>
            <a:ext cx="54864" cy="46228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257800" y="3361944"/>
            <a:ext cx="548640" cy="38912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66944" y="3361944"/>
            <a:ext cx="530352" cy="389128"/>
          </a:xfrm>
          <a:prstGeom prst="rect">
            <a:avLst/>
          </a:prstGeom>
          <a:noFill/>
        </p:spPr>
        <p:txBody>
          <a:bodyPr wrap="square" anchor="ctr" lIns="73152" rIns="45720" bIns="27432"/>
          <a:lstStyle/>
          <a:p>
            <a:pPr algn="ctr"/>
            <a:r>
              <a:rPr sz="900" b="1">
                <a:solidFill>
                  <a:srgbClr val="42A4AF"/>
                </a:solidFill>
                <a:latin typeface="Noto Sans JP"/>
              </a:rPr>
              <a:t>事実</a:t>
            </a:r>
          </a:p>
        </p:txBody>
      </p:sp>
      <p:sp>
        <p:nvSpPr>
          <p:cNvPr id="39" name="TextBox 38"/>
          <p:cNvSpPr txBox="1"/>
          <p:nvPr/>
        </p:nvSpPr>
        <p:spPr>
          <a:xfrm>
            <a:off x="5897879" y="3325368"/>
            <a:ext cx="5833872" cy="462280"/>
          </a:xfrm>
          <a:prstGeom prst="rect">
            <a:avLst/>
          </a:prstGeom>
          <a:noFill/>
        </p:spPr>
        <p:txBody>
          <a:bodyPr wrap="square" anchor="ctr" lIns="73152" rIns="45720" bIns="27432"/>
          <a:lstStyle/>
          <a:p>
            <a:pPr algn="l"/>
            <a:r>
              <a:rPr sz="1200" b="0">
                <a:solidFill>
                  <a:srgbClr val="1E293B"/>
                </a:solidFill>
                <a:latin typeface="Noto Sans JP"/>
              </a:rPr>
              <a:t>ツール利用がChatGPT Enterprise限定（ソフトバンク方針）</a:t>
            </a:r>
          </a:p>
        </p:txBody>
      </p:sp>
      <p:sp>
        <p:nvSpPr>
          <p:cNvPr id="40" name="Rounded Rectangle 39"/>
          <p:cNvSpPr/>
          <p:nvPr/>
        </p:nvSpPr>
        <p:spPr>
          <a:xfrm>
            <a:off x="5120640" y="3833368"/>
            <a:ext cx="6702552" cy="462280"/>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120640" y="3833368"/>
            <a:ext cx="54864" cy="46228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257800" y="3869944"/>
            <a:ext cx="548640" cy="38912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66944" y="3869944"/>
            <a:ext cx="530352" cy="389128"/>
          </a:xfrm>
          <a:prstGeom prst="rect">
            <a:avLst/>
          </a:prstGeom>
          <a:noFill/>
        </p:spPr>
        <p:txBody>
          <a:bodyPr wrap="square" anchor="ctr" lIns="73152" rIns="45720" bIns="27432"/>
          <a:lstStyle/>
          <a:p>
            <a:pPr algn="ctr"/>
            <a:r>
              <a:rPr sz="900" b="1">
                <a:solidFill>
                  <a:srgbClr val="42A4AF"/>
                </a:solidFill>
                <a:latin typeface="Noto Sans JP"/>
              </a:rPr>
              <a:t>事実</a:t>
            </a:r>
          </a:p>
        </p:txBody>
      </p:sp>
      <p:sp>
        <p:nvSpPr>
          <p:cNvPr id="44" name="TextBox 43"/>
          <p:cNvSpPr txBox="1"/>
          <p:nvPr/>
        </p:nvSpPr>
        <p:spPr>
          <a:xfrm>
            <a:off x="5897879" y="3833368"/>
            <a:ext cx="5833872" cy="462280"/>
          </a:xfrm>
          <a:prstGeom prst="rect">
            <a:avLst/>
          </a:prstGeom>
          <a:noFill/>
        </p:spPr>
        <p:txBody>
          <a:bodyPr wrap="square" anchor="ctr" lIns="73152" rIns="45720" bIns="27432"/>
          <a:lstStyle/>
          <a:p>
            <a:pPr algn="l"/>
            <a:r>
              <a:rPr sz="1200" b="0">
                <a:solidFill>
                  <a:srgbClr val="1E293B"/>
                </a:solidFill>
                <a:latin typeface="Noto Sans JP"/>
              </a:rPr>
              <a:t>多言語チーム（日中混在）による研修実施の障壁</a:t>
            </a:r>
          </a:p>
        </p:txBody>
      </p:sp>
      <p:sp>
        <p:nvSpPr>
          <p:cNvPr id="45" name="Rounded Rectangle 44"/>
          <p:cNvSpPr/>
          <p:nvPr/>
        </p:nvSpPr>
        <p:spPr>
          <a:xfrm>
            <a:off x="5120640" y="4341368"/>
            <a:ext cx="6702552" cy="462280"/>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120640" y="4341368"/>
            <a:ext cx="54864" cy="46228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4377944"/>
            <a:ext cx="548640" cy="38912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66944" y="4377944"/>
            <a:ext cx="530352" cy="389128"/>
          </a:xfrm>
          <a:prstGeom prst="rect">
            <a:avLst/>
          </a:prstGeom>
          <a:noFill/>
        </p:spPr>
        <p:txBody>
          <a:bodyPr wrap="square" anchor="ctr" lIns="73152" rIns="45720" bIns="27432"/>
          <a:lstStyle/>
          <a:p>
            <a:pPr algn="ctr"/>
            <a:r>
              <a:rPr sz="900" b="1">
                <a:solidFill>
                  <a:srgbClr val="42A4AF"/>
                </a:solidFill>
                <a:latin typeface="Noto Sans JP"/>
              </a:rPr>
              <a:t>事実</a:t>
            </a:r>
          </a:p>
        </p:txBody>
      </p:sp>
      <p:sp>
        <p:nvSpPr>
          <p:cNvPr id="49" name="TextBox 48"/>
          <p:cNvSpPr txBox="1"/>
          <p:nvPr/>
        </p:nvSpPr>
        <p:spPr>
          <a:xfrm>
            <a:off x="5897879" y="4341368"/>
            <a:ext cx="5833872" cy="462280"/>
          </a:xfrm>
          <a:prstGeom prst="rect">
            <a:avLst/>
          </a:prstGeom>
          <a:noFill/>
        </p:spPr>
        <p:txBody>
          <a:bodyPr wrap="square" anchor="ctr" lIns="73152" rIns="45720" bIns="27432"/>
          <a:lstStyle/>
          <a:p>
            <a:pPr algn="l"/>
            <a:r>
              <a:rPr sz="1200" b="0">
                <a:solidFill>
                  <a:srgbClr val="1E293B"/>
                </a:solidFill>
                <a:latin typeface="Noto Sans JP"/>
              </a:rPr>
              <a:t>金融規制により本番運用は国内ベンダー限定</a:t>
            </a:r>
          </a:p>
        </p:txBody>
      </p:sp>
      <p:sp>
        <p:nvSpPr>
          <p:cNvPr id="50" name="Rectangle 49"/>
          <p:cNvSpPr/>
          <p:nvPr/>
        </p:nvSpPr>
        <p:spPr>
          <a:xfrm>
            <a:off x="2377440" y="5867400"/>
            <a:ext cx="228600" cy="36576"/>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2606040" y="5096256"/>
            <a:ext cx="2286000" cy="1578864"/>
          </a:xfrm>
          <a:prstGeom prst="roundRect">
            <a:avLst>
              <a:gd name="adj" fmla="val 3000"/>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606040" y="5096256"/>
            <a:ext cx="54864" cy="1578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70632" y="5096256"/>
            <a:ext cx="2057400" cy="1578864"/>
          </a:xfrm>
          <a:prstGeom prst="rect">
            <a:avLst/>
          </a:prstGeom>
          <a:noFill/>
        </p:spPr>
        <p:txBody>
          <a:bodyPr wrap="square" anchor="ctr" lIns="73152" rIns="45720" bIns="27432"/>
          <a:lstStyle/>
          <a:p>
            <a:pPr algn="ctr"/>
            <a:r>
              <a:rPr sz="1300" b="1">
                <a:solidFill>
                  <a:srgbClr val="1E293B"/>
                </a:solidFill>
                <a:latin typeface="Noto Sans JP"/>
              </a:rPr>
              <a:t>POCから本番実装への壁</a:t>
            </a:r>
          </a:p>
        </p:txBody>
      </p:sp>
      <p:sp>
        <p:nvSpPr>
          <p:cNvPr id="54" name="Rectangle 53"/>
          <p:cNvSpPr/>
          <p:nvPr/>
        </p:nvSpPr>
        <p:spPr>
          <a:xfrm>
            <a:off x="4892040" y="5867400"/>
            <a:ext cx="228600" cy="36576"/>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5120640" y="5123688"/>
            <a:ext cx="6702552" cy="462280"/>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120640" y="5123688"/>
            <a:ext cx="54864" cy="46228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257800" y="5160264"/>
            <a:ext cx="548640" cy="38912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266944" y="5160264"/>
            <a:ext cx="530352" cy="389128"/>
          </a:xfrm>
          <a:prstGeom prst="rect">
            <a:avLst/>
          </a:prstGeom>
          <a:noFill/>
        </p:spPr>
        <p:txBody>
          <a:bodyPr wrap="square" anchor="ctr" lIns="73152" rIns="45720" bIns="27432"/>
          <a:lstStyle/>
          <a:p>
            <a:pPr algn="ctr"/>
            <a:r>
              <a:rPr sz="900" b="1">
                <a:solidFill>
                  <a:srgbClr val="42A4AF"/>
                </a:solidFill>
                <a:latin typeface="Noto Sans JP"/>
              </a:rPr>
              <a:t>事実</a:t>
            </a:r>
          </a:p>
        </p:txBody>
      </p:sp>
      <p:sp>
        <p:nvSpPr>
          <p:cNvPr id="59" name="TextBox 58"/>
          <p:cNvSpPr txBox="1"/>
          <p:nvPr/>
        </p:nvSpPr>
        <p:spPr>
          <a:xfrm>
            <a:off x="5897879" y="5123688"/>
            <a:ext cx="5833872" cy="462280"/>
          </a:xfrm>
          <a:prstGeom prst="rect">
            <a:avLst/>
          </a:prstGeom>
          <a:noFill/>
        </p:spPr>
        <p:txBody>
          <a:bodyPr wrap="square" anchor="ctr" lIns="73152" rIns="45720" bIns="27432"/>
          <a:lstStyle/>
          <a:p>
            <a:pPr algn="l"/>
            <a:r>
              <a:rPr sz="1200" b="0">
                <a:solidFill>
                  <a:srgbClr val="1E293B"/>
                </a:solidFill>
                <a:latin typeface="Noto Sans JP"/>
              </a:rPr>
              <a:t>海外ベンダーは本番運用に使えない（法規制）</a:t>
            </a:r>
          </a:p>
        </p:txBody>
      </p:sp>
      <p:sp>
        <p:nvSpPr>
          <p:cNvPr id="60" name="Rounded Rectangle 59"/>
          <p:cNvSpPr/>
          <p:nvPr/>
        </p:nvSpPr>
        <p:spPr>
          <a:xfrm>
            <a:off x="5120640" y="5631688"/>
            <a:ext cx="6702552" cy="462280"/>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120640" y="5631688"/>
            <a:ext cx="54864" cy="46228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257800" y="5668264"/>
            <a:ext cx="548640" cy="38912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266944" y="5668264"/>
            <a:ext cx="530352" cy="389128"/>
          </a:xfrm>
          <a:prstGeom prst="rect">
            <a:avLst/>
          </a:prstGeom>
          <a:noFill/>
        </p:spPr>
        <p:txBody>
          <a:bodyPr wrap="square" anchor="ctr" lIns="73152" rIns="45720" bIns="27432"/>
          <a:lstStyle/>
          <a:p>
            <a:pPr algn="ctr"/>
            <a:r>
              <a:rPr sz="900" b="1">
                <a:solidFill>
                  <a:srgbClr val="42A4AF"/>
                </a:solidFill>
                <a:latin typeface="Noto Sans JP"/>
              </a:rPr>
              <a:t>事実</a:t>
            </a:r>
          </a:p>
        </p:txBody>
      </p:sp>
      <p:sp>
        <p:nvSpPr>
          <p:cNvPr id="64" name="TextBox 63"/>
          <p:cNvSpPr txBox="1"/>
          <p:nvPr/>
        </p:nvSpPr>
        <p:spPr>
          <a:xfrm>
            <a:off x="5897879" y="5631688"/>
            <a:ext cx="5833872" cy="462280"/>
          </a:xfrm>
          <a:prstGeom prst="rect">
            <a:avLst/>
          </a:prstGeom>
          <a:noFill/>
        </p:spPr>
        <p:txBody>
          <a:bodyPr wrap="square" anchor="ctr" lIns="73152" rIns="45720" bIns="27432"/>
          <a:lstStyle/>
          <a:p>
            <a:pPr algn="l"/>
            <a:r>
              <a:rPr sz="1200" b="0">
                <a:solidFill>
                  <a:srgbClr val="1E293B"/>
                </a:solidFill>
                <a:latin typeface="Noto Sans JP"/>
              </a:rPr>
              <a:t>自社エンジニアのAI開発スキルが不足</a:t>
            </a:r>
          </a:p>
        </p:txBody>
      </p:sp>
      <p:sp>
        <p:nvSpPr>
          <p:cNvPr id="65" name="Rounded Rectangle 64"/>
          <p:cNvSpPr/>
          <p:nvPr/>
        </p:nvSpPr>
        <p:spPr>
          <a:xfrm>
            <a:off x="5120640" y="6139688"/>
            <a:ext cx="6702552" cy="462280"/>
          </a:xfrm>
          <a:prstGeom prst="roundRect">
            <a:avLst>
              <a:gd name="adj" fmla="val 2000"/>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120640" y="6139688"/>
            <a:ext cx="54864" cy="4622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257800" y="6176264"/>
            <a:ext cx="548640" cy="389128"/>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266944" y="6176264"/>
            <a:ext cx="530352" cy="389128"/>
          </a:xfrm>
          <a:prstGeom prst="rect">
            <a:avLst/>
          </a:prstGeom>
          <a:noFill/>
        </p:spPr>
        <p:txBody>
          <a:bodyPr wrap="square" anchor="ctr" lIns="73152" rIns="45720" bIns="27432"/>
          <a:lstStyle/>
          <a:p>
            <a:pPr algn="ctr"/>
            <a:r>
              <a:rPr sz="900" b="1">
                <a:solidFill>
                  <a:srgbClr val="F59E0B"/>
                </a:solidFill>
                <a:latin typeface="Noto Sans JP"/>
              </a:rPr>
              <a:t>推察</a:t>
            </a:r>
          </a:p>
        </p:txBody>
      </p:sp>
      <p:sp>
        <p:nvSpPr>
          <p:cNvPr id="69" name="TextBox 68"/>
          <p:cNvSpPr txBox="1"/>
          <p:nvPr/>
        </p:nvSpPr>
        <p:spPr>
          <a:xfrm>
            <a:off x="5897879" y="6139688"/>
            <a:ext cx="5833872" cy="462280"/>
          </a:xfrm>
          <a:prstGeom prst="rect">
            <a:avLst/>
          </a:prstGeom>
          <a:noFill/>
        </p:spPr>
        <p:txBody>
          <a:bodyPr wrap="square" anchor="ctr" lIns="73152" rIns="45720" bIns="27432"/>
          <a:lstStyle/>
          <a:p>
            <a:pPr algn="l"/>
            <a:r>
              <a:rPr sz="1200" b="0">
                <a:solidFill>
                  <a:srgbClr val="1E293B"/>
                </a:solidFill>
                <a:latin typeface="Noto Sans JP"/>
              </a:rPr>
              <a:t>保険業界特有ユースケースの実現方法が不明</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8686800" cy="694944"/>
          </a:xfrm>
          <a:prstGeom prst="rect">
            <a:avLst/>
          </a:prstGeom>
          <a:noFill/>
        </p:spPr>
        <p:txBody>
          <a:bodyPr wrap="square" anchor="ctr" lIns="73152" rIns="45720" bIns="27432"/>
          <a:lstStyle/>
          <a:p>
            <a:pPr algn="l"/>
            <a:r>
              <a:rPr sz="2400" b="1">
                <a:solidFill>
                  <a:srgbClr val="FFFFFF"/>
                </a:solidFill>
                <a:latin typeface="Noto Sans JP"/>
              </a:rPr>
              <a:t>ご提案のゴール</a:t>
            </a:r>
          </a:p>
        </p:txBody>
      </p:sp>
      <p:sp>
        <p:nvSpPr>
          <p:cNvPr id="4" name="TextBox 3"/>
          <p:cNvSpPr txBox="1"/>
          <p:nvPr/>
        </p:nvSpPr>
        <p:spPr>
          <a:xfrm>
            <a:off x="9692640" y="164592"/>
            <a:ext cx="2286000" cy="548640"/>
          </a:xfrm>
          <a:prstGeom prst="rect">
            <a:avLst/>
          </a:prstGeom>
          <a:noFill/>
        </p:spPr>
        <p:txBody>
          <a:bodyPr wrap="square" anchor="ctr" lIns="73152" rIns="45720" bIns="27432"/>
          <a:lstStyle/>
          <a:p>
            <a:pPr algn="r"/>
            <a:r>
              <a:rPr sz="1100" b="0">
                <a:solidFill>
                  <a:srgbClr val="FFFFFF"/>
                </a:solidFill>
                <a:latin typeface="Noto Sans JP"/>
              </a:rPr>
              <a:t>株式会社エヌイチ</a:t>
            </a:r>
          </a:p>
        </p:txBody>
      </p:sp>
      <p:sp>
        <p:nvSpPr>
          <p:cNvPr id="5" name="Rounded Rectangle 4"/>
          <p:cNvSpPr/>
          <p:nvPr/>
        </p:nvSpPr>
        <p:spPr>
          <a:xfrm>
            <a:off x="365760" y="1005840"/>
            <a:ext cx="11457432" cy="1280160"/>
          </a:xfrm>
          <a:prstGeom prst="roundRect">
            <a:avLst>
              <a:gd name="adj" fmla="val 3000"/>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05840"/>
            <a:ext cx="91440" cy="128016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97280"/>
            <a:ext cx="11064240" cy="1097280"/>
          </a:xfrm>
          <a:prstGeom prst="rect">
            <a:avLst/>
          </a:prstGeom>
          <a:noFill/>
        </p:spPr>
        <p:txBody>
          <a:bodyPr wrap="square" anchor="ctr" lIns="73152" rIns="45720" bIns="27432"/>
          <a:lstStyle/>
          <a:p>
            <a:pPr algn="l"/>
            <a:r>
              <a:rPr sz="2600" b="1">
                <a:solidFill>
                  <a:srgbClr val="1E293B"/>
                </a:solidFill>
                <a:latin typeface="Noto Sans JP"/>
              </a:rPr>
              <a:t>3ヶ月で、エンジニアが「AI開発の型」を持って</a:t>
            </a:r>
          </a:p>
          <a:p>
            <a:pPr algn="l"/>
            <a:r>
              <a:rPr sz="2600" b="1">
                <a:solidFill>
                  <a:srgbClr val="1E293B"/>
                </a:solidFill>
                <a:latin typeface="Noto Sans JP"/>
              </a:rPr>
              <a:t>自走できる組織をつくります</a:t>
            </a:r>
          </a:p>
        </p:txBody>
      </p:sp>
      <p:sp>
        <p:nvSpPr>
          <p:cNvPr id="8" name="Rectangle 7"/>
          <p:cNvSpPr/>
          <p:nvPr/>
        </p:nvSpPr>
        <p:spPr>
          <a:xfrm>
            <a:off x="365760" y="2468880"/>
            <a:ext cx="73152" cy="966977"/>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2468880"/>
            <a:ext cx="11320272" cy="966977"/>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523744"/>
            <a:ext cx="2560320" cy="857249"/>
          </a:xfrm>
          <a:prstGeom prst="rect">
            <a:avLst/>
          </a:prstGeom>
          <a:noFill/>
        </p:spPr>
        <p:txBody>
          <a:bodyPr wrap="square" anchor="ctr" lIns="73152" rIns="45720" bIns="27432"/>
          <a:lstStyle/>
          <a:p>
            <a:pPr algn="l"/>
            <a:r>
              <a:rPr sz="1400" b="1">
                <a:solidFill>
                  <a:srgbClr val="42A4AF"/>
                </a:solidFill>
                <a:latin typeface="Noto Sans JP"/>
              </a:rPr>
              <a:t>AI開発の方法論</a:t>
            </a:r>
          </a:p>
        </p:txBody>
      </p:sp>
      <p:sp>
        <p:nvSpPr>
          <p:cNvPr id="11" name="Rectangle 10"/>
          <p:cNvSpPr/>
          <p:nvPr/>
        </p:nvSpPr>
        <p:spPr>
          <a:xfrm>
            <a:off x="3246120" y="2613926"/>
            <a:ext cx="18288" cy="67688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2523744"/>
            <a:ext cx="8229600" cy="857249"/>
          </a:xfrm>
          <a:prstGeom prst="rect">
            <a:avLst/>
          </a:prstGeom>
          <a:noFill/>
        </p:spPr>
        <p:txBody>
          <a:bodyPr wrap="square" anchor="ctr" lIns="73152" rIns="45720" bIns="27432"/>
          <a:lstStyle/>
          <a:p>
            <a:pPr algn="l"/>
            <a:r>
              <a:rPr sz="1300" b="0">
                <a:solidFill>
                  <a:srgbClr val="1E293B"/>
                </a:solidFill>
                <a:latin typeface="Noto Sans JP"/>
              </a:rPr>
              <a:t>AIエージェント開発のプロセスとビジネス要件からタスクを分解する思考法を習得</a:t>
            </a:r>
          </a:p>
        </p:txBody>
      </p:sp>
      <p:sp>
        <p:nvSpPr>
          <p:cNvPr id="13" name="Rectangle 12"/>
          <p:cNvSpPr/>
          <p:nvPr/>
        </p:nvSpPr>
        <p:spPr>
          <a:xfrm>
            <a:off x="365760" y="3509010"/>
            <a:ext cx="73152" cy="966977"/>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509010"/>
            <a:ext cx="11320272" cy="966977"/>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563874"/>
            <a:ext cx="2560320" cy="857249"/>
          </a:xfrm>
          <a:prstGeom prst="rect">
            <a:avLst/>
          </a:prstGeom>
          <a:noFill/>
        </p:spPr>
        <p:txBody>
          <a:bodyPr wrap="square" anchor="ctr" lIns="73152" rIns="45720" bIns="27432"/>
          <a:lstStyle/>
          <a:p>
            <a:pPr algn="l"/>
            <a:r>
              <a:rPr sz="1400" b="1">
                <a:solidFill>
                  <a:srgbClr val="42A4AF"/>
                </a:solidFill>
                <a:latin typeface="Noto Sans JP"/>
              </a:rPr>
              <a:t>業界特化の実践</a:t>
            </a:r>
          </a:p>
        </p:txBody>
      </p:sp>
      <p:sp>
        <p:nvSpPr>
          <p:cNvPr id="16" name="Rectangle 15"/>
          <p:cNvSpPr/>
          <p:nvPr/>
        </p:nvSpPr>
        <p:spPr>
          <a:xfrm>
            <a:off x="3246120" y="3654056"/>
            <a:ext cx="18288" cy="67688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29000" y="3563874"/>
            <a:ext cx="8229600" cy="857249"/>
          </a:xfrm>
          <a:prstGeom prst="rect">
            <a:avLst/>
          </a:prstGeom>
          <a:noFill/>
        </p:spPr>
        <p:txBody>
          <a:bodyPr wrap="square" anchor="ctr" lIns="73152" rIns="45720" bIns="27432"/>
          <a:lstStyle/>
          <a:p>
            <a:pPr algn="l"/>
            <a:r>
              <a:rPr sz="1300" b="0">
                <a:solidFill>
                  <a:srgbClr val="1E293B"/>
                </a:solidFill>
                <a:latin typeface="Noto Sans JP"/>
              </a:rPr>
              <a:t>保険業界のユースケース（AI-OCR・保険金自動判断）を題材にした実践演習</a:t>
            </a:r>
          </a:p>
        </p:txBody>
      </p:sp>
      <p:sp>
        <p:nvSpPr>
          <p:cNvPr id="18" name="Rectangle 17"/>
          <p:cNvSpPr/>
          <p:nvPr/>
        </p:nvSpPr>
        <p:spPr>
          <a:xfrm>
            <a:off x="365760" y="4549140"/>
            <a:ext cx="73152" cy="966977"/>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2920" y="4549140"/>
            <a:ext cx="11320272" cy="966977"/>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604003"/>
            <a:ext cx="2560320" cy="857249"/>
          </a:xfrm>
          <a:prstGeom prst="rect">
            <a:avLst/>
          </a:prstGeom>
          <a:noFill/>
        </p:spPr>
        <p:txBody>
          <a:bodyPr wrap="square" anchor="ctr" lIns="73152" rIns="45720" bIns="27432"/>
          <a:lstStyle/>
          <a:p>
            <a:pPr algn="l"/>
            <a:r>
              <a:rPr sz="1400" b="1">
                <a:solidFill>
                  <a:srgbClr val="42A4AF"/>
                </a:solidFill>
                <a:latin typeface="Noto Sans JP"/>
              </a:rPr>
              <a:t>環境に合わせた設計</a:t>
            </a:r>
          </a:p>
        </p:txBody>
      </p:sp>
      <p:sp>
        <p:nvSpPr>
          <p:cNvPr id="21" name="Rectangle 20"/>
          <p:cNvSpPr/>
          <p:nvPr/>
        </p:nvSpPr>
        <p:spPr>
          <a:xfrm>
            <a:off x="3246120" y="4694186"/>
            <a:ext cx="18288" cy="67688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29000" y="4604003"/>
            <a:ext cx="8229600" cy="857249"/>
          </a:xfrm>
          <a:prstGeom prst="rect">
            <a:avLst/>
          </a:prstGeom>
          <a:noFill/>
        </p:spPr>
        <p:txBody>
          <a:bodyPr wrap="square" anchor="ctr" lIns="73152" rIns="45720" bIns="27432"/>
          <a:lstStyle/>
          <a:p>
            <a:pPr algn="l"/>
            <a:r>
              <a:rPr sz="1300" b="0">
                <a:solidFill>
                  <a:srgbClr val="1E293B"/>
                </a:solidFill>
                <a:latin typeface="Noto Sans JP"/>
              </a:rPr>
              <a:t>ChatGPT Enterprise前提で設計。実務にそのままつながる内容</a:t>
            </a:r>
          </a:p>
        </p:txBody>
      </p:sp>
      <p:sp>
        <p:nvSpPr>
          <p:cNvPr id="23" name="Rectangle 22"/>
          <p:cNvSpPr/>
          <p:nvPr/>
        </p:nvSpPr>
        <p:spPr>
          <a:xfrm>
            <a:off x="365760" y="5589270"/>
            <a:ext cx="73152" cy="966977"/>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5589270"/>
            <a:ext cx="11320272" cy="966977"/>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644133"/>
            <a:ext cx="2560320" cy="857249"/>
          </a:xfrm>
          <a:prstGeom prst="rect">
            <a:avLst/>
          </a:prstGeom>
          <a:noFill/>
        </p:spPr>
        <p:txBody>
          <a:bodyPr wrap="square" anchor="ctr" lIns="73152" rIns="45720" bIns="27432"/>
          <a:lstStyle/>
          <a:p>
            <a:pPr algn="l"/>
            <a:r>
              <a:rPr sz="1400" b="1">
                <a:solidFill>
                  <a:srgbClr val="42A4AF"/>
                </a:solidFill>
                <a:latin typeface="Noto Sans JP"/>
              </a:rPr>
              <a:t>多言語チーム対応</a:t>
            </a:r>
          </a:p>
        </p:txBody>
      </p:sp>
      <p:sp>
        <p:nvSpPr>
          <p:cNvPr id="26" name="Rectangle 25"/>
          <p:cNvSpPr/>
          <p:nvPr/>
        </p:nvSpPr>
        <p:spPr>
          <a:xfrm>
            <a:off x="3246120" y="5734316"/>
            <a:ext cx="18288" cy="67688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29000" y="5644133"/>
            <a:ext cx="8229600" cy="857249"/>
          </a:xfrm>
          <a:prstGeom prst="rect">
            <a:avLst/>
          </a:prstGeom>
          <a:noFill/>
        </p:spPr>
        <p:txBody>
          <a:bodyPr wrap="square" anchor="ctr" lIns="73152" rIns="45720" bIns="27432"/>
          <a:lstStyle/>
          <a:p>
            <a:pPr algn="l"/>
            <a:r>
              <a:rPr sz="1300" b="0">
                <a:solidFill>
                  <a:srgbClr val="1E293B"/>
                </a:solidFill>
                <a:latin typeface="Noto Sans JP"/>
              </a:rPr>
              <a:t>日中バイリンガル資料のオプションで、全メンバーが参加可能</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8686800" cy="694944"/>
          </a:xfrm>
          <a:prstGeom prst="rect">
            <a:avLst/>
          </a:prstGeom>
          <a:noFill/>
        </p:spPr>
        <p:txBody>
          <a:bodyPr wrap="square" anchor="ctr" lIns="73152" rIns="45720" bIns="27432"/>
          <a:lstStyle/>
          <a:p>
            <a:pPr algn="l"/>
            <a:r>
              <a:rPr sz="2400" b="1">
                <a:solidFill>
                  <a:srgbClr val="FFFFFF"/>
                </a:solidFill>
                <a:latin typeface="Noto Sans JP"/>
              </a:rPr>
              <a:t>なぜKawaru Teamか</a:t>
            </a:r>
          </a:p>
        </p:txBody>
      </p:sp>
      <p:sp>
        <p:nvSpPr>
          <p:cNvPr id="4" name="TextBox 3"/>
          <p:cNvSpPr txBox="1"/>
          <p:nvPr/>
        </p:nvSpPr>
        <p:spPr>
          <a:xfrm>
            <a:off x="9692640" y="164592"/>
            <a:ext cx="2286000" cy="548640"/>
          </a:xfrm>
          <a:prstGeom prst="rect">
            <a:avLst/>
          </a:prstGeom>
          <a:noFill/>
        </p:spPr>
        <p:txBody>
          <a:bodyPr wrap="square" anchor="ctr" lIns="73152" rIns="45720" bIns="27432"/>
          <a:lstStyle/>
          <a:p>
            <a:pPr algn="r"/>
            <a:r>
              <a:rPr sz="1100" b="0">
                <a:solidFill>
                  <a:srgbClr val="FFFFFF"/>
                </a:solidFill>
                <a:latin typeface="Noto Sans JP"/>
              </a:rPr>
              <a:t>株式会社エヌイチ</a:t>
            </a:r>
          </a:p>
        </p:txBody>
      </p:sp>
      <p:sp>
        <p:nvSpPr>
          <p:cNvPr id="5" name="Rectangle 4"/>
          <p:cNvSpPr/>
          <p:nvPr/>
        </p:nvSpPr>
        <p:spPr>
          <a:xfrm>
            <a:off x="0" y="914400"/>
            <a:ext cx="12188952" cy="38404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941832"/>
            <a:ext cx="11430000" cy="329184"/>
          </a:xfrm>
          <a:prstGeom prst="rect">
            <a:avLst/>
          </a:prstGeom>
          <a:noFill/>
        </p:spPr>
        <p:txBody>
          <a:bodyPr wrap="square" anchor="t" lIns="73152" rIns="45720" bIns="27432"/>
          <a:lstStyle/>
          <a:p>
            <a:pPr algn="l"/>
            <a:r>
              <a:rPr sz="1200" b="0">
                <a:solidFill>
                  <a:srgbClr val="1E405F"/>
                </a:solidFill>
                <a:latin typeface="Noto Sans JP"/>
              </a:rPr>
              <a:t>一般的なAI研修との違い</a:t>
            </a:r>
          </a:p>
        </p:txBody>
      </p:sp>
      <p:sp>
        <p:nvSpPr>
          <p:cNvPr id="7" name="Rounded Rectangle 6"/>
          <p:cNvSpPr/>
          <p:nvPr/>
        </p:nvSpPr>
        <p:spPr>
          <a:xfrm>
            <a:off x="365760" y="1389888"/>
            <a:ext cx="3560064" cy="5394960"/>
          </a:xfrm>
          <a:prstGeom prst="roundRect">
            <a:avLst>
              <a:gd name="adj" fmla="val 3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389888"/>
            <a:ext cx="54864" cy="539496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1499616"/>
            <a:ext cx="3285744" cy="502920"/>
          </a:xfrm>
          <a:prstGeom prst="rect">
            <a:avLst/>
          </a:prstGeom>
          <a:noFill/>
        </p:spPr>
        <p:txBody>
          <a:bodyPr wrap="square" anchor="t" lIns="73152" rIns="45720" bIns="27432"/>
          <a:lstStyle/>
          <a:p>
            <a:pPr algn="ctr"/>
            <a:r>
              <a:rPr sz="1700" b="1">
                <a:solidFill>
                  <a:srgbClr val="1E293B"/>
                </a:solidFill>
                <a:latin typeface="Noto Sans JP"/>
              </a:rPr>
              <a:t>一般的なAI研修</a:t>
            </a:r>
          </a:p>
        </p:txBody>
      </p:sp>
      <p:sp>
        <p:nvSpPr>
          <p:cNvPr id="10" name="Rectangle 9"/>
          <p:cNvSpPr/>
          <p:nvPr/>
        </p:nvSpPr>
        <p:spPr>
          <a:xfrm>
            <a:off x="502920" y="2048256"/>
            <a:ext cx="3285744" cy="27432"/>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194560"/>
            <a:ext cx="3285744" cy="105156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194560"/>
            <a:ext cx="54864" cy="105156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194560"/>
            <a:ext cx="3102864" cy="1051560"/>
          </a:xfrm>
          <a:prstGeom prst="rect">
            <a:avLst/>
          </a:prstGeom>
          <a:noFill/>
        </p:spPr>
        <p:txBody>
          <a:bodyPr wrap="square" anchor="ctr" lIns="73152" rIns="45720" bIns="27432"/>
          <a:lstStyle/>
          <a:p>
            <a:pPr algn="l"/>
            <a:r>
              <a:rPr sz="1300" b="0">
                <a:solidFill>
                  <a:srgbClr val="1E293B"/>
                </a:solidFill>
                <a:latin typeface="Noto Sans JP"/>
              </a:rPr>
              <a:t>既成カリキュラムをそのまま提供</a:t>
            </a:r>
          </a:p>
        </p:txBody>
      </p:sp>
      <p:sp>
        <p:nvSpPr>
          <p:cNvPr id="14" name="Rounded Rectangle 13"/>
          <p:cNvSpPr/>
          <p:nvPr/>
        </p:nvSpPr>
        <p:spPr>
          <a:xfrm>
            <a:off x="502920" y="3337560"/>
            <a:ext cx="3285744" cy="105156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337560"/>
            <a:ext cx="54864" cy="105156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337560"/>
            <a:ext cx="3102864" cy="1051560"/>
          </a:xfrm>
          <a:prstGeom prst="rect">
            <a:avLst/>
          </a:prstGeom>
          <a:noFill/>
        </p:spPr>
        <p:txBody>
          <a:bodyPr wrap="square" anchor="ctr" lIns="73152" rIns="45720" bIns="27432"/>
          <a:lstStyle/>
          <a:p>
            <a:pPr algn="l"/>
            <a:r>
              <a:rPr sz="1300" b="0">
                <a:solidFill>
                  <a:srgbClr val="1E293B"/>
                </a:solidFill>
                <a:latin typeface="Noto Sans JP"/>
              </a:rPr>
              <a:t>自社業務・業界への応用は自己解決</a:t>
            </a:r>
          </a:p>
        </p:txBody>
      </p:sp>
      <p:sp>
        <p:nvSpPr>
          <p:cNvPr id="17" name="Rounded Rectangle 16"/>
          <p:cNvSpPr/>
          <p:nvPr/>
        </p:nvSpPr>
        <p:spPr>
          <a:xfrm>
            <a:off x="502920" y="4480560"/>
            <a:ext cx="3285744" cy="105156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4480560"/>
            <a:ext cx="54864" cy="105156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480560"/>
            <a:ext cx="3102864" cy="1051560"/>
          </a:xfrm>
          <a:prstGeom prst="rect">
            <a:avLst/>
          </a:prstGeom>
          <a:noFill/>
        </p:spPr>
        <p:txBody>
          <a:bodyPr wrap="square" anchor="ctr" lIns="73152" rIns="45720" bIns="27432"/>
          <a:lstStyle/>
          <a:p>
            <a:pPr algn="l"/>
            <a:r>
              <a:rPr sz="1300" b="0">
                <a:solidFill>
                  <a:srgbClr val="1E293B"/>
                </a:solidFill>
                <a:latin typeface="Noto Sans JP"/>
              </a:rPr>
              <a:t>研修後の実践サポートなし</a:t>
            </a:r>
          </a:p>
        </p:txBody>
      </p:sp>
      <p:sp>
        <p:nvSpPr>
          <p:cNvPr id="20" name="Rounded Rectangle 19"/>
          <p:cNvSpPr/>
          <p:nvPr/>
        </p:nvSpPr>
        <p:spPr>
          <a:xfrm>
            <a:off x="502920" y="5623560"/>
            <a:ext cx="3285744" cy="105156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5623560"/>
            <a:ext cx="54864" cy="105156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623560"/>
            <a:ext cx="3102864" cy="1051560"/>
          </a:xfrm>
          <a:prstGeom prst="rect">
            <a:avLst/>
          </a:prstGeom>
          <a:noFill/>
        </p:spPr>
        <p:txBody>
          <a:bodyPr wrap="square" anchor="ctr" lIns="73152" rIns="45720" bIns="27432"/>
          <a:lstStyle/>
          <a:p>
            <a:pPr algn="l"/>
            <a:r>
              <a:rPr sz="1300" b="0">
                <a:solidFill>
                  <a:srgbClr val="1E293B"/>
                </a:solidFill>
                <a:latin typeface="Noto Sans JP"/>
              </a:rPr>
              <a:t>多言語チームへの対応が困難</a:t>
            </a:r>
          </a:p>
        </p:txBody>
      </p:sp>
      <p:sp>
        <p:nvSpPr>
          <p:cNvPr id="23" name="Rounded Rectangle 22"/>
          <p:cNvSpPr/>
          <p:nvPr/>
        </p:nvSpPr>
        <p:spPr>
          <a:xfrm>
            <a:off x="4062984" y="1389888"/>
            <a:ext cx="3560064" cy="5394960"/>
          </a:xfrm>
          <a:prstGeom prst="roundRect">
            <a:avLst>
              <a:gd name="adj" fmla="val 3000"/>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062984" y="1389888"/>
            <a:ext cx="54864" cy="539496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27576" y="1499616"/>
            <a:ext cx="3285744" cy="502920"/>
          </a:xfrm>
          <a:prstGeom prst="rect">
            <a:avLst/>
          </a:prstGeom>
          <a:noFill/>
        </p:spPr>
        <p:txBody>
          <a:bodyPr wrap="square" anchor="t" lIns="73152" rIns="45720" bIns="27432"/>
          <a:lstStyle/>
          <a:p>
            <a:pPr algn="ctr"/>
            <a:r>
              <a:rPr sz="1700" b="1">
                <a:solidFill>
                  <a:srgbClr val="1E293B"/>
                </a:solidFill>
                <a:latin typeface="Noto Sans JP"/>
              </a:rPr>
              <a:t>Kawaru Team</a:t>
            </a:r>
          </a:p>
        </p:txBody>
      </p:sp>
      <p:sp>
        <p:nvSpPr>
          <p:cNvPr id="26" name="Rectangle 25"/>
          <p:cNvSpPr/>
          <p:nvPr/>
        </p:nvSpPr>
        <p:spPr>
          <a:xfrm>
            <a:off x="4200144" y="2048256"/>
            <a:ext cx="3285744" cy="27432"/>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200144" y="2194560"/>
            <a:ext cx="3285744" cy="105156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00144" y="2194560"/>
            <a:ext cx="54864" cy="105156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37304" y="2194560"/>
            <a:ext cx="3102864" cy="1051560"/>
          </a:xfrm>
          <a:prstGeom prst="rect">
            <a:avLst/>
          </a:prstGeom>
          <a:noFill/>
        </p:spPr>
        <p:txBody>
          <a:bodyPr wrap="square" anchor="ctr" lIns="73152" rIns="45720" bIns="27432"/>
          <a:lstStyle/>
          <a:p>
            <a:pPr algn="l"/>
            <a:r>
              <a:rPr sz="1300" b="0">
                <a:solidFill>
                  <a:srgbClr val="1E293B"/>
                </a:solidFill>
                <a:latin typeface="Noto Sans JP"/>
              </a:rPr>
              <a:t>御社の課題から0ベースでカリキュラム設計</a:t>
            </a:r>
          </a:p>
        </p:txBody>
      </p:sp>
      <p:sp>
        <p:nvSpPr>
          <p:cNvPr id="30" name="Rounded Rectangle 29"/>
          <p:cNvSpPr/>
          <p:nvPr/>
        </p:nvSpPr>
        <p:spPr>
          <a:xfrm>
            <a:off x="4200144" y="3337560"/>
            <a:ext cx="3285744" cy="105156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00144" y="3337560"/>
            <a:ext cx="54864" cy="105156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37304" y="3337560"/>
            <a:ext cx="3102864" cy="1051560"/>
          </a:xfrm>
          <a:prstGeom prst="rect">
            <a:avLst/>
          </a:prstGeom>
          <a:noFill/>
        </p:spPr>
        <p:txBody>
          <a:bodyPr wrap="square" anchor="ctr" lIns="73152" rIns="45720" bIns="27432"/>
          <a:lstStyle/>
          <a:p>
            <a:pPr algn="l"/>
            <a:r>
              <a:rPr sz="1300" b="0">
                <a:solidFill>
                  <a:srgbClr val="1E293B"/>
                </a:solidFill>
                <a:latin typeface="Noto Sans JP"/>
              </a:rPr>
              <a:t>保険業界のユースケースを題材に構成</a:t>
            </a:r>
          </a:p>
        </p:txBody>
      </p:sp>
      <p:sp>
        <p:nvSpPr>
          <p:cNvPr id="33" name="Rounded Rectangle 32"/>
          <p:cNvSpPr/>
          <p:nvPr/>
        </p:nvSpPr>
        <p:spPr>
          <a:xfrm>
            <a:off x="4200144" y="4480560"/>
            <a:ext cx="3285744" cy="105156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200144" y="4480560"/>
            <a:ext cx="54864" cy="105156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37304" y="4480560"/>
            <a:ext cx="3102864" cy="1051560"/>
          </a:xfrm>
          <a:prstGeom prst="rect">
            <a:avLst/>
          </a:prstGeom>
          <a:noFill/>
        </p:spPr>
        <p:txBody>
          <a:bodyPr wrap="square" anchor="ctr" lIns="73152" rIns="45720" bIns="27432"/>
          <a:lstStyle/>
          <a:p>
            <a:pPr algn="l"/>
            <a:r>
              <a:rPr sz="1300" b="0">
                <a:solidFill>
                  <a:srgbClr val="1E293B"/>
                </a:solidFill>
                <a:latin typeface="Noto Sans JP"/>
              </a:rPr>
              <a:t>ChatGPT Enterprise前提で実務直結</a:t>
            </a:r>
          </a:p>
        </p:txBody>
      </p:sp>
      <p:sp>
        <p:nvSpPr>
          <p:cNvPr id="36" name="Rounded Rectangle 35"/>
          <p:cNvSpPr/>
          <p:nvPr/>
        </p:nvSpPr>
        <p:spPr>
          <a:xfrm>
            <a:off x="4200144" y="5623560"/>
            <a:ext cx="3285744" cy="105156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200144" y="5623560"/>
            <a:ext cx="54864" cy="105156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37304" y="5623560"/>
            <a:ext cx="3102864" cy="1051560"/>
          </a:xfrm>
          <a:prstGeom prst="rect">
            <a:avLst/>
          </a:prstGeom>
          <a:noFill/>
        </p:spPr>
        <p:txBody>
          <a:bodyPr wrap="square" anchor="ctr" lIns="73152" rIns="45720" bIns="27432"/>
          <a:lstStyle/>
          <a:p>
            <a:pPr algn="l"/>
            <a:r>
              <a:rPr sz="1300" b="0">
                <a:solidFill>
                  <a:srgbClr val="1E293B"/>
                </a:solidFill>
                <a:latin typeface="Noto Sans JP"/>
              </a:rPr>
              <a:t>日中バイリンガル対応オプションあり</a:t>
            </a:r>
          </a:p>
        </p:txBody>
      </p:sp>
      <p:sp>
        <p:nvSpPr>
          <p:cNvPr id="39" name="Rounded Rectangle 38"/>
          <p:cNvSpPr/>
          <p:nvPr/>
        </p:nvSpPr>
        <p:spPr>
          <a:xfrm>
            <a:off x="7760208" y="1389888"/>
            <a:ext cx="3560064" cy="5394960"/>
          </a:xfrm>
          <a:prstGeom prst="roundRect">
            <a:avLst>
              <a:gd name="adj" fmla="val 3000"/>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60208" y="1389888"/>
            <a:ext cx="54864" cy="53949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24799" y="1499616"/>
            <a:ext cx="3285744" cy="502920"/>
          </a:xfrm>
          <a:prstGeom prst="rect">
            <a:avLst/>
          </a:prstGeom>
          <a:noFill/>
        </p:spPr>
        <p:txBody>
          <a:bodyPr wrap="square" anchor="t" lIns="73152" rIns="45720" bIns="27432"/>
          <a:lstStyle/>
          <a:p>
            <a:pPr algn="ctr"/>
            <a:r>
              <a:rPr sz="1700" b="1">
                <a:solidFill>
                  <a:srgbClr val="1E293B"/>
                </a:solidFill>
                <a:latin typeface="Noto Sans JP"/>
              </a:rPr>
              <a:t>期待できる成果</a:t>
            </a:r>
          </a:p>
        </p:txBody>
      </p:sp>
      <p:sp>
        <p:nvSpPr>
          <p:cNvPr id="42" name="Rectangle 41"/>
          <p:cNvSpPr/>
          <p:nvPr/>
        </p:nvSpPr>
        <p:spPr>
          <a:xfrm>
            <a:off x="7897368" y="2048256"/>
            <a:ext cx="3285744" cy="2743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897368" y="2194560"/>
            <a:ext cx="3285744" cy="105156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897368" y="2194560"/>
            <a:ext cx="54864" cy="10515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34528" y="2194560"/>
            <a:ext cx="3102864" cy="1051560"/>
          </a:xfrm>
          <a:prstGeom prst="rect">
            <a:avLst/>
          </a:prstGeom>
          <a:noFill/>
        </p:spPr>
        <p:txBody>
          <a:bodyPr wrap="square" anchor="ctr" lIns="73152" rIns="45720" bIns="27432"/>
          <a:lstStyle/>
          <a:p>
            <a:pPr algn="l"/>
            <a:r>
              <a:rPr sz="1300" b="0">
                <a:solidFill>
                  <a:srgbClr val="1E293B"/>
                </a:solidFill>
                <a:latin typeface="Noto Sans JP"/>
              </a:rPr>
              <a:t>AI開発の型が組織に定着</a:t>
            </a:r>
          </a:p>
        </p:txBody>
      </p:sp>
      <p:sp>
        <p:nvSpPr>
          <p:cNvPr id="46" name="Rounded Rectangle 45"/>
          <p:cNvSpPr/>
          <p:nvPr/>
        </p:nvSpPr>
        <p:spPr>
          <a:xfrm>
            <a:off x="7897368" y="3337560"/>
            <a:ext cx="3285744" cy="105156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897368" y="3337560"/>
            <a:ext cx="54864" cy="10515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34528" y="3337560"/>
            <a:ext cx="3102864" cy="1051560"/>
          </a:xfrm>
          <a:prstGeom prst="rect">
            <a:avLst/>
          </a:prstGeom>
          <a:noFill/>
        </p:spPr>
        <p:txBody>
          <a:bodyPr wrap="square" anchor="ctr" lIns="73152" rIns="45720" bIns="27432"/>
          <a:lstStyle/>
          <a:p>
            <a:pPr algn="l"/>
            <a:r>
              <a:rPr sz="1300" b="0">
                <a:solidFill>
                  <a:srgbClr val="1E293B"/>
                </a:solidFill>
                <a:latin typeface="Noto Sans JP"/>
              </a:rPr>
              <a:t>海外BPO依存を段階的に脱却</a:t>
            </a:r>
          </a:p>
        </p:txBody>
      </p:sp>
      <p:sp>
        <p:nvSpPr>
          <p:cNvPr id="49" name="Rounded Rectangle 48"/>
          <p:cNvSpPr/>
          <p:nvPr/>
        </p:nvSpPr>
        <p:spPr>
          <a:xfrm>
            <a:off x="7897368" y="4480560"/>
            <a:ext cx="3285744" cy="105156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897368" y="4480560"/>
            <a:ext cx="54864" cy="10515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034528" y="4480560"/>
            <a:ext cx="3102864" cy="1051560"/>
          </a:xfrm>
          <a:prstGeom prst="rect">
            <a:avLst/>
          </a:prstGeom>
          <a:noFill/>
        </p:spPr>
        <p:txBody>
          <a:bodyPr wrap="square" anchor="ctr" lIns="73152" rIns="45720" bIns="27432"/>
          <a:lstStyle/>
          <a:p>
            <a:pPr algn="l"/>
            <a:r>
              <a:rPr sz="1300" b="0">
                <a:solidFill>
                  <a:srgbClr val="1E293B"/>
                </a:solidFill>
                <a:latin typeface="Noto Sans JP"/>
              </a:rPr>
              <a:t>エンジニアが自走してAIを実装できる</a:t>
            </a:r>
          </a:p>
        </p:txBody>
      </p:sp>
      <p:sp>
        <p:nvSpPr>
          <p:cNvPr id="52" name="Rounded Rectangle 51"/>
          <p:cNvSpPr/>
          <p:nvPr/>
        </p:nvSpPr>
        <p:spPr>
          <a:xfrm>
            <a:off x="7897368" y="5623560"/>
            <a:ext cx="3285744" cy="105156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897368" y="5623560"/>
            <a:ext cx="54864" cy="10515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034528" y="5623560"/>
            <a:ext cx="3102864" cy="1051560"/>
          </a:xfrm>
          <a:prstGeom prst="rect">
            <a:avLst/>
          </a:prstGeom>
          <a:noFill/>
        </p:spPr>
        <p:txBody>
          <a:bodyPr wrap="square" anchor="ctr" lIns="73152" rIns="45720" bIns="27432"/>
          <a:lstStyle/>
          <a:p>
            <a:pPr algn="l"/>
            <a:r>
              <a:rPr sz="1300" b="0">
                <a:solidFill>
                  <a:srgbClr val="1E293B"/>
                </a:solidFill>
                <a:latin typeface="Noto Sans JP"/>
              </a:rPr>
              <a:t>3月末の企画書に間に合う投資対効果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8686800" cy="694944"/>
          </a:xfrm>
          <a:prstGeom prst="rect">
            <a:avLst/>
          </a:prstGeom>
          <a:noFill/>
        </p:spPr>
        <p:txBody>
          <a:bodyPr wrap="square" anchor="ctr" lIns="73152" rIns="45720" bIns="27432"/>
          <a:lstStyle/>
          <a:p>
            <a:pPr algn="l"/>
            <a:r>
              <a:rPr sz="2400" b="1">
                <a:solidFill>
                  <a:srgbClr val="FFFFFF"/>
                </a:solidFill>
                <a:latin typeface="Noto Sans JP"/>
              </a:rPr>
              <a:t>Kawaru Teamの進め方</a:t>
            </a:r>
          </a:p>
        </p:txBody>
      </p:sp>
      <p:sp>
        <p:nvSpPr>
          <p:cNvPr id="4" name="TextBox 3"/>
          <p:cNvSpPr txBox="1"/>
          <p:nvPr/>
        </p:nvSpPr>
        <p:spPr>
          <a:xfrm>
            <a:off x="9692640" y="164592"/>
            <a:ext cx="2286000" cy="548640"/>
          </a:xfrm>
          <a:prstGeom prst="rect">
            <a:avLst/>
          </a:prstGeom>
          <a:noFill/>
        </p:spPr>
        <p:txBody>
          <a:bodyPr wrap="square" anchor="ctr" lIns="73152" rIns="45720" bIns="27432"/>
          <a:lstStyle/>
          <a:p>
            <a:pPr algn="r"/>
            <a:r>
              <a:rPr sz="1100" b="0">
                <a:solidFill>
                  <a:srgbClr val="FFFFFF"/>
                </a:solidFill>
                <a:latin typeface="Noto Sans JP"/>
              </a:rPr>
              <a:t>株式会社エヌイチ</a:t>
            </a:r>
          </a:p>
        </p:txBody>
      </p:sp>
      <p:sp>
        <p:nvSpPr>
          <p:cNvPr id="5" name="Rectangle 4"/>
          <p:cNvSpPr/>
          <p:nvPr/>
        </p:nvSpPr>
        <p:spPr>
          <a:xfrm>
            <a:off x="0" y="914400"/>
            <a:ext cx="12188952" cy="384048"/>
          </a:xfrm>
          <a:prstGeom prst="rect">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941832"/>
            <a:ext cx="11430000" cy="329184"/>
          </a:xfrm>
          <a:prstGeom prst="rect">
            <a:avLst/>
          </a:prstGeom>
          <a:noFill/>
        </p:spPr>
        <p:txBody>
          <a:bodyPr wrap="square" anchor="t" lIns="73152" rIns="45720" bIns="27432"/>
          <a:lstStyle/>
          <a:p>
            <a:pPr algn="l"/>
            <a:r>
              <a:rPr sz="1200" b="0">
                <a:solidFill>
                  <a:srgbClr val="1E405F"/>
                </a:solidFill>
                <a:latin typeface="Noto Sans JP"/>
              </a:rPr>
              <a:t>ヒアリングからフォローまで、すべて伴走します</a:t>
            </a:r>
          </a:p>
        </p:txBody>
      </p:sp>
      <p:sp>
        <p:nvSpPr>
          <p:cNvPr id="7" name="Rectangle 6"/>
          <p:cNvSpPr/>
          <p:nvPr/>
        </p:nvSpPr>
        <p:spPr>
          <a:xfrm>
            <a:off x="1528571" y="1389888"/>
            <a:ext cx="1188720" cy="384048"/>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28571" y="1389888"/>
            <a:ext cx="1188720" cy="384048"/>
          </a:xfrm>
          <a:prstGeom prst="rect">
            <a:avLst/>
          </a:prstGeom>
          <a:noFill/>
        </p:spPr>
        <p:txBody>
          <a:bodyPr wrap="square" anchor="ctr" lIns="73152" rIns="45720" bIns="27432"/>
          <a:lstStyle/>
          <a:p>
            <a:pPr algn="ctr"/>
            <a:r>
              <a:rPr sz="1300" b="1">
                <a:solidFill>
                  <a:srgbClr val="FFFFFF"/>
                </a:solidFill>
                <a:latin typeface="Noto Sans JP"/>
              </a:rPr>
              <a:t>STEP 1</a:t>
            </a:r>
          </a:p>
        </p:txBody>
      </p:sp>
      <p:sp>
        <p:nvSpPr>
          <p:cNvPr id="9" name="Rounded Rectangle 8"/>
          <p:cNvSpPr/>
          <p:nvPr/>
        </p:nvSpPr>
        <p:spPr>
          <a:xfrm>
            <a:off x="365760" y="1828800"/>
            <a:ext cx="3514343" cy="4956048"/>
          </a:xfrm>
          <a:prstGeom prst="roundRect">
            <a:avLst>
              <a:gd name="adj" fmla="val 3000"/>
            </a:avLst>
          </a:prstGeom>
          <a:solidFill>
            <a:srgbClr val="E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828800"/>
            <a:ext cx="54864" cy="4956048"/>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938528"/>
            <a:ext cx="3240023" cy="822960"/>
          </a:xfrm>
          <a:prstGeom prst="rect">
            <a:avLst/>
          </a:prstGeom>
          <a:noFill/>
        </p:spPr>
        <p:txBody>
          <a:bodyPr wrap="square" anchor="t" lIns="73152" rIns="45720" bIns="27432"/>
          <a:lstStyle/>
          <a:p>
            <a:pPr algn="ctr"/>
            <a:r>
              <a:rPr sz="1800" b="1">
                <a:solidFill>
                  <a:srgbClr val="1E293B"/>
                </a:solidFill>
                <a:latin typeface="Noto Sans JP"/>
              </a:rPr>
              <a:t>ヒアリング</a:t>
            </a:r>
          </a:p>
          <a:p>
            <a:pPr algn="ctr"/>
            <a:r>
              <a:rPr sz="1800" b="1">
                <a:solidFill>
                  <a:srgbClr val="1E293B"/>
                </a:solidFill>
                <a:latin typeface="Noto Sans JP"/>
              </a:rPr>
              <a:t>課題整理</a:t>
            </a:r>
          </a:p>
        </p:txBody>
      </p:sp>
      <p:sp>
        <p:nvSpPr>
          <p:cNvPr id="12" name="Rectangle 11"/>
          <p:cNvSpPr/>
          <p:nvPr/>
        </p:nvSpPr>
        <p:spPr>
          <a:xfrm>
            <a:off x="502920" y="2807208"/>
            <a:ext cx="3240023" cy="27432"/>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3337560"/>
            <a:ext cx="3240023" cy="77724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3337560"/>
            <a:ext cx="54864" cy="77724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337560"/>
            <a:ext cx="3057143" cy="777240"/>
          </a:xfrm>
          <a:prstGeom prst="rect">
            <a:avLst/>
          </a:prstGeom>
          <a:noFill/>
        </p:spPr>
        <p:txBody>
          <a:bodyPr wrap="square" anchor="ctr" lIns="73152" rIns="45720" bIns="27432"/>
          <a:lstStyle/>
          <a:p>
            <a:pPr algn="l"/>
            <a:r>
              <a:rPr sz="1300" b="0">
                <a:solidFill>
                  <a:srgbClr val="1E293B"/>
                </a:solidFill>
                <a:latin typeface="Noto Sans JP"/>
              </a:rPr>
              <a:t>現状・ゴールの深掘りヒアリング</a:t>
            </a:r>
          </a:p>
        </p:txBody>
      </p:sp>
      <p:sp>
        <p:nvSpPr>
          <p:cNvPr id="16" name="Rounded Rectangle 15"/>
          <p:cNvSpPr/>
          <p:nvPr/>
        </p:nvSpPr>
        <p:spPr>
          <a:xfrm>
            <a:off x="502920" y="4206240"/>
            <a:ext cx="3240023" cy="77724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4206240"/>
            <a:ext cx="54864" cy="77724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206240"/>
            <a:ext cx="3057143" cy="777240"/>
          </a:xfrm>
          <a:prstGeom prst="rect">
            <a:avLst/>
          </a:prstGeom>
          <a:noFill/>
        </p:spPr>
        <p:txBody>
          <a:bodyPr wrap="square" anchor="ctr" lIns="73152" rIns="45720" bIns="27432"/>
          <a:lstStyle/>
          <a:p>
            <a:pPr algn="l"/>
            <a:r>
              <a:rPr sz="1300" b="0">
                <a:solidFill>
                  <a:srgbClr val="1E293B"/>
                </a:solidFill>
                <a:latin typeface="Noto Sans JP"/>
              </a:rPr>
              <a:t>学習対象者のスキルレベル確認</a:t>
            </a:r>
          </a:p>
        </p:txBody>
      </p:sp>
      <p:sp>
        <p:nvSpPr>
          <p:cNvPr id="19" name="Rounded Rectangle 18"/>
          <p:cNvSpPr/>
          <p:nvPr/>
        </p:nvSpPr>
        <p:spPr>
          <a:xfrm>
            <a:off x="502920" y="5074920"/>
            <a:ext cx="3240023" cy="77724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5074920"/>
            <a:ext cx="54864" cy="77724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74920"/>
            <a:ext cx="3057143" cy="777240"/>
          </a:xfrm>
          <a:prstGeom prst="rect">
            <a:avLst/>
          </a:prstGeom>
          <a:noFill/>
        </p:spPr>
        <p:txBody>
          <a:bodyPr wrap="square" anchor="ctr" lIns="73152" rIns="45720" bIns="27432"/>
          <a:lstStyle/>
          <a:p>
            <a:pPr algn="l"/>
            <a:r>
              <a:rPr sz="1300" b="0">
                <a:solidFill>
                  <a:srgbClr val="1E293B"/>
                </a:solidFill>
                <a:latin typeface="Noto Sans JP"/>
              </a:rPr>
              <a:t>研修テーマ・到達目標の設定</a:t>
            </a:r>
          </a:p>
        </p:txBody>
      </p:sp>
      <p:sp>
        <p:nvSpPr>
          <p:cNvPr id="22" name="Rounded Rectangle 21"/>
          <p:cNvSpPr/>
          <p:nvPr/>
        </p:nvSpPr>
        <p:spPr>
          <a:xfrm>
            <a:off x="502920" y="5943600"/>
            <a:ext cx="3240023" cy="77724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5943600"/>
            <a:ext cx="54864" cy="77724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943600"/>
            <a:ext cx="3057143" cy="777240"/>
          </a:xfrm>
          <a:prstGeom prst="rect">
            <a:avLst/>
          </a:prstGeom>
          <a:noFill/>
        </p:spPr>
        <p:txBody>
          <a:bodyPr wrap="square" anchor="ctr" lIns="73152" rIns="45720" bIns="27432"/>
          <a:lstStyle/>
          <a:p>
            <a:pPr algn="l"/>
            <a:r>
              <a:rPr sz="1300" b="0">
                <a:solidFill>
                  <a:srgbClr val="1E293B"/>
                </a:solidFill>
                <a:latin typeface="Noto Sans JP"/>
              </a:rPr>
              <a:t>ChatGPT Enterprise環境の確認</a:t>
            </a:r>
          </a:p>
        </p:txBody>
      </p:sp>
      <p:sp>
        <p:nvSpPr>
          <p:cNvPr id="25" name="TextBox 24"/>
          <p:cNvSpPr txBox="1"/>
          <p:nvPr/>
        </p:nvSpPr>
        <p:spPr>
          <a:xfrm>
            <a:off x="3898391" y="4315968"/>
            <a:ext cx="164592" cy="365760"/>
          </a:xfrm>
          <a:prstGeom prst="rect">
            <a:avLst/>
          </a:prstGeom>
          <a:noFill/>
        </p:spPr>
        <p:txBody>
          <a:bodyPr wrap="square" anchor="ctr" lIns="73152" rIns="45720" bIns="27432"/>
          <a:lstStyle/>
          <a:p>
            <a:pPr algn="ctr"/>
            <a:r>
              <a:rPr sz="2800" b="1">
                <a:solidFill>
                  <a:srgbClr val="42A4AF"/>
                </a:solidFill>
                <a:latin typeface="Noto Sans JP"/>
              </a:rPr>
              <a:t>›</a:t>
            </a:r>
          </a:p>
        </p:txBody>
      </p:sp>
      <p:sp>
        <p:nvSpPr>
          <p:cNvPr id="26" name="Rectangle 25"/>
          <p:cNvSpPr/>
          <p:nvPr/>
        </p:nvSpPr>
        <p:spPr>
          <a:xfrm>
            <a:off x="5225796" y="1389888"/>
            <a:ext cx="1188720" cy="38404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25796" y="1389888"/>
            <a:ext cx="1188720" cy="384048"/>
          </a:xfrm>
          <a:prstGeom prst="rect">
            <a:avLst/>
          </a:prstGeom>
          <a:noFill/>
        </p:spPr>
        <p:txBody>
          <a:bodyPr wrap="square" anchor="ctr" lIns="73152" rIns="45720" bIns="27432"/>
          <a:lstStyle/>
          <a:p>
            <a:pPr algn="ctr"/>
            <a:r>
              <a:rPr sz="1300" b="1">
                <a:solidFill>
                  <a:srgbClr val="FFFFFF"/>
                </a:solidFill>
                <a:latin typeface="Noto Sans JP"/>
              </a:rPr>
              <a:t>STEP 2</a:t>
            </a:r>
          </a:p>
        </p:txBody>
      </p:sp>
      <p:sp>
        <p:nvSpPr>
          <p:cNvPr id="28" name="Rounded Rectangle 27"/>
          <p:cNvSpPr/>
          <p:nvPr/>
        </p:nvSpPr>
        <p:spPr>
          <a:xfrm>
            <a:off x="4062984" y="1828800"/>
            <a:ext cx="3514343" cy="4956048"/>
          </a:xfrm>
          <a:prstGeom prst="roundRect">
            <a:avLst>
              <a:gd name="adj" fmla="val 3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2984" y="1828800"/>
            <a:ext cx="54864" cy="495604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7576" y="1938528"/>
            <a:ext cx="3240023" cy="822960"/>
          </a:xfrm>
          <a:prstGeom prst="rect">
            <a:avLst/>
          </a:prstGeom>
          <a:noFill/>
        </p:spPr>
        <p:txBody>
          <a:bodyPr wrap="square" anchor="t" lIns="73152" rIns="45720" bIns="27432"/>
          <a:lstStyle/>
          <a:p>
            <a:pPr algn="ctr"/>
            <a:r>
              <a:rPr sz="1800" b="1">
                <a:solidFill>
                  <a:srgbClr val="1E293B"/>
                </a:solidFill>
                <a:latin typeface="Noto Sans JP"/>
              </a:rPr>
              <a:t>カリキュラム</a:t>
            </a:r>
          </a:p>
          <a:p>
            <a:pPr algn="ctr"/>
            <a:r>
              <a:rPr sz="1800" b="1">
                <a:solidFill>
                  <a:srgbClr val="1E293B"/>
                </a:solidFill>
                <a:latin typeface="Noto Sans JP"/>
              </a:rPr>
              <a:t>設計</a:t>
            </a:r>
          </a:p>
        </p:txBody>
      </p:sp>
      <p:sp>
        <p:nvSpPr>
          <p:cNvPr id="31" name="Rectangle 30"/>
          <p:cNvSpPr/>
          <p:nvPr/>
        </p:nvSpPr>
        <p:spPr>
          <a:xfrm>
            <a:off x="4200144" y="2807208"/>
            <a:ext cx="3240023"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200144" y="3337560"/>
            <a:ext cx="3240023" cy="77724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00144" y="3337560"/>
            <a:ext cx="54864"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37304" y="3337560"/>
            <a:ext cx="3057143" cy="777240"/>
          </a:xfrm>
          <a:prstGeom prst="rect">
            <a:avLst/>
          </a:prstGeom>
          <a:noFill/>
        </p:spPr>
        <p:txBody>
          <a:bodyPr wrap="square" anchor="ctr" lIns="73152" rIns="45720" bIns="27432"/>
          <a:lstStyle/>
          <a:p>
            <a:pPr algn="l"/>
            <a:r>
              <a:rPr sz="1300" b="0">
                <a:solidFill>
                  <a:srgbClr val="1E293B"/>
                </a:solidFill>
                <a:latin typeface="Noto Sans JP"/>
              </a:rPr>
              <a:t>御社専用カリキュラムを0から設計</a:t>
            </a:r>
          </a:p>
        </p:txBody>
      </p:sp>
      <p:sp>
        <p:nvSpPr>
          <p:cNvPr id="35" name="Rounded Rectangle 34"/>
          <p:cNvSpPr/>
          <p:nvPr/>
        </p:nvSpPr>
        <p:spPr>
          <a:xfrm>
            <a:off x="4200144" y="4206240"/>
            <a:ext cx="3240023" cy="77724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200144" y="4206240"/>
            <a:ext cx="54864"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37304" y="4206240"/>
            <a:ext cx="3057143" cy="777240"/>
          </a:xfrm>
          <a:prstGeom prst="rect">
            <a:avLst/>
          </a:prstGeom>
          <a:noFill/>
        </p:spPr>
        <p:txBody>
          <a:bodyPr wrap="square" anchor="ctr" lIns="73152" rIns="45720" bIns="27432"/>
          <a:lstStyle/>
          <a:p>
            <a:pPr algn="l"/>
            <a:r>
              <a:rPr sz="1300" b="0">
                <a:solidFill>
                  <a:srgbClr val="1E293B"/>
                </a:solidFill>
                <a:latin typeface="Noto Sans JP"/>
              </a:rPr>
              <a:t>保険業界ユースケースを題材に</a:t>
            </a:r>
          </a:p>
        </p:txBody>
      </p:sp>
      <p:sp>
        <p:nvSpPr>
          <p:cNvPr id="38" name="Rounded Rectangle 37"/>
          <p:cNvSpPr/>
          <p:nvPr/>
        </p:nvSpPr>
        <p:spPr>
          <a:xfrm>
            <a:off x="4200144" y="5074920"/>
            <a:ext cx="3240023" cy="77724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200144" y="5074920"/>
            <a:ext cx="54864"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37304" y="5074920"/>
            <a:ext cx="3057143" cy="777240"/>
          </a:xfrm>
          <a:prstGeom prst="rect">
            <a:avLst/>
          </a:prstGeom>
          <a:noFill/>
        </p:spPr>
        <p:txBody>
          <a:bodyPr wrap="square" anchor="ctr" lIns="73152" rIns="45720" bIns="27432"/>
          <a:lstStyle/>
          <a:p>
            <a:pPr algn="l"/>
            <a:r>
              <a:rPr sz="1300" b="0">
                <a:solidFill>
                  <a:srgbClr val="1E293B"/>
                </a:solidFill>
                <a:latin typeface="Noto Sans JP"/>
              </a:rPr>
              <a:t>日中バイリンガル資料の作成（オプション）</a:t>
            </a:r>
          </a:p>
        </p:txBody>
      </p:sp>
      <p:sp>
        <p:nvSpPr>
          <p:cNvPr id="41" name="Rounded Rectangle 40"/>
          <p:cNvSpPr/>
          <p:nvPr/>
        </p:nvSpPr>
        <p:spPr>
          <a:xfrm>
            <a:off x="4200144" y="5943600"/>
            <a:ext cx="3240023" cy="77724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200144" y="5943600"/>
            <a:ext cx="54864"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37304" y="5943600"/>
            <a:ext cx="3057143" cy="777240"/>
          </a:xfrm>
          <a:prstGeom prst="rect">
            <a:avLst/>
          </a:prstGeom>
          <a:noFill/>
        </p:spPr>
        <p:txBody>
          <a:bodyPr wrap="square" anchor="ctr" lIns="73152" rIns="45720" bIns="27432"/>
          <a:lstStyle/>
          <a:p>
            <a:pPr algn="l"/>
            <a:r>
              <a:rPr sz="1300" b="0">
                <a:solidFill>
                  <a:srgbClr val="1E293B"/>
                </a:solidFill>
                <a:latin typeface="Noto Sans JP"/>
              </a:rPr>
              <a:t>平日9〜18時での実施スケジュール調整</a:t>
            </a:r>
          </a:p>
        </p:txBody>
      </p:sp>
      <p:sp>
        <p:nvSpPr>
          <p:cNvPr id="44" name="TextBox 43"/>
          <p:cNvSpPr txBox="1"/>
          <p:nvPr/>
        </p:nvSpPr>
        <p:spPr>
          <a:xfrm>
            <a:off x="7595615" y="4315968"/>
            <a:ext cx="164592" cy="365760"/>
          </a:xfrm>
          <a:prstGeom prst="rect">
            <a:avLst/>
          </a:prstGeom>
          <a:noFill/>
        </p:spPr>
        <p:txBody>
          <a:bodyPr wrap="square" anchor="ctr" lIns="73152" rIns="45720" bIns="27432"/>
          <a:lstStyle/>
          <a:p>
            <a:pPr algn="ctr"/>
            <a:r>
              <a:rPr sz="2800" b="1">
                <a:solidFill>
                  <a:srgbClr val="3B82F6"/>
                </a:solidFill>
                <a:latin typeface="Noto Sans JP"/>
              </a:rPr>
              <a:t>›</a:t>
            </a:r>
          </a:p>
        </p:txBody>
      </p:sp>
      <p:sp>
        <p:nvSpPr>
          <p:cNvPr id="45" name="Rectangle 44"/>
          <p:cNvSpPr/>
          <p:nvPr/>
        </p:nvSpPr>
        <p:spPr>
          <a:xfrm>
            <a:off x="8923020" y="1389888"/>
            <a:ext cx="1188720" cy="38404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23020" y="1389888"/>
            <a:ext cx="1188720" cy="384048"/>
          </a:xfrm>
          <a:prstGeom prst="rect">
            <a:avLst/>
          </a:prstGeom>
          <a:noFill/>
        </p:spPr>
        <p:txBody>
          <a:bodyPr wrap="square" anchor="ctr" lIns="73152" rIns="45720" bIns="27432"/>
          <a:lstStyle/>
          <a:p>
            <a:pPr algn="ctr"/>
            <a:r>
              <a:rPr sz="1300" b="1">
                <a:solidFill>
                  <a:srgbClr val="FFFFFF"/>
                </a:solidFill>
                <a:latin typeface="Noto Sans JP"/>
              </a:rPr>
              <a:t>STEP 3</a:t>
            </a:r>
          </a:p>
        </p:txBody>
      </p:sp>
      <p:sp>
        <p:nvSpPr>
          <p:cNvPr id="47" name="Rounded Rectangle 46"/>
          <p:cNvSpPr/>
          <p:nvPr/>
        </p:nvSpPr>
        <p:spPr>
          <a:xfrm>
            <a:off x="7760208" y="1828800"/>
            <a:ext cx="3514343" cy="4956048"/>
          </a:xfrm>
          <a:prstGeom prst="roundRect">
            <a:avLst>
              <a:gd name="adj" fmla="val 3000"/>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60208" y="1828800"/>
            <a:ext cx="54864" cy="495604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924799" y="1938528"/>
            <a:ext cx="3240023" cy="822960"/>
          </a:xfrm>
          <a:prstGeom prst="rect">
            <a:avLst/>
          </a:prstGeom>
          <a:noFill/>
        </p:spPr>
        <p:txBody>
          <a:bodyPr wrap="square" anchor="t" lIns="73152" rIns="45720" bIns="27432"/>
          <a:lstStyle/>
          <a:p>
            <a:pPr algn="ctr"/>
            <a:r>
              <a:rPr sz="1800" b="1">
                <a:solidFill>
                  <a:srgbClr val="1E293B"/>
                </a:solidFill>
                <a:latin typeface="Noto Sans JP"/>
              </a:rPr>
              <a:t>研修実施</a:t>
            </a:r>
          </a:p>
          <a:p>
            <a:pPr algn="ctr"/>
            <a:r>
              <a:rPr sz="1800" b="1">
                <a:solidFill>
                  <a:srgbClr val="1E293B"/>
                </a:solidFill>
                <a:latin typeface="Noto Sans JP"/>
              </a:rPr>
              <a:t>フォロー</a:t>
            </a:r>
          </a:p>
        </p:txBody>
      </p:sp>
      <p:sp>
        <p:nvSpPr>
          <p:cNvPr id="50" name="Rectangle 49"/>
          <p:cNvSpPr/>
          <p:nvPr/>
        </p:nvSpPr>
        <p:spPr>
          <a:xfrm>
            <a:off x="7897368" y="2807208"/>
            <a:ext cx="3240023" cy="2743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7897368" y="3337560"/>
            <a:ext cx="3240023" cy="77724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897368" y="3337560"/>
            <a:ext cx="54864" cy="7772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34528" y="3337560"/>
            <a:ext cx="3057143" cy="777240"/>
          </a:xfrm>
          <a:prstGeom prst="rect">
            <a:avLst/>
          </a:prstGeom>
          <a:noFill/>
        </p:spPr>
        <p:txBody>
          <a:bodyPr wrap="square" anchor="ctr" lIns="73152" rIns="45720" bIns="27432"/>
          <a:lstStyle/>
          <a:p>
            <a:pPr algn="l"/>
            <a:r>
              <a:rPr sz="1300" b="0">
                <a:solidFill>
                  <a:srgbClr val="1E293B"/>
                </a:solidFill>
                <a:latin typeface="Noto Sans JP"/>
              </a:rPr>
              <a:t>1日2〜3時間 × 3〜5日、25名以内</a:t>
            </a:r>
          </a:p>
        </p:txBody>
      </p:sp>
      <p:sp>
        <p:nvSpPr>
          <p:cNvPr id="54" name="Rounded Rectangle 53"/>
          <p:cNvSpPr/>
          <p:nvPr/>
        </p:nvSpPr>
        <p:spPr>
          <a:xfrm>
            <a:off x="7897368" y="4206240"/>
            <a:ext cx="3240023" cy="77724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897368" y="4206240"/>
            <a:ext cx="54864" cy="7772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034528" y="4206240"/>
            <a:ext cx="3057143" cy="777240"/>
          </a:xfrm>
          <a:prstGeom prst="rect">
            <a:avLst/>
          </a:prstGeom>
          <a:noFill/>
        </p:spPr>
        <p:txBody>
          <a:bodyPr wrap="square" anchor="ctr" lIns="73152" rIns="45720" bIns="27432"/>
          <a:lstStyle/>
          <a:p>
            <a:pPr algn="l"/>
            <a:r>
              <a:rPr sz="1300" b="0">
                <a:solidFill>
                  <a:srgbClr val="1E293B"/>
                </a:solidFill>
                <a:latin typeface="Noto Sans JP"/>
              </a:rPr>
              <a:t>実施中の質疑対応・進捗確認</a:t>
            </a:r>
          </a:p>
        </p:txBody>
      </p:sp>
      <p:sp>
        <p:nvSpPr>
          <p:cNvPr id="57" name="Rounded Rectangle 56"/>
          <p:cNvSpPr/>
          <p:nvPr/>
        </p:nvSpPr>
        <p:spPr>
          <a:xfrm>
            <a:off x="7897368" y="5074920"/>
            <a:ext cx="3240023" cy="77724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897368" y="5074920"/>
            <a:ext cx="54864" cy="7772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034528" y="5074920"/>
            <a:ext cx="3057143" cy="777240"/>
          </a:xfrm>
          <a:prstGeom prst="rect">
            <a:avLst/>
          </a:prstGeom>
          <a:noFill/>
        </p:spPr>
        <p:txBody>
          <a:bodyPr wrap="square" anchor="ctr" lIns="73152" rIns="45720" bIns="27432"/>
          <a:lstStyle/>
          <a:p>
            <a:pPr algn="l"/>
            <a:r>
              <a:rPr sz="1300" b="0">
                <a:solidFill>
                  <a:srgbClr val="1E293B"/>
                </a:solidFill>
                <a:latin typeface="Noto Sans JP"/>
              </a:rPr>
              <a:t>実施後フォローアップMTG</a:t>
            </a:r>
          </a:p>
        </p:txBody>
      </p:sp>
      <p:sp>
        <p:nvSpPr>
          <p:cNvPr id="60" name="Rounded Rectangle 59"/>
          <p:cNvSpPr/>
          <p:nvPr/>
        </p:nvSpPr>
        <p:spPr>
          <a:xfrm>
            <a:off x="7897368" y="5943600"/>
            <a:ext cx="3240023" cy="777240"/>
          </a:xfrm>
          <a:prstGeom prst="roundRect">
            <a:avLst>
              <a:gd name="adj" fmla="val 2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897368" y="5943600"/>
            <a:ext cx="54864" cy="7772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034528" y="5943600"/>
            <a:ext cx="3057143" cy="777240"/>
          </a:xfrm>
          <a:prstGeom prst="rect">
            <a:avLst/>
          </a:prstGeom>
          <a:noFill/>
        </p:spPr>
        <p:txBody>
          <a:bodyPr wrap="square" anchor="ctr" lIns="73152" rIns="45720" bIns="27432"/>
          <a:lstStyle/>
          <a:p>
            <a:pPr algn="l"/>
            <a:r>
              <a:rPr sz="1300" b="0">
                <a:solidFill>
                  <a:srgbClr val="1E293B"/>
                </a:solidFill>
                <a:latin typeface="Noto Sans JP"/>
              </a:rPr>
              <a:t>助成金申請サポート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8686800" cy="694944"/>
          </a:xfrm>
          <a:prstGeom prst="rect">
            <a:avLst/>
          </a:prstGeom>
          <a:noFill/>
        </p:spPr>
        <p:txBody>
          <a:bodyPr wrap="square" anchor="ctr" lIns="73152" rIns="45720" bIns="27432"/>
          <a:lstStyle/>
          <a:p>
            <a:pPr algn="l"/>
            <a:r>
              <a:rPr sz="2400" b="1">
                <a:solidFill>
                  <a:srgbClr val="FFFFFF"/>
                </a:solidFill>
                <a:latin typeface="Noto Sans JP"/>
              </a:rPr>
              <a:t>費用・助成金活用</a:t>
            </a:r>
          </a:p>
        </p:txBody>
      </p:sp>
      <p:sp>
        <p:nvSpPr>
          <p:cNvPr id="4" name="TextBox 3"/>
          <p:cNvSpPr txBox="1"/>
          <p:nvPr/>
        </p:nvSpPr>
        <p:spPr>
          <a:xfrm>
            <a:off x="9692640" y="164592"/>
            <a:ext cx="2286000" cy="548640"/>
          </a:xfrm>
          <a:prstGeom prst="rect">
            <a:avLst/>
          </a:prstGeom>
          <a:noFill/>
        </p:spPr>
        <p:txBody>
          <a:bodyPr wrap="square" anchor="ctr" lIns="73152" rIns="45720" bIns="27432"/>
          <a:lstStyle/>
          <a:p>
            <a:pPr algn="r"/>
            <a:r>
              <a:rPr sz="1100" b="0">
                <a:solidFill>
                  <a:srgbClr val="FFFFFF"/>
                </a:solidFill>
                <a:latin typeface="Noto Sans JP"/>
              </a:rPr>
              <a:t>株式会社エヌイチ</a:t>
            </a:r>
          </a:p>
        </p:txBody>
      </p:sp>
      <p:sp>
        <p:nvSpPr>
          <p:cNvPr id="5" name="Rounded Rectangle 4"/>
          <p:cNvSpPr/>
          <p:nvPr/>
        </p:nvSpPr>
        <p:spPr>
          <a:xfrm>
            <a:off x="365760" y="1005840"/>
            <a:ext cx="5394960" cy="2377440"/>
          </a:xfrm>
          <a:prstGeom prst="roundRect">
            <a:avLst>
              <a:gd name="adj" fmla="val 3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05840"/>
            <a:ext cx="54864" cy="237744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15568"/>
            <a:ext cx="1097280" cy="347472"/>
          </a:xfrm>
          <a:prstGeom prst="rect">
            <a:avLst/>
          </a:prstGeom>
          <a:noFill/>
        </p:spPr>
        <p:txBody>
          <a:bodyPr wrap="square" anchor="ctr" lIns="73152" rIns="45720" bIns="27432"/>
          <a:lstStyle/>
          <a:p>
            <a:pPr algn="ctr"/>
            <a:r>
              <a:rPr sz="1100" b="1">
                <a:solidFill>
                  <a:srgbClr val="42A4AF"/>
                </a:solidFill>
                <a:latin typeface="Noto Sans JP"/>
              </a:rPr>
              <a:t>料金</a:t>
            </a:r>
          </a:p>
        </p:txBody>
      </p:sp>
      <p:sp>
        <p:nvSpPr>
          <p:cNvPr id="8" name="TextBox 7"/>
          <p:cNvSpPr txBox="1"/>
          <p:nvPr/>
        </p:nvSpPr>
        <p:spPr>
          <a:xfrm>
            <a:off x="594360" y="1536192"/>
            <a:ext cx="4937760" cy="640080"/>
          </a:xfrm>
          <a:prstGeom prst="rect">
            <a:avLst/>
          </a:prstGeom>
          <a:noFill/>
        </p:spPr>
        <p:txBody>
          <a:bodyPr wrap="square" anchor="t" lIns="73152" rIns="45720" bIns="27432"/>
          <a:lstStyle/>
          <a:p>
            <a:pPr algn="l"/>
            <a:r>
              <a:rPr sz="2800" b="1">
                <a:solidFill>
                  <a:srgbClr val="1E293B"/>
                </a:solidFill>
                <a:latin typeface="Noto Sans JP"/>
              </a:rPr>
              <a:t>1人あたり 15万円（税別）</a:t>
            </a:r>
          </a:p>
        </p:txBody>
      </p:sp>
      <p:sp>
        <p:nvSpPr>
          <p:cNvPr id="9" name="TextBox 8"/>
          <p:cNvSpPr txBox="1"/>
          <p:nvPr/>
        </p:nvSpPr>
        <p:spPr>
          <a:xfrm>
            <a:off x="594360" y="2240280"/>
            <a:ext cx="4937760" cy="914400"/>
          </a:xfrm>
          <a:prstGeom prst="rect">
            <a:avLst/>
          </a:prstGeom>
          <a:noFill/>
        </p:spPr>
        <p:txBody>
          <a:bodyPr wrap="square" anchor="t" lIns="73152" rIns="45720" bIns="27432"/>
          <a:lstStyle/>
          <a:p>
            <a:pPr algn="l"/>
            <a:r>
              <a:rPr sz="1200" b="0">
                <a:solidFill>
                  <a:srgbClr val="64748B"/>
                </a:solidFill>
                <a:latin typeface="Noto Sans JP"/>
              </a:rPr>
              <a:t>研修時間：10〜15時間（3〜5日間に分割）</a:t>
            </a:r>
          </a:p>
          <a:p>
            <a:pPr algn="l"/>
            <a:r>
              <a:rPr sz="1200" b="0">
                <a:solidFill>
                  <a:srgbClr val="64748B"/>
                </a:solidFill>
                <a:latin typeface="Noto Sans JP"/>
              </a:rPr>
              <a:t>対象：エンジニア 25名まで（両本部交代参加可）</a:t>
            </a:r>
          </a:p>
          <a:p>
            <a:pPr algn="l"/>
            <a:r>
              <a:rPr sz="1200" b="0">
                <a:solidFill>
                  <a:srgbClr val="64748B"/>
                </a:solidFill>
                <a:latin typeface="Noto Sans JP"/>
              </a:rPr>
              <a:t>形態：御社オフィスへ講師が訪問</a:t>
            </a:r>
          </a:p>
        </p:txBody>
      </p:sp>
      <p:sp>
        <p:nvSpPr>
          <p:cNvPr id="10" name="Rounded Rectangle 9"/>
          <p:cNvSpPr/>
          <p:nvPr/>
        </p:nvSpPr>
        <p:spPr>
          <a:xfrm>
            <a:off x="365760" y="3566160"/>
            <a:ext cx="5394960" cy="2834640"/>
          </a:xfrm>
          <a:prstGeom prst="roundRect">
            <a:avLst>
              <a:gd name="adj" fmla="val 3000"/>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3566160"/>
            <a:ext cx="54864" cy="28346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703320"/>
            <a:ext cx="1828800" cy="347472"/>
          </a:xfrm>
          <a:prstGeom prst="rect">
            <a:avLst/>
          </a:prstGeom>
          <a:noFill/>
        </p:spPr>
        <p:txBody>
          <a:bodyPr wrap="square" anchor="ctr" lIns="73152" rIns="45720" bIns="27432"/>
          <a:lstStyle/>
          <a:p>
            <a:pPr algn="ctr"/>
            <a:r>
              <a:rPr sz="1100" b="1">
                <a:solidFill>
                  <a:srgbClr val="16A34A"/>
                </a:solidFill>
                <a:latin typeface="Noto Sans JP"/>
              </a:rPr>
              <a:t>助成金活用</a:t>
            </a:r>
          </a:p>
        </p:txBody>
      </p:sp>
      <p:sp>
        <p:nvSpPr>
          <p:cNvPr id="13" name="TextBox 12"/>
          <p:cNvSpPr txBox="1"/>
          <p:nvPr/>
        </p:nvSpPr>
        <p:spPr>
          <a:xfrm>
            <a:off x="594360" y="4133087"/>
            <a:ext cx="4937760" cy="548640"/>
          </a:xfrm>
          <a:prstGeom prst="rect">
            <a:avLst/>
          </a:prstGeom>
          <a:noFill/>
        </p:spPr>
        <p:txBody>
          <a:bodyPr wrap="square" anchor="t" lIns="73152" rIns="45720" bIns="27432"/>
          <a:lstStyle/>
          <a:p>
            <a:pPr algn="l"/>
            <a:r>
              <a:rPr sz="2400" b="1">
                <a:solidFill>
                  <a:srgbClr val="16A34A"/>
                </a:solidFill>
                <a:latin typeface="Noto Sans JP"/>
              </a:rPr>
              <a:t>実質 4.5〜6万円 / 人</a:t>
            </a:r>
          </a:p>
        </p:txBody>
      </p:sp>
      <p:sp>
        <p:nvSpPr>
          <p:cNvPr id="14" name="TextBox 13"/>
          <p:cNvSpPr txBox="1"/>
          <p:nvPr/>
        </p:nvSpPr>
        <p:spPr>
          <a:xfrm>
            <a:off x="594360" y="4736592"/>
            <a:ext cx="4937760" cy="1417320"/>
          </a:xfrm>
          <a:prstGeom prst="rect">
            <a:avLst/>
          </a:prstGeom>
          <a:noFill/>
        </p:spPr>
        <p:txBody>
          <a:bodyPr wrap="square" anchor="t" lIns="73152" rIns="45720" bIns="27432"/>
          <a:lstStyle/>
          <a:p>
            <a:pPr algn="l"/>
            <a:r>
              <a:rPr sz="1200" b="0">
                <a:solidFill>
                  <a:srgbClr val="64748B"/>
                </a:solidFill>
                <a:latin typeface="Noto Sans JP"/>
              </a:rPr>
              <a:t>人材開発支援助成金（事業展開等リスキリング支援コース）</a:t>
            </a:r>
          </a:p>
          <a:p>
            <a:pPr algn="l"/>
            <a:r>
              <a:rPr sz="1200" b="0">
                <a:solidFill>
                  <a:srgbClr val="64748B"/>
                </a:solidFill>
                <a:latin typeface="Noto Sans JP"/>
              </a:rPr>
              <a:t>• 還元率：6〜7割（最大75%）</a:t>
            </a:r>
          </a:p>
          <a:p>
            <a:pPr algn="l"/>
            <a:r>
              <a:rPr sz="1200" b="0">
                <a:solidFill>
                  <a:srgbClr val="64748B"/>
                </a:solidFill>
                <a:latin typeface="Noto Sans JP"/>
              </a:rPr>
              <a:t>• 適用条件：平日 9:00〜18:00 での実施</a:t>
            </a:r>
          </a:p>
          <a:p>
            <a:pPr algn="l"/>
            <a:r>
              <a:rPr sz="1200" b="0">
                <a:solidFill>
                  <a:srgbClr val="64748B"/>
                </a:solidFill>
                <a:latin typeface="Noto Sans JP"/>
              </a:rPr>
              <a:t>• 申請サポートはエヌイチがご支援します</a:t>
            </a:r>
          </a:p>
        </p:txBody>
      </p:sp>
      <p:sp>
        <p:nvSpPr>
          <p:cNvPr id="15" name="Rounded Rectangle 14"/>
          <p:cNvSpPr/>
          <p:nvPr/>
        </p:nvSpPr>
        <p:spPr>
          <a:xfrm>
            <a:off x="6080760" y="1005840"/>
            <a:ext cx="5742432" cy="5394960"/>
          </a:xfrm>
          <a:prstGeom prst="roundRect">
            <a:avLst>
              <a:gd name="adj" fmla="val 3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80760" y="1005840"/>
            <a:ext cx="54864" cy="53949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1115568"/>
            <a:ext cx="5303520" cy="347472"/>
          </a:xfrm>
          <a:prstGeom prst="rect">
            <a:avLst/>
          </a:prstGeom>
          <a:noFill/>
        </p:spPr>
        <p:txBody>
          <a:bodyPr wrap="square" anchor="t" lIns="73152" rIns="45720" bIns="27432"/>
          <a:lstStyle/>
          <a:p>
            <a:pPr algn="l"/>
            <a:r>
              <a:rPr sz="1300" b="1">
                <a:solidFill>
                  <a:srgbClr val="3B82F6"/>
                </a:solidFill>
                <a:latin typeface="Noto Sans JP"/>
              </a:rPr>
              <a:t>スケジュール目安</a:t>
            </a:r>
          </a:p>
        </p:txBody>
      </p:sp>
      <p:sp>
        <p:nvSpPr>
          <p:cNvPr id="18" name="Rectangle 17"/>
          <p:cNvSpPr/>
          <p:nvPr/>
        </p:nvSpPr>
        <p:spPr>
          <a:xfrm>
            <a:off x="6263640" y="1600200"/>
            <a:ext cx="1828800" cy="109042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1600200"/>
            <a:ext cx="1783080" cy="1090422"/>
          </a:xfrm>
          <a:prstGeom prst="rect">
            <a:avLst/>
          </a:prstGeom>
          <a:noFill/>
        </p:spPr>
        <p:txBody>
          <a:bodyPr wrap="square" anchor="ctr" lIns="73152" rIns="45720" bIns="27432"/>
          <a:lstStyle/>
          <a:p>
            <a:pPr algn="l"/>
            <a:r>
              <a:rPr sz="1200" b="1">
                <a:solidFill>
                  <a:srgbClr val="3B82F6"/>
                </a:solidFill>
                <a:latin typeface="Noto Sans JP"/>
              </a:rPr>
              <a:t>今週〜来週</a:t>
            </a:r>
          </a:p>
        </p:txBody>
      </p:sp>
      <p:sp>
        <p:nvSpPr>
          <p:cNvPr id="20" name="Rectangle 19"/>
          <p:cNvSpPr/>
          <p:nvPr/>
        </p:nvSpPr>
        <p:spPr>
          <a:xfrm>
            <a:off x="8119872" y="1600200"/>
            <a:ext cx="3520440" cy="109042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11312" y="1600200"/>
            <a:ext cx="3383280" cy="1090422"/>
          </a:xfrm>
          <a:prstGeom prst="rect">
            <a:avLst/>
          </a:prstGeom>
          <a:noFill/>
        </p:spPr>
        <p:txBody>
          <a:bodyPr wrap="square" anchor="ctr" lIns="73152" rIns="45720" bIns="27432"/>
          <a:lstStyle/>
          <a:p>
            <a:pPr algn="l"/>
            <a:r>
              <a:rPr sz="1300" b="0">
                <a:solidFill>
                  <a:srgbClr val="1E293B"/>
                </a:solidFill>
                <a:latin typeface="Noto Sans JP"/>
              </a:rPr>
              <a:t>社長1on1で相談・方向性確認（呉様）</a:t>
            </a:r>
          </a:p>
        </p:txBody>
      </p:sp>
      <p:sp>
        <p:nvSpPr>
          <p:cNvPr id="22" name="Rectangle 21"/>
          <p:cNvSpPr/>
          <p:nvPr/>
        </p:nvSpPr>
        <p:spPr>
          <a:xfrm>
            <a:off x="6263640" y="2800350"/>
            <a:ext cx="1828800" cy="109042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2800350"/>
            <a:ext cx="1783080" cy="1090422"/>
          </a:xfrm>
          <a:prstGeom prst="rect">
            <a:avLst/>
          </a:prstGeom>
          <a:noFill/>
        </p:spPr>
        <p:txBody>
          <a:bodyPr wrap="square" anchor="ctr" lIns="73152" rIns="45720" bIns="27432"/>
          <a:lstStyle/>
          <a:p>
            <a:pPr algn="l"/>
            <a:r>
              <a:rPr sz="1200" b="1">
                <a:solidFill>
                  <a:srgbClr val="3B82F6"/>
                </a:solidFill>
                <a:latin typeface="Noto Sans JP"/>
              </a:rPr>
              <a:t>承認後 Week1</a:t>
            </a:r>
          </a:p>
        </p:txBody>
      </p:sp>
      <p:sp>
        <p:nvSpPr>
          <p:cNvPr id="24" name="Rectangle 23"/>
          <p:cNvSpPr/>
          <p:nvPr/>
        </p:nvSpPr>
        <p:spPr>
          <a:xfrm>
            <a:off x="8119872" y="2800350"/>
            <a:ext cx="3520440" cy="109042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11312" y="2800350"/>
            <a:ext cx="3383280" cy="1090422"/>
          </a:xfrm>
          <a:prstGeom prst="rect">
            <a:avLst/>
          </a:prstGeom>
          <a:noFill/>
        </p:spPr>
        <p:txBody>
          <a:bodyPr wrap="square" anchor="ctr" lIns="73152" rIns="45720" bIns="27432"/>
          <a:lstStyle/>
          <a:p>
            <a:pPr algn="l"/>
            <a:r>
              <a:rPr sz="1300" b="0">
                <a:solidFill>
                  <a:srgbClr val="1E293B"/>
                </a:solidFill>
                <a:latin typeface="Noto Sans JP"/>
              </a:rPr>
              <a:t>ヒアリングMTG（60〜90分）設定</a:t>
            </a:r>
          </a:p>
        </p:txBody>
      </p:sp>
      <p:sp>
        <p:nvSpPr>
          <p:cNvPr id="26" name="Rectangle 25"/>
          <p:cNvSpPr/>
          <p:nvPr/>
        </p:nvSpPr>
        <p:spPr>
          <a:xfrm>
            <a:off x="6263640" y="4000500"/>
            <a:ext cx="1828800" cy="109042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0" y="4000500"/>
            <a:ext cx="1783080" cy="1090422"/>
          </a:xfrm>
          <a:prstGeom prst="rect">
            <a:avLst/>
          </a:prstGeom>
          <a:noFill/>
        </p:spPr>
        <p:txBody>
          <a:bodyPr wrap="square" anchor="ctr" lIns="73152" rIns="45720" bIns="27432"/>
          <a:lstStyle/>
          <a:p>
            <a:pPr algn="l"/>
            <a:r>
              <a:rPr sz="1200" b="1">
                <a:solidFill>
                  <a:srgbClr val="3B82F6"/>
                </a:solidFill>
                <a:latin typeface="Noto Sans JP"/>
              </a:rPr>
              <a:t>承認後 Week2-3</a:t>
            </a:r>
          </a:p>
        </p:txBody>
      </p:sp>
      <p:sp>
        <p:nvSpPr>
          <p:cNvPr id="28" name="Rectangle 27"/>
          <p:cNvSpPr/>
          <p:nvPr/>
        </p:nvSpPr>
        <p:spPr>
          <a:xfrm>
            <a:off x="8119872" y="4000500"/>
            <a:ext cx="3520440" cy="109042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11312" y="4000500"/>
            <a:ext cx="3383280" cy="1090422"/>
          </a:xfrm>
          <a:prstGeom prst="rect">
            <a:avLst/>
          </a:prstGeom>
          <a:noFill/>
        </p:spPr>
        <p:txBody>
          <a:bodyPr wrap="square" anchor="ctr" lIns="73152" rIns="45720" bIns="27432"/>
          <a:lstStyle/>
          <a:p>
            <a:pPr algn="l"/>
            <a:r>
              <a:rPr sz="1300" b="0">
                <a:solidFill>
                  <a:srgbClr val="1E293B"/>
                </a:solidFill>
                <a:latin typeface="Noto Sans JP"/>
              </a:rPr>
              <a:t>カリキュラム設計・お見積り提示</a:t>
            </a:r>
          </a:p>
        </p:txBody>
      </p:sp>
      <p:sp>
        <p:nvSpPr>
          <p:cNvPr id="30" name="Rectangle 29"/>
          <p:cNvSpPr/>
          <p:nvPr/>
        </p:nvSpPr>
        <p:spPr>
          <a:xfrm>
            <a:off x="6263640" y="5200650"/>
            <a:ext cx="1828800" cy="109042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5200650"/>
            <a:ext cx="1783080" cy="1090422"/>
          </a:xfrm>
          <a:prstGeom prst="rect">
            <a:avLst/>
          </a:prstGeom>
          <a:noFill/>
        </p:spPr>
        <p:txBody>
          <a:bodyPr wrap="square" anchor="ctr" lIns="73152" rIns="45720" bIns="27432"/>
          <a:lstStyle/>
          <a:p>
            <a:pPr algn="l"/>
            <a:r>
              <a:rPr sz="1200" b="1">
                <a:solidFill>
                  <a:srgbClr val="3B82F6"/>
                </a:solidFill>
                <a:latin typeface="Noto Sans JP"/>
              </a:rPr>
              <a:t>承認後1ヶ月目</a:t>
            </a:r>
          </a:p>
        </p:txBody>
      </p:sp>
      <p:sp>
        <p:nvSpPr>
          <p:cNvPr id="32" name="Rectangle 31"/>
          <p:cNvSpPr/>
          <p:nvPr/>
        </p:nvSpPr>
        <p:spPr>
          <a:xfrm>
            <a:off x="8119872" y="5200650"/>
            <a:ext cx="3520440" cy="109042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11312" y="5200650"/>
            <a:ext cx="3383280" cy="1090422"/>
          </a:xfrm>
          <a:prstGeom prst="rect">
            <a:avLst/>
          </a:prstGeom>
          <a:noFill/>
        </p:spPr>
        <p:txBody>
          <a:bodyPr wrap="square" anchor="ctr" lIns="73152" rIns="45720" bIns="27432"/>
          <a:lstStyle/>
          <a:p>
            <a:pPr algn="l"/>
            <a:r>
              <a:rPr sz="1300" b="0">
                <a:solidFill>
                  <a:srgbClr val="1E293B"/>
                </a:solidFill>
                <a:latin typeface="Noto Sans JP"/>
              </a:rPr>
              <a:t>研修キックオフ</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8686800" cy="694944"/>
          </a:xfrm>
          <a:prstGeom prst="rect">
            <a:avLst/>
          </a:prstGeom>
          <a:noFill/>
        </p:spPr>
        <p:txBody>
          <a:bodyPr wrap="square" anchor="ctr" lIns="73152" rIns="45720" bIns="27432"/>
          <a:lstStyle/>
          <a:p>
            <a:pPr algn="l"/>
            <a:r>
              <a:rPr sz="2400" b="1">
                <a:solidFill>
                  <a:srgbClr val="FFFFFF"/>
                </a:solidFill>
                <a:latin typeface="Noto Sans JP"/>
              </a:rPr>
              <a:t>ネクストアクション</a:t>
            </a:r>
          </a:p>
        </p:txBody>
      </p:sp>
      <p:sp>
        <p:nvSpPr>
          <p:cNvPr id="4" name="TextBox 3"/>
          <p:cNvSpPr txBox="1"/>
          <p:nvPr/>
        </p:nvSpPr>
        <p:spPr>
          <a:xfrm>
            <a:off x="9692640" y="164592"/>
            <a:ext cx="2286000" cy="548640"/>
          </a:xfrm>
          <a:prstGeom prst="rect">
            <a:avLst/>
          </a:prstGeom>
          <a:noFill/>
        </p:spPr>
        <p:txBody>
          <a:bodyPr wrap="square" anchor="ctr" lIns="73152" rIns="45720" bIns="27432"/>
          <a:lstStyle/>
          <a:p>
            <a:pPr algn="r"/>
            <a:r>
              <a:rPr sz="1100" b="0">
                <a:solidFill>
                  <a:srgbClr val="FFFFFF"/>
                </a:solidFill>
                <a:latin typeface="Noto Sans JP"/>
              </a:rPr>
              <a:t>株式会社エヌイチ</a:t>
            </a:r>
          </a:p>
        </p:txBody>
      </p:sp>
      <p:sp>
        <p:nvSpPr>
          <p:cNvPr id="5" name="Rounded Rectangle 4"/>
          <p:cNvSpPr/>
          <p:nvPr/>
        </p:nvSpPr>
        <p:spPr>
          <a:xfrm>
            <a:off x="365760" y="1097280"/>
            <a:ext cx="502920" cy="1273302"/>
          </a:xfrm>
          <a:prstGeom prst="roundRect">
            <a:avLst>
              <a:gd name="adj" fmla="val 3000"/>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97280"/>
            <a:ext cx="502920" cy="1273302"/>
          </a:xfrm>
          <a:prstGeom prst="rect">
            <a:avLst/>
          </a:prstGeom>
          <a:noFill/>
        </p:spPr>
        <p:txBody>
          <a:bodyPr wrap="square" anchor="ctr" lIns="73152" rIns="45720" bIns="27432"/>
          <a:lstStyle/>
          <a:p>
            <a:pPr algn="ctr"/>
            <a:r>
              <a:rPr sz="2200" b="1">
                <a:solidFill>
                  <a:srgbClr val="FFFFFF"/>
                </a:solidFill>
                <a:latin typeface="Noto Sans JP"/>
              </a:rPr>
              <a:t>1</a:t>
            </a:r>
          </a:p>
        </p:txBody>
      </p:sp>
      <p:sp>
        <p:nvSpPr>
          <p:cNvPr id="7" name="Rectangle 6"/>
          <p:cNvSpPr/>
          <p:nvPr/>
        </p:nvSpPr>
        <p:spPr>
          <a:xfrm>
            <a:off x="576072" y="2370582"/>
            <a:ext cx="73152" cy="109728"/>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05840" y="1097280"/>
            <a:ext cx="10817352" cy="1273302"/>
          </a:xfrm>
          <a:prstGeom prst="roundRect">
            <a:avLst>
              <a:gd name="adj" fmla="val 3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05840" y="1097280"/>
            <a:ext cx="54864" cy="1273302"/>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07008" y="1188720"/>
            <a:ext cx="5486400" cy="384048"/>
          </a:xfrm>
          <a:prstGeom prst="rect">
            <a:avLst/>
          </a:prstGeom>
          <a:noFill/>
        </p:spPr>
        <p:txBody>
          <a:bodyPr wrap="square" anchor="ctr" lIns="73152" rIns="45720" bIns="27432"/>
          <a:lstStyle/>
          <a:p>
            <a:pPr algn="l"/>
            <a:r>
              <a:rPr sz="1600" b="1">
                <a:solidFill>
                  <a:srgbClr val="1E293B"/>
                </a:solidFill>
                <a:latin typeface="Noto Sans JP"/>
              </a:rPr>
              <a:t>社長1on1での相談（呉様）</a:t>
            </a:r>
          </a:p>
        </p:txBody>
      </p:sp>
      <p:sp>
        <p:nvSpPr>
          <p:cNvPr id="11" name="Rectangle 10"/>
          <p:cNvSpPr/>
          <p:nvPr/>
        </p:nvSpPr>
        <p:spPr>
          <a:xfrm>
            <a:off x="1143000" y="1797596"/>
            <a:ext cx="9601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07008" y="1843316"/>
            <a:ext cx="10424160" cy="509320"/>
          </a:xfrm>
          <a:prstGeom prst="rect">
            <a:avLst/>
          </a:prstGeom>
          <a:noFill/>
        </p:spPr>
        <p:txBody>
          <a:bodyPr wrap="square" anchor="ctr" lIns="73152" rIns="45720" bIns="27432"/>
          <a:lstStyle/>
          <a:p>
            <a:pPr algn="l"/>
            <a:r>
              <a:rPr sz="1300" b="0">
                <a:solidFill>
                  <a:srgbClr val="64748B"/>
                </a:solidFill>
                <a:latin typeface="Noto Sans JP"/>
              </a:rPr>
              <a:t>来週木曜日の社長1on1で本提案をご相談いただき、方向性をご確認ください</a:t>
            </a:r>
          </a:p>
        </p:txBody>
      </p:sp>
      <p:sp>
        <p:nvSpPr>
          <p:cNvPr id="13" name="Rounded Rectangle 12"/>
          <p:cNvSpPr/>
          <p:nvPr/>
        </p:nvSpPr>
        <p:spPr>
          <a:xfrm>
            <a:off x="365760" y="2480310"/>
            <a:ext cx="502920" cy="1273302"/>
          </a:xfrm>
          <a:prstGeom prst="roundRect">
            <a:avLst>
              <a:gd name="adj" fmla="val 3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2480310"/>
            <a:ext cx="502920" cy="1273302"/>
          </a:xfrm>
          <a:prstGeom prst="rect">
            <a:avLst/>
          </a:prstGeom>
          <a:noFill/>
        </p:spPr>
        <p:txBody>
          <a:bodyPr wrap="square" anchor="ctr" lIns="73152" rIns="45720" bIns="27432"/>
          <a:lstStyle/>
          <a:p>
            <a:pPr algn="ctr"/>
            <a:r>
              <a:rPr sz="2200" b="1">
                <a:solidFill>
                  <a:srgbClr val="FFFFFF"/>
                </a:solidFill>
                <a:latin typeface="Noto Sans JP"/>
              </a:rPr>
              <a:t>2</a:t>
            </a:r>
          </a:p>
        </p:txBody>
      </p:sp>
      <p:sp>
        <p:nvSpPr>
          <p:cNvPr id="15" name="Rectangle 14"/>
          <p:cNvSpPr/>
          <p:nvPr/>
        </p:nvSpPr>
        <p:spPr>
          <a:xfrm>
            <a:off x="576072" y="3753612"/>
            <a:ext cx="73152" cy="10972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2480310"/>
            <a:ext cx="10817352" cy="1273302"/>
          </a:xfrm>
          <a:prstGeom prst="roundRect">
            <a:avLst>
              <a:gd name="adj" fmla="val 3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5840" y="2480310"/>
            <a:ext cx="54864" cy="127330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07008" y="2571750"/>
            <a:ext cx="5486400" cy="384048"/>
          </a:xfrm>
          <a:prstGeom prst="rect">
            <a:avLst/>
          </a:prstGeom>
          <a:noFill/>
        </p:spPr>
        <p:txBody>
          <a:bodyPr wrap="square" anchor="ctr" lIns="73152" rIns="45720" bIns="27432"/>
          <a:lstStyle/>
          <a:p>
            <a:pPr algn="l"/>
            <a:r>
              <a:rPr sz="1600" b="1">
                <a:solidFill>
                  <a:srgbClr val="1E293B"/>
                </a:solidFill>
                <a:latin typeface="Noto Sans JP"/>
              </a:rPr>
              <a:t>社長承認後：ヒアリングMTGの設定</a:t>
            </a:r>
          </a:p>
        </p:txBody>
      </p:sp>
      <p:sp>
        <p:nvSpPr>
          <p:cNvPr id="19" name="Rectangle 18"/>
          <p:cNvSpPr/>
          <p:nvPr/>
        </p:nvSpPr>
        <p:spPr>
          <a:xfrm>
            <a:off x="1143000" y="3180626"/>
            <a:ext cx="9601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07008" y="3226346"/>
            <a:ext cx="10424160" cy="509320"/>
          </a:xfrm>
          <a:prstGeom prst="rect">
            <a:avLst/>
          </a:prstGeom>
          <a:noFill/>
        </p:spPr>
        <p:txBody>
          <a:bodyPr wrap="square" anchor="ctr" lIns="73152" rIns="45720" bIns="27432"/>
          <a:lstStyle/>
          <a:p>
            <a:pPr algn="l"/>
            <a:r>
              <a:rPr sz="1300" b="0">
                <a:solidFill>
                  <a:srgbClr val="64748B"/>
                </a:solidFill>
                <a:latin typeface="Noto Sans JP"/>
              </a:rPr>
              <a:t>承認が得られたら、エヌイチとのヒアリングMTG（60〜90分）を設定します</a:t>
            </a:r>
          </a:p>
        </p:txBody>
      </p:sp>
      <p:sp>
        <p:nvSpPr>
          <p:cNvPr id="21" name="Rounded Rectangle 20"/>
          <p:cNvSpPr/>
          <p:nvPr/>
        </p:nvSpPr>
        <p:spPr>
          <a:xfrm>
            <a:off x="365760" y="3863340"/>
            <a:ext cx="502920" cy="1273302"/>
          </a:xfrm>
          <a:prstGeom prst="roundRect">
            <a:avLst>
              <a:gd name="adj" fmla="val 3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3863340"/>
            <a:ext cx="502920" cy="1273302"/>
          </a:xfrm>
          <a:prstGeom prst="rect">
            <a:avLst/>
          </a:prstGeom>
          <a:noFill/>
        </p:spPr>
        <p:txBody>
          <a:bodyPr wrap="square" anchor="ctr" lIns="73152" rIns="45720" bIns="27432"/>
          <a:lstStyle/>
          <a:p>
            <a:pPr algn="ctr"/>
            <a:r>
              <a:rPr sz="2200" b="1">
                <a:solidFill>
                  <a:srgbClr val="FFFFFF"/>
                </a:solidFill>
                <a:latin typeface="Noto Sans JP"/>
              </a:rPr>
              <a:t>3</a:t>
            </a:r>
          </a:p>
        </p:txBody>
      </p:sp>
      <p:sp>
        <p:nvSpPr>
          <p:cNvPr id="23" name="Rectangle 22"/>
          <p:cNvSpPr/>
          <p:nvPr/>
        </p:nvSpPr>
        <p:spPr>
          <a:xfrm>
            <a:off x="576072" y="5136642"/>
            <a:ext cx="73152" cy="10972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05840" y="3863340"/>
            <a:ext cx="10817352" cy="1273302"/>
          </a:xfrm>
          <a:prstGeom prst="roundRect">
            <a:avLst>
              <a:gd name="adj" fmla="val 3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05840" y="3863340"/>
            <a:ext cx="54864" cy="127330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07008" y="3954780"/>
            <a:ext cx="5486400" cy="384048"/>
          </a:xfrm>
          <a:prstGeom prst="rect">
            <a:avLst/>
          </a:prstGeom>
          <a:noFill/>
        </p:spPr>
        <p:txBody>
          <a:bodyPr wrap="square" anchor="ctr" lIns="73152" rIns="45720" bIns="27432"/>
          <a:lstStyle/>
          <a:p>
            <a:pPr algn="l"/>
            <a:r>
              <a:rPr sz="1600" b="1">
                <a:solidFill>
                  <a:srgbClr val="1E293B"/>
                </a:solidFill>
                <a:latin typeface="Noto Sans JP"/>
              </a:rPr>
              <a:t>カリキュラム設計・お見積りの提示</a:t>
            </a:r>
          </a:p>
        </p:txBody>
      </p:sp>
      <p:sp>
        <p:nvSpPr>
          <p:cNvPr id="27" name="Rectangle 26"/>
          <p:cNvSpPr/>
          <p:nvPr/>
        </p:nvSpPr>
        <p:spPr>
          <a:xfrm>
            <a:off x="1143000" y="4563656"/>
            <a:ext cx="9601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07008" y="4609376"/>
            <a:ext cx="10424160" cy="509320"/>
          </a:xfrm>
          <a:prstGeom prst="rect">
            <a:avLst/>
          </a:prstGeom>
          <a:noFill/>
        </p:spPr>
        <p:txBody>
          <a:bodyPr wrap="square" anchor="ctr" lIns="73152" rIns="45720" bIns="27432"/>
          <a:lstStyle/>
          <a:p>
            <a:pPr algn="l"/>
            <a:r>
              <a:rPr sz="1300" b="0">
                <a:solidFill>
                  <a:srgbClr val="64748B"/>
                </a:solidFill>
                <a:latin typeface="Noto Sans JP"/>
              </a:rPr>
              <a:t>ヒアリング完了後、御社専用カリキュラム案と正式見積りをご提示します</a:t>
            </a:r>
          </a:p>
        </p:txBody>
      </p:sp>
      <p:sp>
        <p:nvSpPr>
          <p:cNvPr id="29" name="Rounded Rectangle 28"/>
          <p:cNvSpPr/>
          <p:nvPr/>
        </p:nvSpPr>
        <p:spPr>
          <a:xfrm>
            <a:off x="365760" y="5246370"/>
            <a:ext cx="502920" cy="1273302"/>
          </a:xfrm>
          <a:prstGeom prst="roundRect">
            <a:avLst>
              <a:gd name="adj" fmla="val 3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5246370"/>
            <a:ext cx="502920" cy="1273302"/>
          </a:xfrm>
          <a:prstGeom prst="rect">
            <a:avLst/>
          </a:prstGeom>
          <a:noFill/>
        </p:spPr>
        <p:txBody>
          <a:bodyPr wrap="square" anchor="ctr" lIns="73152" rIns="45720" bIns="27432"/>
          <a:lstStyle/>
          <a:p>
            <a:pPr algn="ctr"/>
            <a:r>
              <a:rPr sz="2200" b="1">
                <a:solidFill>
                  <a:srgbClr val="FFFFFF"/>
                </a:solidFill>
                <a:latin typeface="Noto Sans JP"/>
              </a:rPr>
              <a:t>4</a:t>
            </a:r>
          </a:p>
        </p:txBody>
      </p:sp>
      <p:sp>
        <p:nvSpPr>
          <p:cNvPr id="31" name="Rounded Rectangle 30"/>
          <p:cNvSpPr/>
          <p:nvPr/>
        </p:nvSpPr>
        <p:spPr>
          <a:xfrm>
            <a:off x="1005840" y="5246370"/>
            <a:ext cx="10817352" cy="1273302"/>
          </a:xfrm>
          <a:prstGeom prst="roundRect">
            <a:avLst>
              <a:gd name="adj" fmla="val 3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05840" y="5246370"/>
            <a:ext cx="54864" cy="127330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07008" y="5337810"/>
            <a:ext cx="5486400" cy="384048"/>
          </a:xfrm>
          <a:prstGeom prst="rect">
            <a:avLst/>
          </a:prstGeom>
          <a:noFill/>
        </p:spPr>
        <p:txBody>
          <a:bodyPr wrap="square" anchor="ctr" lIns="73152" rIns="45720" bIns="27432"/>
          <a:lstStyle/>
          <a:p>
            <a:pPr algn="l"/>
            <a:r>
              <a:rPr sz="1600" b="1">
                <a:solidFill>
                  <a:srgbClr val="1E293B"/>
                </a:solidFill>
                <a:latin typeface="Noto Sans JP"/>
              </a:rPr>
              <a:t>BPOパートナーご紹介（別途）</a:t>
            </a:r>
          </a:p>
        </p:txBody>
      </p:sp>
      <p:sp>
        <p:nvSpPr>
          <p:cNvPr id="34" name="Rectangle 33"/>
          <p:cNvSpPr/>
          <p:nvPr/>
        </p:nvSpPr>
        <p:spPr>
          <a:xfrm>
            <a:off x="1143000" y="5946686"/>
            <a:ext cx="9601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07008" y="5992406"/>
            <a:ext cx="10424160" cy="509320"/>
          </a:xfrm>
          <a:prstGeom prst="rect">
            <a:avLst/>
          </a:prstGeom>
          <a:noFill/>
        </p:spPr>
        <p:txBody>
          <a:bodyPr wrap="square" anchor="ctr" lIns="73152" rIns="45720" bIns="27432"/>
          <a:lstStyle/>
          <a:p>
            <a:pPr algn="l"/>
            <a:r>
              <a:rPr sz="1300" b="0">
                <a:solidFill>
                  <a:srgbClr val="64748B"/>
                </a:solidFill>
                <a:latin typeface="Noto Sans JP"/>
              </a:rPr>
              <a:t>AIプロダクト開発のBPO候補をエヌイチ社内で選定し、ご紹介の準備をします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40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5577840"/>
            <a:ext cx="11914632" cy="36576"/>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280160"/>
            <a:ext cx="10058400" cy="1463040"/>
          </a:xfrm>
          <a:prstGeom prst="rect">
            <a:avLst/>
          </a:prstGeom>
          <a:noFill/>
        </p:spPr>
        <p:txBody>
          <a:bodyPr wrap="square" anchor="ctr" lIns="73152" rIns="45720" bIns="27432"/>
          <a:lstStyle/>
          <a:p>
            <a:pPr algn="ctr"/>
            <a:r>
              <a:rPr sz="2600" b="1">
                <a:solidFill>
                  <a:srgbClr val="FFFFFF"/>
                </a:solidFill>
                <a:latin typeface="Noto Sans JP"/>
              </a:rPr>
              <a:t>私たちが提供するのは</a:t>
            </a:r>
          </a:p>
          <a:p>
            <a:pPr algn="ctr"/>
            <a:r>
              <a:rPr sz="2600" b="1">
                <a:solidFill>
                  <a:srgbClr val="FFFFFF"/>
                </a:solidFill>
                <a:latin typeface="Noto Sans JP"/>
              </a:rPr>
              <a:t>「ツール」や「研修」ではありません。</a:t>
            </a:r>
          </a:p>
        </p:txBody>
      </p:sp>
      <p:sp>
        <p:nvSpPr>
          <p:cNvPr id="6" name="TextBox 5"/>
          <p:cNvSpPr txBox="1"/>
          <p:nvPr/>
        </p:nvSpPr>
        <p:spPr>
          <a:xfrm>
            <a:off x="1097280" y="2926080"/>
            <a:ext cx="10058400" cy="1097280"/>
          </a:xfrm>
          <a:prstGeom prst="rect">
            <a:avLst/>
          </a:prstGeom>
          <a:noFill/>
        </p:spPr>
        <p:txBody>
          <a:bodyPr wrap="square" anchor="ctr" lIns="73152" rIns="45720" bIns="27432"/>
          <a:lstStyle/>
          <a:p>
            <a:pPr algn="ctr"/>
            <a:r>
              <a:rPr sz="2400" b="1">
                <a:solidFill>
                  <a:srgbClr val="E0F4F6"/>
                </a:solidFill>
                <a:latin typeface="Noto Sans JP"/>
              </a:rPr>
              <a:t>貴社の未来を創る「AI人材」と、</a:t>
            </a:r>
          </a:p>
          <a:p>
            <a:pPr algn="ctr"/>
            <a:r>
              <a:rPr sz="2400" b="1">
                <a:solidFill>
                  <a:srgbClr val="E0F4F6"/>
                </a:solidFill>
                <a:latin typeface="Noto Sans JP"/>
              </a:rPr>
              <a:t>組織全体の「成長」です。</a:t>
            </a:r>
          </a:p>
        </p:txBody>
      </p:sp>
      <p:sp>
        <p:nvSpPr>
          <p:cNvPr id="7" name="Rectangle 6"/>
          <p:cNvSpPr/>
          <p:nvPr/>
        </p:nvSpPr>
        <p:spPr>
          <a:xfrm>
            <a:off x="3657600" y="4206240"/>
            <a:ext cx="4873752" cy="36576"/>
          </a:xfrm>
          <a:prstGeom prst="rect">
            <a:avLst/>
          </a:prstGeom>
          <a:solidFill>
            <a:srgbClr val="42A4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389120"/>
            <a:ext cx="10058400" cy="502920"/>
          </a:xfrm>
          <a:prstGeom prst="rect">
            <a:avLst/>
          </a:prstGeom>
          <a:noFill/>
        </p:spPr>
        <p:txBody>
          <a:bodyPr wrap="square" anchor="t" lIns="73152" rIns="45720" bIns="27432"/>
          <a:lstStyle/>
          <a:p>
            <a:pPr algn="ctr"/>
            <a:r>
              <a:rPr sz="2000" b="1">
                <a:solidFill>
                  <a:srgbClr val="FFFFFF"/>
                </a:solidFill>
                <a:latin typeface="Noto Sans JP"/>
              </a:rPr>
              <a:t>株式会社エヌイチ</a:t>
            </a:r>
          </a:p>
        </p:txBody>
      </p:sp>
      <p:sp>
        <p:nvSpPr>
          <p:cNvPr id="9" name="TextBox 8"/>
          <p:cNvSpPr txBox="1"/>
          <p:nvPr/>
        </p:nvSpPr>
        <p:spPr>
          <a:xfrm>
            <a:off x="1097280" y="4983480"/>
            <a:ext cx="10058400" cy="411480"/>
          </a:xfrm>
          <a:prstGeom prst="rect">
            <a:avLst/>
          </a:prstGeom>
          <a:noFill/>
        </p:spPr>
        <p:txBody>
          <a:bodyPr wrap="square" anchor="t" lIns="73152" rIns="45720" bIns="27432"/>
          <a:lstStyle/>
          <a:p>
            <a:pPr algn="ctr"/>
            <a:r>
              <a:rPr sz="1500" b="0">
                <a:solidFill>
                  <a:srgbClr val="E0F4F6"/>
                </a:solidFill>
                <a:latin typeface="Noto Sans JP"/>
              </a:rPr>
              <a:t>AI（アイ）ある社会に</a:t>
            </a:r>
          </a:p>
        </p:txBody>
      </p:sp>
      <p:sp>
        <p:nvSpPr>
          <p:cNvPr id="10" name="Rounded Rectangle 9"/>
          <p:cNvSpPr/>
          <p:nvPr/>
        </p:nvSpPr>
        <p:spPr>
          <a:xfrm>
            <a:off x="3474720" y="5669280"/>
            <a:ext cx="5239512" cy="731520"/>
          </a:xfrm>
          <a:prstGeom prst="roundRect">
            <a:avLst>
              <a:gd name="adj" fmla="val 3000"/>
            </a:avLst>
          </a:prstGeom>
          <a:solidFill>
            <a:srgbClr val="284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5742432"/>
            <a:ext cx="5056632" cy="585216"/>
          </a:xfrm>
          <a:prstGeom prst="rect">
            <a:avLst/>
          </a:prstGeom>
          <a:noFill/>
        </p:spPr>
        <p:txBody>
          <a:bodyPr wrap="square" anchor="ctr" lIns="73152" rIns="45720" bIns="27432"/>
          <a:lstStyle/>
          <a:p>
            <a:pPr algn="ctr"/>
            <a:r>
              <a:rPr sz="1100" b="0">
                <a:solidFill>
                  <a:srgbClr val="B0C8D8"/>
                </a:solidFill>
                <a:latin typeface="Noto Sans JP"/>
              </a:rPr>
              <a:t>大川 龍之介  TEL: 080-2646-2420  r.okawa@n1-inc.co.jp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