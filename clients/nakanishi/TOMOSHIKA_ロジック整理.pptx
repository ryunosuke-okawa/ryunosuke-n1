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3840480"/>
            <a:ext cx="128016" cy="128016"/>
          </a:xfrm>
          <a:prstGeom prst="rect">
            <a:avLst/>
          </a:prstGeom>
          <a:solidFill>
            <a:srgbClr val="E8C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3767328"/>
            <a:ext cx="9144000" cy="320040"/>
          </a:xfrm>
          <a:prstGeom prst="rect">
            <a:avLst/>
          </a:prstGeom>
          <a:noFill/>
        </p:spPr>
        <p:txBody>
          <a:bodyPr wrap="square" lIns="27432" rIns="27432" tIns="18288" bIns="18288" anchor="t">
            <a:spAutoFit/>
          </a:bodyPr>
          <a:lstStyle/>
          <a:p>
            <a:pPr algn="l"/>
            <a:r>
              <a:rPr sz="1400" b="1">
                <a:solidFill>
                  <a:srgbClr val="E3DCC9"/>
                </a:solidFill>
                <a:latin typeface="Noto Sans JP"/>
              </a:rPr>
              <a:t>三者会議資料 / 2026-04-18</a:t>
            </a:r>
          </a:p>
        </p:txBody>
      </p:sp>
      <p:sp>
        <p:nvSpPr>
          <p:cNvPr id="5" name="TextBox 4"/>
          <p:cNvSpPr txBox="1"/>
          <p:nvPr/>
        </p:nvSpPr>
        <p:spPr>
          <a:xfrm>
            <a:off x="822960" y="4160520"/>
            <a:ext cx="10972800" cy="1645920"/>
          </a:xfrm>
          <a:prstGeom prst="rect">
            <a:avLst/>
          </a:prstGeom>
          <a:noFill/>
        </p:spPr>
        <p:txBody>
          <a:bodyPr wrap="square" lIns="27432" rIns="27432" tIns="18288" bIns="18288" anchor="t">
            <a:spAutoFit/>
          </a:bodyPr>
          <a:lstStyle/>
          <a:p>
            <a:pPr algn="l"/>
            <a:r>
              <a:rPr sz="5400" b="1">
                <a:solidFill>
                  <a:srgbClr val="FFFFFF"/>
                </a:solidFill>
                <a:latin typeface="Noto Sans JP"/>
              </a:rPr>
              <a:t>TOMOSHIKA</a:t>
            </a:r>
          </a:p>
          <a:p>
            <a:pPr algn="l"/>
            <a:r>
              <a:rPr sz="5400" b="1">
                <a:solidFill>
                  <a:srgbClr val="FFFFFF"/>
                </a:solidFill>
                <a:latin typeface="Noto Sans JP"/>
              </a:rPr>
              <a:t>ロジック整理</a:t>
            </a:r>
          </a:p>
        </p:txBody>
      </p:sp>
      <p:sp>
        <p:nvSpPr>
          <p:cNvPr id="6" name="TextBox 5"/>
          <p:cNvSpPr txBox="1"/>
          <p:nvPr/>
        </p:nvSpPr>
        <p:spPr>
          <a:xfrm>
            <a:off x="822960" y="5760720"/>
            <a:ext cx="10972800" cy="640080"/>
          </a:xfrm>
          <a:prstGeom prst="rect">
            <a:avLst/>
          </a:prstGeom>
          <a:noFill/>
        </p:spPr>
        <p:txBody>
          <a:bodyPr wrap="square" lIns="27432" rIns="27432" tIns="18288" bIns="18288" anchor="t">
            <a:spAutoFit/>
          </a:bodyPr>
          <a:lstStyle/>
          <a:p>
            <a:pPr algn="l"/>
            <a:r>
              <a:rPr sz="1400" b="0">
                <a:solidFill>
                  <a:srgbClr val="E3DCC9"/>
                </a:solidFill>
                <a:latin typeface="Noto Sans JP"/>
              </a:rPr>
              <a:t>学生が適性検査を受けてから、結果画面に推薦企業が表示されるまでの流れを</a:t>
            </a:r>
          </a:p>
          <a:p>
            <a:pPr algn="l"/>
            <a:r>
              <a:rPr sz="1400" b="0">
                <a:solidFill>
                  <a:srgbClr val="E3DCC9"/>
                </a:solidFill>
                <a:latin typeface="Noto Sans JP"/>
              </a:rPr>
              <a:t>4つのフェーズに分けて整理したもの</a:t>
            </a:r>
          </a:p>
        </p:txBody>
      </p:sp>
      <p:sp>
        <p:nvSpPr>
          <p:cNvPr id="7" name="TextBox 6"/>
          <p:cNvSpPr txBox="1"/>
          <p:nvPr/>
        </p:nvSpPr>
        <p:spPr>
          <a:xfrm>
            <a:off x="822960" y="6382512"/>
            <a:ext cx="10972800" cy="320040"/>
          </a:xfrm>
          <a:prstGeom prst="rect">
            <a:avLst/>
          </a:prstGeom>
          <a:noFill/>
        </p:spPr>
        <p:txBody>
          <a:bodyPr wrap="square" lIns="27432" rIns="27432" tIns="18288" bIns="18288" anchor="t">
            <a:spAutoFit/>
          </a:bodyPr>
          <a:lstStyle/>
          <a:p>
            <a:pPr algn="l"/>
            <a:r>
              <a:rPr sz="1200" b="1">
                <a:solidFill>
                  <a:srgbClr val="E3DCC9"/>
                </a:solidFill>
                <a:latin typeface="Noto Sans JP"/>
              </a:rPr>
              <a:t>中西製作所 様      MIL 様      エヌイチ</a:t>
            </a:r>
          </a:p>
        </p:txBody>
      </p:sp>
      <p:sp>
        <p:nvSpPr>
          <p:cNvPr id="8" name="TextBox 7"/>
          <p:cNvSpPr txBox="1"/>
          <p:nvPr/>
        </p:nvSpPr>
        <p:spPr>
          <a:xfrm>
            <a:off x="822960" y="365760"/>
            <a:ext cx="5486400" cy="274320"/>
          </a:xfrm>
          <a:prstGeom prst="rect">
            <a:avLst/>
          </a:prstGeom>
          <a:noFill/>
        </p:spPr>
        <p:txBody>
          <a:bodyPr wrap="square" lIns="27432" rIns="27432" tIns="18288" bIns="18288" anchor="t">
            <a:spAutoFit/>
          </a:bodyPr>
          <a:lstStyle/>
          <a:p>
            <a:pPr algn="l"/>
            <a:r>
              <a:rPr sz="1000" b="1">
                <a:solidFill>
                  <a:srgbClr val="A39D8C"/>
                </a:solidFill>
                <a:latin typeface="Noto Sans JP"/>
              </a:rPr>
              <a:t>TOMOSHIKA / 三者会議</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502920"/>
            <a:ext cx="109728" cy="109728"/>
          </a:xfrm>
          <a:prstGeom prst="rect">
            <a:avLst/>
          </a:prstGeom>
          <a:solidFill>
            <a:srgbClr val="B9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9144000" cy="320040"/>
          </a:xfrm>
          <a:prstGeom prst="rect">
            <a:avLst/>
          </a:prstGeom>
          <a:noFill/>
        </p:spPr>
        <p:txBody>
          <a:bodyPr wrap="none" lIns="0" tIns="0">
            <a:spAutoFit/>
          </a:bodyPr>
          <a:lstStyle/>
          <a:p>
            <a:r>
              <a:rPr sz="1400" b="1">
                <a:solidFill>
                  <a:srgbClr val="141414"/>
                </a:solidFill>
                <a:latin typeface="Noto Sans JP"/>
              </a:rPr>
              <a:t>OVERVIEW</a:t>
            </a:r>
          </a:p>
        </p:txBody>
      </p:sp>
      <p:sp>
        <p:nvSpPr>
          <p:cNvPr id="5" name="TextBox 4"/>
          <p:cNvSpPr txBox="1"/>
          <p:nvPr/>
        </p:nvSpPr>
        <p:spPr>
          <a:xfrm>
            <a:off x="594360" y="868680"/>
            <a:ext cx="10972800" cy="731520"/>
          </a:xfrm>
          <a:prstGeom prst="rect">
            <a:avLst/>
          </a:prstGeom>
          <a:noFill/>
        </p:spPr>
        <p:txBody>
          <a:bodyPr wrap="square" lIns="27432" rIns="27432" tIns="18288" bIns="18288" anchor="t">
            <a:spAutoFit/>
          </a:bodyPr>
          <a:lstStyle/>
          <a:p>
            <a:pPr algn="l"/>
            <a:r>
              <a:rPr sz="2800" b="1">
                <a:solidFill>
                  <a:srgbClr val="000000"/>
                </a:solidFill>
                <a:latin typeface="Noto Sans JP"/>
              </a:rPr>
              <a:t>全体の流れ</a:t>
            </a:r>
          </a:p>
        </p:txBody>
      </p:sp>
      <p:sp>
        <p:nvSpPr>
          <p:cNvPr id="6" name="Rounded Rectangle 5"/>
          <p:cNvSpPr/>
          <p:nvPr/>
        </p:nvSpPr>
        <p:spPr>
          <a:xfrm>
            <a:off x="594360" y="1691640"/>
            <a:ext cx="2651760" cy="1600200"/>
          </a:xfrm>
          <a:prstGeom prst="roundRect">
            <a:avLst>
              <a:gd name="adj" fmla="val 4000"/>
            </a:avLst>
          </a:prstGeom>
          <a:solidFill>
            <a:srgbClr val="FFFFFF"/>
          </a:solidFill>
          <a:ln w="9525">
            <a:solidFill>
              <a:srgbClr val="C8C3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783080"/>
            <a:ext cx="2377440" cy="274320"/>
          </a:xfrm>
          <a:prstGeom prst="rect">
            <a:avLst/>
          </a:prstGeom>
          <a:noFill/>
        </p:spPr>
        <p:txBody>
          <a:bodyPr wrap="square" lIns="27432" rIns="27432" tIns="18288" bIns="18288" anchor="t">
            <a:spAutoFit/>
          </a:bodyPr>
          <a:lstStyle/>
          <a:p>
            <a:pPr algn="l"/>
            <a:r>
              <a:rPr sz="1000" b="1">
                <a:solidFill>
                  <a:srgbClr val="141414"/>
                </a:solidFill>
                <a:latin typeface="Noto Sans JP"/>
              </a:rPr>
              <a:t>PHASE 1</a:t>
            </a:r>
          </a:p>
        </p:txBody>
      </p:sp>
      <p:sp>
        <p:nvSpPr>
          <p:cNvPr id="8" name="TextBox 7"/>
          <p:cNvSpPr txBox="1"/>
          <p:nvPr/>
        </p:nvSpPr>
        <p:spPr>
          <a:xfrm>
            <a:off x="731520" y="2057400"/>
            <a:ext cx="2377440" cy="411480"/>
          </a:xfrm>
          <a:prstGeom prst="rect">
            <a:avLst/>
          </a:prstGeom>
          <a:noFill/>
        </p:spPr>
        <p:txBody>
          <a:bodyPr wrap="square" lIns="27432" rIns="27432" tIns="18288" bIns="18288" anchor="t">
            <a:spAutoFit/>
          </a:bodyPr>
          <a:lstStyle/>
          <a:p>
            <a:pPr algn="l"/>
            <a:r>
              <a:rPr sz="1500" b="1">
                <a:solidFill>
                  <a:srgbClr val="000000"/>
                </a:solidFill>
                <a:latin typeface="Noto Sans JP"/>
              </a:rPr>
              <a:t>適性検査を受ける</a:t>
            </a:r>
          </a:p>
        </p:txBody>
      </p:sp>
      <p:sp>
        <p:nvSpPr>
          <p:cNvPr id="9" name="TextBox 8"/>
          <p:cNvSpPr txBox="1"/>
          <p:nvPr/>
        </p:nvSpPr>
        <p:spPr>
          <a:xfrm>
            <a:off x="731520" y="2487168"/>
            <a:ext cx="2377440" cy="274320"/>
          </a:xfrm>
          <a:prstGeom prst="rect">
            <a:avLst/>
          </a:prstGeom>
          <a:noFill/>
        </p:spPr>
        <p:txBody>
          <a:bodyPr wrap="square" lIns="27432" rIns="27432" tIns="18288" bIns="18288" anchor="t">
            <a:spAutoFit/>
          </a:bodyPr>
          <a:lstStyle/>
          <a:p>
            <a:pPr algn="l"/>
            <a:r>
              <a:rPr sz="1100" b="1">
                <a:solidFill>
                  <a:srgbClr val="B95A1F"/>
                </a:solidFill>
                <a:latin typeface="Noto Sans JP"/>
              </a:rPr>
              <a:t>【MIL様】</a:t>
            </a:r>
          </a:p>
        </p:txBody>
      </p:sp>
      <p:sp>
        <p:nvSpPr>
          <p:cNvPr id="10" name="TextBox 9"/>
          <p:cNvSpPr txBox="1"/>
          <p:nvPr/>
        </p:nvSpPr>
        <p:spPr>
          <a:xfrm>
            <a:off x="731520" y="2770632"/>
            <a:ext cx="2377440" cy="502920"/>
          </a:xfrm>
          <a:prstGeom prst="rect">
            <a:avLst/>
          </a:prstGeom>
          <a:noFill/>
        </p:spPr>
        <p:txBody>
          <a:bodyPr wrap="square" lIns="27432" rIns="27432" tIns="18288" bIns="18288" anchor="t">
            <a:spAutoFit/>
          </a:bodyPr>
          <a:lstStyle/>
          <a:p>
            <a:pPr algn="l"/>
            <a:r>
              <a:rPr sz="1100" b="0">
                <a:solidFill>
                  <a:srgbClr val="141414"/>
                </a:solidFill>
                <a:latin typeface="Noto Sans JP"/>
              </a:rPr>
              <a:t>学生が51問に回答する</a:t>
            </a:r>
          </a:p>
        </p:txBody>
      </p:sp>
      <p:sp>
        <p:nvSpPr>
          <p:cNvPr id="11" name="Rounded Rectangle 10"/>
          <p:cNvSpPr/>
          <p:nvPr/>
        </p:nvSpPr>
        <p:spPr>
          <a:xfrm>
            <a:off x="3401568" y="1691640"/>
            <a:ext cx="2651760" cy="1600200"/>
          </a:xfrm>
          <a:prstGeom prst="roundRect">
            <a:avLst>
              <a:gd name="adj" fmla="val 4000"/>
            </a:avLst>
          </a:prstGeom>
          <a:solidFill>
            <a:srgbClr val="FFFFFF"/>
          </a:solidFill>
          <a:ln w="9525">
            <a:solidFill>
              <a:srgbClr val="C8C3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38727" y="1783080"/>
            <a:ext cx="2377440" cy="274320"/>
          </a:xfrm>
          <a:prstGeom prst="rect">
            <a:avLst/>
          </a:prstGeom>
          <a:noFill/>
        </p:spPr>
        <p:txBody>
          <a:bodyPr wrap="square" lIns="27432" rIns="27432" tIns="18288" bIns="18288" anchor="t">
            <a:spAutoFit/>
          </a:bodyPr>
          <a:lstStyle/>
          <a:p>
            <a:pPr algn="l"/>
            <a:r>
              <a:rPr sz="1000" b="1">
                <a:solidFill>
                  <a:srgbClr val="141414"/>
                </a:solidFill>
                <a:latin typeface="Noto Sans JP"/>
              </a:rPr>
              <a:t>PHASE 2 →</a:t>
            </a:r>
          </a:p>
        </p:txBody>
      </p:sp>
      <p:sp>
        <p:nvSpPr>
          <p:cNvPr id="13" name="TextBox 12"/>
          <p:cNvSpPr txBox="1"/>
          <p:nvPr/>
        </p:nvSpPr>
        <p:spPr>
          <a:xfrm>
            <a:off x="3538727" y="2057400"/>
            <a:ext cx="2377440" cy="411480"/>
          </a:xfrm>
          <a:prstGeom prst="rect">
            <a:avLst/>
          </a:prstGeom>
          <a:noFill/>
        </p:spPr>
        <p:txBody>
          <a:bodyPr wrap="square" lIns="27432" rIns="27432" tIns="18288" bIns="18288" anchor="t">
            <a:spAutoFit/>
          </a:bodyPr>
          <a:lstStyle/>
          <a:p>
            <a:pPr algn="l"/>
            <a:r>
              <a:rPr sz="1500" b="1">
                <a:solidFill>
                  <a:srgbClr val="000000"/>
                </a:solidFill>
                <a:latin typeface="Noto Sans JP"/>
              </a:rPr>
              <a:t>データを送る</a:t>
            </a:r>
          </a:p>
        </p:txBody>
      </p:sp>
      <p:sp>
        <p:nvSpPr>
          <p:cNvPr id="14" name="TextBox 13"/>
          <p:cNvSpPr txBox="1"/>
          <p:nvPr/>
        </p:nvSpPr>
        <p:spPr>
          <a:xfrm>
            <a:off x="3538727" y="2487168"/>
            <a:ext cx="2377440" cy="274320"/>
          </a:xfrm>
          <a:prstGeom prst="rect">
            <a:avLst/>
          </a:prstGeom>
          <a:noFill/>
        </p:spPr>
        <p:txBody>
          <a:bodyPr wrap="square" lIns="27432" rIns="27432" tIns="18288" bIns="18288" anchor="t">
            <a:spAutoFit/>
          </a:bodyPr>
          <a:lstStyle/>
          <a:p>
            <a:pPr algn="l"/>
            <a:r>
              <a:rPr sz="1100" b="1">
                <a:solidFill>
                  <a:srgbClr val="B95A1F"/>
                </a:solidFill>
                <a:latin typeface="Noto Sans JP"/>
              </a:rPr>
              <a:t>【MIL様 → Dify】</a:t>
            </a:r>
          </a:p>
        </p:txBody>
      </p:sp>
      <p:sp>
        <p:nvSpPr>
          <p:cNvPr id="15" name="TextBox 14"/>
          <p:cNvSpPr txBox="1"/>
          <p:nvPr/>
        </p:nvSpPr>
        <p:spPr>
          <a:xfrm>
            <a:off x="3538727" y="2770632"/>
            <a:ext cx="2377440" cy="502920"/>
          </a:xfrm>
          <a:prstGeom prst="rect">
            <a:avLst/>
          </a:prstGeom>
          <a:noFill/>
        </p:spPr>
        <p:txBody>
          <a:bodyPr wrap="square" lIns="27432" rIns="27432" tIns="18288" bIns="18288" anchor="t">
            <a:spAutoFit/>
          </a:bodyPr>
          <a:lstStyle/>
          <a:p>
            <a:pPr algn="l"/>
            <a:r>
              <a:rPr sz="1100" b="0">
                <a:solidFill>
                  <a:srgbClr val="141414"/>
                </a:solidFill>
                <a:latin typeface="Noto Sans JP"/>
              </a:rPr>
              <a:t>MIL様が検査結果をDifyに送る</a:t>
            </a:r>
          </a:p>
        </p:txBody>
      </p:sp>
      <p:sp>
        <p:nvSpPr>
          <p:cNvPr id="16" name="Rounded Rectangle 15"/>
          <p:cNvSpPr/>
          <p:nvPr/>
        </p:nvSpPr>
        <p:spPr>
          <a:xfrm>
            <a:off x="6208776" y="1691640"/>
            <a:ext cx="2651760" cy="1600200"/>
          </a:xfrm>
          <a:prstGeom prst="roundRect">
            <a:avLst>
              <a:gd name="adj" fmla="val 4000"/>
            </a:avLst>
          </a:prstGeom>
          <a:solidFill>
            <a:srgbClr val="FFFFFF"/>
          </a:solidFill>
          <a:ln w="9525">
            <a:solidFill>
              <a:srgbClr val="C8C3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45936" y="1783080"/>
            <a:ext cx="2377440" cy="274320"/>
          </a:xfrm>
          <a:prstGeom prst="rect">
            <a:avLst/>
          </a:prstGeom>
          <a:noFill/>
        </p:spPr>
        <p:txBody>
          <a:bodyPr wrap="square" lIns="27432" rIns="27432" tIns="18288" bIns="18288" anchor="t">
            <a:spAutoFit/>
          </a:bodyPr>
          <a:lstStyle/>
          <a:p>
            <a:pPr algn="l"/>
            <a:r>
              <a:rPr sz="1000" b="1">
                <a:solidFill>
                  <a:srgbClr val="141414"/>
                </a:solidFill>
                <a:latin typeface="Noto Sans JP"/>
              </a:rPr>
              <a:t>PHASE 3</a:t>
            </a:r>
          </a:p>
        </p:txBody>
      </p:sp>
      <p:sp>
        <p:nvSpPr>
          <p:cNvPr id="18" name="TextBox 17"/>
          <p:cNvSpPr txBox="1"/>
          <p:nvPr/>
        </p:nvSpPr>
        <p:spPr>
          <a:xfrm>
            <a:off x="6345936" y="2057400"/>
            <a:ext cx="2377440" cy="411480"/>
          </a:xfrm>
          <a:prstGeom prst="rect">
            <a:avLst/>
          </a:prstGeom>
          <a:noFill/>
        </p:spPr>
        <p:txBody>
          <a:bodyPr wrap="square" lIns="27432" rIns="27432" tIns="18288" bIns="18288" anchor="t">
            <a:spAutoFit/>
          </a:bodyPr>
          <a:lstStyle/>
          <a:p>
            <a:pPr algn="l"/>
            <a:r>
              <a:rPr sz="1500" b="1">
                <a:solidFill>
                  <a:srgbClr val="000000"/>
                </a:solidFill>
                <a:latin typeface="Noto Sans JP"/>
              </a:rPr>
              <a:t>企業のマッチング</a:t>
            </a:r>
          </a:p>
        </p:txBody>
      </p:sp>
      <p:sp>
        <p:nvSpPr>
          <p:cNvPr id="19" name="TextBox 18"/>
          <p:cNvSpPr txBox="1"/>
          <p:nvPr/>
        </p:nvSpPr>
        <p:spPr>
          <a:xfrm>
            <a:off x="6345936" y="2487168"/>
            <a:ext cx="2377440" cy="274320"/>
          </a:xfrm>
          <a:prstGeom prst="rect">
            <a:avLst/>
          </a:prstGeom>
          <a:noFill/>
        </p:spPr>
        <p:txBody>
          <a:bodyPr wrap="square" lIns="27432" rIns="27432" tIns="18288" bIns="18288" anchor="t">
            <a:spAutoFit/>
          </a:bodyPr>
          <a:lstStyle/>
          <a:p>
            <a:pPr algn="l"/>
            <a:r>
              <a:rPr sz="1100" b="1">
                <a:solidFill>
                  <a:srgbClr val="B95A1F"/>
                </a:solidFill>
                <a:latin typeface="Noto Sans JP"/>
              </a:rPr>
              <a:t>【Dify】</a:t>
            </a:r>
          </a:p>
        </p:txBody>
      </p:sp>
      <p:sp>
        <p:nvSpPr>
          <p:cNvPr id="20" name="TextBox 19"/>
          <p:cNvSpPr txBox="1"/>
          <p:nvPr/>
        </p:nvSpPr>
        <p:spPr>
          <a:xfrm>
            <a:off x="6345936" y="2770632"/>
            <a:ext cx="2377440" cy="502920"/>
          </a:xfrm>
          <a:prstGeom prst="rect">
            <a:avLst/>
          </a:prstGeom>
          <a:noFill/>
        </p:spPr>
        <p:txBody>
          <a:bodyPr wrap="square" lIns="27432" rIns="27432" tIns="18288" bIns="18288" anchor="t">
            <a:spAutoFit/>
          </a:bodyPr>
          <a:lstStyle/>
          <a:p>
            <a:pPr algn="l"/>
            <a:r>
              <a:rPr sz="1100" b="0">
                <a:solidFill>
                  <a:srgbClr val="141414"/>
                </a:solidFill>
                <a:latin typeface="Noto Sans JP"/>
              </a:rPr>
              <a:t>受け取った点数で企業リストと照合する</a:t>
            </a:r>
          </a:p>
        </p:txBody>
      </p:sp>
      <p:sp>
        <p:nvSpPr>
          <p:cNvPr id="21" name="Rounded Rectangle 20"/>
          <p:cNvSpPr/>
          <p:nvPr/>
        </p:nvSpPr>
        <p:spPr>
          <a:xfrm>
            <a:off x="9015984" y="1691640"/>
            <a:ext cx="2651760" cy="1600200"/>
          </a:xfrm>
          <a:prstGeom prst="roundRect">
            <a:avLst>
              <a:gd name="adj" fmla="val 4000"/>
            </a:avLst>
          </a:prstGeom>
          <a:solidFill>
            <a:srgbClr val="FFFFFF"/>
          </a:solidFill>
          <a:ln w="9525">
            <a:solidFill>
              <a:srgbClr val="C8C3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53144" y="1783080"/>
            <a:ext cx="2377440" cy="274320"/>
          </a:xfrm>
          <a:prstGeom prst="rect">
            <a:avLst/>
          </a:prstGeom>
          <a:noFill/>
        </p:spPr>
        <p:txBody>
          <a:bodyPr wrap="square" lIns="27432" rIns="27432" tIns="18288" bIns="18288" anchor="t">
            <a:spAutoFit/>
          </a:bodyPr>
          <a:lstStyle/>
          <a:p>
            <a:pPr algn="l"/>
            <a:r>
              <a:rPr sz="1000" b="1">
                <a:solidFill>
                  <a:srgbClr val="141414"/>
                </a:solidFill>
                <a:latin typeface="Noto Sans JP"/>
              </a:rPr>
              <a:t>PHASE 4 →</a:t>
            </a:r>
          </a:p>
        </p:txBody>
      </p:sp>
      <p:sp>
        <p:nvSpPr>
          <p:cNvPr id="23" name="TextBox 22"/>
          <p:cNvSpPr txBox="1"/>
          <p:nvPr/>
        </p:nvSpPr>
        <p:spPr>
          <a:xfrm>
            <a:off x="9153144" y="2057400"/>
            <a:ext cx="2377440" cy="411480"/>
          </a:xfrm>
          <a:prstGeom prst="rect">
            <a:avLst/>
          </a:prstGeom>
          <a:noFill/>
        </p:spPr>
        <p:txBody>
          <a:bodyPr wrap="square" lIns="27432" rIns="27432" tIns="18288" bIns="18288" anchor="t">
            <a:spAutoFit/>
          </a:bodyPr>
          <a:lstStyle/>
          <a:p>
            <a:pPr algn="l"/>
            <a:r>
              <a:rPr sz="1500" b="1">
                <a:solidFill>
                  <a:srgbClr val="000000"/>
                </a:solidFill>
                <a:latin typeface="Noto Sans JP"/>
              </a:rPr>
              <a:t>結果を返す</a:t>
            </a:r>
          </a:p>
        </p:txBody>
      </p:sp>
      <p:sp>
        <p:nvSpPr>
          <p:cNvPr id="24" name="TextBox 23"/>
          <p:cNvSpPr txBox="1"/>
          <p:nvPr/>
        </p:nvSpPr>
        <p:spPr>
          <a:xfrm>
            <a:off x="9153144" y="2487168"/>
            <a:ext cx="2377440" cy="274320"/>
          </a:xfrm>
          <a:prstGeom prst="rect">
            <a:avLst/>
          </a:prstGeom>
          <a:noFill/>
        </p:spPr>
        <p:txBody>
          <a:bodyPr wrap="square" lIns="27432" rIns="27432" tIns="18288" bIns="18288" anchor="t">
            <a:spAutoFit/>
          </a:bodyPr>
          <a:lstStyle/>
          <a:p>
            <a:pPr algn="l"/>
            <a:r>
              <a:rPr sz="1100" b="1">
                <a:solidFill>
                  <a:srgbClr val="B95A1F"/>
                </a:solidFill>
                <a:latin typeface="Noto Sans JP"/>
              </a:rPr>
              <a:t>【Dify → MIL様】</a:t>
            </a:r>
          </a:p>
        </p:txBody>
      </p:sp>
      <p:sp>
        <p:nvSpPr>
          <p:cNvPr id="25" name="TextBox 24"/>
          <p:cNvSpPr txBox="1"/>
          <p:nvPr/>
        </p:nvSpPr>
        <p:spPr>
          <a:xfrm>
            <a:off x="9153144" y="2770632"/>
            <a:ext cx="2377440" cy="502920"/>
          </a:xfrm>
          <a:prstGeom prst="rect">
            <a:avLst/>
          </a:prstGeom>
          <a:noFill/>
        </p:spPr>
        <p:txBody>
          <a:bodyPr wrap="square" lIns="27432" rIns="27432" tIns="18288" bIns="18288" anchor="t">
            <a:spAutoFit/>
          </a:bodyPr>
          <a:lstStyle/>
          <a:p>
            <a:pPr algn="l"/>
            <a:r>
              <a:rPr sz="1100" b="0">
                <a:solidFill>
                  <a:srgbClr val="141414"/>
                </a:solidFill>
                <a:latin typeface="Noto Sans JP"/>
              </a:rPr>
              <a:t>マッチング結果をMIL様に返す</a:t>
            </a:r>
          </a:p>
        </p:txBody>
      </p:sp>
      <p:sp>
        <p:nvSpPr>
          <p:cNvPr id="26" name="TextBox 25"/>
          <p:cNvSpPr txBox="1"/>
          <p:nvPr/>
        </p:nvSpPr>
        <p:spPr>
          <a:xfrm>
            <a:off x="594360" y="3520440"/>
            <a:ext cx="7315200" cy="411480"/>
          </a:xfrm>
          <a:prstGeom prst="rect">
            <a:avLst/>
          </a:prstGeom>
          <a:noFill/>
        </p:spPr>
        <p:txBody>
          <a:bodyPr wrap="square" lIns="27432" rIns="27432" tIns="18288" bIns="18288" anchor="t">
            <a:spAutoFit/>
          </a:bodyPr>
          <a:lstStyle/>
          <a:p>
            <a:pPr algn="l"/>
            <a:r>
              <a:rPr sz="1800" b="1">
                <a:solidFill>
                  <a:srgbClr val="000000"/>
                </a:solidFill>
                <a:latin typeface="Noto Sans JP"/>
              </a:rPr>
              <a:t>三社の役割</a:t>
            </a:r>
          </a:p>
        </p:txBody>
      </p:sp>
      <p:graphicFrame>
        <p:nvGraphicFramePr>
          <p:cNvPr id="27" name="Table 26"/>
          <p:cNvGraphicFramePr>
            <a:graphicFrameLocks noGrp="1"/>
          </p:cNvGraphicFramePr>
          <p:nvPr/>
        </p:nvGraphicFramePr>
        <p:xfrm>
          <a:off x="594360" y="4023360"/>
          <a:ext cx="10972800" cy="2194560"/>
        </p:xfrm>
        <a:graphic>
          <a:graphicData uri="http://schemas.openxmlformats.org/drawingml/2006/table">
            <a:tbl>
              <a:tblPr firstRow="1" bandRow="1">
                <a:tableStyleId>{5C22544A-7EE6-4342-B048-85BDC9FD1C3A}</a:tableStyleId>
              </a:tblPr>
              <a:tblGrid>
                <a:gridCol w="2011680"/>
                <a:gridCol w="8961120"/>
              </a:tblGrid>
              <a:tr h="548640">
                <a:tc>
                  <a:txBody>
                    <a:bodyPr wrap="square" lIns="45720" rIns="45720" tIns="36576" bIns="36576"/>
                    <a:lstStyle/>
                    <a:p>
                      <a:r>
                        <a:rPr sz="1200" b="1">
                          <a:solidFill>
                            <a:srgbClr val="000000"/>
                          </a:solidFill>
                          <a:latin typeface="Noto Sans JP"/>
                        </a:rPr>
                        <a:t>会社</a:t>
                      </a:r>
                    </a:p>
                  </a:txBody>
                  <a:tcPr marL="73152" marR="73152" marT="45720" marB="45720" anchor="t">
                    <a:solidFill>
                      <a:srgbClr val="EDE6D2"/>
                    </a:solidFill>
                  </a:tcPr>
                </a:tc>
                <a:tc>
                  <a:txBody>
                    <a:bodyPr wrap="square" lIns="45720" rIns="45720" tIns="36576" bIns="36576"/>
                    <a:lstStyle/>
                    <a:p>
                      <a:r>
                        <a:rPr sz="1200" b="1">
                          <a:solidFill>
                            <a:srgbClr val="000000"/>
                          </a:solidFill>
                          <a:latin typeface="Noto Sans JP"/>
                        </a:rPr>
                        <a:t>何をするか</a:t>
                      </a:r>
                    </a:p>
                  </a:txBody>
                  <a:tcPr marL="73152" marR="73152" marT="45720" marB="45720" anchor="t">
                    <a:solidFill>
                      <a:srgbClr val="EDE6D2"/>
                    </a:solidFill>
                  </a:tcPr>
                </a:tc>
              </a:tr>
              <a:tr h="548640">
                <a:tc>
                  <a:txBody>
                    <a:bodyPr wrap="square" lIns="45720" rIns="45720" tIns="36576" bIns="36576"/>
                    <a:lstStyle/>
                    <a:p>
                      <a:r>
                        <a:rPr sz="1200" b="1">
                          <a:solidFill>
                            <a:srgbClr val="000000"/>
                          </a:solidFill>
                          <a:latin typeface="Noto Sans JP"/>
                        </a:rPr>
                        <a:t>MIL様</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学生に適性検査を受けてもらう画面を作る。検査結果をDifyに送り、返ってきた結果を学生に見せる</a:t>
                      </a:r>
                    </a:p>
                  </a:txBody>
                  <a:tcPr marL="73152" marR="73152" marT="45720" marB="45720" anchor="t">
                    <a:solidFill>
                      <a:srgbClr val="FFFFFF"/>
                    </a:solidFill>
                  </a:tcPr>
                </a:tc>
              </a:tr>
              <a:tr h="548640">
                <a:tc>
                  <a:txBody>
                    <a:bodyPr wrap="square" lIns="45720" rIns="45720" tIns="36576" bIns="36576"/>
                    <a:lstStyle/>
                    <a:p>
                      <a:r>
                        <a:rPr sz="1200" b="1">
                          <a:solidFill>
                            <a:srgbClr val="000000"/>
                          </a:solidFill>
                          <a:latin typeface="Noto Sans JP"/>
                        </a:rPr>
                        <a:t>エヌイチ</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中西製作所様のDifyアカウント上に「検査結果を受け取って企業をマッチングするしくみ」を構築・運用する</a:t>
                      </a:r>
                    </a:p>
                  </a:txBody>
                  <a:tcPr marL="73152" marR="73152" marT="45720" marB="45720" anchor="t">
                    <a:solidFill>
                      <a:srgbClr val="FFFFFF"/>
                    </a:solidFill>
                  </a:tcPr>
                </a:tc>
              </a:tr>
              <a:tr h="548640">
                <a:tc>
                  <a:txBody>
                    <a:bodyPr wrap="square" lIns="45720" rIns="45720" tIns="36576" bIns="36576"/>
                    <a:lstStyle/>
                    <a:p>
                      <a:r>
                        <a:rPr sz="1200" b="1">
                          <a:solidFill>
                            <a:srgbClr val="000000"/>
                          </a:solidFill>
                          <a:latin typeface="Noto Sans JP"/>
                        </a:rPr>
                        <a:t>中西製作所様</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Difyアカウントの持ち主。どの企業を推薦するか、どういう条件で中西を出すかの最終決定権を持つ</a:t>
                      </a:r>
                    </a:p>
                  </a:txBody>
                  <a:tcPr marL="73152" marR="73152" marT="45720" marB="45720" anchor="t">
                    <a:solidFill>
                      <a:srgbClr val="FFFFFF"/>
                    </a:solidFill>
                  </a:tcPr>
                </a:tc>
              </a:tr>
            </a:tbl>
          </a:graphicData>
        </a:graphic>
      </p:graphicFrame>
      <p:sp>
        <p:nvSpPr>
          <p:cNvPr id="28" name="TextBox 27"/>
          <p:cNvSpPr txBox="1"/>
          <p:nvPr/>
        </p:nvSpPr>
        <p:spPr>
          <a:xfrm>
            <a:off x="457200" y="6492240"/>
            <a:ext cx="3657600" cy="274320"/>
          </a:xfrm>
          <a:prstGeom prst="rect">
            <a:avLst/>
          </a:prstGeom>
          <a:noFill/>
        </p:spPr>
        <p:txBody>
          <a:bodyPr wrap="none" lIns="0" tIns="0">
            <a:spAutoFit/>
          </a:bodyPr>
          <a:lstStyle/>
          <a:p>
            <a:r>
              <a:rPr sz="1000" b="1">
                <a:solidFill>
                  <a:srgbClr val="3A3A3A"/>
                </a:solidFill>
                <a:latin typeface="Noto Sans JP"/>
              </a:rPr>
              <a:t>TOMOSHIKA</a:t>
            </a:r>
          </a:p>
        </p:txBody>
      </p:sp>
      <p:sp>
        <p:nvSpPr>
          <p:cNvPr id="29" name="TextBox 28"/>
          <p:cNvSpPr txBox="1"/>
          <p:nvPr/>
        </p:nvSpPr>
        <p:spPr>
          <a:xfrm>
            <a:off x="10972800" y="6492240"/>
            <a:ext cx="914400" cy="274320"/>
          </a:xfrm>
          <a:prstGeom prst="rect">
            <a:avLst/>
          </a:prstGeom>
          <a:noFill/>
        </p:spPr>
        <p:txBody>
          <a:bodyPr wrap="none" lIns="0" tIns="0">
            <a:spAutoFit/>
          </a:bodyPr>
          <a:lstStyle/>
          <a:p>
            <a:pPr algn="r"/>
            <a:r>
              <a:rPr sz="1000" b="1">
                <a:solidFill>
                  <a:srgbClr val="3A3A3A"/>
                </a:solidFill>
                <a:latin typeface="Noto Sans JP"/>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502920"/>
            <a:ext cx="109728" cy="109728"/>
          </a:xfrm>
          <a:prstGeom prst="rect">
            <a:avLst/>
          </a:prstGeom>
          <a:solidFill>
            <a:srgbClr val="B9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9144000" cy="320040"/>
          </a:xfrm>
          <a:prstGeom prst="rect">
            <a:avLst/>
          </a:prstGeom>
          <a:noFill/>
        </p:spPr>
        <p:txBody>
          <a:bodyPr wrap="none" lIns="0" tIns="0">
            <a:spAutoFit/>
          </a:bodyPr>
          <a:lstStyle/>
          <a:p>
            <a:r>
              <a:rPr sz="1400" b="1">
                <a:solidFill>
                  <a:srgbClr val="141414"/>
                </a:solidFill>
                <a:latin typeface="Noto Sans JP"/>
              </a:rPr>
              <a:t>OVERVIEW</a:t>
            </a:r>
          </a:p>
        </p:txBody>
      </p:sp>
      <p:sp>
        <p:nvSpPr>
          <p:cNvPr id="5" name="TextBox 4"/>
          <p:cNvSpPr txBox="1"/>
          <p:nvPr/>
        </p:nvSpPr>
        <p:spPr>
          <a:xfrm>
            <a:off x="594360" y="868680"/>
            <a:ext cx="10972800" cy="731520"/>
          </a:xfrm>
          <a:prstGeom prst="rect">
            <a:avLst/>
          </a:prstGeom>
          <a:noFill/>
        </p:spPr>
        <p:txBody>
          <a:bodyPr wrap="square" lIns="27432" rIns="27432" tIns="18288" bIns="18288" anchor="t">
            <a:spAutoFit/>
          </a:bodyPr>
          <a:lstStyle/>
          <a:p>
            <a:pPr algn="l"/>
            <a:r>
              <a:rPr sz="2800" b="1">
                <a:solidFill>
                  <a:srgbClr val="000000"/>
                </a:solidFill>
                <a:latin typeface="Noto Sans JP"/>
              </a:rPr>
              <a:t>Difyについて</a:t>
            </a:r>
          </a:p>
        </p:txBody>
      </p:sp>
      <p:sp>
        <p:nvSpPr>
          <p:cNvPr id="6" name="Oval 5"/>
          <p:cNvSpPr/>
          <p:nvPr/>
        </p:nvSpPr>
        <p:spPr>
          <a:xfrm>
            <a:off x="685800" y="1819656"/>
            <a:ext cx="73152" cy="73152"/>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40"/>
            <a:ext cx="10515600" cy="457200"/>
          </a:xfrm>
          <a:prstGeom prst="rect">
            <a:avLst/>
          </a:prstGeom>
          <a:noFill/>
        </p:spPr>
        <p:txBody>
          <a:bodyPr wrap="square" lIns="27432" rIns="27432" tIns="18288" bIns="18288" anchor="t">
            <a:spAutoFit/>
          </a:bodyPr>
          <a:lstStyle/>
          <a:p>
            <a:pPr algn="l"/>
            <a:r>
              <a:rPr sz="1600" b="1">
                <a:solidFill>
                  <a:srgbClr val="000000"/>
                </a:solidFill>
                <a:latin typeface="Noto Sans JP"/>
              </a:rPr>
              <a:t>Dify</a:t>
            </a:r>
            <a:r>
              <a:rPr sz="1600" b="0">
                <a:solidFill>
                  <a:srgbClr val="000000"/>
                </a:solidFill>
                <a:latin typeface="Noto Sans JP"/>
              </a:rPr>
              <a:t>は、プログラムの処理を組み立てて動かすためのツール（クラウドサービス）</a:t>
            </a:r>
          </a:p>
        </p:txBody>
      </p:sp>
      <p:sp>
        <p:nvSpPr>
          <p:cNvPr id="8" name="Oval 7"/>
          <p:cNvSpPr/>
          <p:nvPr/>
        </p:nvSpPr>
        <p:spPr>
          <a:xfrm>
            <a:off x="685800" y="2322576"/>
            <a:ext cx="73152" cy="73152"/>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94560"/>
            <a:ext cx="10515600" cy="457200"/>
          </a:xfrm>
          <a:prstGeom prst="rect">
            <a:avLst/>
          </a:prstGeom>
          <a:noFill/>
        </p:spPr>
        <p:txBody>
          <a:bodyPr wrap="square" lIns="27432" rIns="27432" tIns="18288" bIns="18288" anchor="t">
            <a:spAutoFit/>
          </a:bodyPr>
          <a:lstStyle/>
          <a:p>
            <a:pPr algn="l"/>
            <a:r>
              <a:rPr sz="1600" b="0">
                <a:solidFill>
                  <a:srgbClr val="000000"/>
                </a:solidFill>
                <a:latin typeface="Noto Sans JP"/>
              </a:rPr>
              <a:t>このDifyのアカウントは</a:t>
            </a:r>
            <a:r>
              <a:rPr sz="1600" b="1">
                <a:solidFill>
                  <a:srgbClr val="B95A1F"/>
                </a:solidFill>
                <a:latin typeface="Noto Sans JP"/>
              </a:rPr>
              <a:t>中西製作所様のもの</a:t>
            </a:r>
          </a:p>
        </p:txBody>
      </p:sp>
      <p:sp>
        <p:nvSpPr>
          <p:cNvPr id="10" name="Oval 9"/>
          <p:cNvSpPr/>
          <p:nvPr/>
        </p:nvSpPr>
        <p:spPr>
          <a:xfrm>
            <a:off x="685800" y="2825496"/>
            <a:ext cx="73152" cy="73152"/>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697480"/>
            <a:ext cx="10515600" cy="457200"/>
          </a:xfrm>
          <a:prstGeom prst="rect">
            <a:avLst/>
          </a:prstGeom>
          <a:noFill/>
        </p:spPr>
        <p:txBody>
          <a:bodyPr wrap="square" lIns="27432" rIns="27432" tIns="18288" bIns="18288" anchor="t">
            <a:spAutoFit/>
          </a:bodyPr>
          <a:lstStyle/>
          <a:p>
            <a:pPr algn="l"/>
            <a:r>
              <a:rPr sz="1600" b="0">
                <a:solidFill>
                  <a:srgbClr val="000000"/>
                </a:solidFill>
                <a:latin typeface="Noto Sans JP"/>
              </a:rPr>
              <a:t>エヌイチがこのアカウント上でしくみ（ワークフロー）を作っている</a:t>
            </a:r>
          </a:p>
        </p:txBody>
      </p:sp>
      <p:sp>
        <p:nvSpPr>
          <p:cNvPr id="12" name="Oval 11"/>
          <p:cNvSpPr/>
          <p:nvPr/>
        </p:nvSpPr>
        <p:spPr>
          <a:xfrm>
            <a:off x="685800" y="3328416"/>
            <a:ext cx="73152" cy="73152"/>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200400"/>
            <a:ext cx="10515600" cy="457200"/>
          </a:xfrm>
          <a:prstGeom prst="rect">
            <a:avLst/>
          </a:prstGeom>
          <a:noFill/>
        </p:spPr>
        <p:txBody>
          <a:bodyPr wrap="square" lIns="27432" rIns="27432" tIns="18288" bIns="18288" anchor="t">
            <a:spAutoFit/>
          </a:bodyPr>
          <a:lstStyle/>
          <a:p>
            <a:pPr algn="l"/>
            <a:r>
              <a:rPr sz="1600" b="0">
                <a:solidFill>
                  <a:srgbClr val="000000"/>
                </a:solidFill>
                <a:latin typeface="Noto Sans JP"/>
              </a:rPr>
              <a:t>フェーズ2・4で必要になる接続先の情報や認証キーも、中西製作所様のアカウントから発行される</a:t>
            </a:r>
          </a:p>
        </p:txBody>
      </p:sp>
      <p:sp>
        <p:nvSpPr>
          <p:cNvPr id="14" name="TextBox 13"/>
          <p:cNvSpPr txBox="1"/>
          <p:nvPr/>
        </p:nvSpPr>
        <p:spPr>
          <a:xfrm>
            <a:off x="594360" y="3931920"/>
            <a:ext cx="9144000" cy="411480"/>
          </a:xfrm>
          <a:prstGeom prst="rect">
            <a:avLst/>
          </a:prstGeom>
          <a:noFill/>
        </p:spPr>
        <p:txBody>
          <a:bodyPr wrap="square" lIns="27432" rIns="27432" tIns="18288" bIns="18288" anchor="t">
            <a:spAutoFit/>
          </a:bodyPr>
          <a:lstStyle/>
          <a:p>
            <a:pPr algn="l"/>
            <a:r>
              <a:rPr sz="1800" b="1">
                <a:solidFill>
                  <a:srgbClr val="000000"/>
                </a:solidFill>
                <a:latin typeface="Noto Sans JP"/>
              </a:rPr>
              <a:t>アカウント構造のイメージ</a:t>
            </a:r>
          </a:p>
        </p:txBody>
      </p:sp>
      <p:sp>
        <p:nvSpPr>
          <p:cNvPr id="15" name="Rounded Rectangle 14"/>
          <p:cNvSpPr/>
          <p:nvPr/>
        </p:nvSpPr>
        <p:spPr>
          <a:xfrm>
            <a:off x="594360" y="4434840"/>
            <a:ext cx="10972800" cy="1920240"/>
          </a:xfrm>
          <a:prstGeom prst="roundRect">
            <a:avLst>
              <a:gd name="adj" fmla="val 4000"/>
            </a:avLst>
          </a:prstGeom>
          <a:solidFill>
            <a:srgbClr val="FFFFFF"/>
          </a:solidFill>
          <a:ln w="9525">
            <a:solidFill>
              <a:srgbClr val="C8C3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4526280"/>
            <a:ext cx="10789920" cy="1828800"/>
          </a:xfrm>
          <a:prstGeom prst="rect">
            <a:avLst/>
          </a:prstGeom>
          <a:noFill/>
        </p:spPr>
        <p:txBody>
          <a:bodyPr wrap="square" lIns="27432" rIns="27432" tIns="18288" bIns="18288" anchor="t">
            <a:spAutoFit/>
          </a:bodyPr>
          <a:lstStyle/>
          <a:p>
            <a:pPr algn="l"/>
            <a:r>
              <a:rPr sz="1100" b="0">
                <a:solidFill>
                  <a:srgbClr val="000000"/>
                </a:solidFill>
                <a:latin typeface="Courier New"/>
              </a:rPr>
              <a:t>中西製作所様 Difyアカウント（オーナー）</a:t>
            </a:r>
          </a:p>
          <a:p>
            <a:pPr algn="l"/>
            <a:r>
              <a:rPr sz="1100" b="0">
                <a:solidFill>
                  <a:srgbClr val="000000"/>
                </a:solidFill>
                <a:latin typeface="Courier New"/>
              </a:rPr>
              <a:t>  ┌──────────────────────────────────────────┐</a:t>
            </a:r>
          </a:p>
          <a:p>
            <a:pPr algn="l"/>
            <a:r>
              <a:rPr sz="1100" b="0">
                <a:solidFill>
                  <a:srgbClr val="000000"/>
                </a:solidFill>
                <a:latin typeface="Courier New"/>
              </a:rPr>
              <a:t>  │  ワークフロー：適性検査 → 企業マッチング     │</a:t>
            </a:r>
          </a:p>
          <a:p>
            <a:pPr algn="l"/>
            <a:r>
              <a:rPr sz="1100" b="0">
                <a:solidFill>
                  <a:srgbClr val="000000"/>
                </a:solidFill>
                <a:latin typeface="Courier New"/>
              </a:rPr>
              <a:t>  │  （エヌイチが構築・運用）                     │</a:t>
            </a:r>
          </a:p>
          <a:p>
            <a:pPr algn="l"/>
            <a:r>
              <a:rPr sz="1100" b="0">
                <a:solidFill>
                  <a:srgbClr val="000000"/>
                </a:solidFill>
                <a:latin typeface="Courier New"/>
              </a:rPr>
              <a:t>  └──────────────────────────────────────────┘</a:t>
            </a:r>
          </a:p>
          <a:p>
            <a:pPr algn="l"/>
            <a:r>
              <a:rPr sz="1100" b="0">
                <a:solidFill>
                  <a:srgbClr val="000000"/>
                </a:solidFill>
                <a:latin typeface="Courier New"/>
              </a:rPr>
              <a:t>                  ↑ API接続</a:t>
            </a:r>
          </a:p>
          <a:p>
            <a:pPr algn="l"/>
            <a:r>
              <a:rPr sz="1100" b="0">
                <a:solidFill>
                  <a:srgbClr val="000000"/>
                </a:solidFill>
                <a:latin typeface="Courier New"/>
              </a:rPr>
              <a:t>         MIL様のサーバー（学生に画面を出す）</a:t>
            </a:r>
          </a:p>
        </p:txBody>
      </p:sp>
      <p:sp>
        <p:nvSpPr>
          <p:cNvPr id="17" name="TextBox 16"/>
          <p:cNvSpPr txBox="1"/>
          <p:nvPr/>
        </p:nvSpPr>
        <p:spPr>
          <a:xfrm>
            <a:off x="457200" y="6492240"/>
            <a:ext cx="3657600" cy="274320"/>
          </a:xfrm>
          <a:prstGeom prst="rect">
            <a:avLst/>
          </a:prstGeom>
          <a:noFill/>
        </p:spPr>
        <p:txBody>
          <a:bodyPr wrap="none" lIns="0" tIns="0">
            <a:spAutoFit/>
          </a:bodyPr>
          <a:lstStyle/>
          <a:p>
            <a:r>
              <a:rPr sz="1000" b="1">
                <a:solidFill>
                  <a:srgbClr val="3A3A3A"/>
                </a:solidFill>
                <a:latin typeface="Noto Sans JP"/>
              </a:rPr>
              <a:t>TOMOSHIKA</a:t>
            </a:r>
          </a:p>
        </p:txBody>
      </p:sp>
      <p:sp>
        <p:nvSpPr>
          <p:cNvPr id="18" name="TextBox 17"/>
          <p:cNvSpPr txBox="1"/>
          <p:nvPr/>
        </p:nvSpPr>
        <p:spPr>
          <a:xfrm>
            <a:off x="10972800" y="6492240"/>
            <a:ext cx="914400" cy="274320"/>
          </a:xfrm>
          <a:prstGeom prst="rect">
            <a:avLst/>
          </a:prstGeom>
          <a:noFill/>
        </p:spPr>
        <p:txBody>
          <a:bodyPr wrap="none" lIns="0" tIns="0">
            <a:spAutoFit/>
          </a:bodyPr>
          <a:lstStyle/>
          <a:p>
            <a:pPr algn="r"/>
            <a:r>
              <a:rPr sz="1000" b="1">
                <a:solidFill>
                  <a:srgbClr val="3A3A3A"/>
                </a:solidFill>
                <a:latin typeface="Noto Sans JP"/>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502920"/>
            <a:ext cx="128016" cy="128016"/>
          </a:xfrm>
          <a:prstGeom prst="rect">
            <a:avLst/>
          </a:prstGeom>
          <a:solidFill>
            <a:srgbClr val="E8C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429768"/>
            <a:ext cx="9144000" cy="320040"/>
          </a:xfrm>
          <a:prstGeom prst="rect">
            <a:avLst/>
          </a:prstGeom>
          <a:noFill/>
        </p:spPr>
        <p:txBody>
          <a:bodyPr wrap="square" lIns="27432" rIns="27432" tIns="18288" bIns="18288" anchor="t">
            <a:spAutoFit/>
          </a:bodyPr>
          <a:lstStyle/>
          <a:p>
            <a:pPr algn="l"/>
            <a:r>
              <a:rPr sz="1300" b="1">
                <a:solidFill>
                  <a:srgbClr val="E3DCC9"/>
                </a:solidFill>
                <a:latin typeface="Noto Sans JP"/>
              </a:rPr>
              <a:t>PHASE 01 / MIL 様</a:t>
            </a:r>
          </a:p>
        </p:txBody>
      </p:sp>
      <p:sp>
        <p:nvSpPr>
          <p:cNvPr id="5" name="TextBox 4"/>
          <p:cNvSpPr txBox="1"/>
          <p:nvPr/>
        </p:nvSpPr>
        <p:spPr>
          <a:xfrm>
            <a:off x="822960" y="1371600"/>
            <a:ext cx="5486400" cy="2286000"/>
          </a:xfrm>
          <a:prstGeom prst="rect">
            <a:avLst/>
          </a:prstGeom>
          <a:noFill/>
        </p:spPr>
        <p:txBody>
          <a:bodyPr wrap="square" lIns="27432" rIns="27432" tIns="18288" bIns="18288" anchor="t">
            <a:spAutoFit/>
          </a:bodyPr>
          <a:lstStyle/>
          <a:p>
            <a:pPr algn="l"/>
            <a:r>
              <a:rPr sz="14000" b="1">
                <a:solidFill>
                  <a:srgbClr val="D6A03A"/>
                </a:solidFill>
                <a:latin typeface="Noto Sans JP"/>
              </a:rPr>
              <a:t>01</a:t>
            </a:r>
          </a:p>
        </p:txBody>
      </p:sp>
      <p:sp>
        <p:nvSpPr>
          <p:cNvPr id="6" name="TextBox 5"/>
          <p:cNvSpPr txBox="1"/>
          <p:nvPr/>
        </p:nvSpPr>
        <p:spPr>
          <a:xfrm>
            <a:off x="822960" y="3657600"/>
            <a:ext cx="10972800" cy="1097280"/>
          </a:xfrm>
          <a:prstGeom prst="rect">
            <a:avLst/>
          </a:prstGeom>
          <a:noFill/>
        </p:spPr>
        <p:txBody>
          <a:bodyPr wrap="square" lIns="27432" rIns="27432" tIns="18288" bIns="18288" anchor="t">
            <a:spAutoFit/>
          </a:bodyPr>
          <a:lstStyle/>
          <a:p>
            <a:pPr algn="l"/>
            <a:r>
              <a:rPr sz="5200" b="1">
                <a:solidFill>
                  <a:srgbClr val="FFFFFF"/>
                </a:solidFill>
                <a:latin typeface="Noto Sans JP"/>
              </a:rPr>
              <a:t>適性検査を受ける</a:t>
            </a:r>
          </a:p>
        </p:txBody>
      </p:sp>
      <p:sp>
        <p:nvSpPr>
          <p:cNvPr id="7" name="TextBox 6"/>
          <p:cNvSpPr txBox="1"/>
          <p:nvPr/>
        </p:nvSpPr>
        <p:spPr>
          <a:xfrm>
            <a:off x="822960" y="4846320"/>
            <a:ext cx="10972800" cy="1645920"/>
          </a:xfrm>
          <a:prstGeom prst="rect">
            <a:avLst/>
          </a:prstGeom>
          <a:noFill/>
        </p:spPr>
        <p:txBody>
          <a:bodyPr wrap="square" lIns="27432" rIns="27432" tIns="18288" bIns="18288" anchor="t">
            <a:spAutoFit/>
          </a:bodyPr>
          <a:lstStyle/>
          <a:p>
            <a:pPr algn="l">
              <a:lnSpc>
                <a:spcPct val="140000"/>
              </a:lnSpc>
            </a:pPr>
            <a:r>
              <a:rPr sz="1500" b="0">
                <a:solidFill>
                  <a:srgbClr val="E3DCC9"/>
                </a:solidFill>
                <a:latin typeface="Noto Sans JP"/>
              </a:rPr>
              <a:t>学生が51問の質問に答えると、その回答から11個の数値（点数）が算出される。</a:t>
            </a:r>
          </a:p>
          <a:p>
            <a:pPr algn="l">
              <a:lnSpc>
                <a:spcPct val="140000"/>
              </a:lnSpc>
            </a:pPr>
            <a:r>
              <a:rPr sz="1500" b="0">
                <a:solidFill>
                  <a:srgbClr val="E3DCC9"/>
                </a:solidFill>
                <a:latin typeface="Noto Sans JP"/>
              </a:rPr>
              <a:t>この点数がフェーズ3の企業マッチングの材料になる。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502920"/>
            <a:ext cx="109728" cy="109728"/>
          </a:xfrm>
          <a:prstGeom prst="rect">
            <a:avLst/>
          </a:prstGeom>
          <a:solidFill>
            <a:srgbClr val="B9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9144000" cy="320040"/>
          </a:xfrm>
          <a:prstGeom prst="rect">
            <a:avLst/>
          </a:prstGeom>
          <a:noFill/>
        </p:spPr>
        <p:txBody>
          <a:bodyPr wrap="none" lIns="0" tIns="0">
            <a:spAutoFit/>
          </a:bodyPr>
          <a:lstStyle/>
          <a:p>
            <a:r>
              <a:rPr sz="1400" b="1">
                <a:solidFill>
                  <a:srgbClr val="141414"/>
                </a:solidFill>
                <a:latin typeface="Noto Sans JP"/>
              </a:rPr>
              <a:t>PHASE 01 / 質問の中身</a:t>
            </a:r>
          </a:p>
        </p:txBody>
      </p:sp>
      <p:sp>
        <p:nvSpPr>
          <p:cNvPr id="5" name="TextBox 4"/>
          <p:cNvSpPr txBox="1"/>
          <p:nvPr/>
        </p:nvSpPr>
        <p:spPr>
          <a:xfrm>
            <a:off x="594360" y="868680"/>
            <a:ext cx="10972800" cy="731520"/>
          </a:xfrm>
          <a:prstGeom prst="rect">
            <a:avLst/>
          </a:prstGeom>
          <a:noFill/>
        </p:spPr>
        <p:txBody>
          <a:bodyPr wrap="square" lIns="27432" rIns="27432" tIns="18288" bIns="18288" anchor="t">
            <a:spAutoFit/>
          </a:bodyPr>
          <a:lstStyle/>
          <a:p>
            <a:pPr algn="l"/>
            <a:r>
              <a:rPr sz="2400" b="1">
                <a:solidFill>
                  <a:srgbClr val="000000"/>
                </a:solidFill>
                <a:latin typeface="Noto Sans JP"/>
              </a:rPr>
              <a:t>メインの質問: Q1〜Q24（志向性を測る24問）</a:t>
            </a:r>
          </a:p>
        </p:txBody>
      </p:sp>
      <p:sp>
        <p:nvSpPr>
          <p:cNvPr id="6" name="TextBox 5"/>
          <p:cNvSpPr txBox="1"/>
          <p:nvPr/>
        </p:nvSpPr>
        <p:spPr>
          <a:xfrm>
            <a:off x="594360" y="1463040"/>
            <a:ext cx="11430000" cy="365760"/>
          </a:xfrm>
          <a:prstGeom prst="rect">
            <a:avLst/>
          </a:prstGeom>
          <a:noFill/>
        </p:spPr>
        <p:txBody>
          <a:bodyPr wrap="square" lIns="27432" rIns="27432" tIns="18288" bIns="18288" anchor="t">
            <a:spAutoFit/>
          </a:bodyPr>
          <a:lstStyle/>
          <a:p>
            <a:pPr algn="l"/>
            <a:r>
              <a:rPr sz="1300" b="0">
                <a:solidFill>
                  <a:srgbClr val="000000"/>
                </a:solidFill>
                <a:latin typeface="Noto Sans JP"/>
              </a:rPr>
              <a:t>この24問で</a:t>
            </a:r>
            <a:r>
              <a:rPr sz="1300" b="1">
                <a:solidFill>
                  <a:srgbClr val="000000"/>
                </a:solidFill>
                <a:latin typeface="Noto Sans JP"/>
              </a:rPr>
              <a:t>「この学生がどんな仕事に向いているか」を6タイプで数値化</a:t>
            </a:r>
            <a:r>
              <a:rPr sz="1300" b="0">
                <a:solidFill>
                  <a:srgbClr val="000000"/>
                </a:solidFill>
                <a:latin typeface="Noto Sans JP"/>
              </a:rPr>
              <a:t>する。</a:t>
            </a:r>
          </a:p>
        </p:txBody>
      </p:sp>
      <p:sp>
        <p:nvSpPr>
          <p:cNvPr id="7" name="TextBox 6"/>
          <p:cNvSpPr txBox="1"/>
          <p:nvPr/>
        </p:nvSpPr>
        <p:spPr>
          <a:xfrm>
            <a:off x="594360" y="1828800"/>
            <a:ext cx="11430000" cy="594360"/>
          </a:xfrm>
          <a:prstGeom prst="rect">
            <a:avLst/>
          </a:prstGeom>
          <a:noFill/>
        </p:spPr>
        <p:txBody>
          <a:bodyPr wrap="square" lIns="27432" rIns="27432" tIns="18288" bIns="18288" anchor="t">
            <a:spAutoFit/>
          </a:bodyPr>
          <a:lstStyle/>
          <a:p>
            <a:pPr algn="l"/>
            <a:r>
              <a:rPr sz="1300" b="0">
                <a:solidFill>
                  <a:srgbClr val="000000"/>
                </a:solidFill>
                <a:latin typeface="Noto Sans JP"/>
              </a:rPr>
              <a:t>24問は6つのタイプに4問ずつ割り振られていて、各問は「1点（あてはまらない）〜 5点（あてはまる）」で答える。</a:t>
            </a:r>
          </a:p>
          <a:p>
            <a:pPr algn="l"/>
            <a:r>
              <a:rPr sz="1300" b="0">
                <a:solidFill>
                  <a:srgbClr val="000000"/>
                </a:solidFill>
                <a:latin typeface="Noto Sans JP"/>
              </a:rPr>
              <a:t>同じタイプの4問の合計がそのタイプの点数になる。</a:t>
            </a:r>
          </a:p>
        </p:txBody>
      </p:sp>
      <p:sp>
        <p:nvSpPr>
          <p:cNvPr id="8" name="Rounded Rectangle 7"/>
          <p:cNvSpPr/>
          <p:nvPr/>
        </p:nvSpPr>
        <p:spPr>
          <a:xfrm>
            <a:off x="594360" y="2514600"/>
            <a:ext cx="10972800" cy="685800"/>
          </a:xfrm>
          <a:prstGeom prst="roundRect">
            <a:avLst>
              <a:gd name="adj" fmla="val 4000"/>
            </a:avLst>
          </a:prstGeom>
          <a:solidFill>
            <a:srgbClr val="FFFFFF"/>
          </a:solidFill>
          <a:ln w="9525">
            <a:solidFill>
              <a:srgbClr val="C8C3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587752"/>
            <a:ext cx="10789920" cy="640080"/>
          </a:xfrm>
          <a:prstGeom prst="rect">
            <a:avLst/>
          </a:prstGeom>
          <a:noFill/>
        </p:spPr>
        <p:txBody>
          <a:bodyPr wrap="square" lIns="27432" rIns="27432" tIns="18288" bIns="18288" anchor="t">
            <a:spAutoFit/>
          </a:bodyPr>
          <a:lstStyle/>
          <a:p>
            <a:pPr algn="l"/>
            <a:r>
              <a:rPr sz="1200" b="0">
                <a:solidFill>
                  <a:srgbClr val="000000"/>
                </a:solidFill>
                <a:latin typeface="Courier New"/>
              </a:rPr>
              <a:t>例: R型（現実型）の4問にそれぞれ 5点, 4点, 3点, 3点 と答えた場合</a:t>
            </a:r>
          </a:p>
          <a:p>
            <a:pPr algn="l"/>
            <a:r>
              <a:rPr sz="1200" b="0">
                <a:solidFill>
                  <a:srgbClr val="000000"/>
                </a:solidFill>
                <a:latin typeface="Courier New"/>
              </a:rPr>
              <a:t>→ R型スコア = 5 + 4 + 3 + 3 = 15点（20点満点中）</a:t>
            </a:r>
          </a:p>
        </p:txBody>
      </p:sp>
      <p:sp>
        <p:nvSpPr>
          <p:cNvPr id="10" name="TextBox 9"/>
          <p:cNvSpPr txBox="1"/>
          <p:nvPr/>
        </p:nvSpPr>
        <p:spPr>
          <a:xfrm>
            <a:off x="594360" y="3291840"/>
            <a:ext cx="10972800" cy="365760"/>
          </a:xfrm>
          <a:prstGeom prst="rect">
            <a:avLst/>
          </a:prstGeom>
          <a:noFill/>
        </p:spPr>
        <p:txBody>
          <a:bodyPr wrap="square" lIns="27432" rIns="27432" tIns="18288" bIns="18288" anchor="t">
            <a:spAutoFit/>
          </a:bodyPr>
          <a:lstStyle/>
          <a:p>
            <a:pPr algn="l"/>
            <a:r>
              <a:rPr sz="1600" b="1">
                <a:solidFill>
                  <a:srgbClr val="000000"/>
                </a:solidFill>
                <a:latin typeface="Noto Sans JP"/>
              </a:rPr>
              <a:t>これを6タイプ分計算する</a:t>
            </a:r>
          </a:p>
        </p:txBody>
      </p:sp>
      <p:graphicFrame>
        <p:nvGraphicFramePr>
          <p:cNvPr id="11" name="Table 10"/>
          <p:cNvGraphicFramePr>
            <a:graphicFrameLocks noGrp="1"/>
          </p:cNvGraphicFramePr>
          <p:nvPr/>
        </p:nvGraphicFramePr>
        <p:xfrm>
          <a:off x="594360" y="3703320"/>
          <a:ext cx="10972800" cy="2286000"/>
        </p:xfrm>
        <a:graphic>
          <a:graphicData uri="http://schemas.openxmlformats.org/drawingml/2006/table">
            <a:tbl>
              <a:tblPr firstRow="1" bandRow="1">
                <a:tableStyleId>{5C22544A-7EE6-4342-B048-85BDC9FD1C3A}</a:tableStyleId>
              </a:tblPr>
              <a:tblGrid>
                <a:gridCol w="2011680"/>
                <a:gridCol w="2743200"/>
                <a:gridCol w="3200400"/>
                <a:gridCol w="3017520"/>
              </a:tblGrid>
              <a:tr h="326571">
                <a:tc>
                  <a:txBody>
                    <a:bodyPr wrap="square" lIns="45720" rIns="45720" tIns="36576" bIns="36576"/>
                    <a:lstStyle/>
                    <a:p>
                      <a:r>
                        <a:rPr sz="1100" b="1">
                          <a:solidFill>
                            <a:srgbClr val="000000"/>
                          </a:solidFill>
                          <a:latin typeface="Noto Sans JP"/>
                        </a:rPr>
                        <a:t>タイプ</a:t>
                      </a:r>
                    </a:p>
                  </a:txBody>
                  <a:tcPr marL="73152" marR="73152" marT="45720" marB="45720" anchor="t">
                    <a:solidFill>
                      <a:srgbClr val="EDE6D2"/>
                    </a:solidFill>
                  </a:tcPr>
                </a:tc>
                <a:tc>
                  <a:txBody>
                    <a:bodyPr wrap="square" lIns="45720" rIns="45720" tIns="36576" bIns="36576"/>
                    <a:lstStyle/>
                    <a:p>
                      <a:r>
                        <a:rPr sz="1100" b="1">
                          <a:solidFill>
                            <a:srgbClr val="000000"/>
                          </a:solidFill>
                          <a:latin typeface="Noto Sans JP"/>
                        </a:rPr>
                        <a:t>対応する設問</a:t>
                      </a:r>
                    </a:p>
                  </a:txBody>
                  <a:tcPr marL="73152" marR="73152" marT="45720" marB="45720" anchor="t">
                    <a:solidFill>
                      <a:srgbClr val="EDE6D2"/>
                    </a:solidFill>
                  </a:tcPr>
                </a:tc>
                <a:tc>
                  <a:txBody>
                    <a:bodyPr wrap="square" lIns="45720" rIns="45720" tIns="36576" bIns="36576"/>
                    <a:lstStyle/>
                    <a:p>
                      <a:r>
                        <a:rPr sz="1100" b="1">
                          <a:solidFill>
                            <a:srgbClr val="000000"/>
                          </a:solidFill>
                          <a:latin typeface="Noto Sans JP"/>
                        </a:rPr>
                        <a:t>算出方法</a:t>
                      </a:r>
                    </a:p>
                  </a:txBody>
                  <a:tcPr marL="73152" marR="73152" marT="45720" marB="45720" anchor="t">
                    <a:solidFill>
                      <a:srgbClr val="EDE6D2"/>
                    </a:solidFill>
                  </a:tcPr>
                </a:tc>
                <a:tc>
                  <a:txBody>
                    <a:bodyPr wrap="square" lIns="45720" rIns="45720" tIns="36576" bIns="36576"/>
                    <a:lstStyle/>
                    <a:p>
                      <a:r>
                        <a:rPr sz="1100" b="1">
                          <a:solidFill>
                            <a:srgbClr val="000000"/>
                          </a:solidFill>
                          <a:latin typeface="Noto Sans JP"/>
                        </a:rPr>
                        <a:t>点数の範囲</a:t>
                      </a:r>
                    </a:p>
                  </a:txBody>
                  <a:tcPr marL="73152" marR="73152" marT="45720" marB="45720" anchor="t">
                    <a:solidFill>
                      <a:srgbClr val="EDE6D2"/>
                    </a:solidFill>
                  </a:tcPr>
                </a:tc>
              </a:tr>
              <a:tr h="326571">
                <a:tc>
                  <a:txBody>
                    <a:bodyPr wrap="square" lIns="45720" rIns="45720" tIns="36576" bIns="36576"/>
                    <a:lstStyle/>
                    <a:p>
                      <a:r>
                        <a:rPr sz="1100" b="1">
                          <a:solidFill>
                            <a:srgbClr val="000000"/>
                          </a:solidFill>
                          <a:latin typeface="Noto Sans JP"/>
                        </a:rPr>
                        <a:t>R型</a:t>
                      </a:r>
                      <a:r>
                        <a:rPr sz="1100" b="0">
                          <a:solidFill>
                            <a:srgbClr val="000000"/>
                          </a:solidFill>
                          <a:latin typeface="Noto Sans JP"/>
                        </a:rPr>
                        <a:t>（現実型）</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Q1〜Q4</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4問の合計</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4〜20点</a:t>
                      </a:r>
                    </a:p>
                  </a:txBody>
                  <a:tcPr marL="73152" marR="73152" marT="45720" marB="45720" anchor="t">
                    <a:solidFill>
                      <a:srgbClr val="FFFFFF"/>
                    </a:solidFill>
                  </a:tcPr>
                </a:tc>
              </a:tr>
              <a:tr h="326571">
                <a:tc>
                  <a:txBody>
                    <a:bodyPr wrap="square" lIns="45720" rIns="45720" tIns="36576" bIns="36576"/>
                    <a:lstStyle/>
                    <a:p>
                      <a:r>
                        <a:rPr sz="1100" b="1">
                          <a:solidFill>
                            <a:srgbClr val="000000"/>
                          </a:solidFill>
                          <a:latin typeface="Noto Sans JP"/>
                        </a:rPr>
                        <a:t>I型</a:t>
                      </a:r>
                      <a:r>
                        <a:rPr sz="1100" b="0">
                          <a:solidFill>
                            <a:srgbClr val="000000"/>
                          </a:solidFill>
                          <a:latin typeface="Noto Sans JP"/>
                        </a:rPr>
                        <a:t>（研究型）</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Q5〜Q8</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4問の合計</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4〜20点</a:t>
                      </a:r>
                    </a:p>
                  </a:txBody>
                  <a:tcPr marL="73152" marR="73152" marT="45720" marB="45720" anchor="t">
                    <a:solidFill>
                      <a:srgbClr val="FFFFFF"/>
                    </a:solidFill>
                  </a:tcPr>
                </a:tc>
              </a:tr>
              <a:tr h="326571">
                <a:tc>
                  <a:txBody>
                    <a:bodyPr wrap="square" lIns="45720" rIns="45720" tIns="36576" bIns="36576"/>
                    <a:lstStyle/>
                    <a:p>
                      <a:r>
                        <a:rPr sz="1100" b="1">
                          <a:solidFill>
                            <a:srgbClr val="000000"/>
                          </a:solidFill>
                          <a:latin typeface="Noto Sans JP"/>
                        </a:rPr>
                        <a:t>A型</a:t>
                      </a:r>
                      <a:r>
                        <a:rPr sz="1100" b="0">
                          <a:solidFill>
                            <a:srgbClr val="000000"/>
                          </a:solidFill>
                          <a:latin typeface="Noto Sans JP"/>
                        </a:rPr>
                        <a:t>（芸術型）</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Q9〜Q12</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4問の合計</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4〜20点</a:t>
                      </a:r>
                    </a:p>
                  </a:txBody>
                  <a:tcPr marL="73152" marR="73152" marT="45720" marB="45720" anchor="t">
                    <a:solidFill>
                      <a:srgbClr val="FFFFFF"/>
                    </a:solidFill>
                  </a:tcPr>
                </a:tc>
              </a:tr>
              <a:tr h="326571">
                <a:tc>
                  <a:txBody>
                    <a:bodyPr wrap="square" lIns="45720" rIns="45720" tIns="36576" bIns="36576"/>
                    <a:lstStyle/>
                    <a:p>
                      <a:r>
                        <a:rPr sz="1100" b="1">
                          <a:solidFill>
                            <a:srgbClr val="000000"/>
                          </a:solidFill>
                          <a:latin typeface="Noto Sans JP"/>
                        </a:rPr>
                        <a:t>S型</a:t>
                      </a:r>
                      <a:r>
                        <a:rPr sz="1100" b="0">
                          <a:solidFill>
                            <a:srgbClr val="000000"/>
                          </a:solidFill>
                          <a:latin typeface="Noto Sans JP"/>
                        </a:rPr>
                        <a:t>（社会型）</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Q13〜Q16</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4問の合計</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4〜20点</a:t>
                      </a:r>
                    </a:p>
                  </a:txBody>
                  <a:tcPr marL="73152" marR="73152" marT="45720" marB="45720" anchor="t">
                    <a:solidFill>
                      <a:srgbClr val="FFFFFF"/>
                    </a:solidFill>
                  </a:tcPr>
                </a:tc>
              </a:tr>
              <a:tr h="326571">
                <a:tc>
                  <a:txBody>
                    <a:bodyPr wrap="square" lIns="45720" rIns="45720" tIns="36576" bIns="36576"/>
                    <a:lstStyle/>
                    <a:p>
                      <a:r>
                        <a:rPr sz="1100" b="1">
                          <a:solidFill>
                            <a:srgbClr val="000000"/>
                          </a:solidFill>
                          <a:latin typeface="Noto Sans JP"/>
                        </a:rPr>
                        <a:t>E型</a:t>
                      </a:r>
                      <a:r>
                        <a:rPr sz="1100" b="0">
                          <a:solidFill>
                            <a:srgbClr val="000000"/>
                          </a:solidFill>
                          <a:latin typeface="Noto Sans JP"/>
                        </a:rPr>
                        <a:t>（企業型）</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Q17〜Q20</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4問の合計</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4〜20点</a:t>
                      </a:r>
                    </a:p>
                  </a:txBody>
                  <a:tcPr marL="73152" marR="73152" marT="45720" marB="45720" anchor="t">
                    <a:solidFill>
                      <a:srgbClr val="FFFFFF"/>
                    </a:solidFill>
                  </a:tcPr>
                </a:tc>
              </a:tr>
              <a:tr h="326574">
                <a:tc>
                  <a:txBody>
                    <a:bodyPr wrap="square" lIns="45720" rIns="45720" tIns="36576" bIns="36576"/>
                    <a:lstStyle/>
                    <a:p>
                      <a:r>
                        <a:rPr sz="1100" b="1">
                          <a:solidFill>
                            <a:srgbClr val="000000"/>
                          </a:solidFill>
                          <a:latin typeface="Noto Sans JP"/>
                        </a:rPr>
                        <a:t>C型</a:t>
                      </a:r>
                      <a:r>
                        <a:rPr sz="1100" b="0">
                          <a:solidFill>
                            <a:srgbClr val="000000"/>
                          </a:solidFill>
                          <a:latin typeface="Noto Sans JP"/>
                        </a:rPr>
                        <a:t>（慣習型）</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Q21〜Q24</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4問の合計</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4〜20点</a:t>
                      </a:r>
                    </a:p>
                  </a:txBody>
                  <a:tcPr marL="73152" marR="73152" marT="45720" marB="45720" anchor="t">
                    <a:solidFill>
                      <a:srgbClr val="FFFFFF"/>
                    </a:solidFill>
                  </a:tcPr>
                </a:tc>
              </a:tr>
            </a:tbl>
          </a:graphicData>
        </a:graphic>
      </p:graphicFrame>
      <p:sp>
        <p:nvSpPr>
          <p:cNvPr id="12" name="TextBox 11"/>
          <p:cNvSpPr txBox="1"/>
          <p:nvPr/>
        </p:nvSpPr>
        <p:spPr>
          <a:xfrm>
            <a:off x="594360" y="6035040"/>
            <a:ext cx="11430000" cy="365760"/>
          </a:xfrm>
          <a:prstGeom prst="rect">
            <a:avLst/>
          </a:prstGeom>
          <a:noFill/>
        </p:spPr>
        <p:txBody>
          <a:bodyPr wrap="square" lIns="27432" rIns="27432" tIns="18288" bIns="18288" anchor="t">
            <a:spAutoFit/>
          </a:bodyPr>
          <a:lstStyle/>
          <a:p>
            <a:pPr algn="l"/>
            <a:r>
              <a:rPr sz="1300" b="1">
                <a:solidFill>
                  <a:srgbClr val="000000"/>
                </a:solidFill>
                <a:latin typeface="Noto Sans JP"/>
              </a:rPr>
              <a:t>点数が高いほど、そのタイプの志向が強い</a:t>
            </a:r>
            <a:r>
              <a:rPr sz="1300" b="0">
                <a:solidFill>
                  <a:srgbClr val="000000"/>
                </a:solidFill>
                <a:latin typeface="Noto Sans JP"/>
              </a:rPr>
              <a:t>ということ。</a:t>
            </a:r>
          </a:p>
        </p:txBody>
      </p:sp>
      <p:sp>
        <p:nvSpPr>
          <p:cNvPr id="13" name="TextBox 12"/>
          <p:cNvSpPr txBox="1"/>
          <p:nvPr/>
        </p:nvSpPr>
        <p:spPr>
          <a:xfrm>
            <a:off x="457200" y="6492240"/>
            <a:ext cx="3657600" cy="274320"/>
          </a:xfrm>
          <a:prstGeom prst="rect">
            <a:avLst/>
          </a:prstGeom>
          <a:noFill/>
        </p:spPr>
        <p:txBody>
          <a:bodyPr wrap="none" lIns="0" tIns="0">
            <a:spAutoFit/>
          </a:bodyPr>
          <a:lstStyle/>
          <a:p>
            <a:r>
              <a:rPr sz="1000" b="1">
                <a:solidFill>
                  <a:srgbClr val="3A3A3A"/>
                </a:solidFill>
                <a:latin typeface="Noto Sans JP"/>
              </a:rPr>
              <a:t>TOMOSHIKA</a:t>
            </a:r>
          </a:p>
        </p:txBody>
      </p:sp>
      <p:sp>
        <p:nvSpPr>
          <p:cNvPr id="14" name="TextBox 13"/>
          <p:cNvSpPr txBox="1"/>
          <p:nvPr/>
        </p:nvSpPr>
        <p:spPr>
          <a:xfrm>
            <a:off x="10972800" y="6492240"/>
            <a:ext cx="914400" cy="274320"/>
          </a:xfrm>
          <a:prstGeom prst="rect">
            <a:avLst/>
          </a:prstGeom>
          <a:noFill/>
        </p:spPr>
        <p:txBody>
          <a:bodyPr wrap="none" lIns="0" tIns="0">
            <a:spAutoFit/>
          </a:bodyPr>
          <a:lstStyle/>
          <a:p>
            <a:pPr algn="r"/>
            <a:r>
              <a:rPr sz="1000" b="1">
                <a:solidFill>
                  <a:srgbClr val="3A3A3A"/>
                </a:solidFill>
                <a:latin typeface="Noto Sans JP"/>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502920"/>
            <a:ext cx="109728" cy="109728"/>
          </a:xfrm>
          <a:prstGeom prst="rect">
            <a:avLst/>
          </a:prstGeom>
          <a:solidFill>
            <a:srgbClr val="B9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9144000" cy="320040"/>
          </a:xfrm>
          <a:prstGeom prst="rect">
            <a:avLst/>
          </a:prstGeom>
          <a:noFill/>
        </p:spPr>
        <p:txBody>
          <a:bodyPr wrap="none" lIns="0" tIns="0">
            <a:spAutoFit/>
          </a:bodyPr>
          <a:lstStyle/>
          <a:p>
            <a:r>
              <a:rPr sz="1400" b="1">
                <a:solidFill>
                  <a:srgbClr val="141414"/>
                </a:solidFill>
                <a:latin typeface="Noto Sans JP"/>
              </a:rPr>
              <a:t>PHASE 01 / 質問の中身</a:t>
            </a:r>
          </a:p>
        </p:txBody>
      </p:sp>
      <p:sp>
        <p:nvSpPr>
          <p:cNvPr id="5" name="TextBox 4"/>
          <p:cNvSpPr txBox="1"/>
          <p:nvPr/>
        </p:nvSpPr>
        <p:spPr>
          <a:xfrm>
            <a:off x="594360" y="868680"/>
            <a:ext cx="10972800" cy="731520"/>
          </a:xfrm>
          <a:prstGeom prst="rect">
            <a:avLst/>
          </a:prstGeom>
          <a:noFill/>
        </p:spPr>
        <p:txBody>
          <a:bodyPr wrap="square" lIns="27432" rIns="27432" tIns="18288" bIns="18288" anchor="t">
            <a:spAutoFit/>
          </a:bodyPr>
          <a:lstStyle/>
          <a:p>
            <a:pPr algn="l"/>
            <a:r>
              <a:rPr sz="2800" b="1">
                <a:solidFill>
                  <a:srgbClr val="000000"/>
                </a:solidFill>
                <a:latin typeface="Noto Sans JP"/>
              </a:rPr>
              <a:t>6タイプそれぞれの意味</a:t>
            </a:r>
          </a:p>
        </p:txBody>
      </p:sp>
      <p:graphicFrame>
        <p:nvGraphicFramePr>
          <p:cNvPr id="6" name="Table 5"/>
          <p:cNvGraphicFramePr>
            <a:graphicFrameLocks noGrp="1"/>
          </p:cNvGraphicFramePr>
          <p:nvPr/>
        </p:nvGraphicFramePr>
        <p:xfrm>
          <a:off x="594360" y="1737360"/>
          <a:ext cx="10972800" cy="4389120"/>
        </p:xfrm>
        <a:graphic>
          <a:graphicData uri="http://schemas.openxmlformats.org/drawingml/2006/table">
            <a:tbl>
              <a:tblPr firstRow="1" bandRow="1">
                <a:tableStyleId>{5C22544A-7EE6-4342-B048-85BDC9FD1C3A}</a:tableStyleId>
              </a:tblPr>
              <a:tblGrid>
                <a:gridCol w="2286000"/>
                <a:gridCol w="5029200"/>
                <a:gridCol w="3657600"/>
              </a:tblGrid>
              <a:tr h="627017">
                <a:tc>
                  <a:txBody>
                    <a:bodyPr wrap="square" lIns="45720" rIns="45720" tIns="36576" bIns="36576"/>
                    <a:lstStyle/>
                    <a:p>
                      <a:r>
                        <a:rPr sz="1300" b="1">
                          <a:solidFill>
                            <a:srgbClr val="000000"/>
                          </a:solidFill>
                          <a:latin typeface="Noto Sans JP"/>
                        </a:rPr>
                        <a:t>タイプ</a:t>
                      </a:r>
                    </a:p>
                  </a:txBody>
                  <a:tcPr marL="73152" marR="73152" marT="45720" marB="45720" anchor="t">
                    <a:solidFill>
                      <a:srgbClr val="EDE6D2"/>
                    </a:solidFill>
                  </a:tcPr>
                </a:tc>
                <a:tc>
                  <a:txBody>
                    <a:bodyPr wrap="square" lIns="45720" rIns="45720" tIns="36576" bIns="36576"/>
                    <a:lstStyle/>
                    <a:p>
                      <a:r>
                        <a:rPr sz="1300" b="1">
                          <a:solidFill>
                            <a:srgbClr val="000000"/>
                          </a:solidFill>
                          <a:latin typeface="Noto Sans JP"/>
                        </a:rPr>
                        <a:t>どんな人か</a:t>
                      </a:r>
                    </a:p>
                  </a:txBody>
                  <a:tcPr marL="73152" marR="73152" marT="45720" marB="45720" anchor="t">
                    <a:solidFill>
                      <a:srgbClr val="EDE6D2"/>
                    </a:solidFill>
                  </a:tcPr>
                </a:tc>
                <a:tc>
                  <a:txBody>
                    <a:bodyPr wrap="square" lIns="45720" rIns="45720" tIns="36576" bIns="36576"/>
                    <a:lstStyle/>
                    <a:p>
                      <a:r>
                        <a:rPr sz="1300" b="1">
                          <a:solidFill>
                            <a:srgbClr val="000000"/>
                          </a:solidFill>
                          <a:latin typeface="Noto Sans JP"/>
                        </a:rPr>
                        <a:t>向いている仕事</a:t>
                      </a:r>
                    </a:p>
                  </a:txBody>
                  <a:tcPr marL="73152" marR="73152" marT="45720" marB="45720" anchor="t">
                    <a:solidFill>
                      <a:srgbClr val="EDE6D2"/>
                    </a:solidFill>
                  </a:tcPr>
                </a:tc>
              </a:tr>
              <a:tr h="627017">
                <a:tc>
                  <a:txBody>
                    <a:bodyPr wrap="square" lIns="45720" rIns="45720" tIns="36576" bIns="36576"/>
                    <a:lstStyle/>
                    <a:p>
                      <a:r>
                        <a:rPr sz="1300" b="1">
                          <a:solidFill>
                            <a:srgbClr val="000000"/>
                          </a:solidFill>
                          <a:latin typeface="Noto Sans JP"/>
                        </a:rPr>
                        <a:t>R型</a:t>
                      </a:r>
                      <a:r>
                        <a:rPr sz="1300" b="0">
                          <a:solidFill>
                            <a:srgbClr val="000000"/>
                          </a:solidFill>
                          <a:latin typeface="Noto Sans JP"/>
                        </a:rPr>
                        <a:t>（現実型）</a:t>
                      </a:r>
                    </a:p>
                  </a:txBody>
                  <a:tcPr marL="73152" marR="73152" marT="45720" marB="45720" anchor="t">
                    <a:solidFill>
                      <a:srgbClr val="FFFFFF"/>
                    </a:solidFill>
                  </a:tcPr>
                </a:tc>
                <a:tc>
                  <a:txBody>
                    <a:bodyPr wrap="square" lIns="45720" rIns="45720" tIns="36576" bIns="36576"/>
                    <a:lstStyle/>
                    <a:p>
                      <a:r>
                        <a:rPr sz="1300" b="0">
                          <a:solidFill>
                            <a:srgbClr val="000000"/>
                          </a:solidFill>
                          <a:latin typeface="Noto Sans JP"/>
                        </a:rPr>
                        <a:t>手を動かすのが好き。技術や機械に興味がある</a:t>
                      </a:r>
                    </a:p>
                  </a:txBody>
                  <a:tcPr marL="73152" marR="73152" marT="45720" marB="45720" anchor="t">
                    <a:solidFill>
                      <a:srgbClr val="FFFFFF"/>
                    </a:solidFill>
                  </a:tcPr>
                </a:tc>
                <a:tc>
                  <a:txBody>
                    <a:bodyPr wrap="square" lIns="45720" rIns="45720" tIns="36576" bIns="36576"/>
                    <a:lstStyle/>
                    <a:p>
                      <a:r>
                        <a:rPr sz="1300" b="0">
                          <a:solidFill>
                            <a:srgbClr val="000000"/>
                          </a:solidFill>
                          <a:latin typeface="Noto Sans JP"/>
                        </a:rPr>
                        <a:t>エンジニア、製造、建設</a:t>
                      </a:r>
                    </a:p>
                  </a:txBody>
                  <a:tcPr marL="73152" marR="73152" marT="45720" marB="45720" anchor="t">
                    <a:solidFill>
                      <a:srgbClr val="FFFFFF"/>
                    </a:solidFill>
                  </a:tcPr>
                </a:tc>
              </a:tr>
              <a:tr h="627017">
                <a:tc>
                  <a:txBody>
                    <a:bodyPr wrap="square" lIns="45720" rIns="45720" tIns="36576" bIns="36576"/>
                    <a:lstStyle/>
                    <a:p>
                      <a:r>
                        <a:rPr sz="1300" b="1">
                          <a:solidFill>
                            <a:srgbClr val="000000"/>
                          </a:solidFill>
                          <a:latin typeface="Noto Sans JP"/>
                        </a:rPr>
                        <a:t>I型</a:t>
                      </a:r>
                      <a:r>
                        <a:rPr sz="1300" b="0">
                          <a:solidFill>
                            <a:srgbClr val="000000"/>
                          </a:solidFill>
                          <a:latin typeface="Noto Sans JP"/>
                        </a:rPr>
                        <a:t>（研究型）</a:t>
                      </a:r>
                    </a:p>
                  </a:txBody>
                  <a:tcPr marL="73152" marR="73152" marT="45720" marB="45720" anchor="t">
                    <a:solidFill>
                      <a:srgbClr val="FFFFFF"/>
                    </a:solidFill>
                  </a:tcPr>
                </a:tc>
                <a:tc>
                  <a:txBody>
                    <a:bodyPr wrap="square" lIns="45720" rIns="45720" tIns="36576" bIns="36576"/>
                    <a:lstStyle/>
                    <a:p>
                      <a:r>
                        <a:rPr sz="1300" b="0">
                          <a:solidFill>
                            <a:srgbClr val="000000"/>
                          </a:solidFill>
                          <a:latin typeface="Noto Sans JP"/>
                        </a:rPr>
                        <a:t>分析や調べものが好き。データや理論に興味がある</a:t>
                      </a:r>
                    </a:p>
                  </a:txBody>
                  <a:tcPr marL="73152" marR="73152" marT="45720" marB="45720" anchor="t">
                    <a:solidFill>
                      <a:srgbClr val="FFFFFF"/>
                    </a:solidFill>
                  </a:tcPr>
                </a:tc>
                <a:tc>
                  <a:txBody>
                    <a:bodyPr wrap="square" lIns="45720" rIns="45720" tIns="36576" bIns="36576"/>
                    <a:lstStyle/>
                    <a:p>
                      <a:r>
                        <a:rPr sz="1300" b="0">
                          <a:solidFill>
                            <a:srgbClr val="000000"/>
                          </a:solidFill>
                          <a:latin typeface="Noto Sans JP"/>
                        </a:rPr>
                        <a:t>研究開発、コンサル、分析</a:t>
                      </a:r>
                    </a:p>
                  </a:txBody>
                  <a:tcPr marL="73152" marR="73152" marT="45720" marB="45720" anchor="t">
                    <a:solidFill>
                      <a:srgbClr val="FFFFFF"/>
                    </a:solidFill>
                  </a:tcPr>
                </a:tc>
              </a:tr>
              <a:tr h="627017">
                <a:tc>
                  <a:txBody>
                    <a:bodyPr wrap="square" lIns="45720" rIns="45720" tIns="36576" bIns="36576"/>
                    <a:lstStyle/>
                    <a:p>
                      <a:r>
                        <a:rPr sz="1300" b="1">
                          <a:solidFill>
                            <a:srgbClr val="000000"/>
                          </a:solidFill>
                          <a:latin typeface="Noto Sans JP"/>
                        </a:rPr>
                        <a:t>A型</a:t>
                      </a:r>
                      <a:r>
                        <a:rPr sz="1300" b="0">
                          <a:solidFill>
                            <a:srgbClr val="000000"/>
                          </a:solidFill>
                          <a:latin typeface="Noto Sans JP"/>
                        </a:rPr>
                        <a:t>（芸術型）</a:t>
                      </a:r>
                    </a:p>
                  </a:txBody>
                  <a:tcPr marL="73152" marR="73152" marT="45720" marB="45720" anchor="t">
                    <a:solidFill>
                      <a:srgbClr val="FFFFFF"/>
                    </a:solidFill>
                  </a:tcPr>
                </a:tc>
                <a:tc>
                  <a:txBody>
                    <a:bodyPr wrap="square" lIns="45720" rIns="45720" tIns="36576" bIns="36576"/>
                    <a:lstStyle/>
                    <a:p>
                      <a:r>
                        <a:rPr sz="1300" b="0">
                          <a:solidFill>
                            <a:srgbClr val="000000"/>
                          </a:solidFill>
                          <a:latin typeface="Noto Sans JP"/>
                        </a:rPr>
                        <a:t>創造や表現が好き。自由な発想を大事にする</a:t>
                      </a:r>
                    </a:p>
                  </a:txBody>
                  <a:tcPr marL="73152" marR="73152" marT="45720" marB="45720" anchor="t">
                    <a:solidFill>
                      <a:srgbClr val="FFFFFF"/>
                    </a:solidFill>
                  </a:tcPr>
                </a:tc>
                <a:tc>
                  <a:txBody>
                    <a:bodyPr wrap="square" lIns="45720" rIns="45720" tIns="36576" bIns="36576"/>
                    <a:lstStyle/>
                    <a:p>
                      <a:r>
                        <a:rPr sz="1300" b="0">
                          <a:solidFill>
                            <a:srgbClr val="000000"/>
                          </a:solidFill>
                          <a:latin typeface="Noto Sans JP"/>
                        </a:rPr>
                        <a:t>デザイナー、企画、クリエイティブ</a:t>
                      </a:r>
                    </a:p>
                  </a:txBody>
                  <a:tcPr marL="73152" marR="73152" marT="45720" marB="45720" anchor="t">
                    <a:solidFill>
                      <a:srgbClr val="FFFFFF"/>
                    </a:solidFill>
                  </a:tcPr>
                </a:tc>
              </a:tr>
              <a:tr h="627017">
                <a:tc>
                  <a:txBody>
                    <a:bodyPr wrap="square" lIns="45720" rIns="45720" tIns="36576" bIns="36576"/>
                    <a:lstStyle/>
                    <a:p>
                      <a:r>
                        <a:rPr sz="1300" b="1">
                          <a:solidFill>
                            <a:srgbClr val="000000"/>
                          </a:solidFill>
                          <a:latin typeface="Noto Sans JP"/>
                        </a:rPr>
                        <a:t>S型</a:t>
                      </a:r>
                      <a:r>
                        <a:rPr sz="1300" b="0">
                          <a:solidFill>
                            <a:srgbClr val="000000"/>
                          </a:solidFill>
                          <a:latin typeface="Noto Sans JP"/>
                        </a:rPr>
                        <a:t>（社会型）</a:t>
                      </a:r>
                    </a:p>
                  </a:txBody>
                  <a:tcPr marL="73152" marR="73152" marT="45720" marB="45720" anchor="t">
                    <a:solidFill>
                      <a:srgbClr val="FFFFFF"/>
                    </a:solidFill>
                  </a:tcPr>
                </a:tc>
                <a:tc>
                  <a:txBody>
                    <a:bodyPr wrap="square" lIns="45720" rIns="45720" tIns="36576" bIns="36576"/>
                    <a:lstStyle/>
                    <a:p>
                      <a:r>
                        <a:rPr sz="1300" b="0">
                          <a:solidFill>
                            <a:srgbClr val="000000"/>
                          </a:solidFill>
                          <a:latin typeface="Noto Sans JP"/>
                        </a:rPr>
                        <a:t>人の役に立つのが好き。対人支援に興味がある</a:t>
                      </a:r>
                    </a:p>
                  </a:txBody>
                  <a:tcPr marL="73152" marR="73152" marT="45720" marB="45720" anchor="t">
                    <a:solidFill>
                      <a:srgbClr val="FFFFFF"/>
                    </a:solidFill>
                  </a:tcPr>
                </a:tc>
                <a:tc>
                  <a:txBody>
                    <a:bodyPr wrap="square" lIns="45720" rIns="45720" tIns="36576" bIns="36576"/>
                    <a:lstStyle/>
                    <a:p>
                      <a:r>
                        <a:rPr sz="1300" b="0">
                          <a:solidFill>
                            <a:srgbClr val="000000"/>
                          </a:solidFill>
                          <a:latin typeface="Noto Sans JP"/>
                        </a:rPr>
                        <a:t>教育、福祉、人事</a:t>
                      </a:r>
                    </a:p>
                  </a:txBody>
                  <a:tcPr marL="73152" marR="73152" marT="45720" marB="45720" anchor="t">
                    <a:solidFill>
                      <a:srgbClr val="FFFFFF"/>
                    </a:solidFill>
                  </a:tcPr>
                </a:tc>
              </a:tr>
              <a:tr h="627017">
                <a:tc>
                  <a:txBody>
                    <a:bodyPr wrap="square" lIns="45720" rIns="45720" tIns="36576" bIns="36576"/>
                    <a:lstStyle/>
                    <a:p>
                      <a:r>
                        <a:rPr sz="1300" b="1">
                          <a:solidFill>
                            <a:srgbClr val="000000"/>
                          </a:solidFill>
                          <a:latin typeface="Noto Sans JP"/>
                        </a:rPr>
                        <a:t>E型</a:t>
                      </a:r>
                      <a:r>
                        <a:rPr sz="1300" b="0">
                          <a:solidFill>
                            <a:srgbClr val="000000"/>
                          </a:solidFill>
                          <a:latin typeface="Noto Sans JP"/>
                        </a:rPr>
                        <a:t>（企業型）</a:t>
                      </a:r>
                    </a:p>
                  </a:txBody>
                  <a:tcPr marL="73152" marR="73152" marT="45720" marB="45720" anchor="t">
                    <a:solidFill>
                      <a:srgbClr val="FFFFFF"/>
                    </a:solidFill>
                  </a:tcPr>
                </a:tc>
                <a:tc>
                  <a:txBody>
                    <a:bodyPr wrap="square" lIns="45720" rIns="45720" tIns="36576" bIns="36576"/>
                    <a:lstStyle/>
                    <a:p>
                      <a:r>
                        <a:rPr sz="1300" b="0">
                          <a:solidFill>
                            <a:srgbClr val="000000"/>
                          </a:solidFill>
                          <a:latin typeface="Noto Sans JP"/>
                        </a:rPr>
                        <a:t>リーダーシップを発揮したい。経営や組織運営に興味がある</a:t>
                      </a:r>
                    </a:p>
                  </a:txBody>
                  <a:tcPr marL="73152" marR="73152" marT="45720" marB="45720" anchor="t">
                    <a:solidFill>
                      <a:srgbClr val="FFFFFF"/>
                    </a:solidFill>
                  </a:tcPr>
                </a:tc>
                <a:tc>
                  <a:txBody>
                    <a:bodyPr wrap="square" lIns="45720" rIns="45720" tIns="36576" bIns="36576"/>
                    <a:lstStyle/>
                    <a:p>
                      <a:r>
                        <a:rPr sz="1300" b="0">
                          <a:solidFill>
                            <a:srgbClr val="000000"/>
                          </a:solidFill>
                          <a:latin typeface="Noto Sans JP"/>
                        </a:rPr>
                        <a:t>営業、マネジメント、起業</a:t>
                      </a:r>
                    </a:p>
                  </a:txBody>
                  <a:tcPr marL="73152" marR="73152" marT="45720" marB="45720" anchor="t">
                    <a:solidFill>
                      <a:srgbClr val="FFFFFF"/>
                    </a:solidFill>
                  </a:tcPr>
                </a:tc>
              </a:tr>
              <a:tr h="627018">
                <a:tc>
                  <a:txBody>
                    <a:bodyPr wrap="square" lIns="45720" rIns="45720" tIns="36576" bIns="36576"/>
                    <a:lstStyle/>
                    <a:p>
                      <a:r>
                        <a:rPr sz="1300" b="1">
                          <a:solidFill>
                            <a:srgbClr val="000000"/>
                          </a:solidFill>
                          <a:latin typeface="Noto Sans JP"/>
                        </a:rPr>
                        <a:t>C型</a:t>
                      </a:r>
                      <a:r>
                        <a:rPr sz="1300" b="0">
                          <a:solidFill>
                            <a:srgbClr val="000000"/>
                          </a:solidFill>
                          <a:latin typeface="Noto Sans JP"/>
                        </a:rPr>
                        <a:t>（慣習型）</a:t>
                      </a:r>
                    </a:p>
                  </a:txBody>
                  <a:tcPr marL="73152" marR="73152" marT="45720" marB="45720" anchor="t">
                    <a:solidFill>
                      <a:srgbClr val="FFFFFF"/>
                    </a:solidFill>
                  </a:tcPr>
                </a:tc>
                <a:tc>
                  <a:txBody>
                    <a:bodyPr wrap="square" lIns="45720" rIns="45720" tIns="36576" bIns="36576"/>
                    <a:lstStyle/>
                    <a:p>
                      <a:r>
                        <a:rPr sz="1300" b="0">
                          <a:solidFill>
                            <a:srgbClr val="000000"/>
                          </a:solidFill>
                          <a:latin typeface="Noto Sans JP"/>
                        </a:rPr>
                        <a:t>正確さや管理が好き。堅実に物事を進める</a:t>
                      </a:r>
                    </a:p>
                  </a:txBody>
                  <a:tcPr marL="73152" marR="73152" marT="45720" marB="45720" anchor="t">
                    <a:solidFill>
                      <a:srgbClr val="FFFFFF"/>
                    </a:solidFill>
                  </a:tcPr>
                </a:tc>
                <a:tc>
                  <a:txBody>
                    <a:bodyPr wrap="square" lIns="45720" rIns="45720" tIns="36576" bIns="36576"/>
                    <a:lstStyle/>
                    <a:p>
                      <a:r>
                        <a:rPr sz="1300" b="0">
                          <a:solidFill>
                            <a:srgbClr val="000000"/>
                          </a:solidFill>
                          <a:latin typeface="Noto Sans JP"/>
                        </a:rPr>
                        <a:t>経理、法務、事務、品質管理</a:t>
                      </a:r>
                    </a:p>
                  </a:txBody>
                  <a:tcPr marL="73152" marR="73152" marT="45720" marB="45720" anchor="t">
                    <a:solidFill>
                      <a:srgbClr val="FFFFFF"/>
                    </a:solidFill>
                  </a:tcPr>
                </a:tc>
              </a:tr>
            </a:tbl>
          </a:graphicData>
        </a:graphic>
      </p:graphicFrame>
      <p:sp>
        <p:nvSpPr>
          <p:cNvPr id="7" name="TextBox 6"/>
          <p:cNvSpPr txBox="1"/>
          <p:nvPr/>
        </p:nvSpPr>
        <p:spPr>
          <a:xfrm>
            <a:off x="457200" y="6492240"/>
            <a:ext cx="3657600" cy="274320"/>
          </a:xfrm>
          <a:prstGeom prst="rect">
            <a:avLst/>
          </a:prstGeom>
          <a:noFill/>
        </p:spPr>
        <p:txBody>
          <a:bodyPr wrap="none" lIns="0" tIns="0">
            <a:spAutoFit/>
          </a:bodyPr>
          <a:lstStyle/>
          <a:p>
            <a:r>
              <a:rPr sz="1000" b="1">
                <a:solidFill>
                  <a:srgbClr val="3A3A3A"/>
                </a:solidFill>
                <a:latin typeface="Noto Sans JP"/>
              </a:rPr>
              <a:t>TOMOSHIKA</a:t>
            </a:r>
          </a:p>
        </p:txBody>
      </p:sp>
      <p:sp>
        <p:nvSpPr>
          <p:cNvPr id="8" name="TextBox 7"/>
          <p:cNvSpPr txBox="1"/>
          <p:nvPr/>
        </p:nvSpPr>
        <p:spPr>
          <a:xfrm>
            <a:off x="10972800" y="6492240"/>
            <a:ext cx="914400" cy="274320"/>
          </a:xfrm>
          <a:prstGeom prst="rect">
            <a:avLst/>
          </a:prstGeom>
          <a:noFill/>
        </p:spPr>
        <p:txBody>
          <a:bodyPr wrap="none" lIns="0" tIns="0">
            <a:spAutoFit/>
          </a:bodyPr>
          <a:lstStyle/>
          <a:p>
            <a:pPr algn="r"/>
            <a:r>
              <a:rPr sz="1000" b="1">
                <a:solidFill>
                  <a:srgbClr val="3A3A3A"/>
                </a:solidFill>
                <a:latin typeface="Noto Sans JP"/>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502920"/>
            <a:ext cx="109728" cy="109728"/>
          </a:xfrm>
          <a:prstGeom prst="rect">
            <a:avLst/>
          </a:prstGeom>
          <a:solidFill>
            <a:srgbClr val="B9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9144000" cy="320040"/>
          </a:xfrm>
          <a:prstGeom prst="rect">
            <a:avLst/>
          </a:prstGeom>
          <a:noFill/>
        </p:spPr>
        <p:txBody>
          <a:bodyPr wrap="none" lIns="0" tIns="0">
            <a:spAutoFit/>
          </a:bodyPr>
          <a:lstStyle/>
          <a:p>
            <a:r>
              <a:rPr sz="1400" b="1">
                <a:solidFill>
                  <a:srgbClr val="141414"/>
                </a:solidFill>
                <a:latin typeface="Noto Sans JP"/>
              </a:rPr>
              <a:t>PHASE 01 / 質問の中身</a:t>
            </a:r>
          </a:p>
        </p:txBody>
      </p:sp>
      <p:sp>
        <p:nvSpPr>
          <p:cNvPr id="5" name="TextBox 4"/>
          <p:cNvSpPr txBox="1"/>
          <p:nvPr/>
        </p:nvSpPr>
        <p:spPr>
          <a:xfrm>
            <a:off x="594360" y="868680"/>
            <a:ext cx="10972800" cy="731520"/>
          </a:xfrm>
          <a:prstGeom prst="rect">
            <a:avLst/>
          </a:prstGeom>
          <a:noFill/>
        </p:spPr>
        <p:txBody>
          <a:bodyPr wrap="square" lIns="27432" rIns="27432" tIns="18288" bIns="18288" anchor="t">
            <a:spAutoFit/>
          </a:bodyPr>
          <a:lstStyle/>
          <a:p>
            <a:pPr algn="l"/>
            <a:r>
              <a:rPr sz="2800" b="1">
                <a:solidFill>
                  <a:srgbClr val="000000"/>
                </a:solidFill>
                <a:latin typeface="Noto Sans JP"/>
              </a:rPr>
              <a:t>特殊な質問: Q25〜Q51</a:t>
            </a:r>
          </a:p>
        </p:txBody>
      </p:sp>
      <p:graphicFrame>
        <p:nvGraphicFramePr>
          <p:cNvPr id="6" name="Table 5"/>
          <p:cNvGraphicFramePr>
            <a:graphicFrameLocks noGrp="1"/>
          </p:cNvGraphicFramePr>
          <p:nvPr/>
        </p:nvGraphicFramePr>
        <p:xfrm>
          <a:off x="594360" y="1737360"/>
          <a:ext cx="10972800" cy="4389120"/>
        </p:xfrm>
        <a:graphic>
          <a:graphicData uri="http://schemas.openxmlformats.org/drawingml/2006/table">
            <a:tbl>
              <a:tblPr firstRow="1" bandRow="1">
                <a:tableStyleId>{5C22544A-7EE6-4342-B048-85BDC9FD1C3A}</a:tableStyleId>
              </a:tblPr>
              <a:tblGrid>
                <a:gridCol w="1463040"/>
                <a:gridCol w="3017520"/>
                <a:gridCol w="1828800"/>
                <a:gridCol w="4663440"/>
              </a:tblGrid>
              <a:tr h="731520">
                <a:tc>
                  <a:txBody>
                    <a:bodyPr wrap="square" lIns="45720" rIns="45720" tIns="36576" bIns="36576"/>
                    <a:lstStyle/>
                    <a:p>
                      <a:r>
                        <a:rPr sz="1200" b="1">
                          <a:solidFill>
                            <a:srgbClr val="000000"/>
                          </a:solidFill>
                          <a:latin typeface="Noto Sans JP"/>
                        </a:rPr>
                        <a:t>設問</a:t>
                      </a:r>
                    </a:p>
                  </a:txBody>
                  <a:tcPr marL="73152" marR="73152" marT="45720" marB="45720" anchor="t">
                    <a:solidFill>
                      <a:srgbClr val="EDE6D2"/>
                    </a:solidFill>
                  </a:tcPr>
                </a:tc>
                <a:tc>
                  <a:txBody>
                    <a:bodyPr wrap="square" lIns="45720" rIns="45720" tIns="36576" bIns="36576"/>
                    <a:lstStyle/>
                    <a:p>
                      <a:r>
                        <a:rPr sz="1200" b="1">
                          <a:solidFill>
                            <a:srgbClr val="000000"/>
                          </a:solidFill>
                          <a:latin typeface="Noto Sans JP"/>
                        </a:rPr>
                        <a:t>何を測るか</a:t>
                      </a:r>
                    </a:p>
                  </a:txBody>
                  <a:tcPr marL="73152" marR="73152" marT="45720" marB="45720" anchor="t">
                    <a:solidFill>
                      <a:srgbClr val="EDE6D2"/>
                    </a:solidFill>
                  </a:tcPr>
                </a:tc>
                <a:tc>
                  <a:txBody>
                    <a:bodyPr wrap="square" lIns="45720" rIns="45720" tIns="36576" bIns="36576"/>
                    <a:lstStyle/>
                    <a:p>
                      <a:r>
                        <a:rPr sz="1200" b="1">
                          <a:solidFill>
                            <a:srgbClr val="000000"/>
                          </a:solidFill>
                          <a:latin typeface="Noto Sans JP"/>
                        </a:rPr>
                        <a:t>回答形式</a:t>
                      </a:r>
                    </a:p>
                  </a:txBody>
                  <a:tcPr marL="73152" marR="73152" marT="45720" marB="45720" anchor="t">
                    <a:solidFill>
                      <a:srgbClr val="EDE6D2"/>
                    </a:solidFill>
                  </a:tcPr>
                </a:tc>
                <a:tc>
                  <a:txBody>
                    <a:bodyPr wrap="square" lIns="45720" rIns="45720" tIns="36576" bIns="36576"/>
                    <a:lstStyle/>
                    <a:p>
                      <a:r>
                        <a:rPr sz="1200" b="1">
                          <a:solidFill>
                            <a:srgbClr val="000000"/>
                          </a:solidFill>
                          <a:latin typeface="Noto Sans JP"/>
                        </a:rPr>
                        <a:t>どう使うか</a:t>
                      </a:r>
                    </a:p>
                  </a:txBody>
                  <a:tcPr marL="73152" marR="73152" marT="45720" marB="45720" anchor="t">
                    <a:solidFill>
                      <a:srgbClr val="EDE6D2"/>
                    </a:solidFill>
                  </a:tcPr>
                </a:tc>
              </a:tr>
              <a:tr h="731520">
                <a:tc>
                  <a:txBody>
                    <a:bodyPr wrap="square" lIns="45720" rIns="45720" tIns="36576" bIns="36576"/>
                    <a:lstStyle/>
                    <a:p>
                      <a:r>
                        <a:rPr sz="1200" b="0">
                          <a:solidFill>
                            <a:srgbClr val="000000"/>
                          </a:solidFill>
                          <a:latin typeface="Noto Sans JP"/>
                        </a:rPr>
                        <a:t>Q25〜Q36</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行動特性（ポータブルスキル）</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各問1〜5点</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このうち</a:t>
                      </a:r>
                      <a:r>
                        <a:rPr sz="1200" b="1">
                          <a:solidFill>
                            <a:srgbClr val="000000"/>
                          </a:solidFill>
                          <a:latin typeface="Noto Sans JP"/>
                        </a:rPr>
                        <a:t>Q30（主体性）とQ31（変革意欲）</a:t>
                      </a:r>
                      <a:r>
                        <a:rPr sz="1200" b="0">
                          <a:solidFill>
                            <a:srgbClr val="000000"/>
                          </a:solidFill>
                          <a:latin typeface="Noto Sans JP"/>
                        </a:rPr>
                        <a:t>だけをフェーズ3で使う</a:t>
                      </a:r>
                    </a:p>
                  </a:txBody>
                  <a:tcPr marL="73152" marR="73152" marT="45720" marB="45720" anchor="t">
                    <a:solidFill>
                      <a:srgbClr val="FFFFFF"/>
                    </a:solidFill>
                  </a:tcPr>
                </a:tc>
              </a:tr>
              <a:tr h="731520">
                <a:tc>
                  <a:txBody>
                    <a:bodyPr wrap="square" lIns="45720" rIns="45720" tIns="36576" bIns="36576"/>
                    <a:lstStyle/>
                    <a:p>
                      <a:r>
                        <a:rPr sz="1200" b="0">
                          <a:solidFill>
                            <a:srgbClr val="000000"/>
                          </a:solidFill>
                          <a:latin typeface="Noto Sans JP"/>
                        </a:rPr>
                        <a:t>Q37〜Q48</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価値観（キャリア・アンカー）</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各問1〜5点</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今回の判定では使わない</a:t>
                      </a:r>
                    </a:p>
                  </a:txBody>
                  <a:tcPr marL="73152" marR="73152" marT="45720" marB="45720" anchor="t">
                    <a:solidFill>
                      <a:srgbClr val="FFFFFF"/>
                    </a:solidFill>
                  </a:tcPr>
                </a:tc>
              </a:tr>
              <a:tr h="731520">
                <a:tc>
                  <a:txBody>
                    <a:bodyPr wrap="square" lIns="45720" rIns="45720" tIns="36576" bIns="36576"/>
                    <a:lstStyle/>
                    <a:p>
                      <a:r>
                        <a:rPr sz="1200" b="1">
                          <a:solidFill>
                            <a:srgbClr val="000000"/>
                          </a:solidFill>
                          <a:latin typeface="Noto Sans JP"/>
                        </a:rPr>
                        <a:t>Q49</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嘘回答の傾向（L尺度）</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1〜5点</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5点の場合、6タイプの点数を割り引く（フェーズ3のStep 0）</a:t>
                      </a:r>
                    </a:p>
                  </a:txBody>
                  <a:tcPr marL="73152" marR="73152" marT="45720" marB="45720" anchor="t">
                    <a:solidFill>
                      <a:srgbClr val="FFFFFF"/>
                    </a:solidFill>
                  </a:tcPr>
                </a:tc>
              </a:tr>
              <a:tr h="731520">
                <a:tc>
                  <a:txBody>
                    <a:bodyPr wrap="square" lIns="45720" rIns="45720" tIns="36576" bIns="36576"/>
                    <a:lstStyle/>
                    <a:p>
                      <a:r>
                        <a:rPr sz="1200" b="1">
                          <a:solidFill>
                            <a:srgbClr val="000000"/>
                          </a:solidFill>
                          <a:latin typeface="Noto Sans JP"/>
                        </a:rPr>
                        <a:t>Q50</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BtoB企業が好きか</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1〜5点</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3点以上→BtoB企業リスト、3点未満→BtoC企業リストを出す</a:t>
                      </a:r>
                    </a:p>
                  </a:txBody>
                  <a:tcPr marL="73152" marR="73152" marT="45720" marB="45720" anchor="t">
                    <a:solidFill>
                      <a:srgbClr val="FFFFFF"/>
                    </a:solidFill>
                  </a:tcPr>
                </a:tc>
              </a:tr>
              <a:tr h="731520">
                <a:tc>
                  <a:txBody>
                    <a:bodyPr wrap="square" lIns="45720" rIns="45720" tIns="36576" bIns="36576"/>
                    <a:lstStyle/>
                    <a:p>
                      <a:r>
                        <a:rPr sz="1200" b="1">
                          <a:solidFill>
                            <a:srgbClr val="000000"/>
                          </a:solidFill>
                          <a:latin typeface="Noto Sans JP"/>
                        </a:rPr>
                        <a:t>Q51</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メーカー/インフラ企業が好きか</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1〜5点</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Q50と合わせて中西製作所様との相性を判定する</a:t>
                      </a:r>
                    </a:p>
                  </a:txBody>
                  <a:tcPr marL="73152" marR="73152" marT="45720" marB="45720" anchor="t">
                    <a:solidFill>
                      <a:srgbClr val="FFFFFF"/>
                    </a:solidFill>
                  </a:tcPr>
                </a:tc>
              </a:tr>
            </a:tbl>
          </a:graphicData>
        </a:graphic>
      </p:graphicFrame>
      <p:sp>
        <p:nvSpPr>
          <p:cNvPr id="7" name="TextBox 6"/>
          <p:cNvSpPr txBox="1"/>
          <p:nvPr/>
        </p:nvSpPr>
        <p:spPr>
          <a:xfrm>
            <a:off x="457200" y="6492240"/>
            <a:ext cx="3657600" cy="274320"/>
          </a:xfrm>
          <a:prstGeom prst="rect">
            <a:avLst/>
          </a:prstGeom>
          <a:noFill/>
        </p:spPr>
        <p:txBody>
          <a:bodyPr wrap="none" lIns="0" tIns="0">
            <a:spAutoFit/>
          </a:bodyPr>
          <a:lstStyle/>
          <a:p>
            <a:r>
              <a:rPr sz="1000" b="1">
                <a:solidFill>
                  <a:srgbClr val="3A3A3A"/>
                </a:solidFill>
                <a:latin typeface="Noto Sans JP"/>
              </a:rPr>
              <a:t>TOMOSHIKA</a:t>
            </a:r>
          </a:p>
        </p:txBody>
      </p:sp>
      <p:sp>
        <p:nvSpPr>
          <p:cNvPr id="8" name="TextBox 7"/>
          <p:cNvSpPr txBox="1"/>
          <p:nvPr/>
        </p:nvSpPr>
        <p:spPr>
          <a:xfrm>
            <a:off x="10972800" y="6492240"/>
            <a:ext cx="914400" cy="274320"/>
          </a:xfrm>
          <a:prstGeom prst="rect">
            <a:avLst/>
          </a:prstGeom>
          <a:noFill/>
        </p:spPr>
        <p:txBody>
          <a:bodyPr wrap="none" lIns="0" tIns="0">
            <a:spAutoFit/>
          </a:bodyPr>
          <a:lstStyle/>
          <a:p>
            <a:pPr algn="r"/>
            <a:r>
              <a:rPr sz="1000" b="1">
                <a:solidFill>
                  <a:srgbClr val="3A3A3A"/>
                </a:solidFill>
                <a:latin typeface="Noto Sans JP"/>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502920"/>
            <a:ext cx="109728" cy="109728"/>
          </a:xfrm>
          <a:prstGeom prst="rect">
            <a:avLst/>
          </a:prstGeom>
          <a:solidFill>
            <a:srgbClr val="B9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9144000" cy="320040"/>
          </a:xfrm>
          <a:prstGeom prst="rect">
            <a:avLst/>
          </a:prstGeom>
          <a:noFill/>
        </p:spPr>
        <p:txBody>
          <a:bodyPr wrap="none" lIns="0" tIns="0">
            <a:spAutoFit/>
          </a:bodyPr>
          <a:lstStyle/>
          <a:p>
            <a:r>
              <a:rPr sz="1400" b="1">
                <a:solidFill>
                  <a:srgbClr val="141414"/>
                </a:solidFill>
                <a:latin typeface="Noto Sans JP"/>
              </a:rPr>
              <a:t>PHASE 01 / 回答結果の決まり方</a:t>
            </a:r>
          </a:p>
        </p:txBody>
      </p:sp>
      <p:sp>
        <p:nvSpPr>
          <p:cNvPr id="5" name="TextBox 4"/>
          <p:cNvSpPr txBox="1"/>
          <p:nvPr/>
        </p:nvSpPr>
        <p:spPr>
          <a:xfrm>
            <a:off x="594360" y="868680"/>
            <a:ext cx="10972800" cy="731520"/>
          </a:xfrm>
          <a:prstGeom prst="rect">
            <a:avLst/>
          </a:prstGeom>
          <a:noFill/>
        </p:spPr>
        <p:txBody>
          <a:bodyPr wrap="square" lIns="27432" rIns="27432" tIns="18288" bIns="18288" anchor="t">
            <a:spAutoFit/>
          </a:bodyPr>
          <a:lstStyle/>
          <a:p>
            <a:pPr algn="l"/>
            <a:r>
              <a:rPr sz="2800" b="1">
                <a:solidFill>
                  <a:srgbClr val="000000"/>
                </a:solidFill>
                <a:latin typeface="Noto Sans JP"/>
              </a:rPr>
              <a:t>回答結果の決まり方</a:t>
            </a:r>
          </a:p>
        </p:txBody>
      </p:sp>
      <p:sp>
        <p:nvSpPr>
          <p:cNvPr id="6" name="TextBox 5"/>
          <p:cNvSpPr txBox="1"/>
          <p:nvPr/>
        </p:nvSpPr>
        <p:spPr>
          <a:xfrm>
            <a:off x="594360" y="1417320"/>
            <a:ext cx="10972800" cy="365760"/>
          </a:xfrm>
          <a:prstGeom prst="rect">
            <a:avLst/>
          </a:prstGeom>
          <a:noFill/>
        </p:spPr>
        <p:txBody>
          <a:bodyPr wrap="square" lIns="27432" rIns="27432" tIns="18288" bIns="18288" anchor="t">
            <a:spAutoFit/>
          </a:bodyPr>
          <a:lstStyle/>
          <a:p>
            <a:pPr algn="l"/>
            <a:r>
              <a:rPr sz="1400" b="0">
                <a:solidFill>
                  <a:srgbClr val="000000"/>
                </a:solidFill>
                <a:latin typeface="Noto Sans JP"/>
              </a:rPr>
              <a:t>6タイプの点数を高い順に並べて、</a:t>
            </a:r>
            <a:r>
              <a:rPr sz="1400" b="1">
                <a:solidFill>
                  <a:srgbClr val="000000"/>
                </a:solidFill>
                <a:latin typeface="Noto Sans JP"/>
              </a:rPr>
              <a:t>1位と2位</a:t>
            </a:r>
            <a:r>
              <a:rPr sz="1400" b="0">
                <a:solidFill>
                  <a:srgbClr val="000000"/>
                </a:solidFill>
                <a:latin typeface="Noto Sans JP"/>
              </a:rPr>
              <a:t>を取る。これが「この学生はどんなタイプか」の結論。</a:t>
            </a:r>
          </a:p>
        </p:txBody>
      </p:sp>
      <p:sp>
        <p:nvSpPr>
          <p:cNvPr id="7" name="TextBox 6"/>
          <p:cNvSpPr txBox="1"/>
          <p:nvPr/>
        </p:nvSpPr>
        <p:spPr>
          <a:xfrm>
            <a:off x="594360" y="1874519"/>
            <a:ext cx="10972800" cy="365760"/>
          </a:xfrm>
          <a:prstGeom prst="rect">
            <a:avLst/>
          </a:prstGeom>
          <a:noFill/>
        </p:spPr>
        <p:txBody>
          <a:bodyPr wrap="square" lIns="27432" rIns="27432" tIns="18288" bIns="18288" anchor="t">
            <a:spAutoFit/>
          </a:bodyPr>
          <a:lstStyle/>
          <a:p>
            <a:pPr algn="l"/>
            <a:r>
              <a:rPr sz="1600" b="1">
                <a:solidFill>
                  <a:srgbClr val="000000"/>
                </a:solidFill>
                <a:latin typeface="Noto Sans JP"/>
              </a:rPr>
              <a:t>具体例①: ある学生の6タイプの点数</a:t>
            </a:r>
          </a:p>
        </p:txBody>
      </p:sp>
      <p:sp>
        <p:nvSpPr>
          <p:cNvPr id="8" name="Rounded Rectangle 7"/>
          <p:cNvSpPr/>
          <p:nvPr/>
        </p:nvSpPr>
        <p:spPr>
          <a:xfrm>
            <a:off x="594360" y="2331720"/>
            <a:ext cx="1737360" cy="868680"/>
          </a:xfrm>
          <a:prstGeom prst="roundRect">
            <a:avLst>
              <a:gd name="adj" fmla="val 4000"/>
            </a:avLst>
          </a:prstGeom>
          <a:solidFill>
            <a:srgbClr val="FFFFFF"/>
          </a:solidFill>
          <a:ln w="9525">
            <a:solidFill>
              <a:srgbClr val="C8C3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395727"/>
            <a:ext cx="1737360" cy="274320"/>
          </a:xfrm>
          <a:prstGeom prst="rect">
            <a:avLst/>
          </a:prstGeom>
          <a:noFill/>
        </p:spPr>
        <p:txBody>
          <a:bodyPr wrap="square" lIns="27432" rIns="27432" tIns="18288" bIns="18288" anchor="t">
            <a:spAutoFit/>
          </a:bodyPr>
          <a:lstStyle/>
          <a:p>
            <a:pPr algn="ctr"/>
            <a:r>
              <a:rPr sz="1000" b="1">
                <a:solidFill>
                  <a:srgbClr val="141414"/>
                </a:solidFill>
                <a:latin typeface="Noto Sans JP"/>
              </a:rPr>
              <a:t>R型</a:t>
            </a:r>
          </a:p>
        </p:txBody>
      </p:sp>
      <p:sp>
        <p:nvSpPr>
          <p:cNvPr id="10" name="TextBox 9"/>
          <p:cNvSpPr txBox="1"/>
          <p:nvPr/>
        </p:nvSpPr>
        <p:spPr>
          <a:xfrm>
            <a:off x="594360" y="2651760"/>
            <a:ext cx="1737360" cy="502920"/>
          </a:xfrm>
          <a:prstGeom prst="rect">
            <a:avLst/>
          </a:prstGeom>
          <a:noFill/>
        </p:spPr>
        <p:txBody>
          <a:bodyPr wrap="square" lIns="27432" rIns="27432" tIns="18288" bIns="18288" anchor="t">
            <a:spAutoFit/>
          </a:bodyPr>
          <a:lstStyle/>
          <a:p>
            <a:pPr algn="ctr"/>
            <a:r>
              <a:rPr sz="2400" b="1">
                <a:solidFill>
                  <a:srgbClr val="000000"/>
                </a:solidFill>
                <a:latin typeface="Courier New"/>
              </a:rPr>
              <a:t>8</a:t>
            </a:r>
          </a:p>
        </p:txBody>
      </p:sp>
      <p:sp>
        <p:nvSpPr>
          <p:cNvPr id="11" name="Rounded Rectangle 10"/>
          <p:cNvSpPr/>
          <p:nvPr/>
        </p:nvSpPr>
        <p:spPr>
          <a:xfrm>
            <a:off x="2441448" y="2331720"/>
            <a:ext cx="1737360" cy="868680"/>
          </a:xfrm>
          <a:prstGeom prst="roundRect">
            <a:avLst>
              <a:gd name="adj" fmla="val 4000"/>
            </a:avLst>
          </a:prstGeom>
          <a:solidFill>
            <a:srgbClr val="FFFFFF"/>
          </a:solidFill>
          <a:ln w="9525">
            <a:solidFill>
              <a:srgbClr val="C8C3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41448" y="2395727"/>
            <a:ext cx="1737360" cy="274320"/>
          </a:xfrm>
          <a:prstGeom prst="rect">
            <a:avLst/>
          </a:prstGeom>
          <a:noFill/>
        </p:spPr>
        <p:txBody>
          <a:bodyPr wrap="square" lIns="27432" rIns="27432" tIns="18288" bIns="18288" anchor="t">
            <a:spAutoFit/>
          </a:bodyPr>
          <a:lstStyle/>
          <a:p>
            <a:pPr algn="ctr"/>
            <a:r>
              <a:rPr sz="1000" b="1">
                <a:solidFill>
                  <a:srgbClr val="141414"/>
                </a:solidFill>
                <a:latin typeface="Noto Sans JP"/>
              </a:rPr>
              <a:t>I型</a:t>
            </a:r>
          </a:p>
        </p:txBody>
      </p:sp>
      <p:sp>
        <p:nvSpPr>
          <p:cNvPr id="13" name="TextBox 12"/>
          <p:cNvSpPr txBox="1"/>
          <p:nvPr/>
        </p:nvSpPr>
        <p:spPr>
          <a:xfrm>
            <a:off x="2441448" y="2651760"/>
            <a:ext cx="1737360" cy="502920"/>
          </a:xfrm>
          <a:prstGeom prst="rect">
            <a:avLst/>
          </a:prstGeom>
          <a:noFill/>
        </p:spPr>
        <p:txBody>
          <a:bodyPr wrap="square" lIns="27432" rIns="27432" tIns="18288" bIns="18288" anchor="t">
            <a:spAutoFit/>
          </a:bodyPr>
          <a:lstStyle/>
          <a:p>
            <a:pPr algn="ctr"/>
            <a:r>
              <a:rPr sz="2400" b="1">
                <a:solidFill>
                  <a:srgbClr val="000000"/>
                </a:solidFill>
                <a:latin typeface="Courier New"/>
              </a:rPr>
              <a:t>6</a:t>
            </a:r>
          </a:p>
        </p:txBody>
      </p:sp>
      <p:sp>
        <p:nvSpPr>
          <p:cNvPr id="14" name="Rounded Rectangle 13"/>
          <p:cNvSpPr/>
          <p:nvPr/>
        </p:nvSpPr>
        <p:spPr>
          <a:xfrm>
            <a:off x="4288536" y="2331720"/>
            <a:ext cx="1737360" cy="868680"/>
          </a:xfrm>
          <a:prstGeom prst="roundRect">
            <a:avLst>
              <a:gd name="adj" fmla="val 4000"/>
            </a:avLst>
          </a:prstGeom>
          <a:solidFill>
            <a:srgbClr val="FFFFFF"/>
          </a:solidFill>
          <a:ln w="9525">
            <a:solidFill>
              <a:srgbClr val="C8C3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88536" y="2395727"/>
            <a:ext cx="1737360" cy="274320"/>
          </a:xfrm>
          <a:prstGeom prst="rect">
            <a:avLst/>
          </a:prstGeom>
          <a:noFill/>
        </p:spPr>
        <p:txBody>
          <a:bodyPr wrap="square" lIns="27432" rIns="27432" tIns="18288" bIns="18288" anchor="t">
            <a:spAutoFit/>
          </a:bodyPr>
          <a:lstStyle/>
          <a:p>
            <a:pPr algn="ctr"/>
            <a:r>
              <a:rPr sz="1000" b="1">
                <a:solidFill>
                  <a:srgbClr val="141414"/>
                </a:solidFill>
                <a:latin typeface="Noto Sans JP"/>
              </a:rPr>
              <a:t>A型</a:t>
            </a:r>
          </a:p>
        </p:txBody>
      </p:sp>
      <p:sp>
        <p:nvSpPr>
          <p:cNvPr id="16" name="TextBox 15"/>
          <p:cNvSpPr txBox="1"/>
          <p:nvPr/>
        </p:nvSpPr>
        <p:spPr>
          <a:xfrm>
            <a:off x="4288536" y="2651760"/>
            <a:ext cx="1737360" cy="502920"/>
          </a:xfrm>
          <a:prstGeom prst="rect">
            <a:avLst/>
          </a:prstGeom>
          <a:noFill/>
        </p:spPr>
        <p:txBody>
          <a:bodyPr wrap="square" lIns="27432" rIns="27432" tIns="18288" bIns="18288" anchor="t">
            <a:spAutoFit/>
          </a:bodyPr>
          <a:lstStyle/>
          <a:p>
            <a:pPr algn="ctr"/>
            <a:r>
              <a:rPr sz="2400" b="1">
                <a:solidFill>
                  <a:srgbClr val="000000"/>
                </a:solidFill>
                <a:latin typeface="Courier New"/>
              </a:rPr>
              <a:t>7</a:t>
            </a:r>
          </a:p>
        </p:txBody>
      </p:sp>
      <p:sp>
        <p:nvSpPr>
          <p:cNvPr id="17" name="Rounded Rectangle 16"/>
          <p:cNvSpPr/>
          <p:nvPr/>
        </p:nvSpPr>
        <p:spPr>
          <a:xfrm>
            <a:off x="6135624" y="2331720"/>
            <a:ext cx="1737360" cy="868680"/>
          </a:xfrm>
          <a:prstGeom prst="roundRect">
            <a:avLst>
              <a:gd name="adj" fmla="val 4000"/>
            </a:avLst>
          </a:prstGeom>
          <a:solidFill>
            <a:srgbClr val="FFFBF3"/>
          </a:solidFill>
          <a:ln w="9525">
            <a:solidFill>
              <a:srgbClr val="B95A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35624" y="2395727"/>
            <a:ext cx="1737360" cy="274320"/>
          </a:xfrm>
          <a:prstGeom prst="rect">
            <a:avLst/>
          </a:prstGeom>
          <a:noFill/>
        </p:spPr>
        <p:txBody>
          <a:bodyPr wrap="square" lIns="27432" rIns="27432" tIns="18288" bIns="18288" anchor="t">
            <a:spAutoFit/>
          </a:bodyPr>
          <a:lstStyle/>
          <a:p>
            <a:pPr algn="ctr"/>
            <a:r>
              <a:rPr sz="1000" b="1">
                <a:solidFill>
                  <a:srgbClr val="141414"/>
                </a:solidFill>
                <a:latin typeface="Noto Sans JP"/>
              </a:rPr>
              <a:t>S型（1位）</a:t>
            </a:r>
          </a:p>
        </p:txBody>
      </p:sp>
      <p:sp>
        <p:nvSpPr>
          <p:cNvPr id="19" name="TextBox 18"/>
          <p:cNvSpPr txBox="1"/>
          <p:nvPr/>
        </p:nvSpPr>
        <p:spPr>
          <a:xfrm>
            <a:off x="6135624" y="2651760"/>
            <a:ext cx="1737360" cy="502920"/>
          </a:xfrm>
          <a:prstGeom prst="rect">
            <a:avLst/>
          </a:prstGeom>
          <a:noFill/>
        </p:spPr>
        <p:txBody>
          <a:bodyPr wrap="square" lIns="27432" rIns="27432" tIns="18288" bIns="18288" anchor="t">
            <a:spAutoFit/>
          </a:bodyPr>
          <a:lstStyle/>
          <a:p>
            <a:pPr algn="ctr"/>
            <a:r>
              <a:rPr sz="2400" b="1">
                <a:solidFill>
                  <a:srgbClr val="000000"/>
                </a:solidFill>
                <a:latin typeface="Courier New"/>
              </a:rPr>
              <a:t>18</a:t>
            </a:r>
          </a:p>
        </p:txBody>
      </p:sp>
      <p:sp>
        <p:nvSpPr>
          <p:cNvPr id="20" name="Rounded Rectangle 19"/>
          <p:cNvSpPr/>
          <p:nvPr/>
        </p:nvSpPr>
        <p:spPr>
          <a:xfrm>
            <a:off x="7982712" y="2331720"/>
            <a:ext cx="1737360" cy="868680"/>
          </a:xfrm>
          <a:prstGeom prst="roundRect">
            <a:avLst>
              <a:gd name="adj" fmla="val 4000"/>
            </a:avLst>
          </a:prstGeom>
          <a:solidFill>
            <a:srgbClr val="F3F9FF"/>
          </a:solidFill>
          <a:ln w="9525">
            <a:solidFill>
              <a:srgbClr val="1C4D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82712" y="2395727"/>
            <a:ext cx="1737360" cy="274320"/>
          </a:xfrm>
          <a:prstGeom prst="rect">
            <a:avLst/>
          </a:prstGeom>
          <a:noFill/>
        </p:spPr>
        <p:txBody>
          <a:bodyPr wrap="square" lIns="27432" rIns="27432" tIns="18288" bIns="18288" anchor="t">
            <a:spAutoFit/>
          </a:bodyPr>
          <a:lstStyle/>
          <a:p>
            <a:pPr algn="ctr"/>
            <a:r>
              <a:rPr sz="1000" b="1">
                <a:solidFill>
                  <a:srgbClr val="141414"/>
                </a:solidFill>
                <a:latin typeface="Noto Sans JP"/>
              </a:rPr>
              <a:t>E型（2位）</a:t>
            </a:r>
          </a:p>
        </p:txBody>
      </p:sp>
      <p:sp>
        <p:nvSpPr>
          <p:cNvPr id="22" name="TextBox 21"/>
          <p:cNvSpPr txBox="1"/>
          <p:nvPr/>
        </p:nvSpPr>
        <p:spPr>
          <a:xfrm>
            <a:off x="7982712" y="2651760"/>
            <a:ext cx="1737360" cy="502920"/>
          </a:xfrm>
          <a:prstGeom prst="rect">
            <a:avLst/>
          </a:prstGeom>
          <a:noFill/>
        </p:spPr>
        <p:txBody>
          <a:bodyPr wrap="square" lIns="27432" rIns="27432" tIns="18288" bIns="18288" anchor="t">
            <a:spAutoFit/>
          </a:bodyPr>
          <a:lstStyle/>
          <a:p>
            <a:pPr algn="ctr"/>
            <a:r>
              <a:rPr sz="2400" b="1">
                <a:solidFill>
                  <a:srgbClr val="000000"/>
                </a:solidFill>
                <a:latin typeface="Courier New"/>
              </a:rPr>
              <a:t>10</a:t>
            </a:r>
          </a:p>
        </p:txBody>
      </p:sp>
      <p:sp>
        <p:nvSpPr>
          <p:cNvPr id="23" name="Rounded Rectangle 22"/>
          <p:cNvSpPr/>
          <p:nvPr/>
        </p:nvSpPr>
        <p:spPr>
          <a:xfrm>
            <a:off x="9829800" y="2331720"/>
            <a:ext cx="1737360" cy="868680"/>
          </a:xfrm>
          <a:prstGeom prst="roundRect">
            <a:avLst>
              <a:gd name="adj" fmla="val 4000"/>
            </a:avLst>
          </a:prstGeom>
          <a:solidFill>
            <a:srgbClr val="FFFFFF"/>
          </a:solidFill>
          <a:ln w="9525">
            <a:solidFill>
              <a:srgbClr val="C8C3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29800" y="2395727"/>
            <a:ext cx="1737360" cy="274320"/>
          </a:xfrm>
          <a:prstGeom prst="rect">
            <a:avLst/>
          </a:prstGeom>
          <a:noFill/>
        </p:spPr>
        <p:txBody>
          <a:bodyPr wrap="square" lIns="27432" rIns="27432" tIns="18288" bIns="18288" anchor="t">
            <a:spAutoFit/>
          </a:bodyPr>
          <a:lstStyle/>
          <a:p>
            <a:pPr algn="ctr"/>
            <a:r>
              <a:rPr sz="1000" b="1">
                <a:solidFill>
                  <a:srgbClr val="141414"/>
                </a:solidFill>
                <a:latin typeface="Noto Sans JP"/>
              </a:rPr>
              <a:t>C型</a:t>
            </a:r>
          </a:p>
        </p:txBody>
      </p:sp>
      <p:sp>
        <p:nvSpPr>
          <p:cNvPr id="25" name="TextBox 24"/>
          <p:cNvSpPr txBox="1"/>
          <p:nvPr/>
        </p:nvSpPr>
        <p:spPr>
          <a:xfrm>
            <a:off x="9829800" y="2651760"/>
            <a:ext cx="1737360" cy="502920"/>
          </a:xfrm>
          <a:prstGeom prst="rect">
            <a:avLst/>
          </a:prstGeom>
          <a:noFill/>
        </p:spPr>
        <p:txBody>
          <a:bodyPr wrap="square" lIns="27432" rIns="27432" tIns="18288" bIns="18288" anchor="t">
            <a:spAutoFit/>
          </a:bodyPr>
          <a:lstStyle/>
          <a:p>
            <a:pPr algn="ctr"/>
            <a:r>
              <a:rPr sz="2400" b="1">
                <a:solidFill>
                  <a:srgbClr val="000000"/>
                </a:solidFill>
                <a:latin typeface="Courier New"/>
              </a:rPr>
              <a:t>5</a:t>
            </a:r>
          </a:p>
        </p:txBody>
      </p:sp>
      <p:sp>
        <p:nvSpPr>
          <p:cNvPr id="26" name="Oval 25"/>
          <p:cNvSpPr/>
          <p:nvPr/>
        </p:nvSpPr>
        <p:spPr>
          <a:xfrm>
            <a:off x="731520" y="3337560"/>
            <a:ext cx="64008" cy="64008"/>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3246120"/>
            <a:ext cx="10515600" cy="320040"/>
          </a:xfrm>
          <a:prstGeom prst="rect">
            <a:avLst/>
          </a:prstGeom>
          <a:noFill/>
        </p:spPr>
        <p:txBody>
          <a:bodyPr wrap="square" lIns="27432" rIns="27432" tIns="18288" bIns="18288" anchor="t">
            <a:spAutoFit/>
          </a:bodyPr>
          <a:lstStyle/>
          <a:p>
            <a:pPr algn="l"/>
            <a:r>
              <a:rPr sz="1200" b="0">
                <a:solidFill>
                  <a:srgbClr val="000000"/>
                </a:solidFill>
                <a:latin typeface="Noto Sans JP"/>
              </a:rPr>
              <a:t>一番高い点数は </a:t>
            </a:r>
            <a:r>
              <a:rPr sz="1200" b="1">
                <a:solidFill>
                  <a:srgbClr val="000000"/>
                </a:solidFill>
                <a:latin typeface="Noto Sans JP"/>
              </a:rPr>
              <a:t>S型の18点</a:t>
            </a:r>
            <a:r>
              <a:rPr sz="1200" b="0">
                <a:solidFill>
                  <a:srgbClr val="000000"/>
                </a:solidFill>
                <a:latin typeface="Noto Sans JP"/>
              </a:rPr>
              <a:t> → これが </a:t>
            </a:r>
            <a:r>
              <a:rPr sz="1200" b="1">
                <a:solidFill>
                  <a:srgbClr val="000000"/>
                </a:solidFill>
                <a:latin typeface="Noto Sans JP"/>
              </a:rPr>
              <a:t>1位タイプ</a:t>
            </a:r>
          </a:p>
        </p:txBody>
      </p:sp>
      <p:sp>
        <p:nvSpPr>
          <p:cNvPr id="28" name="Oval 27"/>
          <p:cNvSpPr/>
          <p:nvPr/>
        </p:nvSpPr>
        <p:spPr>
          <a:xfrm>
            <a:off x="731520" y="3630168"/>
            <a:ext cx="64008" cy="64008"/>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3538727"/>
            <a:ext cx="10515600" cy="320040"/>
          </a:xfrm>
          <a:prstGeom prst="rect">
            <a:avLst/>
          </a:prstGeom>
          <a:noFill/>
        </p:spPr>
        <p:txBody>
          <a:bodyPr wrap="square" lIns="27432" rIns="27432" tIns="18288" bIns="18288" anchor="t">
            <a:spAutoFit/>
          </a:bodyPr>
          <a:lstStyle/>
          <a:p>
            <a:pPr algn="l"/>
            <a:r>
              <a:rPr sz="1200" b="0">
                <a:solidFill>
                  <a:srgbClr val="000000"/>
                </a:solidFill>
                <a:latin typeface="Noto Sans JP"/>
              </a:rPr>
              <a:t>二番目に高いのは </a:t>
            </a:r>
            <a:r>
              <a:rPr sz="1200" b="1">
                <a:solidFill>
                  <a:srgbClr val="000000"/>
                </a:solidFill>
                <a:latin typeface="Noto Sans JP"/>
              </a:rPr>
              <a:t>E型の10点</a:t>
            </a:r>
            <a:r>
              <a:rPr sz="1200" b="0">
                <a:solidFill>
                  <a:srgbClr val="000000"/>
                </a:solidFill>
                <a:latin typeface="Noto Sans JP"/>
              </a:rPr>
              <a:t> → これが </a:t>
            </a:r>
            <a:r>
              <a:rPr sz="1200" b="1">
                <a:solidFill>
                  <a:srgbClr val="000000"/>
                </a:solidFill>
                <a:latin typeface="Noto Sans JP"/>
              </a:rPr>
              <a:t>2位タイプ</a:t>
            </a:r>
          </a:p>
        </p:txBody>
      </p:sp>
      <p:sp>
        <p:nvSpPr>
          <p:cNvPr id="30" name="Oval 29"/>
          <p:cNvSpPr/>
          <p:nvPr/>
        </p:nvSpPr>
        <p:spPr>
          <a:xfrm>
            <a:off x="731520" y="3922775"/>
            <a:ext cx="64008" cy="64008"/>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3831335"/>
            <a:ext cx="10515600" cy="320040"/>
          </a:xfrm>
          <a:prstGeom prst="rect">
            <a:avLst/>
          </a:prstGeom>
          <a:noFill/>
        </p:spPr>
        <p:txBody>
          <a:bodyPr wrap="square" lIns="27432" rIns="27432" tIns="18288" bIns="18288" anchor="t">
            <a:spAutoFit/>
          </a:bodyPr>
          <a:lstStyle/>
          <a:p>
            <a:pPr algn="l"/>
            <a:r>
              <a:rPr sz="1200" b="0">
                <a:solidFill>
                  <a:srgbClr val="000000"/>
                </a:solidFill>
                <a:latin typeface="Noto Sans JP"/>
              </a:rPr>
              <a:t>この学生は</a:t>
            </a:r>
            <a:r>
              <a:rPr sz="1200" b="1">
                <a:solidFill>
                  <a:srgbClr val="000000"/>
                </a:solidFill>
                <a:latin typeface="Noto Sans JP"/>
              </a:rPr>
              <a:t>「人の役に立ちたい（S型）」が一番強く、「リーダーシップ（E型）」も持っている</a:t>
            </a:r>
          </a:p>
        </p:txBody>
      </p:sp>
      <p:sp>
        <p:nvSpPr>
          <p:cNvPr id="32" name="TextBox 31"/>
          <p:cNvSpPr txBox="1"/>
          <p:nvPr/>
        </p:nvSpPr>
        <p:spPr>
          <a:xfrm>
            <a:off x="594360" y="4251960"/>
            <a:ext cx="10972800" cy="365760"/>
          </a:xfrm>
          <a:prstGeom prst="rect">
            <a:avLst/>
          </a:prstGeom>
          <a:noFill/>
        </p:spPr>
        <p:txBody>
          <a:bodyPr wrap="square" lIns="27432" rIns="27432" tIns="18288" bIns="18288" anchor="t">
            <a:spAutoFit/>
          </a:bodyPr>
          <a:lstStyle/>
          <a:p>
            <a:pPr algn="l"/>
            <a:r>
              <a:rPr sz="1600" b="1">
                <a:solidFill>
                  <a:srgbClr val="000000"/>
                </a:solidFill>
                <a:latin typeface="Noto Sans JP"/>
              </a:rPr>
              <a:t>もう1つの例</a:t>
            </a:r>
          </a:p>
        </p:txBody>
      </p:sp>
      <p:sp>
        <p:nvSpPr>
          <p:cNvPr id="33" name="Rounded Rectangle 32"/>
          <p:cNvSpPr/>
          <p:nvPr/>
        </p:nvSpPr>
        <p:spPr>
          <a:xfrm>
            <a:off x="594360" y="4663440"/>
            <a:ext cx="1737360" cy="868680"/>
          </a:xfrm>
          <a:prstGeom prst="roundRect">
            <a:avLst>
              <a:gd name="adj" fmla="val 4000"/>
            </a:avLst>
          </a:prstGeom>
          <a:solidFill>
            <a:srgbClr val="FFFFFF"/>
          </a:solidFill>
          <a:ln w="9525">
            <a:solidFill>
              <a:srgbClr val="C8C3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4360" y="4727448"/>
            <a:ext cx="1737360" cy="274320"/>
          </a:xfrm>
          <a:prstGeom prst="rect">
            <a:avLst/>
          </a:prstGeom>
          <a:noFill/>
        </p:spPr>
        <p:txBody>
          <a:bodyPr wrap="square" lIns="27432" rIns="27432" tIns="18288" bIns="18288" anchor="t">
            <a:spAutoFit/>
          </a:bodyPr>
          <a:lstStyle/>
          <a:p>
            <a:pPr algn="ctr"/>
            <a:r>
              <a:rPr sz="1000" b="1">
                <a:solidFill>
                  <a:srgbClr val="141414"/>
                </a:solidFill>
                <a:latin typeface="Noto Sans JP"/>
              </a:rPr>
              <a:t>R型</a:t>
            </a:r>
          </a:p>
        </p:txBody>
      </p:sp>
      <p:sp>
        <p:nvSpPr>
          <p:cNvPr id="35" name="TextBox 34"/>
          <p:cNvSpPr txBox="1"/>
          <p:nvPr/>
        </p:nvSpPr>
        <p:spPr>
          <a:xfrm>
            <a:off x="594360" y="4983479"/>
            <a:ext cx="1737360" cy="502920"/>
          </a:xfrm>
          <a:prstGeom prst="rect">
            <a:avLst/>
          </a:prstGeom>
          <a:noFill/>
        </p:spPr>
        <p:txBody>
          <a:bodyPr wrap="square" lIns="27432" rIns="27432" tIns="18288" bIns="18288" anchor="t">
            <a:spAutoFit/>
          </a:bodyPr>
          <a:lstStyle/>
          <a:p>
            <a:pPr algn="ctr"/>
            <a:r>
              <a:rPr sz="2400" b="1">
                <a:solidFill>
                  <a:srgbClr val="000000"/>
                </a:solidFill>
                <a:latin typeface="Courier New"/>
              </a:rPr>
              <a:t>10</a:t>
            </a:r>
          </a:p>
        </p:txBody>
      </p:sp>
      <p:sp>
        <p:nvSpPr>
          <p:cNvPr id="36" name="Rounded Rectangle 35"/>
          <p:cNvSpPr/>
          <p:nvPr/>
        </p:nvSpPr>
        <p:spPr>
          <a:xfrm>
            <a:off x="2441448" y="4663440"/>
            <a:ext cx="1737360" cy="868680"/>
          </a:xfrm>
          <a:prstGeom prst="roundRect">
            <a:avLst>
              <a:gd name="adj" fmla="val 4000"/>
            </a:avLst>
          </a:prstGeom>
          <a:solidFill>
            <a:srgbClr val="FFFFFF"/>
          </a:solidFill>
          <a:ln w="9525">
            <a:solidFill>
              <a:srgbClr val="C8C3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441448" y="4727448"/>
            <a:ext cx="1737360" cy="274320"/>
          </a:xfrm>
          <a:prstGeom prst="rect">
            <a:avLst/>
          </a:prstGeom>
          <a:noFill/>
        </p:spPr>
        <p:txBody>
          <a:bodyPr wrap="square" lIns="27432" rIns="27432" tIns="18288" bIns="18288" anchor="t">
            <a:spAutoFit/>
          </a:bodyPr>
          <a:lstStyle/>
          <a:p>
            <a:pPr algn="ctr"/>
            <a:r>
              <a:rPr sz="1000" b="1">
                <a:solidFill>
                  <a:srgbClr val="141414"/>
                </a:solidFill>
                <a:latin typeface="Noto Sans JP"/>
              </a:rPr>
              <a:t>I型</a:t>
            </a:r>
          </a:p>
        </p:txBody>
      </p:sp>
      <p:sp>
        <p:nvSpPr>
          <p:cNvPr id="38" name="TextBox 37"/>
          <p:cNvSpPr txBox="1"/>
          <p:nvPr/>
        </p:nvSpPr>
        <p:spPr>
          <a:xfrm>
            <a:off x="2441448" y="4983479"/>
            <a:ext cx="1737360" cy="502920"/>
          </a:xfrm>
          <a:prstGeom prst="rect">
            <a:avLst/>
          </a:prstGeom>
          <a:noFill/>
        </p:spPr>
        <p:txBody>
          <a:bodyPr wrap="square" lIns="27432" rIns="27432" tIns="18288" bIns="18288" anchor="t">
            <a:spAutoFit/>
          </a:bodyPr>
          <a:lstStyle/>
          <a:p>
            <a:pPr algn="ctr"/>
            <a:r>
              <a:rPr sz="2400" b="1">
                <a:solidFill>
                  <a:srgbClr val="000000"/>
                </a:solidFill>
                <a:latin typeface="Courier New"/>
              </a:rPr>
              <a:t>8</a:t>
            </a:r>
          </a:p>
        </p:txBody>
      </p:sp>
      <p:sp>
        <p:nvSpPr>
          <p:cNvPr id="39" name="Rounded Rectangle 38"/>
          <p:cNvSpPr/>
          <p:nvPr/>
        </p:nvSpPr>
        <p:spPr>
          <a:xfrm>
            <a:off x="4288536" y="4663440"/>
            <a:ext cx="1737360" cy="868680"/>
          </a:xfrm>
          <a:prstGeom prst="roundRect">
            <a:avLst>
              <a:gd name="adj" fmla="val 4000"/>
            </a:avLst>
          </a:prstGeom>
          <a:solidFill>
            <a:srgbClr val="F3F9FF"/>
          </a:solidFill>
          <a:ln w="9525">
            <a:solidFill>
              <a:srgbClr val="1C4D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288536" y="4727448"/>
            <a:ext cx="1737360" cy="274320"/>
          </a:xfrm>
          <a:prstGeom prst="rect">
            <a:avLst/>
          </a:prstGeom>
          <a:noFill/>
        </p:spPr>
        <p:txBody>
          <a:bodyPr wrap="square" lIns="27432" rIns="27432" tIns="18288" bIns="18288" anchor="t">
            <a:spAutoFit/>
          </a:bodyPr>
          <a:lstStyle/>
          <a:p>
            <a:pPr algn="ctr"/>
            <a:r>
              <a:rPr sz="1000" b="1">
                <a:solidFill>
                  <a:srgbClr val="141414"/>
                </a:solidFill>
                <a:latin typeface="Noto Sans JP"/>
              </a:rPr>
              <a:t>A型（2位）</a:t>
            </a:r>
          </a:p>
        </p:txBody>
      </p:sp>
      <p:sp>
        <p:nvSpPr>
          <p:cNvPr id="41" name="TextBox 40"/>
          <p:cNvSpPr txBox="1"/>
          <p:nvPr/>
        </p:nvSpPr>
        <p:spPr>
          <a:xfrm>
            <a:off x="4288536" y="4983479"/>
            <a:ext cx="1737360" cy="502920"/>
          </a:xfrm>
          <a:prstGeom prst="rect">
            <a:avLst/>
          </a:prstGeom>
          <a:noFill/>
        </p:spPr>
        <p:txBody>
          <a:bodyPr wrap="square" lIns="27432" rIns="27432" tIns="18288" bIns="18288" anchor="t">
            <a:spAutoFit/>
          </a:bodyPr>
          <a:lstStyle/>
          <a:p>
            <a:pPr algn="ctr"/>
            <a:r>
              <a:rPr sz="2400" b="1">
                <a:solidFill>
                  <a:srgbClr val="000000"/>
                </a:solidFill>
                <a:latin typeface="Courier New"/>
              </a:rPr>
              <a:t>16</a:t>
            </a:r>
          </a:p>
        </p:txBody>
      </p:sp>
      <p:sp>
        <p:nvSpPr>
          <p:cNvPr id="42" name="Rounded Rectangle 41"/>
          <p:cNvSpPr/>
          <p:nvPr/>
        </p:nvSpPr>
        <p:spPr>
          <a:xfrm>
            <a:off x="6135624" y="4663440"/>
            <a:ext cx="1737360" cy="868680"/>
          </a:xfrm>
          <a:prstGeom prst="roundRect">
            <a:avLst>
              <a:gd name="adj" fmla="val 4000"/>
            </a:avLst>
          </a:prstGeom>
          <a:solidFill>
            <a:srgbClr val="FFFFFF"/>
          </a:solidFill>
          <a:ln w="9525">
            <a:solidFill>
              <a:srgbClr val="C8C3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35624" y="4727448"/>
            <a:ext cx="1737360" cy="274320"/>
          </a:xfrm>
          <a:prstGeom prst="rect">
            <a:avLst/>
          </a:prstGeom>
          <a:noFill/>
        </p:spPr>
        <p:txBody>
          <a:bodyPr wrap="square" lIns="27432" rIns="27432" tIns="18288" bIns="18288" anchor="t">
            <a:spAutoFit/>
          </a:bodyPr>
          <a:lstStyle/>
          <a:p>
            <a:pPr algn="ctr"/>
            <a:r>
              <a:rPr sz="1000" b="1">
                <a:solidFill>
                  <a:srgbClr val="141414"/>
                </a:solidFill>
                <a:latin typeface="Noto Sans JP"/>
              </a:rPr>
              <a:t>S型</a:t>
            </a:r>
          </a:p>
        </p:txBody>
      </p:sp>
      <p:sp>
        <p:nvSpPr>
          <p:cNvPr id="44" name="TextBox 43"/>
          <p:cNvSpPr txBox="1"/>
          <p:nvPr/>
        </p:nvSpPr>
        <p:spPr>
          <a:xfrm>
            <a:off x="6135624" y="4983479"/>
            <a:ext cx="1737360" cy="502920"/>
          </a:xfrm>
          <a:prstGeom prst="rect">
            <a:avLst/>
          </a:prstGeom>
          <a:noFill/>
        </p:spPr>
        <p:txBody>
          <a:bodyPr wrap="square" lIns="27432" rIns="27432" tIns="18288" bIns="18288" anchor="t">
            <a:spAutoFit/>
          </a:bodyPr>
          <a:lstStyle/>
          <a:p>
            <a:pPr algn="ctr"/>
            <a:r>
              <a:rPr sz="2400" b="1">
                <a:solidFill>
                  <a:srgbClr val="000000"/>
                </a:solidFill>
                <a:latin typeface="Courier New"/>
              </a:rPr>
              <a:t>12</a:t>
            </a:r>
          </a:p>
        </p:txBody>
      </p:sp>
      <p:sp>
        <p:nvSpPr>
          <p:cNvPr id="45" name="Rounded Rectangle 44"/>
          <p:cNvSpPr/>
          <p:nvPr/>
        </p:nvSpPr>
        <p:spPr>
          <a:xfrm>
            <a:off x="7982712" y="4663440"/>
            <a:ext cx="1737360" cy="868680"/>
          </a:xfrm>
          <a:prstGeom prst="roundRect">
            <a:avLst>
              <a:gd name="adj" fmla="val 4000"/>
            </a:avLst>
          </a:prstGeom>
          <a:solidFill>
            <a:srgbClr val="FFFBF3"/>
          </a:solidFill>
          <a:ln w="9525">
            <a:solidFill>
              <a:srgbClr val="B95A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982712" y="4727448"/>
            <a:ext cx="1737360" cy="274320"/>
          </a:xfrm>
          <a:prstGeom prst="rect">
            <a:avLst/>
          </a:prstGeom>
          <a:noFill/>
        </p:spPr>
        <p:txBody>
          <a:bodyPr wrap="square" lIns="27432" rIns="27432" tIns="18288" bIns="18288" anchor="t">
            <a:spAutoFit/>
          </a:bodyPr>
          <a:lstStyle/>
          <a:p>
            <a:pPr algn="ctr"/>
            <a:r>
              <a:rPr sz="1000" b="1">
                <a:solidFill>
                  <a:srgbClr val="141414"/>
                </a:solidFill>
                <a:latin typeface="Noto Sans JP"/>
              </a:rPr>
              <a:t>E型（1位）</a:t>
            </a:r>
          </a:p>
        </p:txBody>
      </p:sp>
      <p:sp>
        <p:nvSpPr>
          <p:cNvPr id="47" name="TextBox 46"/>
          <p:cNvSpPr txBox="1"/>
          <p:nvPr/>
        </p:nvSpPr>
        <p:spPr>
          <a:xfrm>
            <a:off x="7982712" y="4983479"/>
            <a:ext cx="1737360" cy="502920"/>
          </a:xfrm>
          <a:prstGeom prst="rect">
            <a:avLst/>
          </a:prstGeom>
          <a:noFill/>
        </p:spPr>
        <p:txBody>
          <a:bodyPr wrap="square" lIns="27432" rIns="27432" tIns="18288" bIns="18288" anchor="t">
            <a:spAutoFit/>
          </a:bodyPr>
          <a:lstStyle/>
          <a:p>
            <a:pPr algn="ctr"/>
            <a:r>
              <a:rPr sz="2400" b="1">
                <a:solidFill>
                  <a:srgbClr val="000000"/>
                </a:solidFill>
                <a:latin typeface="Courier New"/>
              </a:rPr>
              <a:t>19</a:t>
            </a:r>
          </a:p>
        </p:txBody>
      </p:sp>
      <p:sp>
        <p:nvSpPr>
          <p:cNvPr id="48" name="Rounded Rectangle 47"/>
          <p:cNvSpPr/>
          <p:nvPr/>
        </p:nvSpPr>
        <p:spPr>
          <a:xfrm>
            <a:off x="9829800" y="4663440"/>
            <a:ext cx="1737360" cy="868680"/>
          </a:xfrm>
          <a:prstGeom prst="roundRect">
            <a:avLst>
              <a:gd name="adj" fmla="val 4000"/>
            </a:avLst>
          </a:prstGeom>
          <a:solidFill>
            <a:srgbClr val="FFFFFF"/>
          </a:solidFill>
          <a:ln w="9525">
            <a:solidFill>
              <a:srgbClr val="C8C3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829800" y="4727448"/>
            <a:ext cx="1737360" cy="274320"/>
          </a:xfrm>
          <a:prstGeom prst="rect">
            <a:avLst/>
          </a:prstGeom>
          <a:noFill/>
        </p:spPr>
        <p:txBody>
          <a:bodyPr wrap="square" lIns="27432" rIns="27432" tIns="18288" bIns="18288" anchor="t">
            <a:spAutoFit/>
          </a:bodyPr>
          <a:lstStyle/>
          <a:p>
            <a:pPr algn="ctr"/>
            <a:r>
              <a:rPr sz="1000" b="1">
                <a:solidFill>
                  <a:srgbClr val="141414"/>
                </a:solidFill>
                <a:latin typeface="Noto Sans JP"/>
              </a:rPr>
              <a:t>C型</a:t>
            </a:r>
          </a:p>
        </p:txBody>
      </p:sp>
      <p:sp>
        <p:nvSpPr>
          <p:cNvPr id="50" name="TextBox 49"/>
          <p:cNvSpPr txBox="1"/>
          <p:nvPr/>
        </p:nvSpPr>
        <p:spPr>
          <a:xfrm>
            <a:off x="9829800" y="4983479"/>
            <a:ext cx="1737360" cy="502920"/>
          </a:xfrm>
          <a:prstGeom prst="rect">
            <a:avLst/>
          </a:prstGeom>
          <a:noFill/>
        </p:spPr>
        <p:txBody>
          <a:bodyPr wrap="square" lIns="27432" rIns="27432" tIns="18288" bIns="18288" anchor="t">
            <a:spAutoFit/>
          </a:bodyPr>
          <a:lstStyle/>
          <a:p>
            <a:pPr algn="ctr"/>
            <a:r>
              <a:rPr sz="2400" b="1">
                <a:solidFill>
                  <a:srgbClr val="000000"/>
                </a:solidFill>
                <a:latin typeface="Courier New"/>
              </a:rPr>
              <a:t>7</a:t>
            </a:r>
          </a:p>
        </p:txBody>
      </p:sp>
      <p:sp>
        <p:nvSpPr>
          <p:cNvPr id="51" name="Oval 50"/>
          <p:cNvSpPr/>
          <p:nvPr/>
        </p:nvSpPr>
        <p:spPr>
          <a:xfrm>
            <a:off x="731520" y="5715000"/>
            <a:ext cx="64008" cy="64008"/>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14400" y="5623560"/>
            <a:ext cx="10515600" cy="320040"/>
          </a:xfrm>
          <a:prstGeom prst="rect">
            <a:avLst/>
          </a:prstGeom>
          <a:noFill/>
        </p:spPr>
        <p:txBody>
          <a:bodyPr wrap="square" lIns="27432" rIns="27432" tIns="18288" bIns="18288" anchor="t">
            <a:spAutoFit/>
          </a:bodyPr>
          <a:lstStyle/>
          <a:p>
            <a:pPr algn="l"/>
            <a:r>
              <a:rPr sz="1200" b="0">
                <a:solidFill>
                  <a:srgbClr val="000000"/>
                </a:solidFill>
                <a:latin typeface="Noto Sans JP"/>
              </a:rPr>
              <a:t>1位: </a:t>
            </a:r>
            <a:r>
              <a:rPr sz="1200" b="1">
                <a:solidFill>
                  <a:srgbClr val="000000"/>
                </a:solidFill>
                <a:latin typeface="Noto Sans JP"/>
              </a:rPr>
              <a:t>E型（19点）</a:t>
            </a:r>
            <a:r>
              <a:rPr sz="1200" b="0">
                <a:solidFill>
                  <a:srgbClr val="000000"/>
                </a:solidFill>
                <a:latin typeface="Noto Sans JP"/>
              </a:rPr>
              <a:t> → 2位: </a:t>
            </a:r>
            <a:r>
              <a:rPr sz="1200" b="1">
                <a:solidFill>
                  <a:srgbClr val="000000"/>
                </a:solidFill>
                <a:latin typeface="Noto Sans JP"/>
              </a:rPr>
              <a:t>A型（16点）</a:t>
            </a:r>
          </a:p>
        </p:txBody>
      </p:sp>
      <p:sp>
        <p:nvSpPr>
          <p:cNvPr id="53" name="Oval 52"/>
          <p:cNvSpPr/>
          <p:nvPr/>
        </p:nvSpPr>
        <p:spPr>
          <a:xfrm>
            <a:off x="731520" y="6007608"/>
            <a:ext cx="64008" cy="64008"/>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14400" y="5916168"/>
            <a:ext cx="10515600" cy="320040"/>
          </a:xfrm>
          <a:prstGeom prst="rect">
            <a:avLst/>
          </a:prstGeom>
          <a:noFill/>
        </p:spPr>
        <p:txBody>
          <a:bodyPr wrap="square" lIns="27432" rIns="27432" tIns="18288" bIns="18288" anchor="t">
            <a:spAutoFit/>
          </a:bodyPr>
          <a:lstStyle/>
          <a:p>
            <a:pPr algn="l"/>
            <a:r>
              <a:rPr sz="1200" b="0">
                <a:solidFill>
                  <a:srgbClr val="000000"/>
                </a:solidFill>
                <a:latin typeface="Noto Sans JP"/>
              </a:rPr>
              <a:t>この学生は</a:t>
            </a:r>
            <a:r>
              <a:rPr sz="1200" b="1">
                <a:solidFill>
                  <a:srgbClr val="000000"/>
                </a:solidFill>
                <a:latin typeface="Noto Sans JP"/>
              </a:rPr>
              <a:t>「経営・リーダーシップ（E型）」が一番で、「創造力（A型）」もある</a:t>
            </a:r>
          </a:p>
        </p:txBody>
      </p:sp>
      <p:sp>
        <p:nvSpPr>
          <p:cNvPr id="55" name="TextBox 54"/>
          <p:cNvSpPr txBox="1"/>
          <p:nvPr/>
        </p:nvSpPr>
        <p:spPr>
          <a:xfrm>
            <a:off x="457200" y="6492240"/>
            <a:ext cx="3657600" cy="274320"/>
          </a:xfrm>
          <a:prstGeom prst="rect">
            <a:avLst/>
          </a:prstGeom>
          <a:noFill/>
        </p:spPr>
        <p:txBody>
          <a:bodyPr wrap="none" lIns="0" tIns="0">
            <a:spAutoFit/>
          </a:bodyPr>
          <a:lstStyle/>
          <a:p>
            <a:r>
              <a:rPr sz="1000" b="1">
                <a:solidFill>
                  <a:srgbClr val="3A3A3A"/>
                </a:solidFill>
                <a:latin typeface="Noto Sans JP"/>
              </a:rPr>
              <a:t>TOMOSHIKA</a:t>
            </a:r>
          </a:p>
        </p:txBody>
      </p:sp>
      <p:sp>
        <p:nvSpPr>
          <p:cNvPr id="56" name="TextBox 55"/>
          <p:cNvSpPr txBox="1"/>
          <p:nvPr/>
        </p:nvSpPr>
        <p:spPr>
          <a:xfrm>
            <a:off x="10972800" y="6492240"/>
            <a:ext cx="914400" cy="274320"/>
          </a:xfrm>
          <a:prstGeom prst="rect">
            <a:avLst/>
          </a:prstGeom>
          <a:noFill/>
        </p:spPr>
        <p:txBody>
          <a:bodyPr wrap="none" lIns="0" tIns="0">
            <a:spAutoFit/>
          </a:bodyPr>
          <a:lstStyle/>
          <a:p>
            <a:pPr algn="r"/>
            <a:r>
              <a:rPr sz="1000" b="1">
                <a:solidFill>
                  <a:srgbClr val="3A3A3A"/>
                </a:solidFill>
                <a:latin typeface="Noto Sans JP"/>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502920"/>
            <a:ext cx="109728" cy="109728"/>
          </a:xfrm>
          <a:prstGeom prst="rect">
            <a:avLst/>
          </a:prstGeom>
          <a:solidFill>
            <a:srgbClr val="B9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9144000" cy="320040"/>
          </a:xfrm>
          <a:prstGeom prst="rect">
            <a:avLst/>
          </a:prstGeom>
          <a:noFill/>
        </p:spPr>
        <p:txBody>
          <a:bodyPr wrap="none" lIns="0" tIns="0">
            <a:spAutoFit/>
          </a:bodyPr>
          <a:lstStyle/>
          <a:p>
            <a:r>
              <a:rPr sz="1400" b="1">
                <a:solidFill>
                  <a:srgbClr val="141414"/>
                </a:solidFill>
                <a:latin typeface="Noto Sans JP"/>
              </a:rPr>
              <a:t>PHASE 01 / 回答結果の決まり方</a:t>
            </a:r>
          </a:p>
        </p:txBody>
      </p:sp>
      <p:sp>
        <p:nvSpPr>
          <p:cNvPr id="5" name="TextBox 4"/>
          <p:cNvSpPr txBox="1"/>
          <p:nvPr/>
        </p:nvSpPr>
        <p:spPr>
          <a:xfrm>
            <a:off x="594360" y="868680"/>
            <a:ext cx="10972800" cy="731520"/>
          </a:xfrm>
          <a:prstGeom prst="rect">
            <a:avLst/>
          </a:prstGeom>
          <a:noFill/>
        </p:spPr>
        <p:txBody>
          <a:bodyPr wrap="square" lIns="27432" rIns="27432" tIns="18288" bIns="18288" anchor="t">
            <a:spAutoFit/>
          </a:bodyPr>
          <a:lstStyle/>
          <a:p>
            <a:pPr algn="l"/>
            <a:r>
              <a:rPr sz="2800" b="1">
                <a:solidFill>
                  <a:srgbClr val="000000"/>
                </a:solidFill>
                <a:latin typeface="Noto Sans JP"/>
              </a:rPr>
              <a:t>ポイント</a:t>
            </a:r>
          </a:p>
        </p:txBody>
      </p:sp>
      <p:sp>
        <p:nvSpPr>
          <p:cNvPr id="6" name="Rounded Rectangle 5"/>
          <p:cNvSpPr/>
          <p:nvPr/>
        </p:nvSpPr>
        <p:spPr>
          <a:xfrm>
            <a:off x="594360" y="1828800"/>
            <a:ext cx="3566160" cy="3200400"/>
          </a:xfrm>
          <a:prstGeom prst="roundRect">
            <a:avLst>
              <a:gd name="adj" fmla="val 4000"/>
            </a:avLst>
          </a:prstGeom>
          <a:solidFill>
            <a:srgbClr val="FFFFFF"/>
          </a:solidFill>
          <a:ln w="9525">
            <a:solidFill>
              <a:srgbClr val="C8C3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11680"/>
            <a:ext cx="3108960" cy="320040"/>
          </a:xfrm>
          <a:prstGeom prst="rect">
            <a:avLst/>
          </a:prstGeom>
          <a:noFill/>
        </p:spPr>
        <p:txBody>
          <a:bodyPr wrap="square" lIns="27432" rIns="27432" tIns="18288" bIns="18288" anchor="t">
            <a:spAutoFit/>
          </a:bodyPr>
          <a:lstStyle/>
          <a:p>
            <a:pPr algn="l"/>
            <a:r>
              <a:rPr sz="1000" b="1">
                <a:solidFill>
                  <a:srgbClr val="141414"/>
                </a:solidFill>
                <a:latin typeface="Noto Sans JP"/>
              </a:rPr>
              <a:t>1位タイプ</a:t>
            </a:r>
          </a:p>
        </p:txBody>
      </p:sp>
      <p:sp>
        <p:nvSpPr>
          <p:cNvPr id="8" name="TextBox 7"/>
          <p:cNvSpPr txBox="1"/>
          <p:nvPr/>
        </p:nvSpPr>
        <p:spPr>
          <a:xfrm>
            <a:off x="822960" y="2377440"/>
            <a:ext cx="3108960" cy="1280160"/>
          </a:xfrm>
          <a:prstGeom prst="rect">
            <a:avLst/>
          </a:prstGeom>
          <a:noFill/>
        </p:spPr>
        <p:txBody>
          <a:bodyPr wrap="square" lIns="27432" rIns="27432" tIns="18288" bIns="18288" anchor="t">
            <a:spAutoFit/>
          </a:bodyPr>
          <a:lstStyle/>
          <a:p>
            <a:pPr algn="l"/>
            <a:r>
              <a:rPr sz="1800" b="1">
                <a:solidFill>
                  <a:srgbClr val="000000"/>
                </a:solidFill>
                <a:latin typeface="Noto Sans JP"/>
              </a:rPr>
              <a:t>メインの推薦企業を決める基準</a:t>
            </a:r>
          </a:p>
        </p:txBody>
      </p:sp>
      <p:sp>
        <p:nvSpPr>
          <p:cNvPr id="9" name="TextBox 8"/>
          <p:cNvSpPr txBox="1"/>
          <p:nvPr/>
        </p:nvSpPr>
        <p:spPr>
          <a:xfrm>
            <a:off x="822960" y="3657600"/>
            <a:ext cx="3108960" cy="1371600"/>
          </a:xfrm>
          <a:prstGeom prst="rect">
            <a:avLst/>
          </a:prstGeom>
          <a:noFill/>
        </p:spPr>
        <p:txBody>
          <a:bodyPr wrap="square" lIns="27432" rIns="27432" tIns="18288" bIns="18288" anchor="t">
            <a:spAutoFit/>
          </a:bodyPr>
          <a:lstStyle/>
          <a:p>
            <a:pPr algn="l"/>
            <a:r>
              <a:rPr sz="1200" b="0">
                <a:solidFill>
                  <a:srgbClr val="000000"/>
                </a:solidFill>
                <a:latin typeface="Noto Sans JP"/>
              </a:rPr>
              <a:t>1位タイプがメインの推薦企業を決める基準になる</a:t>
            </a:r>
          </a:p>
        </p:txBody>
      </p:sp>
      <p:sp>
        <p:nvSpPr>
          <p:cNvPr id="10" name="Rounded Rectangle 9"/>
          <p:cNvSpPr/>
          <p:nvPr/>
        </p:nvSpPr>
        <p:spPr>
          <a:xfrm>
            <a:off x="4343400" y="1828800"/>
            <a:ext cx="3566160" cy="3200400"/>
          </a:xfrm>
          <a:prstGeom prst="roundRect">
            <a:avLst>
              <a:gd name="adj" fmla="val 4000"/>
            </a:avLst>
          </a:prstGeom>
          <a:solidFill>
            <a:srgbClr val="FFFFFF"/>
          </a:solidFill>
          <a:ln w="9525">
            <a:solidFill>
              <a:srgbClr val="C8C3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2011680"/>
            <a:ext cx="3108960" cy="320040"/>
          </a:xfrm>
          <a:prstGeom prst="rect">
            <a:avLst/>
          </a:prstGeom>
          <a:noFill/>
        </p:spPr>
        <p:txBody>
          <a:bodyPr wrap="square" lIns="27432" rIns="27432" tIns="18288" bIns="18288" anchor="t">
            <a:spAutoFit/>
          </a:bodyPr>
          <a:lstStyle/>
          <a:p>
            <a:pPr algn="l"/>
            <a:r>
              <a:rPr sz="1000" b="1">
                <a:solidFill>
                  <a:srgbClr val="141414"/>
                </a:solidFill>
                <a:latin typeface="Noto Sans JP"/>
              </a:rPr>
              <a:t>2位タイプ</a:t>
            </a:r>
          </a:p>
        </p:txBody>
      </p:sp>
      <p:sp>
        <p:nvSpPr>
          <p:cNvPr id="12" name="TextBox 11"/>
          <p:cNvSpPr txBox="1"/>
          <p:nvPr/>
        </p:nvSpPr>
        <p:spPr>
          <a:xfrm>
            <a:off x="4572000" y="2377440"/>
            <a:ext cx="3108960" cy="1280160"/>
          </a:xfrm>
          <a:prstGeom prst="rect">
            <a:avLst/>
          </a:prstGeom>
          <a:noFill/>
        </p:spPr>
        <p:txBody>
          <a:bodyPr wrap="square" lIns="27432" rIns="27432" tIns="18288" bIns="18288" anchor="t">
            <a:spAutoFit/>
          </a:bodyPr>
          <a:lstStyle/>
          <a:p>
            <a:pPr algn="l"/>
            <a:r>
              <a:rPr sz="1800" b="1">
                <a:solidFill>
                  <a:srgbClr val="000000"/>
                </a:solidFill>
                <a:latin typeface="Noto Sans JP"/>
              </a:rPr>
              <a:t>補足の推薦企業</a:t>
            </a:r>
          </a:p>
        </p:txBody>
      </p:sp>
      <p:sp>
        <p:nvSpPr>
          <p:cNvPr id="13" name="TextBox 12"/>
          <p:cNvSpPr txBox="1"/>
          <p:nvPr/>
        </p:nvSpPr>
        <p:spPr>
          <a:xfrm>
            <a:off x="4572000" y="3657600"/>
            <a:ext cx="3108960" cy="1371600"/>
          </a:xfrm>
          <a:prstGeom prst="rect">
            <a:avLst/>
          </a:prstGeom>
          <a:noFill/>
        </p:spPr>
        <p:txBody>
          <a:bodyPr wrap="square" lIns="27432" rIns="27432" tIns="18288" bIns="18288" anchor="t">
            <a:spAutoFit/>
          </a:bodyPr>
          <a:lstStyle/>
          <a:p>
            <a:pPr algn="l"/>
            <a:r>
              <a:rPr sz="1200" b="0">
                <a:solidFill>
                  <a:srgbClr val="000000"/>
                </a:solidFill>
                <a:latin typeface="Noto Sans JP"/>
              </a:rPr>
              <a:t>「あなたにはこういう面もありますよ」という補足の推薦企業になる</a:t>
            </a:r>
          </a:p>
        </p:txBody>
      </p:sp>
      <p:sp>
        <p:nvSpPr>
          <p:cNvPr id="14" name="Rounded Rectangle 13"/>
          <p:cNvSpPr/>
          <p:nvPr/>
        </p:nvSpPr>
        <p:spPr>
          <a:xfrm>
            <a:off x="8092440" y="1828800"/>
            <a:ext cx="3566160" cy="3200400"/>
          </a:xfrm>
          <a:prstGeom prst="roundRect">
            <a:avLst>
              <a:gd name="adj" fmla="val 4000"/>
            </a:avLst>
          </a:prstGeom>
          <a:solidFill>
            <a:srgbClr val="FFFFFF"/>
          </a:solidFill>
          <a:ln w="9525">
            <a:solidFill>
              <a:srgbClr val="C8C3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2011680"/>
            <a:ext cx="3108960" cy="320040"/>
          </a:xfrm>
          <a:prstGeom prst="rect">
            <a:avLst/>
          </a:prstGeom>
          <a:noFill/>
        </p:spPr>
        <p:txBody>
          <a:bodyPr wrap="square" lIns="27432" rIns="27432" tIns="18288" bIns="18288" anchor="t">
            <a:spAutoFit/>
          </a:bodyPr>
          <a:lstStyle/>
          <a:p>
            <a:pPr algn="l"/>
            <a:r>
              <a:rPr sz="1000" b="1">
                <a:solidFill>
                  <a:srgbClr val="141414"/>
                </a:solidFill>
                <a:latin typeface="Noto Sans JP"/>
              </a:rPr>
              <a:t>同点の場合</a:t>
            </a:r>
          </a:p>
        </p:txBody>
      </p:sp>
      <p:sp>
        <p:nvSpPr>
          <p:cNvPr id="16" name="TextBox 15"/>
          <p:cNvSpPr txBox="1"/>
          <p:nvPr/>
        </p:nvSpPr>
        <p:spPr>
          <a:xfrm>
            <a:off x="8321040" y="2377440"/>
            <a:ext cx="3108960" cy="1280160"/>
          </a:xfrm>
          <a:prstGeom prst="rect">
            <a:avLst/>
          </a:prstGeom>
          <a:noFill/>
        </p:spPr>
        <p:txBody>
          <a:bodyPr wrap="square" lIns="27432" rIns="27432" tIns="18288" bIns="18288" anchor="t">
            <a:spAutoFit/>
          </a:bodyPr>
          <a:lstStyle/>
          <a:p>
            <a:pPr algn="l"/>
            <a:r>
              <a:rPr sz="1800" b="1">
                <a:solidFill>
                  <a:srgbClr val="000000"/>
                </a:solidFill>
                <a:latin typeface="Noto Sans JP"/>
              </a:rPr>
              <a:t>R → I → A → S → E → C</a:t>
            </a:r>
          </a:p>
        </p:txBody>
      </p:sp>
      <p:sp>
        <p:nvSpPr>
          <p:cNvPr id="17" name="TextBox 16"/>
          <p:cNvSpPr txBox="1"/>
          <p:nvPr/>
        </p:nvSpPr>
        <p:spPr>
          <a:xfrm>
            <a:off x="8321040" y="3657600"/>
            <a:ext cx="3108960" cy="1371600"/>
          </a:xfrm>
          <a:prstGeom prst="rect">
            <a:avLst/>
          </a:prstGeom>
          <a:noFill/>
        </p:spPr>
        <p:txBody>
          <a:bodyPr wrap="square" lIns="27432" rIns="27432" tIns="18288" bIns="18288" anchor="t">
            <a:spAutoFit/>
          </a:bodyPr>
          <a:lstStyle/>
          <a:p>
            <a:pPr algn="l"/>
            <a:r>
              <a:rPr sz="1200" b="0">
                <a:solidFill>
                  <a:srgbClr val="000000"/>
                </a:solidFill>
                <a:latin typeface="Noto Sans JP"/>
              </a:rPr>
              <a:t>1位と2位が同点の場合は R → I → A → S → E → C の順で先にくる方が1位</a:t>
            </a:r>
          </a:p>
        </p:txBody>
      </p:sp>
      <p:sp>
        <p:nvSpPr>
          <p:cNvPr id="18" name="TextBox 17"/>
          <p:cNvSpPr txBox="1"/>
          <p:nvPr/>
        </p:nvSpPr>
        <p:spPr>
          <a:xfrm>
            <a:off x="457200" y="6492240"/>
            <a:ext cx="3657600" cy="274320"/>
          </a:xfrm>
          <a:prstGeom prst="rect">
            <a:avLst/>
          </a:prstGeom>
          <a:noFill/>
        </p:spPr>
        <p:txBody>
          <a:bodyPr wrap="none" lIns="0" tIns="0">
            <a:spAutoFit/>
          </a:bodyPr>
          <a:lstStyle/>
          <a:p>
            <a:r>
              <a:rPr sz="1000" b="1">
                <a:solidFill>
                  <a:srgbClr val="3A3A3A"/>
                </a:solidFill>
                <a:latin typeface="Noto Sans JP"/>
              </a:rPr>
              <a:t>TOMOSHIKA</a:t>
            </a:r>
          </a:p>
        </p:txBody>
      </p:sp>
      <p:sp>
        <p:nvSpPr>
          <p:cNvPr id="19" name="TextBox 18"/>
          <p:cNvSpPr txBox="1"/>
          <p:nvPr/>
        </p:nvSpPr>
        <p:spPr>
          <a:xfrm>
            <a:off x="10972800" y="6492240"/>
            <a:ext cx="914400" cy="274320"/>
          </a:xfrm>
          <a:prstGeom prst="rect">
            <a:avLst/>
          </a:prstGeom>
          <a:noFill/>
        </p:spPr>
        <p:txBody>
          <a:bodyPr wrap="none" lIns="0" tIns="0">
            <a:spAutoFit/>
          </a:bodyPr>
          <a:lstStyle/>
          <a:p>
            <a:pPr algn="r"/>
            <a:r>
              <a:rPr sz="1000" b="1">
                <a:solidFill>
                  <a:srgbClr val="3A3A3A"/>
                </a:solidFill>
                <a:latin typeface="Noto Sans JP"/>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502920"/>
            <a:ext cx="109728" cy="109728"/>
          </a:xfrm>
          <a:prstGeom prst="rect">
            <a:avLst/>
          </a:prstGeom>
          <a:solidFill>
            <a:srgbClr val="B9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9144000" cy="320040"/>
          </a:xfrm>
          <a:prstGeom prst="rect">
            <a:avLst/>
          </a:prstGeom>
          <a:noFill/>
        </p:spPr>
        <p:txBody>
          <a:bodyPr wrap="none" lIns="0" tIns="0">
            <a:spAutoFit/>
          </a:bodyPr>
          <a:lstStyle/>
          <a:p>
            <a:r>
              <a:rPr sz="1400" b="1">
                <a:solidFill>
                  <a:srgbClr val="141414"/>
                </a:solidFill>
                <a:latin typeface="Noto Sans JP"/>
              </a:rPr>
              <a:t>PHASE 01 / アウトプット</a:t>
            </a:r>
          </a:p>
        </p:txBody>
      </p:sp>
      <p:sp>
        <p:nvSpPr>
          <p:cNvPr id="5" name="TextBox 4"/>
          <p:cNvSpPr txBox="1"/>
          <p:nvPr/>
        </p:nvSpPr>
        <p:spPr>
          <a:xfrm>
            <a:off x="594360" y="868680"/>
            <a:ext cx="10972800" cy="731520"/>
          </a:xfrm>
          <a:prstGeom prst="rect">
            <a:avLst/>
          </a:prstGeom>
          <a:noFill/>
        </p:spPr>
        <p:txBody>
          <a:bodyPr wrap="square" lIns="27432" rIns="27432" tIns="18288" bIns="18288" anchor="t">
            <a:spAutoFit/>
          </a:bodyPr>
          <a:lstStyle/>
          <a:p>
            <a:pPr algn="l"/>
            <a:r>
              <a:rPr sz="2200" b="1">
                <a:solidFill>
                  <a:srgbClr val="000000"/>
                </a:solidFill>
                <a:latin typeface="Noto Sans JP"/>
              </a:rPr>
              <a:t>フェーズ1でできあがるもの（＝フェーズ2で送る11個の数値）</a:t>
            </a:r>
          </a:p>
        </p:txBody>
      </p:sp>
      <p:graphicFrame>
        <p:nvGraphicFramePr>
          <p:cNvPr id="6" name="Table 5"/>
          <p:cNvGraphicFramePr>
            <a:graphicFrameLocks noGrp="1"/>
          </p:cNvGraphicFramePr>
          <p:nvPr/>
        </p:nvGraphicFramePr>
        <p:xfrm>
          <a:off x="594360" y="1645920"/>
          <a:ext cx="10972800" cy="4663440"/>
        </p:xfrm>
        <a:graphic>
          <a:graphicData uri="http://schemas.openxmlformats.org/drawingml/2006/table">
            <a:tbl>
              <a:tblPr firstRow="1" bandRow="1">
                <a:tableStyleId>{5C22544A-7EE6-4342-B048-85BDC9FD1C3A}</a:tableStyleId>
              </a:tblPr>
              <a:tblGrid>
                <a:gridCol w="1005840"/>
                <a:gridCol w="1097280"/>
                <a:gridCol w="4114800"/>
                <a:gridCol w="4754880"/>
              </a:tblGrid>
              <a:tr h="388620">
                <a:tc>
                  <a:txBody>
                    <a:bodyPr wrap="square" lIns="45720" rIns="45720" tIns="36576" bIns="36576"/>
                    <a:lstStyle/>
                    <a:p>
                      <a:r>
                        <a:rPr sz="1100" b="1">
                          <a:solidFill>
                            <a:srgbClr val="000000"/>
                          </a:solidFill>
                          <a:latin typeface="Noto Sans JP"/>
                        </a:rPr>
                        <a:t>項目</a:t>
                      </a:r>
                    </a:p>
                  </a:txBody>
                  <a:tcPr marL="73152" marR="73152" marT="45720" marB="45720" anchor="t">
                    <a:solidFill>
                      <a:srgbClr val="EDE6D2"/>
                    </a:solidFill>
                  </a:tcPr>
                </a:tc>
                <a:tc>
                  <a:txBody>
                    <a:bodyPr wrap="square" lIns="45720" rIns="45720" tIns="36576" bIns="36576"/>
                    <a:lstStyle/>
                    <a:p>
                      <a:r>
                        <a:rPr sz="1100" b="1">
                          <a:solidFill>
                            <a:srgbClr val="000000"/>
                          </a:solidFill>
                          <a:latin typeface="Noto Sans JP"/>
                        </a:rPr>
                        <a:t>値の例</a:t>
                      </a:r>
                    </a:p>
                  </a:txBody>
                  <a:tcPr marL="73152" marR="73152" marT="45720" marB="45720" anchor="t">
                    <a:solidFill>
                      <a:srgbClr val="EDE6D2"/>
                    </a:solidFill>
                  </a:tcPr>
                </a:tc>
                <a:tc>
                  <a:txBody>
                    <a:bodyPr wrap="square" lIns="45720" rIns="45720" tIns="36576" bIns="36576"/>
                    <a:lstStyle/>
                    <a:p>
                      <a:r>
                        <a:rPr sz="1100" b="1">
                          <a:solidFill>
                            <a:srgbClr val="000000"/>
                          </a:solidFill>
                          <a:latin typeface="Noto Sans JP"/>
                        </a:rPr>
                        <a:t>何の点数か</a:t>
                      </a:r>
                    </a:p>
                  </a:txBody>
                  <a:tcPr marL="73152" marR="73152" marT="45720" marB="45720" anchor="t">
                    <a:solidFill>
                      <a:srgbClr val="EDE6D2"/>
                    </a:solidFill>
                  </a:tcPr>
                </a:tc>
                <a:tc>
                  <a:txBody>
                    <a:bodyPr wrap="square" lIns="45720" rIns="45720" tIns="36576" bIns="36576"/>
                    <a:lstStyle/>
                    <a:p>
                      <a:r>
                        <a:rPr sz="1100" b="1">
                          <a:solidFill>
                            <a:srgbClr val="000000"/>
                          </a:solidFill>
                          <a:latin typeface="Noto Sans JP"/>
                        </a:rPr>
                        <a:t>フェーズ3のどこで使うか</a:t>
                      </a:r>
                    </a:p>
                  </a:txBody>
                  <a:tcPr marL="73152" marR="73152" marT="45720" marB="45720" anchor="t">
                    <a:solidFill>
                      <a:srgbClr val="EDE6D2"/>
                    </a:solidFill>
                  </a:tcPr>
                </a:tc>
              </a:tr>
              <a:tr h="388620">
                <a:tc>
                  <a:txBody>
                    <a:bodyPr wrap="square" lIns="45720" rIns="45720" tIns="36576" bIns="36576"/>
                    <a:lstStyle/>
                    <a:p>
                      <a:r>
                        <a:rPr sz="1100" b="0">
                          <a:solidFill>
                            <a:srgbClr val="000000"/>
                          </a:solidFill>
                          <a:latin typeface="Noto Sans JP"/>
                        </a:rPr>
                        <a:t>R</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8</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R型の合計点（4〜20点）</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1位・2位タイプの判定に使う</a:t>
                      </a:r>
                    </a:p>
                  </a:txBody>
                  <a:tcPr marL="73152" marR="73152" marT="45720" marB="45720" anchor="t">
                    <a:solidFill>
                      <a:srgbClr val="FFFFFF"/>
                    </a:solidFill>
                  </a:tcPr>
                </a:tc>
              </a:tr>
              <a:tr h="388620">
                <a:tc>
                  <a:txBody>
                    <a:bodyPr wrap="square" lIns="45720" rIns="45720" tIns="36576" bIns="36576"/>
                    <a:lstStyle/>
                    <a:p>
                      <a:r>
                        <a:rPr sz="1100" b="0">
                          <a:solidFill>
                            <a:srgbClr val="000000"/>
                          </a:solidFill>
                          <a:latin typeface="Noto Sans JP"/>
                        </a:rPr>
                        <a:t>I</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6</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I型の合計点</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同上</a:t>
                      </a:r>
                    </a:p>
                  </a:txBody>
                  <a:tcPr marL="73152" marR="73152" marT="45720" marB="45720" anchor="t">
                    <a:solidFill>
                      <a:srgbClr val="FFFFFF"/>
                    </a:solidFill>
                  </a:tcPr>
                </a:tc>
              </a:tr>
              <a:tr h="388620">
                <a:tc>
                  <a:txBody>
                    <a:bodyPr wrap="square" lIns="45720" rIns="45720" tIns="36576" bIns="36576"/>
                    <a:lstStyle/>
                    <a:p>
                      <a:r>
                        <a:rPr sz="1100" b="0">
                          <a:solidFill>
                            <a:srgbClr val="000000"/>
                          </a:solidFill>
                          <a:latin typeface="Noto Sans JP"/>
                        </a:rPr>
                        <a:t>A</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7</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A型の合計点</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同上</a:t>
                      </a:r>
                    </a:p>
                  </a:txBody>
                  <a:tcPr marL="73152" marR="73152" marT="45720" marB="45720" anchor="t">
                    <a:solidFill>
                      <a:srgbClr val="FFFFFF"/>
                    </a:solidFill>
                  </a:tcPr>
                </a:tc>
              </a:tr>
              <a:tr h="388620">
                <a:tc>
                  <a:txBody>
                    <a:bodyPr wrap="square" lIns="45720" rIns="45720" tIns="36576" bIns="36576"/>
                    <a:lstStyle/>
                    <a:p>
                      <a:r>
                        <a:rPr sz="1100" b="0">
                          <a:solidFill>
                            <a:srgbClr val="000000"/>
                          </a:solidFill>
                          <a:latin typeface="Noto Sans JP"/>
                        </a:rPr>
                        <a:t>S</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18</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S型の合計点</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同上</a:t>
                      </a:r>
                    </a:p>
                  </a:txBody>
                  <a:tcPr marL="73152" marR="73152" marT="45720" marB="45720" anchor="t">
                    <a:solidFill>
                      <a:srgbClr val="FFFFFF"/>
                    </a:solidFill>
                  </a:tcPr>
                </a:tc>
              </a:tr>
              <a:tr h="388620">
                <a:tc>
                  <a:txBody>
                    <a:bodyPr wrap="square" lIns="45720" rIns="45720" tIns="36576" bIns="36576"/>
                    <a:lstStyle/>
                    <a:p>
                      <a:r>
                        <a:rPr sz="1100" b="0">
                          <a:solidFill>
                            <a:srgbClr val="000000"/>
                          </a:solidFill>
                          <a:latin typeface="Noto Sans JP"/>
                        </a:rPr>
                        <a:t>E</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10</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E型の合計点</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同上</a:t>
                      </a:r>
                    </a:p>
                  </a:txBody>
                  <a:tcPr marL="73152" marR="73152" marT="45720" marB="45720" anchor="t">
                    <a:solidFill>
                      <a:srgbClr val="FFFFFF"/>
                    </a:solidFill>
                  </a:tcPr>
                </a:tc>
              </a:tr>
              <a:tr h="388620">
                <a:tc>
                  <a:txBody>
                    <a:bodyPr wrap="square" lIns="45720" rIns="45720" tIns="36576" bIns="36576"/>
                    <a:lstStyle/>
                    <a:p>
                      <a:r>
                        <a:rPr sz="1100" b="0">
                          <a:solidFill>
                            <a:srgbClr val="000000"/>
                          </a:solidFill>
                          <a:latin typeface="Noto Sans JP"/>
                        </a:rPr>
                        <a:t>C</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5</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C型の合計点</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同上</a:t>
                      </a:r>
                    </a:p>
                  </a:txBody>
                  <a:tcPr marL="73152" marR="73152" marT="45720" marB="45720" anchor="t">
                    <a:solidFill>
                      <a:srgbClr val="FFFFFF"/>
                    </a:solidFill>
                  </a:tcPr>
                </a:tc>
              </a:tr>
              <a:tr h="388620">
                <a:tc>
                  <a:txBody>
                    <a:bodyPr wrap="square" lIns="45720" rIns="45720" tIns="36576" bIns="36576"/>
                    <a:lstStyle/>
                    <a:p>
                      <a:r>
                        <a:rPr sz="1100" b="0">
                          <a:solidFill>
                            <a:srgbClr val="000000"/>
                          </a:solidFill>
                          <a:latin typeface="Noto Sans JP"/>
                        </a:rPr>
                        <a:t>Q30</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4</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主体性の点数（1〜5点）</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中西製作所様向きかの判定に使う</a:t>
                      </a:r>
                    </a:p>
                  </a:txBody>
                  <a:tcPr marL="73152" marR="73152" marT="45720" marB="45720" anchor="t">
                    <a:solidFill>
                      <a:srgbClr val="FFFFFF"/>
                    </a:solidFill>
                  </a:tcPr>
                </a:tc>
              </a:tr>
              <a:tr h="388620">
                <a:tc>
                  <a:txBody>
                    <a:bodyPr wrap="square" lIns="45720" rIns="45720" tIns="36576" bIns="36576"/>
                    <a:lstStyle/>
                    <a:p>
                      <a:r>
                        <a:rPr sz="1100" b="0">
                          <a:solidFill>
                            <a:srgbClr val="000000"/>
                          </a:solidFill>
                          <a:latin typeface="Noto Sans JP"/>
                        </a:rPr>
                        <a:t>Q31</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4</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変革意欲の点数（1〜5点）</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同上</a:t>
                      </a:r>
                    </a:p>
                  </a:txBody>
                  <a:tcPr marL="73152" marR="73152" marT="45720" marB="45720" anchor="t">
                    <a:solidFill>
                      <a:srgbClr val="FFFFFF"/>
                    </a:solidFill>
                  </a:tcPr>
                </a:tc>
              </a:tr>
              <a:tr h="388620">
                <a:tc>
                  <a:txBody>
                    <a:bodyPr wrap="square" lIns="45720" rIns="45720" tIns="36576" bIns="36576"/>
                    <a:lstStyle/>
                    <a:p>
                      <a:r>
                        <a:rPr sz="1100" b="0">
                          <a:solidFill>
                            <a:srgbClr val="000000"/>
                          </a:solidFill>
                          <a:latin typeface="Noto Sans JP"/>
                        </a:rPr>
                        <a:t>Q49</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3</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嘘回答検知の点数（1〜5点）</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5点のときだけ6タイプの点数を補正する</a:t>
                      </a:r>
                    </a:p>
                  </a:txBody>
                  <a:tcPr marL="73152" marR="73152" marT="45720" marB="45720" anchor="t">
                    <a:solidFill>
                      <a:srgbClr val="FFFFFF"/>
                    </a:solidFill>
                  </a:tcPr>
                </a:tc>
              </a:tr>
              <a:tr h="388620">
                <a:tc>
                  <a:txBody>
                    <a:bodyPr wrap="square" lIns="45720" rIns="45720" tIns="36576" bIns="36576"/>
                    <a:lstStyle/>
                    <a:p>
                      <a:r>
                        <a:rPr sz="1100" b="0">
                          <a:solidFill>
                            <a:srgbClr val="000000"/>
                          </a:solidFill>
                          <a:latin typeface="Noto Sans JP"/>
                        </a:rPr>
                        <a:t>Q50</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4</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BtoB志向の点数（1〜5点）</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BtoB企業 or BtoC企業の切り替えに使う</a:t>
                      </a:r>
                    </a:p>
                  </a:txBody>
                  <a:tcPr marL="73152" marR="73152" marT="45720" marB="45720" anchor="t">
                    <a:solidFill>
                      <a:srgbClr val="FFFFFF"/>
                    </a:solidFill>
                  </a:tcPr>
                </a:tc>
              </a:tr>
              <a:tr h="388620">
                <a:tc>
                  <a:txBody>
                    <a:bodyPr wrap="square" lIns="45720" rIns="45720" tIns="36576" bIns="36576"/>
                    <a:lstStyle/>
                    <a:p>
                      <a:r>
                        <a:rPr sz="1100" b="0">
                          <a:solidFill>
                            <a:srgbClr val="000000"/>
                          </a:solidFill>
                          <a:latin typeface="Noto Sans JP"/>
                        </a:rPr>
                        <a:t>Q51</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4</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メーカー志向の点数（1〜5点）</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中西製作所様との相性判定に使う</a:t>
                      </a:r>
                    </a:p>
                  </a:txBody>
                  <a:tcPr marL="73152" marR="73152" marT="45720" marB="45720" anchor="t">
                    <a:solidFill>
                      <a:srgbClr val="FFFFFF"/>
                    </a:solidFill>
                  </a:tcPr>
                </a:tc>
              </a:tr>
            </a:tbl>
          </a:graphicData>
        </a:graphic>
      </p:graphicFrame>
      <p:sp>
        <p:nvSpPr>
          <p:cNvPr id="7" name="TextBox 6"/>
          <p:cNvSpPr txBox="1"/>
          <p:nvPr/>
        </p:nvSpPr>
        <p:spPr>
          <a:xfrm>
            <a:off x="457200" y="6492240"/>
            <a:ext cx="3657600" cy="274320"/>
          </a:xfrm>
          <a:prstGeom prst="rect">
            <a:avLst/>
          </a:prstGeom>
          <a:noFill/>
        </p:spPr>
        <p:txBody>
          <a:bodyPr wrap="none" lIns="0" tIns="0">
            <a:spAutoFit/>
          </a:bodyPr>
          <a:lstStyle/>
          <a:p>
            <a:r>
              <a:rPr sz="1000" b="1">
                <a:solidFill>
                  <a:srgbClr val="3A3A3A"/>
                </a:solidFill>
                <a:latin typeface="Noto Sans JP"/>
              </a:rPr>
              <a:t>TOMOSHIKA</a:t>
            </a:r>
          </a:p>
        </p:txBody>
      </p:sp>
      <p:sp>
        <p:nvSpPr>
          <p:cNvPr id="8" name="TextBox 7"/>
          <p:cNvSpPr txBox="1"/>
          <p:nvPr/>
        </p:nvSpPr>
        <p:spPr>
          <a:xfrm>
            <a:off x="10972800" y="6492240"/>
            <a:ext cx="914400" cy="274320"/>
          </a:xfrm>
          <a:prstGeom prst="rect">
            <a:avLst/>
          </a:prstGeom>
          <a:noFill/>
        </p:spPr>
        <p:txBody>
          <a:bodyPr wrap="none" lIns="0" tIns="0">
            <a:spAutoFit/>
          </a:bodyPr>
          <a:lstStyle/>
          <a:p>
            <a:pPr algn="r"/>
            <a:r>
              <a:rPr sz="1000" b="1">
                <a:solidFill>
                  <a:srgbClr val="3A3A3A"/>
                </a:solidFill>
                <a:latin typeface="Noto Sans JP"/>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502920"/>
            <a:ext cx="109728" cy="109728"/>
          </a:xfrm>
          <a:prstGeom prst="rect">
            <a:avLst/>
          </a:prstGeom>
          <a:solidFill>
            <a:srgbClr val="B9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9144000" cy="320040"/>
          </a:xfrm>
          <a:prstGeom prst="rect">
            <a:avLst/>
          </a:prstGeom>
          <a:noFill/>
        </p:spPr>
        <p:txBody>
          <a:bodyPr wrap="none" lIns="0" tIns="0">
            <a:spAutoFit/>
          </a:bodyPr>
          <a:lstStyle/>
          <a:p>
            <a:r>
              <a:rPr sz="1400" b="1">
                <a:solidFill>
                  <a:srgbClr val="141414"/>
                </a:solidFill>
                <a:latin typeface="Noto Sans JP"/>
              </a:rPr>
              <a:t>PHASE 01 / 現在の設計</a:t>
            </a:r>
          </a:p>
        </p:txBody>
      </p:sp>
      <p:sp>
        <p:nvSpPr>
          <p:cNvPr id="5" name="TextBox 4"/>
          <p:cNvSpPr txBox="1"/>
          <p:nvPr/>
        </p:nvSpPr>
        <p:spPr>
          <a:xfrm>
            <a:off x="594360" y="868680"/>
            <a:ext cx="10972800" cy="731520"/>
          </a:xfrm>
          <a:prstGeom prst="rect">
            <a:avLst/>
          </a:prstGeom>
          <a:noFill/>
        </p:spPr>
        <p:txBody>
          <a:bodyPr wrap="square" lIns="27432" rIns="27432" tIns="18288" bIns="18288" anchor="t">
            <a:spAutoFit/>
          </a:bodyPr>
          <a:lstStyle/>
          <a:p>
            <a:pPr algn="l"/>
            <a:r>
              <a:rPr sz="2800" b="1">
                <a:solidFill>
                  <a:srgbClr val="000000"/>
                </a:solidFill>
                <a:latin typeface="Noto Sans JP"/>
              </a:rPr>
              <a:t>現在の設計 と 確認事項</a:t>
            </a:r>
          </a:p>
        </p:txBody>
      </p:sp>
      <p:sp>
        <p:nvSpPr>
          <p:cNvPr id="6" name="Rounded Rectangle 5"/>
          <p:cNvSpPr/>
          <p:nvPr/>
        </p:nvSpPr>
        <p:spPr>
          <a:xfrm>
            <a:off x="594360" y="1828800"/>
            <a:ext cx="10972800" cy="2377440"/>
          </a:xfrm>
          <a:prstGeom prst="roundRect">
            <a:avLst>
              <a:gd name="adj" fmla="val 4000"/>
            </a:avLst>
          </a:prstGeom>
          <a:solidFill>
            <a:srgbClr val="E8EEF8"/>
          </a:solidFill>
          <a:ln w="9525">
            <a:solidFill>
              <a:srgbClr val="1C4D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828800"/>
            <a:ext cx="73152" cy="2377440"/>
          </a:xfrm>
          <a:prstGeom prst="rect">
            <a:avLst/>
          </a:prstGeom>
          <a:solidFill>
            <a:srgbClr val="1C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515600" cy="365760"/>
          </a:xfrm>
          <a:prstGeom prst="rect">
            <a:avLst/>
          </a:prstGeom>
          <a:noFill/>
        </p:spPr>
        <p:txBody>
          <a:bodyPr wrap="square" lIns="27432" rIns="27432" tIns="18288" bIns="18288" anchor="t">
            <a:spAutoFit/>
          </a:bodyPr>
          <a:lstStyle/>
          <a:p>
            <a:pPr algn="l"/>
            <a:r>
              <a:rPr sz="1600" b="1">
                <a:solidFill>
                  <a:srgbClr val="000000"/>
                </a:solidFill>
                <a:latin typeface="Noto Sans JP"/>
              </a:rPr>
              <a:t>ℹ️ 現在の設計</a:t>
            </a:r>
          </a:p>
        </p:txBody>
      </p:sp>
      <p:sp>
        <p:nvSpPr>
          <p:cNvPr id="9" name="Oval 8"/>
          <p:cNvSpPr/>
          <p:nvPr/>
        </p:nvSpPr>
        <p:spPr>
          <a:xfrm>
            <a:off x="914400" y="2532888"/>
            <a:ext cx="73152" cy="73152"/>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23160"/>
            <a:ext cx="10241280" cy="777240"/>
          </a:xfrm>
          <a:prstGeom prst="rect">
            <a:avLst/>
          </a:prstGeom>
          <a:noFill/>
        </p:spPr>
        <p:txBody>
          <a:bodyPr wrap="square" lIns="27432" rIns="27432" tIns="18288" bIns="18288" anchor="t">
            <a:spAutoFit/>
          </a:bodyPr>
          <a:lstStyle/>
          <a:p>
            <a:pPr algn="l">
              <a:lnSpc>
                <a:spcPct val="130000"/>
              </a:lnSpc>
            </a:pPr>
            <a:r>
              <a:rPr sz="1300" b="1">
                <a:solidFill>
                  <a:srgbClr val="000000"/>
                </a:solidFill>
                <a:latin typeface="Noto Sans JP"/>
              </a:rPr>
              <a:t>6タイプの合計点の算出</a:t>
            </a:r>
            <a:r>
              <a:rPr sz="1300" b="0">
                <a:solidFill>
                  <a:srgbClr val="000000"/>
                </a:solidFill>
                <a:latin typeface="Noto Sans JP"/>
              </a:rPr>
              <a:t>: MIL様側で合計してからDifyに送る設計になっている（Dify側は合計済みの点数を受け取る）</a:t>
            </a:r>
          </a:p>
        </p:txBody>
      </p:sp>
      <p:sp>
        <p:nvSpPr>
          <p:cNvPr id="11" name="Oval 10"/>
          <p:cNvSpPr/>
          <p:nvPr/>
        </p:nvSpPr>
        <p:spPr>
          <a:xfrm>
            <a:off x="914400" y="3310128"/>
            <a:ext cx="73152" cy="73152"/>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3200400"/>
            <a:ext cx="10241280" cy="777240"/>
          </a:xfrm>
          <a:prstGeom prst="rect">
            <a:avLst/>
          </a:prstGeom>
          <a:noFill/>
        </p:spPr>
        <p:txBody>
          <a:bodyPr wrap="square" lIns="27432" rIns="27432" tIns="18288" bIns="18288" anchor="t">
            <a:spAutoFit/>
          </a:bodyPr>
          <a:lstStyle/>
          <a:p>
            <a:pPr algn="l">
              <a:lnSpc>
                <a:spcPct val="130000"/>
              </a:lnSpc>
            </a:pPr>
            <a:r>
              <a:rPr sz="1300" b="1">
                <a:solidFill>
                  <a:srgbClr val="000000"/>
                </a:solidFill>
                <a:latin typeface="Noto Sans JP"/>
              </a:rPr>
              <a:t>嘘回答補正（Q49=5のとき点数を×0.8する処理）</a:t>
            </a:r>
            <a:r>
              <a:rPr sz="1300" b="0">
                <a:solidFill>
                  <a:srgbClr val="000000"/>
                </a:solidFill>
                <a:latin typeface="Noto Sans JP"/>
              </a:rPr>
              <a:t>: Dify側で自動的に処理する設計になっている（MIL様は素の点数を送ればOK）</a:t>
            </a:r>
          </a:p>
        </p:txBody>
      </p:sp>
      <p:sp>
        <p:nvSpPr>
          <p:cNvPr id="13" name="Rounded Rectangle 12"/>
          <p:cNvSpPr/>
          <p:nvPr/>
        </p:nvSpPr>
        <p:spPr>
          <a:xfrm>
            <a:off x="594360" y="4480560"/>
            <a:ext cx="10972800" cy="822960"/>
          </a:xfrm>
          <a:prstGeom prst="roundRect">
            <a:avLst>
              <a:gd name="adj" fmla="val 4000"/>
            </a:avLst>
          </a:prstGeom>
          <a:solidFill>
            <a:srgbClr val="FFF3D6"/>
          </a:solidFill>
          <a:ln w="9525">
            <a:solidFill>
              <a:srgbClr val="B46A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617720"/>
            <a:ext cx="10515600" cy="640080"/>
          </a:xfrm>
          <a:prstGeom prst="rect">
            <a:avLst/>
          </a:prstGeom>
          <a:noFill/>
        </p:spPr>
        <p:txBody>
          <a:bodyPr wrap="square" lIns="27432" rIns="27432" tIns="18288" bIns="18288" anchor="t">
            <a:spAutoFit/>
          </a:bodyPr>
          <a:lstStyle/>
          <a:p>
            <a:pPr algn="l"/>
            <a:r>
              <a:rPr sz="1500" b="1">
                <a:solidFill>
                  <a:srgbClr val="6B3A00"/>
                </a:solidFill>
                <a:latin typeface="Noto Sans JP"/>
              </a:rPr>
              <a:t>→ 会議で上記の認識に相違がないか確認する</a:t>
            </a:r>
          </a:p>
        </p:txBody>
      </p:sp>
      <p:sp>
        <p:nvSpPr>
          <p:cNvPr id="15" name="TextBox 14"/>
          <p:cNvSpPr txBox="1"/>
          <p:nvPr/>
        </p:nvSpPr>
        <p:spPr>
          <a:xfrm>
            <a:off x="457200" y="6492240"/>
            <a:ext cx="3657600" cy="274320"/>
          </a:xfrm>
          <a:prstGeom prst="rect">
            <a:avLst/>
          </a:prstGeom>
          <a:noFill/>
        </p:spPr>
        <p:txBody>
          <a:bodyPr wrap="none" lIns="0" tIns="0">
            <a:spAutoFit/>
          </a:bodyPr>
          <a:lstStyle/>
          <a:p>
            <a:r>
              <a:rPr sz="1000" b="1">
                <a:solidFill>
                  <a:srgbClr val="3A3A3A"/>
                </a:solidFill>
                <a:latin typeface="Noto Sans JP"/>
              </a:rPr>
              <a:t>TOMOSHIKA</a:t>
            </a:r>
          </a:p>
        </p:txBody>
      </p:sp>
      <p:sp>
        <p:nvSpPr>
          <p:cNvPr id="16" name="TextBox 15"/>
          <p:cNvSpPr txBox="1"/>
          <p:nvPr/>
        </p:nvSpPr>
        <p:spPr>
          <a:xfrm>
            <a:off x="10972800" y="6492240"/>
            <a:ext cx="914400" cy="274320"/>
          </a:xfrm>
          <a:prstGeom prst="rect">
            <a:avLst/>
          </a:prstGeom>
          <a:noFill/>
        </p:spPr>
        <p:txBody>
          <a:bodyPr wrap="none" lIns="0" tIns="0">
            <a:spAutoFit/>
          </a:bodyPr>
          <a:lstStyle/>
          <a:p>
            <a:pPr algn="r"/>
            <a:r>
              <a:rPr sz="1000" b="1">
                <a:solidFill>
                  <a:srgbClr val="3A3A3A"/>
                </a:solidFill>
                <a:latin typeface="Noto Sans JP"/>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502920"/>
            <a:ext cx="128016" cy="128016"/>
          </a:xfrm>
          <a:prstGeom prst="rect">
            <a:avLst/>
          </a:prstGeom>
          <a:solidFill>
            <a:srgbClr val="E8C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429768"/>
            <a:ext cx="9144000" cy="320040"/>
          </a:xfrm>
          <a:prstGeom prst="rect">
            <a:avLst/>
          </a:prstGeom>
          <a:noFill/>
        </p:spPr>
        <p:txBody>
          <a:bodyPr wrap="square" lIns="27432" rIns="27432" tIns="18288" bIns="18288" anchor="t">
            <a:spAutoFit/>
          </a:bodyPr>
          <a:lstStyle/>
          <a:p>
            <a:pPr algn="l"/>
            <a:r>
              <a:rPr sz="1300" b="1">
                <a:solidFill>
                  <a:srgbClr val="E3DCC9"/>
                </a:solidFill>
                <a:latin typeface="Noto Sans JP"/>
              </a:rPr>
              <a:t>PHASE 02 / MIL 様 → Dify</a:t>
            </a:r>
          </a:p>
        </p:txBody>
      </p:sp>
      <p:sp>
        <p:nvSpPr>
          <p:cNvPr id="5" name="TextBox 4"/>
          <p:cNvSpPr txBox="1"/>
          <p:nvPr/>
        </p:nvSpPr>
        <p:spPr>
          <a:xfrm>
            <a:off x="822960" y="1371600"/>
            <a:ext cx="5486400" cy="2286000"/>
          </a:xfrm>
          <a:prstGeom prst="rect">
            <a:avLst/>
          </a:prstGeom>
          <a:noFill/>
        </p:spPr>
        <p:txBody>
          <a:bodyPr wrap="square" lIns="27432" rIns="27432" tIns="18288" bIns="18288" anchor="t">
            <a:spAutoFit/>
          </a:bodyPr>
          <a:lstStyle/>
          <a:p>
            <a:pPr algn="l"/>
            <a:r>
              <a:rPr sz="14000" b="1">
                <a:solidFill>
                  <a:srgbClr val="D6A03A"/>
                </a:solidFill>
                <a:latin typeface="Noto Sans JP"/>
              </a:rPr>
              <a:t>02</a:t>
            </a:r>
          </a:p>
        </p:txBody>
      </p:sp>
      <p:sp>
        <p:nvSpPr>
          <p:cNvPr id="6" name="TextBox 5"/>
          <p:cNvSpPr txBox="1"/>
          <p:nvPr/>
        </p:nvSpPr>
        <p:spPr>
          <a:xfrm>
            <a:off x="822960" y="3657600"/>
            <a:ext cx="10972800" cy="1097280"/>
          </a:xfrm>
          <a:prstGeom prst="rect">
            <a:avLst/>
          </a:prstGeom>
          <a:noFill/>
        </p:spPr>
        <p:txBody>
          <a:bodyPr wrap="square" lIns="27432" rIns="27432" tIns="18288" bIns="18288" anchor="t">
            <a:spAutoFit/>
          </a:bodyPr>
          <a:lstStyle/>
          <a:p>
            <a:pPr algn="l"/>
            <a:r>
              <a:rPr sz="5200" b="1">
                <a:solidFill>
                  <a:srgbClr val="FFFFFF"/>
                </a:solidFill>
                <a:latin typeface="Noto Sans JP"/>
              </a:rPr>
              <a:t>検査結果をDifyに送る</a:t>
            </a:r>
          </a:p>
        </p:txBody>
      </p:sp>
      <p:sp>
        <p:nvSpPr>
          <p:cNvPr id="7" name="TextBox 6"/>
          <p:cNvSpPr txBox="1"/>
          <p:nvPr/>
        </p:nvSpPr>
        <p:spPr>
          <a:xfrm>
            <a:off x="822960" y="4846320"/>
            <a:ext cx="10972800" cy="1645920"/>
          </a:xfrm>
          <a:prstGeom prst="rect">
            <a:avLst/>
          </a:prstGeom>
          <a:noFill/>
        </p:spPr>
        <p:txBody>
          <a:bodyPr wrap="square" lIns="27432" rIns="27432" tIns="18288" bIns="18288" anchor="t">
            <a:spAutoFit/>
          </a:bodyPr>
          <a:lstStyle/>
          <a:p>
            <a:pPr algn="l">
              <a:lnSpc>
                <a:spcPct val="140000"/>
              </a:lnSpc>
            </a:pPr>
            <a:r>
              <a:rPr sz="1500" b="0">
                <a:solidFill>
                  <a:srgbClr val="E3DCC9"/>
                </a:solidFill>
                <a:latin typeface="Noto Sans JP"/>
              </a:rPr>
              <a:t>フェーズ1で算出された11個の数値を、MIL様のサーバーから中西製作所様のDifyに送る。</a:t>
            </a:r>
          </a:p>
          <a:p>
            <a:pPr algn="l">
              <a:lnSpc>
                <a:spcPct val="140000"/>
              </a:lnSpc>
            </a:pPr>
            <a:r>
              <a:rPr sz="1500" b="0">
                <a:solidFill>
                  <a:srgbClr val="E3DCC9"/>
                </a:solidFill>
                <a:latin typeface="Noto Sans JP"/>
              </a:rPr>
              <a:t>送ると自動的にフェーズ3の判定処理が走り、結果が返ってくる（フェーズ4）。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502920"/>
            <a:ext cx="109728" cy="109728"/>
          </a:xfrm>
          <a:prstGeom prst="rect">
            <a:avLst/>
          </a:prstGeom>
          <a:solidFill>
            <a:srgbClr val="B9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9144000" cy="320040"/>
          </a:xfrm>
          <a:prstGeom prst="rect">
            <a:avLst/>
          </a:prstGeom>
          <a:noFill/>
        </p:spPr>
        <p:txBody>
          <a:bodyPr wrap="none" lIns="0" tIns="0">
            <a:spAutoFit/>
          </a:bodyPr>
          <a:lstStyle/>
          <a:p>
            <a:r>
              <a:rPr sz="1400" b="1">
                <a:solidFill>
                  <a:srgbClr val="141414"/>
                </a:solidFill>
                <a:latin typeface="Noto Sans JP"/>
              </a:rPr>
              <a:t>PHASE 02 / 通信の構造</a:t>
            </a:r>
          </a:p>
        </p:txBody>
      </p:sp>
      <p:sp>
        <p:nvSpPr>
          <p:cNvPr id="5" name="TextBox 4"/>
          <p:cNvSpPr txBox="1"/>
          <p:nvPr/>
        </p:nvSpPr>
        <p:spPr>
          <a:xfrm>
            <a:off x="594360" y="868680"/>
            <a:ext cx="10972800" cy="731520"/>
          </a:xfrm>
          <a:prstGeom prst="rect">
            <a:avLst/>
          </a:prstGeom>
          <a:noFill/>
        </p:spPr>
        <p:txBody>
          <a:bodyPr wrap="square" lIns="27432" rIns="27432" tIns="18288" bIns="18288" anchor="t">
            <a:spAutoFit/>
          </a:bodyPr>
          <a:lstStyle/>
          <a:p>
            <a:pPr algn="l"/>
            <a:r>
              <a:rPr sz="2200" b="1">
                <a:solidFill>
                  <a:srgbClr val="000000"/>
                </a:solidFill>
                <a:latin typeface="Noto Sans JP"/>
              </a:rPr>
              <a:t>フェーズ2（送る）とフェーズ4（返ってくる）は1回のやり取り</a:t>
            </a:r>
          </a:p>
        </p:txBody>
      </p:sp>
      <p:sp>
        <p:nvSpPr>
          <p:cNvPr id="6" name="TextBox 5"/>
          <p:cNvSpPr txBox="1"/>
          <p:nvPr/>
        </p:nvSpPr>
        <p:spPr>
          <a:xfrm>
            <a:off x="594360" y="1463040"/>
            <a:ext cx="10972800" cy="548640"/>
          </a:xfrm>
          <a:prstGeom prst="rect">
            <a:avLst/>
          </a:prstGeom>
          <a:noFill/>
        </p:spPr>
        <p:txBody>
          <a:bodyPr wrap="square" lIns="27432" rIns="27432" tIns="18288" bIns="18288" anchor="t">
            <a:spAutoFit/>
          </a:bodyPr>
          <a:lstStyle/>
          <a:p>
            <a:pPr algn="l"/>
            <a:r>
              <a:rPr sz="1400" b="0">
                <a:solidFill>
                  <a:srgbClr val="000000"/>
                </a:solidFill>
                <a:latin typeface="Noto Sans JP"/>
              </a:rPr>
              <a:t>電話でいうと、MIL様が電話をかけて質問し、Difyが電話口で答えを返す ── これが1回で完結する。</a:t>
            </a:r>
          </a:p>
        </p:txBody>
      </p:sp>
      <p:sp>
        <p:nvSpPr>
          <p:cNvPr id="7" name="Rounded Rectangle 6"/>
          <p:cNvSpPr/>
          <p:nvPr/>
        </p:nvSpPr>
        <p:spPr>
          <a:xfrm>
            <a:off x="594360" y="2286000"/>
            <a:ext cx="10972800" cy="3200400"/>
          </a:xfrm>
          <a:prstGeom prst="roundRect">
            <a:avLst>
              <a:gd name="adj" fmla="val 4000"/>
            </a:avLst>
          </a:prstGeom>
          <a:solidFill>
            <a:srgbClr val="FFFFFF"/>
          </a:solidFill>
          <a:ln w="9525">
            <a:solidFill>
              <a:srgbClr val="C8C3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423160"/>
            <a:ext cx="10789920" cy="3017520"/>
          </a:xfrm>
          <a:prstGeom prst="rect">
            <a:avLst/>
          </a:prstGeom>
          <a:noFill/>
        </p:spPr>
        <p:txBody>
          <a:bodyPr wrap="square" lIns="27432" rIns="27432" tIns="18288" bIns="18288" anchor="t">
            <a:spAutoFit/>
          </a:bodyPr>
          <a:lstStyle/>
          <a:p>
            <a:pPr algn="l"/>
            <a:r>
              <a:rPr sz="1300" b="0">
                <a:solidFill>
                  <a:srgbClr val="000000"/>
                </a:solidFill>
                <a:latin typeface="Courier New"/>
              </a:rPr>
              <a:t>MIL様のサーバー                     中西製作所様のDifyアカウント</a:t>
            </a:r>
          </a:p>
          <a:p>
            <a:pPr algn="l"/>
            <a:r>
              <a:rPr sz="1300" b="0">
                <a:solidFill>
                  <a:srgbClr val="000000"/>
                </a:solidFill>
                <a:latin typeface="Courier New"/>
              </a:rPr>
              <a:t>                                    （エヌイチが構築・運用）</a:t>
            </a:r>
          </a:p>
          <a:p>
            <a:pPr algn="l"/>
            <a:r>
              <a:rPr sz="1300" b="0">
                <a:solidFill>
                  <a:srgbClr val="000000"/>
                </a:solidFill>
                <a:latin typeface="Courier New"/>
              </a:rPr>
              <a:t/>
            </a:r>
          </a:p>
          <a:p>
            <a:pPr algn="l"/>
            <a:r>
              <a:rPr sz="1300" b="0">
                <a:solidFill>
                  <a:srgbClr val="000000"/>
                </a:solidFill>
                <a:latin typeface="Courier New"/>
              </a:rPr>
              <a:t>  ① 11個の数値を送る ─────→    ② 受け取って判定処理を実行</a:t>
            </a:r>
          </a:p>
          <a:p>
            <a:pPr algn="l"/>
            <a:r>
              <a:rPr sz="1300" b="0">
                <a:solidFill>
                  <a:srgbClr val="000000"/>
                </a:solidFill>
                <a:latin typeface="Courier New"/>
              </a:rPr>
              <a:t>                                     （フェーズ3の処理が動く）</a:t>
            </a:r>
          </a:p>
          <a:p>
            <a:pPr algn="l"/>
            <a:r>
              <a:rPr sz="1300" b="0">
                <a:solidFill>
                  <a:srgbClr val="000000"/>
                </a:solidFill>
                <a:latin typeface="Courier New"/>
              </a:rPr>
              <a:t/>
            </a:r>
          </a:p>
          <a:p>
            <a:pPr algn="l"/>
            <a:r>
              <a:rPr sz="1300" b="0">
                <a:solidFill>
                  <a:srgbClr val="000000"/>
                </a:solidFill>
                <a:latin typeface="Courier New"/>
              </a:rPr>
              <a:t>  ④ 結果を受け取る   ←─────    ③ 判定結果を返す</a:t>
            </a:r>
          </a:p>
          <a:p>
            <a:pPr algn="l"/>
            <a:r>
              <a:rPr sz="1300" b="0">
                <a:solidFill>
                  <a:srgbClr val="000000"/>
                </a:solidFill>
                <a:latin typeface="Courier New"/>
              </a:rPr>
              <a:t>                                     （フェーズ4）</a:t>
            </a:r>
          </a:p>
        </p:txBody>
      </p:sp>
      <p:sp>
        <p:nvSpPr>
          <p:cNvPr id="9" name="TextBox 8"/>
          <p:cNvSpPr txBox="1"/>
          <p:nvPr/>
        </p:nvSpPr>
        <p:spPr>
          <a:xfrm>
            <a:off x="457200" y="6492240"/>
            <a:ext cx="3657600" cy="274320"/>
          </a:xfrm>
          <a:prstGeom prst="rect">
            <a:avLst/>
          </a:prstGeom>
          <a:noFill/>
        </p:spPr>
        <p:txBody>
          <a:bodyPr wrap="none" lIns="0" tIns="0">
            <a:spAutoFit/>
          </a:bodyPr>
          <a:lstStyle/>
          <a:p>
            <a:r>
              <a:rPr sz="1000" b="1">
                <a:solidFill>
                  <a:srgbClr val="3A3A3A"/>
                </a:solidFill>
                <a:latin typeface="Noto Sans JP"/>
              </a:rPr>
              <a:t>TOMOSHIKA</a:t>
            </a:r>
          </a:p>
        </p:txBody>
      </p:sp>
      <p:sp>
        <p:nvSpPr>
          <p:cNvPr id="10" name="TextBox 9"/>
          <p:cNvSpPr txBox="1"/>
          <p:nvPr/>
        </p:nvSpPr>
        <p:spPr>
          <a:xfrm>
            <a:off x="10972800" y="6492240"/>
            <a:ext cx="914400" cy="274320"/>
          </a:xfrm>
          <a:prstGeom prst="rect">
            <a:avLst/>
          </a:prstGeom>
          <a:noFill/>
        </p:spPr>
        <p:txBody>
          <a:bodyPr wrap="none" lIns="0" tIns="0">
            <a:spAutoFit/>
          </a:bodyPr>
          <a:lstStyle/>
          <a:p>
            <a:pPr algn="r"/>
            <a:r>
              <a:rPr sz="1000" b="1">
                <a:solidFill>
                  <a:srgbClr val="3A3A3A"/>
                </a:solidFill>
                <a:latin typeface="Noto Sans JP"/>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502920"/>
            <a:ext cx="109728" cy="109728"/>
          </a:xfrm>
          <a:prstGeom prst="rect">
            <a:avLst/>
          </a:prstGeom>
          <a:solidFill>
            <a:srgbClr val="B9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9144000" cy="320040"/>
          </a:xfrm>
          <a:prstGeom prst="rect">
            <a:avLst/>
          </a:prstGeom>
          <a:noFill/>
        </p:spPr>
        <p:txBody>
          <a:bodyPr wrap="none" lIns="0" tIns="0">
            <a:spAutoFit/>
          </a:bodyPr>
          <a:lstStyle/>
          <a:p>
            <a:r>
              <a:rPr sz="1400" b="1">
                <a:solidFill>
                  <a:srgbClr val="141414"/>
                </a:solidFill>
                <a:latin typeface="Noto Sans JP"/>
              </a:rPr>
              <a:t>PHASE 02 / 準備</a:t>
            </a:r>
          </a:p>
        </p:txBody>
      </p:sp>
      <p:sp>
        <p:nvSpPr>
          <p:cNvPr id="5" name="TextBox 4"/>
          <p:cNvSpPr txBox="1"/>
          <p:nvPr/>
        </p:nvSpPr>
        <p:spPr>
          <a:xfrm>
            <a:off x="594360" y="868680"/>
            <a:ext cx="10972800" cy="731520"/>
          </a:xfrm>
          <a:prstGeom prst="rect">
            <a:avLst/>
          </a:prstGeom>
          <a:noFill/>
        </p:spPr>
        <p:txBody>
          <a:bodyPr wrap="square" lIns="27432" rIns="27432" tIns="18288" bIns="18288" anchor="t">
            <a:spAutoFit/>
          </a:bodyPr>
          <a:lstStyle/>
          <a:p>
            <a:pPr algn="l"/>
            <a:r>
              <a:rPr sz="2800" b="1">
                <a:solidFill>
                  <a:srgbClr val="000000"/>
                </a:solidFill>
                <a:latin typeface="Noto Sans JP"/>
              </a:rPr>
              <a:t>送るために必要なもの</a:t>
            </a:r>
          </a:p>
        </p:txBody>
      </p:sp>
      <p:sp>
        <p:nvSpPr>
          <p:cNvPr id="6" name="TextBox 5"/>
          <p:cNvSpPr txBox="1"/>
          <p:nvPr/>
        </p:nvSpPr>
        <p:spPr>
          <a:xfrm>
            <a:off x="594360" y="1417320"/>
            <a:ext cx="11430000" cy="685800"/>
          </a:xfrm>
          <a:prstGeom prst="rect">
            <a:avLst/>
          </a:prstGeom>
          <a:noFill/>
        </p:spPr>
        <p:txBody>
          <a:bodyPr wrap="square" lIns="27432" rIns="27432" tIns="18288" bIns="18288" anchor="t">
            <a:spAutoFit/>
          </a:bodyPr>
          <a:lstStyle/>
          <a:p>
            <a:pPr algn="l">
              <a:lnSpc>
                <a:spcPct val="135000"/>
              </a:lnSpc>
            </a:pPr>
            <a:r>
              <a:rPr sz="1200" b="0">
                <a:solidFill>
                  <a:srgbClr val="000000"/>
                </a:solidFill>
                <a:latin typeface="Noto Sans JP"/>
              </a:rPr>
              <a:t>MIL様がDifyにデータを送るには、以下の</a:t>
            </a:r>
            <a:r>
              <a:rPr sz="1200" b="1">
                <a:solidFill>
                  <a:srgbClr val="000000"/>
                </a:solidFill>
                <a:latin typeface="Noto Sans JP"/>
              </a:rPr>
              <a:t>2つの情報</a:t>
            </a:r>
            <a:r>
              <a:rPr sz="1200" b="0">
                <a:solidFill>
                  <a:srgbClr val="000000"/>
                </a:solidFill>
                <a:latin typeface="Noto Sans JP"/>
              </a:rPr>
              <a:t>が必要。どちらも</a:t>
            </a:r>
            <a:r>
              <a:rPr sz="1200" b="1">
                <a:solidFill>
                  <a:srgbClr val="000000"/>
                </a:solidFill>
                <a:latin typeface="Noto Sans JP"/>
              </a:rPr>
              <a:t>中西製作所様のDifyアカウントから発行されるもの</a:t>
            </a:r>
            <a:r>
              <a:rPr sz="1200" b="0">
                <a:solidFill>
                  <a:srgbClr val="000000"/>
                </a:solidFill>
                <a:latin typeface="Noto Sans JP"/>
              </a:rPr>
              <a:t>で、エヌイチが代行してMIL様に共有する。</a:t>
            </a:r>
          </a:p>
        </p:txBody>
      </p:sp>
      <p:graphicFrame>
        <p:nvGraphicFramePr>
          <p:cNvPr id="7" name="Table 6"/>
          <p:cNvGraphicFramePr>
            <a:graphicFrameLocks noGrp="1"/>
          </p:cNvGraphicFramePr>
          <p:nvPr/>
        </p:nvGraphicFramePr>
        <p:xfrm>
          <a:off x="594360" y="2194560"/>
          <a:ext cx="10972800" cy="1371600"/>
        </p:xfrm>
        <a:graphic>
          <a:graphicData uri="http://schemas.openxmlformats.org/drawingml/2006/table">
            <a:tbl>
              <a:tblPr firstRow="1" bandRow="1">
                <a:tableStyleId>{5C22544A-7EE6-4342-B048-85BDC9FD1C3A}</a:tableStyleId>
              </a:tblPr>
              <a:tblGrid>
                <a:gridCol w="2743200"/>
                <a:gridCol w="3657600"/>
                <a:gridCol w="2560320"/>
                <a:gridCol w="2011680"/>
              </a:tblGrid>
              <a:tr h="457200">
                <a:tc>
                  <a:txBody>
                    <a:bodyPr wrap="square" lIns="45720" rIns="45720" tIns="36576" bIns="36576"/>
                    <a:lstStyle/>
                    <a:p>
                      <a:r>
                        <a:rPr sz="1100" b="1">
                          <a:solidFill>
                            <a:srgbClr val="000000"/>
                          </a:solidFill>
                          <a:latin typeface="Noto Sans JP"/>
                        </a:rPr>
                        <a:t>必要なもの</a:t>
                      </a:r>
                    </a:p>
                  </a:txBody>
                  <a:tcPr marL="73152" marR="73152" marT="45720" marB="45720" anchor="t">
                    <a:solidFill>
                      <a:srgbClr val="EDE6D2"/>
                    </a:solidFill>
                  </a:tcPr>
                </a:tc>
                <a:tc>
                  <a:txBody>
                    <a:bodyPr wrap="square" lIns="45720" rIns="45720" tIns="36576" bIns="36576"/>
                    <a:lstStyle/>
                    <a:p>
                      <a:r>
                        <a:rPr sz="1100" b="1">
                          <a:solidFill>
                            <a:srgbClr val="000000"/>
                          </a:solidFill>
                          <a:latin typeface="Noto Sans JP"/>
                        </a:rPr>
                        <a:t>何か</a:t>
                      </a:r>
                    </a:p>
                  </a:txBody>
                  <a:tcPr marL="73152" marR="73152" marT="45720" marB="45720" anchor="t">
                    <a:solidFill>
                      <a:srgbClr val="EDE6D2"/>
                    </a:solidFill>
                  </a:tcPr>
                </a:tc>
                <a:tc>
                  <a:txBody>
                    <a:bodyPr wrap="square" lIns="45720" rIns="45720" tIns="36576" bIns="36576"/>
                    <a:lstStyle/>
                    <a:p>
                      <a:r>
                        <a:rPr sz="1100" b="1">
                          <a:solidFill>
                            <a:srgbClr val="000000"/>
                          </a:solidFill>
                          <a:latin typeface="Noto Sans JP"/>
                        </a:rPr>
                        <a:t>誰が発行するか</a:t>
                      </a:r>
                    </a:p>
                  </a:txBody>
                  <a:tcPr marL="73152" marR="73152" marT="45720" marB="45720" anchor="t">
                    <a:solidFill>
                      <a:srgbClr val="EDE6D2"/>
                    </a:solidFill>
                  </a:tcPr>
                </a:tc>
                <a:tc>
                  <a:txBody>
                    <a:bodyPr wrap="square" lIns="45720" rIns="45720" tIns="36576" bIns="36576"/>
                    <a:lstStyle/>
                    <a:p>
                      <a:r>
                        <a:rPr sz="1100" b="1">
                          <a:solidFill>
                            <a:srgbClr val="000000"/>
                          </a:solidFill>
                          <a:latin typeface="Noto Sans JP"/>
                        </a:rPr>
                        <a:t>誰に渡すか</a:t>
                      </a:r>
                    </a:p>
                  </a:txBody>
                  <a:tcPr marL="73152" marR="73152" marT="45720" marB="45720" anchor="t">
                    <a:solidFill>
                      <a:srgbClr val="EDE6D2"/>
                    </a:solidFill>
                  </a:tcPr>
                </a:tc>
              </a:tr>
              <a:tr h="457200">
                <a:tc>
                  <a:txBody>
                    <a:bodyPr wrap="square" lIns="45720" rIns="45720" tIns="36576" bIns="36576"/>
                    <a:lstStyle/>
                    <a:p>
                      <a:r>
                        <a:rPr sz="1100" b="1">
                          <a:solidFill>
                            <a:srgbClr val="000000"/>
                          </a:solidFill>
                          <a:latin typeface="Noto Sans JP"/>
                        </a:rPr>
                        <a:t>エンドポイントURL</a:t>
                      </a:r>
                      <a:r>
                        <a:rPr sz="1100" b="0">
                          <a:solidFill>
                            <a:srgbClr val="000000"/>
                          </a:solidFill>
                          <a:latin typeface="Noto Sans JP"/>
                        </a:rPr>
                        <a:t>（接続先）</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データの送り先アドレス</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中西製作所様のDifyアカウント</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MIL様に共有</a:t>
                      </a:r>
                    </a:p>
                  </a:txBody>
                  <a:tcPr marL="73152" marR="73152" marT="45720" marB="45720" anchor="t">
                    <a:solidFill>
                      <a:srgbClr val="FFFFFF"/>
                    </a:solidFill>
                  </a:tcPr>
                </a:tc>
              </a:tr>
              <a:tr h="457200">
                <a:tc>
                  <a:txBody>
                    <a:bodyPr wrap="square" lIns="45720" rIns="45720" tIns="36576" bIns="36576"/>
                    <a:lstStyle/>
                    <a:p>
                      <a:r>
                        <a:rPr sz="1100" b="1">
                          <a:solidFill>
                            <a:srgbClr val="000000"/>
                          </a:solidFill>
                          <a:latin typeface="Noto Sans JP"/>
                        </a:rPr>
                        <a:t>APIキー</a:t>
                      </a:r>
                      <a:r>
                        <a:rPr sz="1100" b="0">
                          <a:solidFill>
                            <a:srgbClr val="000000"/>
                          </a:solidFill>
                          <a:latin typeface="Noto Sans JP"/>
                        </a:rPr>
                        <a:t>（認証キー）</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「この人は使っていいですよ」という合鍵</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中西製作所様のDifyアカウント</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MIL様に共有</a:t>
                      </a:r>
                    </a:p>
                  </a:txBody>
                  <a:tcPr marL="73152" marR="73152" marT="45720" marB="45720" anchor="t">
                    <a:solidFill>
                      <a:srgbClr val="FFFFFF"/>
                    </a:solidFill>
                  </a:tcPr>
                </a:tc>
              </a:tr>
            </a:tbl>
          </a:graphicData>
        </a:graphic>
      </p:graphicFrame>
      <p:sp>
        <p:nvSpPr>
          <p:cNvPr id="8" name="TextBox 7"/>
          <p:cNvSpPr txBox="1"/>
          <p:nvPr/>
        </p:nvSpPr>
        <p:spPr>
          <a:xfrm>
            <a:off x="594360" y="3703320"/>
            <a:ext cx="10972800" cy="365760"/>
          </a:xfrm>
          <a:prstGeom prst="rect">
            <a:avLst/>
          </a:prstGeom>
          <a:noFill/>
        </p:spPr>
        <p:txBody>
          <a:bodyPr wrap="square" lIns="27432" rIns="27432" tIns="18288" bIns="18288" anchor="t">
            <a:spAutoFit/>
          </a:bodyPr>
          <a:lstStyle/>
          <a:p>
            <a:pPr algn="l"/>
            <a:r>
              <a:rPr sz="1600" b="1">
                <a:solidFill>
                  <a:srgbClr val="000000"/>
                </a:solidFill>
                <a:latin typeface="Noto Sans JP"/>
              </a:rPr>
              <a:t>準備の流れ</a:t>
            </a:r>
          </a:p>
        </p:txBody>
      </p:sp>
      <p:sp>
        <p:nvSpPr>
          <p:cNvPr id="9" name="Oval 8"/>
          <p:cNvSpPr/>
          <p:nvPr/>
        </p:nvSpPr>
        <p:spPr>
          <a:xfrm>
            <a:off x="640080" y="4197096"/>
            <a:ext cx="256032" cy="256032"/>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4178807"/>
            <a:ext cx="256032" cy="274320"/>
          </a:xfrm>
          <a:prstGeom prst="rect">
            <a:avLst/>
          </a:prstGeom>
          <a:noFill/>
        </p:spPr>
        <p:txBody>
          <a:bodyPr wrap="square" lIns="27432" rIns="27432" tIns="18288" bIns="18288" anchor="t">
            <a:spAutoFit/>
          </a:bodyPr>
          <a:lstStyle/>
          <a:p>
            <a:pPr algn="ctr"/>
            <a:r>
              <a:rPr sz="1100" b="1">
                <a:solidFill>
                  <a:srgbClr val="FFFFFF"/>
                </a:solidFill>
                <a:latin typeface="Noto Sans JP"/>
              </a:rPr>
              <a:t>1</a:t>
            </a:r>
          </a:p>
        </p:txBody>
      </p:sp>
      <p:sp>
        <p:nvSpPr>
          <p:cNvPr id="11" name="TextBox 10"/>
          <p:cNvSpPr txBox="1"/>
          <p:nvPr/>
        </p:nvSpPr>
        <p:spPr>
          <a:xfrm>
            <a:off x="1005840" y="4160520"/>
            <a:ext cx="10789920" cy="365760"/>
          </a:xfrm>
          <a:prstGeom prst="rect">
            <a:avLst/>
          </a:prstGeom>
          <a:noFill/>
        </p:spPr>
        <p:txBody>
          <a:bodyPr wrap="square" lIns="27432" rIns="27432" tIns="18288" bIns="18288" anchor="t">
            <a:spAutoFit/>
          </a:bodyPr>
          <a:lstStyle/>
          <a:p>
            <a:pPr algn="l"/>
            <a:r>
              <a:rPr sz="1200" b="0">
                <a:solidFill>
                  <a:srgbClr val="000000"/>
                </a:solidFill>
                <a:latin typeface="Noto Sans JP"/>
              </a:rPr>
              <a:t>エヌイチが中西製作所様のDifyアカウント上でしくみを完成させる</a:t>
            </a:r>
          </a:p>
        </p:txBody>
      </p:sp>
      <p:sp>
        <p:nvSpPr>
          <p:cNvPr id="12" name="Oval 11"/>
          <p:cNvSpPr/>
          <p:nvPr/>
        </p:nvSpPr>
        <p:spPr>
          <a:xfrm>
            <a:off x="640080" y="4544568"/>
            <a:ext cx="256032" cy="256032"/>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526279"/>
            <a:ext cx="256032" cy="274320"/>
          </a:xfrm>
          <a:prstGeom prst="rect">
            <a:avLst/>
          </a:prstGeom>
          <a:noFill/>
        </p:spPr>
        <p:txBody>
          <a:bodyPr wrap="square" lIns="27432" rIns="27432" tIns="18288" bIns="18288" anchor="t">
            <a:spAutoFit/>
          </a:bodyPr>
          <a:lstStyle/>
          <a:p>
            <a:pPr algn="ctr"/>
            <a:r>
              <a:rPr sz="1100" b="1">
                <a:solidFill>
                  <a:srgbClr val="FFFFFF"/>
                </a:solidFill>
                <a:latin typeface="Noto Sans JP"/>
              </a:rPr>
              <a:t>2</a:t>
            </a:r>
          </a:p>
        </p:txBody>
      </p:sp>
      <p:sp>
        <p:nvSpPr>
          <p:cNvPr id="14" name="TextBox 13"/>
          <p:cNvSpPr txBox="1"/>
          <p:nvPr/>
        </p:nvSpPr>
        <p:spPr>
          <a:xfrm>
            <a:off x="1005840" y="4507992"/>
            <a:ext cx="10789920" cy="365760"/>
          </a:xfrm>
          <a:prstGeom prst="rect">
            <a:avLst/>
          </a:prstGeom>
          <a:noFill/>
        </p:spPr>
        <p:txBody>
          <a:bodyPr wrap="square" lIns="27432" rIns="27432" tIns="18288" bIns="18288" anchor="t">
            <a:spAutoFit/>
          </a:bodyPr>
          <a:lstStyle/>
          <a:p>
            <a:pPr algn="l"/>
            <a:r>
              <a:rPr sz="1200" b="0">
                <a:solidFill>
                  <a:srgbClr val="000000"/>
                </a:solidFill>
                <a:latin typeface="Noto Sans JP"/>
              </a:rPr>
              <a:t>Difyの管理画面で「公開」すると、エンドポイントURLとAPIキーが自動発行される</a:t>
            </a:r>
          </a:p>
        </p:txBody>
      </p:sp>
      <p:sp>
        <p:nvSpPr>
          <p:cNvPr id="15" name="Oval 14"/>
          <p:cNvSpPr/>
          <p:nvPr/>
        </p:nvSpPr>
        <p:spPr>
          <a:xfrm>
            <a:off x="640080" y="4892040"/>
            <a:ext cx="256032" cy="256032"/>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873751"/>
            <a:ext cx="256032" cy="274320"/>
          </a:xfrm>
          <a:prstGeom prst="rect">
            <a:avLst/>
          </a:prstGeom>
          <a:noFill/>
        </p:spPr>
        <p:txBody>
          <a:bodyPr wrap="square" lIns="27432" rIns="27432" tIns="18288" bIns="18288" anchor="t">
            <a:spAutoFit/>
          </a:bodyPr>
          <a:lstStyle/>
          <a:p>
            <a:pPr algn="ctr"/>
            <a:r>
              <a:rPr sz="1100" b="1">
                <a:solidFill>
                  <a:srgbClr val="FFFFFF"/>
                </a:solidFill>
                <a:latin typeface="Noto Sans JP"/>
              </a:rPr>
              <a:t>3</a:t>
            </a:r>
          </a:p>
        </p:txBody>
      </p:sp>
      <p:sp>
        <p:nvSpPr>
          <p:cNvPr id="17" name="TextBox 16"/>
          <p:cNvSpPr txBox="1"/>
          <p:nvPr/>
        </p:nvSpPr>
        <p:spPr>
          <a:xfrm>
            <a:off x="1005840" y="4855464"/>
            <a:ext cx="10789920" cy="365760"/>
          </a:xfrm>
          <a:prstGeom prst="rect">
            <a:avLst/>
          </a:prstGeom>
          <a:noFill/>
        </p:spPr>
        <p:txBody>
          <a:bodyPr wrap="square" lIns="27432" rIns="27432" tIns="18288" bIns="18288" anchor="t">
            <a:spAutoFit/>
          </a:bodyPr>
          <a:lstStyle/>
          <a:p>
            <a:pPr algn="l"/>
            <a:r>
              <a:rPr sz="1200" b="0">
                <a:solidFill>
                  <a:srgbClr val="000000"/>
                </a:solidFill>
                <a:latin typeface="Noto Sans JP"/>
              </a:rPr>
              <a:t>この2つをエヌイチからMIL様に共有する</a:t>
            </a:r>
          </a:p>
        </p:txBody>
      </p:sp>
      <p:sp>
        <p:nvSpPr>
          <p:cNvPr id="18" name="Oval 17"/>
          <p:cNvSpPr/>
          <p:nvPr/>
        </p:nvSpPr>
        <p:spPr>
          <a:xfrm>
            <a:off x="640080" y="5239512"/>
            <a:ext cx="256032" cy="256032"/>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21223"/>
            <a:ext cx="256032" cy="274320"/>
          </a:xfrm>
          <a:prstGeom prst="rect">
            <a:avLst/>
          </a:prstGeom>
          <a:noFill/>
        </p:spPr>
        <p:txBody>
          <a:bodyPr wrap="square" lIns="27432" rIns="27432" tIns="18288" bIns="18288" anchor="t">
            <a:spAutoFit/>
          </a:bodyPr>
          <a:lstStyle/>
          <a:p>
            <a:pPr algn="ctr"/>
            <a:r>
              <a:rPr sz="1100" b="1">
                <a:solidFill>
                  <a:srgbClr val="FFFFFF"/>
                </a:solidFill>
                <a:latin typeface="Noto Sans JP"/>
              </a:rPr>
              <a:t>4</a:t>
            </a:r>
          </a:p>
        </p:txBody>
      </p:sp>
      <p:sp>
        <p:nvSpPr>
          <p:cNvPr id="20" name="TextBox 19"/>
          <p:cNvSpPr txBox="1"/>
          <p:nvPr/>
        </p:nvSpPr>
        <p:spPr>
          <a:xfrm>
            <a:off x="1005840" y="5202936"/>
            <a:ext cx="10789920" cy="365760"/>
          </a:xfrm>
          <a:prstGeom prst="rect">
            <a:avLst/>
          </a:prstGeom>
          <a:noFill/>
        </p:spPr>
        <p:txBody>
          <a:bodyPr wrap="square" lIns="27432" rIns="27432" tIns="18288" bIns="18288" anchor="t">
            <a:spAutoFit/>
          </a:bodyPr>
          <a:lstStyle/>
          <a:p>
            <a:pPr algn="l"/>
            <a:r>
              <a:rPr sz="1200" b="0">
                <a:solidFill>
                  <a:srgbClr val="000000"/>
                </a:solidFill>
                <a:latin typeface="Noto Sans JP"/>
              </a:rPr>
              <a:t>MIL様はこの2つを自社サーバーに設定して、学生が検査を完了するたびにデータを送れるようにする</a:t>
            </a:r>
          </a:p>
        </p:txBody>
      </p:sp>
      <p:sp>
        <p:nvSpPr>
          <p:cNvPr id="21" name="Rounded Rectangle 20"/>
          <p:cNvSpPr/>
          <p:nvPr/>
        </p:nvSpPr>
        <p:spPr>
          <a:xfrm>
            <a:off x="594360" y="5623560"/>
            <a:ext cx="10972800" cy="685800"/>
          </a:xfrm>
          <a:prstGeom prst="roundRect">
            <a:avLst>
              <a:gd name="adj" fmla="val 4000"/>
            </a:avLst>
          </a:prstGeom>
          <a:solidFill>
            <a:srgbClr val="E8EEF8"/>
          </a:solidFill>
          <a:ln w="9525">
            <a:solidFill>
              <a:srgbClr val="1C4D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94360" y="5623560"/>
            <a:ext cx="73152" cy="685800"/>
          </a:xfrm>
          <a:prstGeom prst="rect">
            <a:avLst/>
          </a:prstGeom>
          <a:solidFill>
            <a:srgbClr val="1C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687568"/>
            <a:ext cx="10515600" cy="548640"/>
          </a:xfrm>
          <a:prstGeom prst="rect">
            <a:avLst/>
          </a:prstGeom>
          <a:noFill/>
        </p:spPr>
        <p:txBody>
          <a:bodyPr wrap="square" lIns="27432" rIns="27432" tIns="18288" bIns="18288" anchor="t">
            <a:spAutoFit/>
          </a:bodyPr>
          <a:lstStyle/>
          <a:p>
            <a:pPr algn="l">
              <a:lnSpc>
                <a:spcPct val="130000"/>
              </a:lnSpc>
            </a:pPr>
            <a:r>
              <a:rPr sz="1300" b="1">
                <a:solidFill>
                  <a:srgbClr val="000000"/>
                </a:solidFill>
                <a:latin typeface="Noto Sans JP"/>
              </a:rPr>
              <a:t>MIL様が何かを発行してエヌイチや中西製作所様に渡す必要はありません。</a:t>
            </a:r>
          </a:p>
          <a:p>
            <a:pPr algn="l">
              <a:lnSpc>
                <a:spcPct val="130000"/>
              </a:lnSpc>
            </a:pPr>
            <a:r>
              <a:rPr sz="1200" b="0">
                <a:solidFill>
                  <a:srgbClr val="000000"/>
                </a:solidFill>
                <a:latin typeface="Noto Sans JP"/>
              </a:rPr>
              <a:t>中西製作所様のDifyから出た情報を、MIL様が受け取って使うだけです。</a:t>
            </a:r>
          </a:p>
        </p:txBody>
      </p:sp>
      <p:sp>
        <p:nvSpPr>
          <p:cNvPr id="24" name="TextBox 23"/>
          <p:cNvSpPr txBox="1"/>
          <p:nvPr/>
        </p:nvSpPr>
        <p:spPr>
          <a:xfrm>
            <a:off x="457200" y="6492240"/>
            <a:ext cx="3657600" cy="274320"/>
          </a:xfrm>
          <a:prstGeom prst="rect">
            <a:avLst/>
          </a:prstGeom>
          <a:noFill/>
        </p:spPr>
        <p:txBody>
          <a:bodyPr wrap="none" lIns="0" tIns="0">
            <a:spAutoFit/>
          </a:bodyPr>
          <a:lstStyle/>
          <a:p>
            <a:r>
              <a:rPr sz="1000" b="1">
                <a:solidFill>
                  <a:srgbClr val="3A3A3A"/>
                </a:solidFill>
                <a:latin typeface="Noto Sans JP"/>
              </a:rPr>
              <a:t>TOMOSHIKA</a:t>
            </a:r>
          </a:p>
        </p:txBody>
      </p:sp>
      <p:sp>
        <p:nvSpPr>
          <p:cNvPr id="25" name="TextBox 24"/>
          <p:cNvSpPr txBox="1"/>
          <p:nvPr/>
        </p:nvSpPr>
        <p:spPr>
          <a:xfrm>
            <a:off x="10972800" y="6492240"/>
            <a:ext cx="914400" cy="274320"/>
          </a:xfrm>
          <a:prstGeom prst="rect">
            <a:avLst/>
          </a:prstGeom>
          <a:noFill/>
        </p:spPr>
        <p:txBody>
          <a:bodyPr wrap="none" lIns="0" tIns="0">
            <a:spAutoFit/>
          </a:bodyPr>
          <a:lstStyle/>
          <a:p>
            <a:pPr algn="r"/>
            <a:r>
              <a:rPr sz="1000" b="1">
                <a:solidFill>
                  <a:srgbClr val="3A3A3A"/>
                </a:solidFill>
                <a:latin typeface="Noto Sans JP"/>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502920"/>
            <a:ext cx="109728" cy="109728"/>
          </a:xfrm>
          <a:prstGeom prst="rect">
            <a:avLst/>
          </a:prstGeom>
          <a:solidFill>
            <a:srgbClr val="B9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9144000" cy="320040"/>
          </a:xfrm>
          <a:prstGeom prst="rect">
            <a:avLst/>
          </a:prstGeom>
          <a:noFill/>
        </p:spPr>
        <p:txBody>
          <a:bodyPr wrap="none" lIns="0" tIns="0">
            <a:spAutoFit/>
          </a:bodyPr>
          <a:lstStyle/>
          <a:p>
            <a:r>
              <a:rPr sz="1400" b="1">
                <a:solidFill>
                  <a:srgbClr val="141414"/>
                </a:solidFill>
                <a:latin typeface="Noto Sans JP"/>
              </a:rPr>
              <a:t>PHASE 02 / データ</a:t>
            </a:r>
          </a:p>
        </p:txBody>
      </p:sp>
      <p:sp>
        <p:nvSpPr>
          <p:cNvPr id="5" name="TextBox 4"/>
          <p:cNvSpPr txBox="1"/>
          <p:nvPr/>
        </p:nvSpPr>
        <p:spPr>
          <a:xfrm>
            <a:off x="594360" y="868680"/>
            <a:ext cx="10972800" cy="731520"/>
          </a:xfrm>
          <a:prstGeom prst="rect">
            <a:avLst/>
          </a:prstGeom>
          <a:noFill/>
        </p:spPr>
        <p:txBody>
          <a:bodyPr wrap="square" lIns="27432" rIns="27432" tIns="18288" bIns="18288" anchor="t">
            <a:spAutoFit/>
          </a:bodyPr>
          <a:lstStyle/>
          <a:p>
            <a:pPr algn="l"/>
            <a:r>
              <a:rPr sz="2800" b="1">
                <a:solidFill>
                  <a:srgbClr val="000000"/>
                </a:solidFill>
                <a:latin typeface="Noto Sans JP"/>
              </a:rPr>
              <a:t>送るデータの中身</a:t>
            </a:r>
          </a:p>
        </p:txBody>
      </p:sp>
      <p:sp>
        <p:nvSpPr>
          <p:cNvPr id="6" name="TextBox 5"/>
          <p:cNvSpPr txBox="1"/>
          <p:nvPr/>
        </p:nvSpPr>
        <p:spPr>
          <a:xfrm>
            <a:off x="594360" y="1463040"/>
            <a:ext cx="10972800" cy="365760"/>
          </a:xfrm>
          <a:prstGeom prst="rect">
            <a:avLst/>
          </a:prstGeom>
          <a:noFill/>
        </p:spPr>
        <p:txBody>
          <a:bodyPr wrap="square" lIns="27432" rIns="27432" tIns="18288" bIns="18288" anchor="t">
            <a:spAutoFit/>
          </a:bodyPr>
          <a:lstStyle/>
          <a:p>
            <a:pPr algn="l"/>
            <a:r>
              <a:rPr sz="1400" b="0">
                <a:solidFill>
                  <a:srgbClr val="000000"/>
                </a:solidFill>
                <a:latin typeface="Noto Sans JP"/>
              </a:rPr>
              <a:t>フェーズ1でできた11個の数値をまとめて送る。</a:t>
            </a:r>
          </a:p>
        </p:txBody>
      </p:sp>
      <p:sp>
        <p:nvSpPr>
          <p:cNvPr id="7" name="Rounded Rectangle 6"/>
          <p:cNvSpPr/>
          <p:nvPr/>
        </p:nvSpPr>
        <p:spPr>
          <a:xfrm>
            <a:off x="594360" y="1965960"/>
            <a:ext cx="10972800" cy="3840480"/>
          </a:xfrm>
          <a:prstGeom prst="roundRect">
            <a:avLst>
              <a:gd name="adj" fmla="val 4000"/>
            </a:avLst>
          </a:prstGeom>
          <a:solidFill>
            <a:srgbClr val="FFFFFF"/>
          </a:solidFill>
          <a:ln w="9525">
            <a:solidFill>
              <a:srgbClr val="C8C3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03120"/>
            <a:ext cx="10515600" cy="3657600"/>
          </a:xfrm>
          <a:prstGeom prst="rect">
            <a:avLst/>
          </a:prstGeom>
          <a:noFill/>
        </p:spPr>
        <p:txBody>
          <a:bodyPr wrap="square" lIns="27432" rIns="27432" tIns="18288" bIns="18288" anchor="t">
            <a:spAutoFit/>
          </a:bodyPr>
          <a:lstStyle/>
          <a:p>
            <a:pPr algn="l"/>
            <a:r>
              <a:rPr sz="1200" b="0">
                <a:solidFill>
                  <a:srgbClr val="000000"/>
                </a:solidFill>
                <a:latin typeface="Courier New"/>
              </a:rPr>
              <a:t>送信データの中身（例）:</a:t>
            </a:r>
          </a:p>
          <a:p>
            <a:pPr algn="l"/>
            <a:r>
              <a:rPr sz="1200" b="0">
                <a:solidFill>
                  <a:srgbClr val="000000"/>
                </a:solidFill>
                <a:latin typeface="Courier New"/>
              </a:rPr>
              <a:t/>
            </a:r>
          </a:p>
          <a:p>
            <a:pPr algn="l"/>
            <a:r>
              <a:rPr sz="1200" b="0">
                <a:solidFill>
                  <a:srgbClr val="000000"/>
                </a:solidFill>
                <a:latin typeface="Courier New"/>
              </a:rPr>
              <a:t>  R   = 8        ← R型の合計点</a:t>
            </a:r>
          </a:p>
          <a:p>
            <a:pPr algn="l"/>
            <a:r>
              <a:rPr sz="1200" b="0">
                <a:solidFill>
                  <a:srgbClr val="000000"/>
                </a:solidFill>
                <a:latin typeface="Courier New"/>
              </a:rPr>
              <a:t>  I   = 6        ← I型の合計点</a:t>
            </a:r>
          </a:p>
          <a:p>
            <a:pPr algn="l"/>
            <a:r>
              <a:rPr sz="1200" b="0">
                <a:solidFill>
                  <a:srgbClr val="000000"/>
                </a:solidFill>
                <a:latin typeface="Courier New"/>
              </a:rPr>
              <a:t>  A   = 7        ← A型の合計点</a:t>
            </a:r>
          </a:p>
          <a:p>
            <a:pPr algn="l"/>
            <a:r>
              <a:rPr sz="1200" b="0">
                <a:solidFill>
                  <a:srgbClr val="000000"/>
                </a:solidFill>
                <a:latin typeface="Courier New"/>
              </a:rPr>
              <a:t>  S   = 18       ← S型の合計点</a:t>
            </a:r>
          </a:p>
          <a:p>
            <a:pPr algn="l"/>
            <a:r>
              <a:rPr sz="1200" b="0">
                <a:solidFill>
                  <a:srgbClr val="000000"/>
                </a:solidFill>
                <a:latin typeface="Courier New"/>
              </a:rPr>
              <a:t>  E   = 10       ← E型の合計点</a:t>
            </a:r>
          </a:p>
          <a:p>
            <a:pPr algn="l"/>
            <a:r>
              <a:rPr sz="1200" b="0">
                <a:solidFill>
                  <a:srgbClr val="000000"/>
                </a:solidFill>
                <a:latin typeface="Courier New"/>
              </a:rPr>
              <a:t>  C   = 5        ← C型の合計点</a:t>
            </a:r>
          </a:p>
          <a:p>
            <a:pPr algn="l"/>
            <a:r>
              <a:rPr sz="1200" b="0">
                <a:solidFill>
                  <a:srgbClr val="000000"/>
                </a:solidFill>
                <a:latin typeface="Courier New"/>
              </a:rPr>
              <a:t>  Q30 = 4        ← 主体性の点数</a:t>
            </a:r>
          </a:p>
          <a:p>
            <a:pPr algn="l"/>
            <a:r>
              <a:rPr sz="1200" b="0">
                <a:solidFill>
                  <a:srgbClr val="000000"/>
                </a:solidFill>
                <a:latin typeface="Courier New"/>
              </a:rPr>
              <a:t>  Q31 = 4        ← 変革意欲の点数</a:t>
            </a:r>
          </a:p>
          <a:p>
            <a:pPr algn="l"/>
            <a:r>
              <a:rPr sz="1200" b="0">
                <a:solidFill>
                  <a:srgbClr val="000000"/>
                </a:solidFill>
                <a:latin typeface="Courier New"/>
              </a:rPr>
              <a:t>  Q49 = 3        ← 嘘回答検知の点数</a:t>
            </a:r>
          </a:p>
          <a:p>
            <a:pPr algn="l"/>
            <a:r>
              <a:rPr sz="1200" b="0">
                <a:solidFill>
                  <a:srgbClr val="000000"/>
                </a:solidFill>
                <a:latin typeface="Courier New"/>
              </a:rPr>
              <a:t>  Q50 = 4        ← BtoB志向の点数</a:t>
            </a:r>
          </a:p>
          <a:p>
            <a:pPr algn="l"/>
            <a:r>
              <a:rPr sz="1200" b="0">
                <a:solidFill>
                  <a:srgbClr val="000000"/>
                </a:solidFill>
                <a:latin typeface="Courier New"/>
              </a:rPr>
              <a:t>  Q51 = 4        ← メーカー志向の点数</a:t>
            </a:r>
          </a:p>
        </p:txBody>
      </p:sp>
      <p:sp>
        <p:nvSpPr>
          <p:cNvPr id="9" name="TextBox 8"/>
          <p:cNvSpPr txBox="1"/>
          <p:nvPr/>
        </p:nvSpPr>
        <p:spPr>
          <a:xfrm>
            <a:off x="594360" y="5943600"/>
            <a:ext cx="10972800" cy="365760"/>
          </a:xfrm>
          <a:prstGeom prst="rect">
            <a:avLst/>
          </a:prstGeom>
          <a:noFill/>
        </p:spPr>
        <p:txBody>
          <a:bodyPr wrap="square" lIns="27432" rIns="27432" tIns="18288" bIns="18288" anchor="t">
            <a:spAutoFit/>
          </a:bodyPr>
          <a:lstStyle/>
          <a:p>
            <a:pPr algn="l"/>
            <a:r>
              <a:rPr sz="1400" b="1">
                <a:solidFill>
                  <a:srgbClr val="000000"/>
                </a:solidFill>
                <a:latin typeface="Noto Sans JP"/>
              </a:rPr>
              <a:t>全部で11個、すべて数値。</a:t>
            </a:r>
          </a:p>
        </p:txBody>
      </p:sp>
      <p:sp>
        <p:nvSpPr>
          <p:cNvPr id="10" name="TextBox 9"/>
          <p:cNvSpPr txBox="1"/>
          <p:nvPr/>
        </p:nvSpPr>
        <p:spPr>
          <a:xfrm>
            <a:off x="457200" y="6492240"/>
            <a:ext cx="3657600" cy="274320"/>
          </a:xfrm>
          <a:prstGeom prst="rect">
            <a:avLst/>
          </a:prstGeom>
          <a:noFill/>
        </p:spPr>
        <p:txBody>
          <a:bodyPr wrap="none" lIns="0" tIns="0">
            <a:spAutoFit/>
          </a:bodyPr>
          <a:lstStyle/>
          <a:p>
            <a:r>
              <a:rPr sz="1000" b="1">
                <a:solidFill>
                  <a:srgbClr val="3A3A3A"/>
                </a:solidFill>
                <a:latin typeface="Noto Sans JP"/>
              </a:rPr>
              <a:t>TOMOSHIKA</a:t>
            </a:r>
          </a:p>
        </p:txBody>
      </p:sp>
      <p:sp>
        <p:nvSpPr>
          <p:cNvPr id="11" name="TextBox 10"/>
          <p:cNvSpPr txBox="1"/>
          <p:nvPr/>
        </p:nvSpPr>
        <p:spPr>
          <a:xfrm>
            <a:off x="10972800" y="6492240"/>
            <a:ext cx="914400" cy="274320"/>
          </a:xfrm>
          <a:prstGeom prst="rect">
            <a:avLst/>
          </a:prstGeom>
          <a:noFill/>
        </p:spPr>
        <p:txBody>
          <a:bodyPr wrap="none" lIns="0" tIns="0">
            <a:spAutoFit/>
          </a:bodyPr>
          <a:lstStyle/>
          <a:p>
            <a:pPr algn="r"/>
            <a:r>
              <a:rPr sz="1000" b="1">
                <a:solidFill>
                  <a:srgbClr val="3A3A3A"/>
                </a:solidFill>
                <a:latin typeface="Noto Sans JP"/>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502920"/>
            <a:ext cx="109728" cy="109728"/>
          </a:xfrm>
          <a:prstGeom prst="rect">
            <a:avLst/>
          </a:prstGeom>
          <a:solidFill>
            <a:srgbClr val="B9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9144000" cy="320040"/>
          </a:xfrm>
          <a:prstGeom prst="rect">
            <a:avLst/>
          </a:prstGeom>
          <a:noFill/>
        </p:spPr>
        <p:txBody>
          <a:bodyPr wrap="none" lIns="0" tIns="0">
            <a:spAutoFit/>
          </a:bodyPr>
          <a:lstStyle/>
          <a:p>
            <a:r>
              <a:rPr sz="1400" b="1">
                <a:solidFill>
                  <a:srgbClr val="141414"/>
                </a:solidFill>
                <a:latin typeface="Noto Sans JP"/>
              </a:rPr>
              <a:t>PHASE 02 / 現在の設計</a:t>
            </a:r>
          </a:p>
        </p:txBody>
      </p:sp>
      <p:sp>
        <p:nvSpPr>
          <p:cNvPr id="5" name="TextBox 4"/>
          <p:cNvSpPr txBox="1"/>
          <p:nvPr/>
        </p:nvSpPr>
        <p:spPr>
          <a:xfrm>
            <a:off x="594360" y="868680"/>
            <a:ext cx="10972800" cy="731520"/>
          </a:xfrm>
          <a:prstGeom prst="rect">
            <a:avLst/>
          </a:prstGeom>
          <a:noFill/>
        </p:spPr>
        <p:txBody>
          <a:bodyPr wrap="square" lIns="27432" rIns="27432" tIns="18288" bIns="18288" anchor="t">
            <a:spAutoFit/>
          </a:bodyPr>
          <a:lstStyle/>
          <a:p>
            <a:pPr algn="l"/>
            <a:r>
              <a:rPr sz="2800" b="1">
                <a:solidFill>
                  <a:srgbClr val="000000"/>
                </a:solidFill>
                <a:latin typeface="Noto Sans JP"/>
              </a:rPr>
              <a:t>現在の設計 と 確認・相談事項</a:t>
            </a:r>
          </a:p>
        </p:txBody>
      </p:sp>
      <p:sp>
        <p:nvSpPr>
          <p:cNvPr id="6" name="Rounded Rectangle 5"/>
          <p:cNvSpPr/>
          <p:nvPr/>
        </p:nvSpPr>
        <p:spPr>
          <a:xfrm>
            <a:off x="594360" y="1828800"/>
            <a:ext cx="10972800" cy="2468880"/>
          </a:xfrm>
          <a:prstGeom prst="roundRect">
            <a:avLst>
              <a:gd name="adj" fmla="val 4000"/>
            </a:avLst>
          </a:prstGeom>
          <a:solidFill>
            <a:srgbClr val="E8EEF8"/>
          </a:solidFill>
          <a:ln w="9525">
            <a:solidFill>
              <a:srgbClr val="1C4D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828800"/>
            <a:ext cx="73152" cy="2468880"/>
          </a:xfrm>
          <a:prstGeom prst="rect">
            <a:avLst/>
          </a:prstGeom>
          <a:solidFill>
            <a:srgbClr val="1C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515600" cy="365760"/>
          </a:xfrm>
          <a:prstGeom prst="rect">
            <a:avLst/>
          </a:prstGeom>
          <a:noFill/>
        </p:spPr>
        <p:txBody>
          <a:bodyPr wrap="square" lIns="27432" rIns="27432" tIns="18288" bIns="18288" anchor="t">
            <a:spAutoFit/>
          </a:bodyPr>
          <a:lstStyle/>
          <a:p>
            <a:pPr algn="l"/>
            <a:r>
              <a:rPr sz="1600" b="1">
                <a:solidFill>
                  <a:srgbClr val="000000"/>
                </a:solidFill>
                <a:latin typeface="Noto Sans JP"/>
              </a:rPr>
              <a:t>ℹ️ 現在の設計</a:t>
            </a:r>
          </a:p>
        </p:txBody>
      </p:sp>
      <p:sp>
        <p:nvSpPr>
          <p:cNvPr id="9" name="Oval 8"/>
          <p:cNvSpPr/>
          <p:nvPr/>
        </p:nvSpPr>
        <p:spPr>
          <a:xfrm>
            <a:off x="914400" y="2578608"/>
            <a:ext cx="73152" cy="73152"/>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68880"/>
            <a:ext cx="10241280" cy="868680"/>
          </a:xfrm>
          <a:prstGeom prst="rect">
            <a:avLst/>
          </a:prstGeom>
          <a:noFill/>
        </p:spPr>
        <p:txBody>
          <a:bodyPr wrap="square" lIns="27432" rIns="27432" tIns="18288" bIns="18288" anchor="t">
            <a:spAutoFit/>
          </a:bodyPr>
          <a:lstStyle/>
          <a:p>
            <a:pPr algn="l">
              <a:lnSpc>
                <a:spcPct val="130000"/>
              </a:lnSpc>
            </a:pPr>
            <a:r>
              <a:rPr sz="1300" b="1">
                <a:solidFill>
                  <a:srgbClr val="000000"/>
                </a:solidFill>
                <a:latin typeface="Noto Sans JP"/>
              </a:rPr>
              <a:t>データの項目名</a:t>
            </a:r>
            <a:r>
              <a:rPr sz="1300" b="0">
                <a:solidFill>
                  <a:srgbClr val="000000"/>
                </a:solidFill>
                <a:latin typeface="Noto Sans JP"/>
              </a:rPr>
              <a:t>: R, I, A, S, E, C, Q30, Q31, Q49, Q50, Q51 でDify側の受け口を作っている</a:t>
            </a:r>
          </a:p>
        </p:txBody>
      </p:sp>
      <p:sp>
        <p:nvSpPr>
          <p:cNvPr id="11" name="Oval 10"/>
          <p:cNvSpPr/>
          <p:nvPr/>
        </p:nvSpPr>
        <p:spPr>
          <a:xfrm>
            <a:off x="914400" y="3447288"/>
            <a:ext cx="73152" cy="73152"/>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3337560"/>
            <a:ext cx="10241280" cy="868680"/>
          </a:xfrm>
          <a:prstGeom prst="rect">
            <a:avLst/>
          </a:prstGeom>
          <a:noFill/>
        </p:spPr>
        <p:txBody>
          <a:bodyPr wrap="square" lIns="27432" rIns="27432" tIns="18288" bIns="18288" anchor="t">
            <a:spAutoFit/>
          </a:bodyPr>
          <a:lstStyle/>
          <a:p>
            <a:pPr algn="l">
              <a:lnSpc>
                <a:spcPct val="130000"/>
              </a:lnSpc>
            </a:pPr>
            <a:r>
              <a:rPr sz="1300" b="1">
                <a:solidFill>
                  <a:srgbClr val="000000"/>
                </a:solidFill>
                <a:latin typeface="Noto Sans JP"/>
              </a:rPr>
              <a:t>APIキー</a:t>
            </a:r>
            <a:r>
              <a:rPr sz="1300" b="0">
                <a:solidFill>
                  <a:srgbClr val="000000"/>
                </a:solidFill>
                <a:latin typeface="Noto Sans JP"/>
              </a:rPr>
              <a:t>: まだ発行していない。Difyの有料プラン（Professional: 月額約9,000円）に切り替えた後に発行・共有する予定</a:t>
            </a:r>
          </a:p>
        </p:txBody>
      </p:sp>
      <p:sp>
        <p:nvSpPr>
          <p:cNvPr id="13" name="Rounded Rectangle 12"/>
          <p:cNvSpPr/>
          <p:nvPr/>
        </p:nvSpPr>
        <p:spPr>
          <a:xfrm>
            <a:off x="594360" y="4572000"/>
            <a:ext cx="5349240" cy="914400"/>
          </a:xfrm>
          <a:prstGeom prst="roundRect">
            <a:avLst>
              <a:gd name="adj" fmla="val 4000"/>
            </a:avLst>
          </a:prstGeom>
          <a:solidFill>
            <a:srgbClr val="FFF3D6"/>
          </a:solidFill>
          <a:ln w="9525">
            <a:solidFill>
              <a:srgbClr val="B46A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681728"/>
            <a:ext cx="5029200" cy="731520"/>
          </a:xfrm>
          <a:prstGeom prst="rect">
            <a:avLst/>
          </a:prstGeom>
          <a:noFill/>
        </p:spPr>
        <p:txBody>
          <a:bodyPr wrap="square" lIns="27432" rIns="27432" tIns="18288" bIns="18288" anchor="t">
            <a:spAutoFit/>
          </a:bodyPr>
          <a:lstStyle/>
          <a:p>
            <a:pPr algn="l">
              <a:lnSpc>
                <a:spcPct val="130000"/>
              </a:lnSpc>
            </a:pPr>
            <a:r>
              <a:rPr sz="1400" b="1">
                <a:solidFill>
                  <a:srgbClr val="6B3A00"/>
                </a:solidFill>
                <a:latin typeface="Noto Sans JP"/>
              </a:rPr>
              <a:t>→ 確認</a:t>
            </a:r>
          </a:p>
          <a:p>
            <a:pPr algn="l">
              <a:lnSpc>
                <a:spcPct val="130000"/>
              </a:lnSpc>
            </a:pPr>
            <a:r>
              <a:rPr sz="1200" b="0">
                <a:solidFill>
                  <a:srgbClr val="141414"/>
                </a:solidFill>
                <a:latin typeface="Noto Sans JP"/>
              </a:rPr>
              <a:t>項目名がMIL様側の実装と合っているか</a:t>
            </a:r>
          </a:p>
        </p:txBody>
      </p:sp>
      <p:sp>
        <p:nvSpPr>
          <p:cNvPr id="15" name="Rounded Rectangle 14"/>
          <p:cNvSpPr/>
          <p:nvPr/>
        </p:nvSpPr>
        <p:spPr>
          <a:xfrm>
            <a:off x="6217920" y="4572000"/>
            <a:ext cx="5349240" cy="914400"/>
          </a:xfrm>
          <a:prstGeom prst="roundRect">
            <a:avLst>
              <a:gd name="adj" fmla="val 4000"/>
            </a:avLst>
          </a:prstGeom>
          <a:solidFill>
            <a:srgbClr val="FFF3D6"/>
          </a:solidFill>
          <a:ln w="9525">
            <a:solidFill>
              <a:srgbClr val="B46A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4681728"/>
            <a:ext cx="5029200" cy="731520"/>
          </a:xfrm>
          <a:prstGeom prst="rect">
            <a:avLst/>
          </a:prstGeom>
          <a:noFill/>
        </p:spPr>
        <p:txBody>
          <a:bodyPr wrap="square" lIns="27432" rIns="27432" tIns="18288" bIns="18288" anchor="t">
            <a:spAutoFit/>
          </a:bodyPr>
          <a:lstStyle/>
          <a:p>
            <a:pPr algn="l">
              <a:lnSpc>
                <a:spcPct val="130000"/>
              </a:lnSpc>
            </a:pPr>
            <a:r>
              <a:rPr sz="1400" b="1">
                <a:solidFill>
                  <a:srgbClr val="6B3A00"/>
                </a:solidFill>
                <a:latin typeface="Noto Sans JP"/>
              </a:rPr>
              <a:t>→ 相談</a:t>
            </a:r>
          </a:p>
          <a:p>
            <a:pPr algn="l">
              <a:lnSpc>
                <a:spcPct val="130000"/>
              </a:lnSpc>
            </a:pPr>
            <a:r>
              <a:rPr sz="1200" b="0">
                <a:solidFill>
                  <a:srgbClr val="141414"/>
                </a:solidFill>
                <a:latin typeface="Noto Sans JP"/>
              </a:rPr>
              <a:t>APIキーの共有方法・タイミング</a:t>
            </a:r>
          </a:p>
        </p:txBody>
      </p:sp>
      <p:sp>
        <p:nvSpPr>
          <p:cNvPr id="17" name="TextBox 16"/>
          <p:cNvSpPr txBox="1"/>
          <p:nvPr/>
        </p:nvSpPr>
        <p:spPr>
          <a:xfrm>
            <a:off x="457200" y="6492240"/>
            <a:ext cx="3657600" cy="274320"/>
          </a:xfrm>
          <a:prstGeom prst="rect">
            <a:avLst/>
          </a:prstGeom>
          <a:noFill/>
        </p:spPr>
        <p:txBody>
          <a:bodyPr wrap="none" lIns="0" tIns="0">
            <a:spAutoFit/>
          </a:bodyPr>
          <a:lstStyle/>
          <a:p>
            <a:r>
              <a:rPr sz="1000" b="1">
                <a:solidFill>
                  <a:srgbClr val="3A3A3A"/>
                </a:solidFill>
                <a:latin typeface="Noto Sans JP"/>
              </a:rPr>
              <a:t>TOMOSHIKA</a:t>
            </a:r>
          </a:p>
        </p:txBody>
      </p:sp>
      <p:sp>
        <p:nvSpPr>
          <p:cNvPr id="18" name="TextBox 17"/>
          <p:cNvSpPr txBox="1"/>
          <p:nvPr/>
        </p:nvSpPr>
        <p:spPr>
          <a:xfrm>
            <a:off x="10972800" y="6492240"/>
            <a:ext cx="914400" cy="274320"/>
          </a:xfrm>
          <a:prstGeom prst="rect">
            <a:avLst/>
          </a:prstGeom>
          <a:noFill/>
        </p:spPr>
        <p:txBody>
          <a:bodyPr wrap="none" lIns="0" tIns="0">
            <a:spAutoFit/>
          </a:bodyPr>
          <a:lstStyle/>
          <a:p>
            <a:pPr algn="r"/>
            <a:r>
              <a:rPr sz="1000" b="1">
                <a:solidFill>
                  <a:srgbClr val="3A3A3A"/>
                </a:solidFill>
                <a:latin typeface="Noto Sans JP"/>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502920"/>
            <a:ext cx="128016" cy="128016"/>
          </a:xfrm>
          <a:prstGeom prst="rect">
            <a:avLst/>
          </a:prstGeom>
          <a:solidFill>
            <a:srgbClr val="E8C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429768"/>
            <a:ext cx="9144000" cy="320040"/>
          </a:xfrm>
          <a:prstGeom prst="rect">
            <a:avLst/>
          </a:prstGeom>
          <a:noFill/>
        </p:spPr>
        <p:txBody>
          <a:bodyPr wrap="square" lIns="27432" rIns="27432" tIns="18288" bIns="18288" anchor="t">
            <a:spAutoFit/>
          </a:bodyPr>
          <a:lstStyle/>
          <a:p>
            <a:pPr algn="l"/>
            <a:r>
              <a:rPr sz="1300" b="1">
                <a:solidFill>
                  <a:srgbClr val="E3DCC9"/>
                </a:solidFill>
                <a:latin typeface="Noto Sans JP"/>
              </a:rPr>
              <a:t>PHASE 03 / Dify / エヌイチ構築</a:t>
            </a:r>
          </a:p>
        </p:txBody>
      </p:sp>
      <p:sp>
        <p:nvSpPr>
          <p:cNvPr id="5" name="TextBox 4"/>
          <p:cNvSpPr txBox="1"/>
          <p:nvPr/>
        </p:nvSpPr>
        <p:spPr>
          <a:xfrm>
            <a:off x="822960" y="1371600"/>
            <a:ext cx="5486400" cy="2286000"/>
          </a:xfrm>
          <a:prstGeom prst="rect">
            <a:avLst/>
          </a:prstGeom>
          <a:noFill/>
        </p:spPr>
        <p:txBody>
          <a:bodyPr wrap="square" lIns="27432" rIns="27432" tIns="18288" bIns="18288" anchor="t">
            <a:spAutoFit/>
          </a:bodyPr>
          <a:lstStyle/>
          <a:p>
            <a:pPr algn="l"/>
            <a:r>
              <a:rPr sz="14000" b="1">
                <a:solidFill>
                  <a:srgbClr val="D6A03A"/>
                </a:solidFill>
                <a:latin typeface="Noto Sans JP"/>
              </a:rPr>
              <a:t>03</a:t>
            </a:r>
          </a:p>
        </p:txBody>
      </p:sp>
      <p:sp>
        <p:nvSpPr>
          <p:cNvPr id="6" name="TextBox 5"/>
          <p:cNvSpPr txBox="1"/>
          <p:nvPr/>
        </p:nvSpPr>
        <p:spPr>
          <a:xfrm>
            <a:off x="822960" y="3657600"/>
            <a:ext cx="10972800" cy="1097280"/>
          </a:xfrm>
          <a:prstGeom prst="rect">
            <a:avLst/>
          </a:prstGeom>
          <a:noFill/>
        </p:spPr>
        <p:txBody>
          <a:bodyPr wrap="square" lIns="27432" rIns="27432" tIns="18288" bIns="18288" anchor="t">
            <a:spAutoFit/>
          </a:bodyPr>
          <a:lstStyle/>
          <a:p>
            <a:pPr algn="l"/>
            <a:r>
              <a:rPr sz="5200" b="1">
                <a:solidFill>
                  <a:srgbClr val="FFFFFF"/>
                </a:solidFill>
                <a:latin typeface="Noto Sans JP"/>
              </a:rPr>
              <a:t>企業のマッチング</a:t>
            </a:r>
          </a:p>
        </p:txBody>
      </p:sp>
      <p:sp>
        <p:nvSpPr>
          <p:cNvPr id="7" name="TextBox 6"/>
          <p:cNvSpPr txBox="1"/>
          <p:nvPr/>
        </p:nvSpPr>
        <p:spPr>
          <a:xfrm>
            <a:off x="822960" y="4846320"/>
            <a:ext cx="10972800" cy="1645920"/>
          </a:xfrm>
          <a:prstGeom prst="rect">
            <a:avLst/>
          </a:prstGeom>
          <a:noFill/>
        </p:spPr>
        <p:txBody>
          <a:bodyPr wrap="square" lIns="27432" rIns="27432" tIns="18288" bIns="18288" anchor="t">
            <a:spAutoFit/>
          </a:bodyPr>
          <a:lstStyle/>
          <a:p>
            <a:pPr algn="l">
              <a:lnSpc>
                <a:spcPct val="140000"/>
              </a:lnSpc>
            </a:pPr>
            <a:r>
              <a:rPr sz="1500" b="0">
                <a:solidFill>
                  <a:srgbClr val="E3DCC9"/>
                </a:solidFill>
                <a:latin typeface="Noto Sans JP"/>
              </a:rPr>
              <a:t>MIL様から受け取った11個の数値をもとに、「この学生にどの企業を推薦するか」を自動で判定する。</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502920"/>
            <a:ext cx="109728" cy="109728"/>
          </a:xfrm>
          <a:prstGeom prst="rect">
            <a:avLst/>
          </a:prstGeom>
          <a:solidFill>
            <a:srgbClr val="B9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9144000" cy="320040"/>
          </a:xfrm>
          <a:prstGeom prst="rect">
            <a:avLst/>
          </a:prstGeom>
          <a:noFill/>
        </p:spPr>
        <p:txBody>
          <a:bodyPr wrap="none" lIns="0" tIns="0">
            <a:spAutoFit/>
          </a:bodyPr>
          <a:lstStyle/>
          <a:p>
            <a:r>
              <a:rPr sz="1400" b="1">
                <a:solidFill>
                  <a:srgbClr val="141414"/>
                </a:solidFill>
                <a:latin typeface="Noto Sans JP"/>
              </a:rPr>
              <a:t>PHASE 03 / 判定に使うもの</a:t>
            </a:r>
          </a:p>
        </p:txBody>
      </p:sp>
      <p:sp>
        <p:nvSpPr>
          <p:cNvPr id="5" name="TextBox 4"/>
          <p:cNvSpPr txBox="1"/>
          <p:nvPr/>
        </p:nvSpPr>
        <p:spPr>
          <a:xfrm>
            <a:off x="594360" y="868680"/>
            <a:ext cx="10972800" cy="731520"/>
          </a:xfrm>
          <a:prstGeom prst="rect">
            <a:avLst/>
          </a:prstGeom>
          <a:noFill/>
        </p:spPr>
        <p:txBody>
          <a:bodyPr wrap="square" lIns="27432" rIns="27432" tIns="18288" bIns="18288" anchor="t">
            <a:spAutoFit/>
          </a:bodyPr>
          <a:lstStyle/>
          <a:p>
            <a:pPr algn="l"/>
            <a:r>
              <a:rPr sz="2800" b="1">
                <a:solidFill>
                  <a:srgbClr val="000000"/>
                </a:solidFill>
                <a:latin typeface="Noto Sans JP"/>
              </a:rPr>
              <a:t>判定に使うもの</a:t>
            </a:r>
          </a:p>
        </p:txBody>
      </p:sp>
      <p:graphicFrame>
        <p:nvGraphicFramePr>
          <p:cNvPr id="6" name="Table 5"/>
          <p:cNvGraphicFramePr>
            <a:graphicFrameLocks noGrp="1"/>
          </p:cNvGraphicFramePr>
          <p:nvPr/>
        </p:nvGraphicFramePr>
        <p:xfrm>
          <a:off x="594360" y="1828800"/>
          <a:ext cx="10972800" cy="2194560"/>
        </p:xfrm>
        <a:graphic>
          <a:graphicData uri="http://schemas.openxmlformats.org/drawingml/2006/table">
            <a:tbl>
              <a:tblPr firstRow="1" bandRow="1">
                <a:tableStyleId>{5C22544A-7EE6-4342-B048-85BDC9FD1C3A}</a:tableStyleId>
              </a:tblPr>
              <a:tblGrid>
                <a:gridCol w="3657600"/>
                <a:gridCol w="7315200"/>
              </a:tblGrid>
              <a:tr h="731520">
                <a:tc>
                  <a:txBody>
                    <a:bodyPr wrap="square" lIns="45720" rIns="45720" tIns="36576" bIns="36576"/>
                    <a:lstStyle/>
                    <a:p>
                      <a:r>
                        <a:rPr sz="1300" b="1">
                          <a:solidFill>
                            <a:srgbClr val="000000"/>
                          </a:solidFill>
                          <a:latin typeface="Noto Sans JP"/>
                        </a:rPr>
                        <a:t>何を</a:t>
                      </a:r>
                    </a:p>
                  </a:txBody>
                  <a:tcPr marL="73152" marR="73152" marT="45720" marB="45720" anchor="t">
                    <a:solidFill>
                      <a:srgbClr val="EDE6D2"/>
                    </a:solidFill>
                  </a:tcPr>
                </a:tc>
                <a:tc>
                  <a:txBody>
                    <a:bodyPr wrap="square" lIns="45720" rIns="45720" tIns="36576" bIns="36576"/>
                    <a:lstStyle/>
                    <a:p>
                      <a:r>
                        <a:rPr sz="1300" b="1">
                          <a:solidFill>
                            <a:srgbClr val="000000"/>
                          </a:solidFill>
                          <a:latin typeface="Noto Sans JP"/>
                        </a:rPr>
                        <a:t>説明</a:t>
                      </a:r>
                    </a:p>
                  </a:txBody>
                  <a:tcPr marL="73152" marR="73152" marT="45720" marB="45720" anchor="t">
                    <a:solidFill>
                      <a:srgbClr val="EDE6D2"/>
                    </a:solidFill>
                  </a:tcPr>
                </a:tc>
              </a:tr>
              <a:tr h="731520">
                <a:tc>
                  <a:txBody>
                    <a:bodyPr wrap="square" lIns="45720" rIns="45720" tIns="36576" bIns="36576"/>
                    <a:lstStyle/>
                    <a:p>
                      <a:r>
                        <a:rPr sz="1300" b="1">
                          <a:solidFill>
                            <a:srgbClr val="000000"/>
                          </a:solidFill>
                          <a:latin typeface="Noto Sans JP"/>
                        </a:rPr>
                        <a:t>11個の数値</a:t>
                      </a:r>
                      <a:r>
                        <a:rPr sz="1300" b="0">
                          <a:solidFill>
                            <a:srgbClr val="000000"/>
                          </a:solidFill>
                          <a:latin typeface="Noto Sans JP"/>
                        </a:rPr>
                        <a:t>（フェーズ2で受け取ったもの）</a:t>
                      </a:r>
                    </a:p>
                  </a:txBody>
                  <a:tcPr marL="73152" marR="73152" marT="45720" marB="45720" anchor="t">
                    <a:solidFill>
                      <a:srgbClr val="FFFFFF"/>
                    </a:solidFill>
                  </a:tcPr>
                </a:tc>
                <a:tc>
                  <a:txBody>
                    <a:bodyPr wrap="square" lIns="45720" rIns="45720" tIns="36576" bIns="36576"/>
                    <a:lstStyle/>
                    <a:p>
                      <a:r>
                        <a:rPr sz="1300" b="0">
                          <a:solidFill>
                            <a:srgbClr val="000000"/>
                          </a:solidFill>
                          <a:latin typeface="Noto Sans JP"/>
                        </a:rPr>
                        <a:t>学生の志向性タイプ・行動特性・業界志向</a:t>
                      </a:r>
                    </a:p>
                  </a:txBody>
                  <a:tcPr marL="73152" marR="73152" marT="45720" marB="45720" anchor="t">
                    <a:solidFill>
                      <a:srgbClr val="FFFFFF"/>
                    </a:solidFill>
                  </a:tcPr>
                </a:tc>
              </a:tr>
              <a:tr h="731520">
                <a:tc>
                  <a:txBody>
                    <a:bodyPr wrap="square" lIns="45720" rIns="45720" tIns="36576" bIns="36576"/>
                    <a:lstStyle/>
                    <a:p>
                      <a:r>
                        <a:rPr sz="1300" b="1">
                          <a:solidFill>
                            <a:srgbClr val="000000"/>
                          </a:solidFill>
                          <a:latin typeface="Noto Sans JP"/>
                        </a:rPr>
                        <a:t>企業リスト</a:t>
                      </a:r>
                      <a:r>
                        <a:rPr sz="1300" b="0">
                          <a:solidFill>
                            <a:srgbClr val="000000"/>
                          </a:solidFill>
                          <a:latin typeface="Noto Sans JP"/>
                        </a:rPr>
                        <a:t>（Difyの中にあらかじめ登録してあるもの）</a:t>
                      </a:r>
                    </a:p>
                  </a:txBody>
                  <a:tcPr marL="73152" marR="73152" marT="45720" marB="45720" anchor="t">
                    <a:solidFill>
                      <a:srgbClr val="FFFFFF"/>
                    </a:solidFill>
                  </a:tcPr>
                </a:tc>
                <a:tc>
                  <a:txBody>
                    <a:bodyPr wrap="square" lIns="45720" rIns="45720" tIns="36576" bIns="36576"/>
                    <a:lstStyle/>
                    <a:p>
                      <a:r>
                        <a:rPr sz="1300" b="0">
                          <a:solidFill>
                            <a:srgbClr val="000000"/>
                          </a:solidFill>
                          <a:latin typeface="Noto Sans JP"/>
                        </a:rPr>
                        <a:t>7タイプ × BtoB/BtoC = 14パターンの企業名と推薦理由。津丸様提供のExcel「紹介企業」シートに基づき4/10に登録済み</a:t>
                      </a:r>
                    </a:p>
                  </a:txBody>
                  <a:tcPr marL="73152" marR="73152" marT="45720" marB="45720" anchor="t">
                    <a:solidFill>
                      <a:srgbClr val="FFFFFF"/>
                    </a:solidFill>
                  </a:tcPr>
                </a:tc>
              </a:tr>
            </a:tbl>
          </a:graphicData>
        </a:graphic>
      </p:graphicFrame>
      <p:sp>
        <p:nvSpPr>
          <p:cNvPr id="7" name="TextBox 6"/>
          <p:cNvSpPr txBox="1"/>
          <p:nvPr/>
        </p:nvSpPr>
        <p:spPr>
          <a:xfrm>
            <a:off x="457200" y="6492240"/>
            <a:ext cx="3657600" cy="274320"/>
          </a:xfrm>
          <a:prstGeom prst="rect">
            <a:avLst/>
          </a:prstGeom>
          <a:noFill/>
        </p:spPr>
        <p:txBody>
          <a:bodyPr wrap="none" lIns="0" tIns="0">
            <a:spAutoFit/>
          </a:bodyPr>
          <a:lstStyle/>
          <a:p>
            <a:r>
              <a:rPr sz="1000" b="1">
                <a:solidFill>
                  <a:srgbClr val="3A3A3A"/>
                </a:solidFill>
                <a:latin typeface="Noto Sans JP"/>
              </a:rPr>
              <a:t>TOMOSHIKA</a:t>
            </a:r>
          </a:p>
        </p:txBody>
      </p:sp>
      <p:sp>
        <p:nvSpPr>
          <p:cNvPr id="8" name="TextBox 7"/>
          <p:cNvSpPr txBox="1"/>
          <p:nvPr/>
        </p:nvSpPr>
        <p:spPr>
          <a:xfrm>
            <a:off x="10972800" y="6492240"/>
            <a:ext cx="914400" cy="274320"/>
          </a:xfrm>
          <a:prstGeom prst="rect">
            <a:avLst/>
          </a:prstGeom>
          <a:noFill/>
        </p:spPr>
        <p:txBody>
          <a:bodyPr wrap="none" lIns="0" tIns="0">
            <a:spAutoFit/>
          </a:bodyPr>
          <a:lstStyle/>
          <a:p>
            <a:pPr algn="r"/>
            <a:r>
              <a:rPr sz="1000" b="1">
                <a:solidFill>
                  <a:srgbClr val="3A3A3A"/>
                </a:solidFill>
                <a:latin typeface="Noto Sans JP"/>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502920"/>
            <a:ext cx="109728" cy="109728"/>
          </a:xfrm>
          <a:prstGeom prst="rect">
            <a:avLst/>
          </a:prstGeom>
          <a:solidFill>
            <a:srgbClr val="B9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9144000" cy="320040"/>
          </a:xfrm>
          <a:prstGeom prst="rect">
            <a:avLst/>
          </a:prstGeom>
          <a:noFill/>
        </p:spPr>
        <p:txBody>
          <a:bodyPr wrap="none" lIns="0" tIns="0">
            <a:spAutoFit/>
          </a:bodyPr>
          <a:lstStyle/>
          <a:p>
            <a:r>
              <a:rPr sz="1400" b="1">
                <a:solidFill>
                  <a:srgbClr val="141414"/>
                </a:solidFill>
                <a:latin typeface="Noto Sans JP"/>
              </a:rPr>
              <a:t>PHASE 03 / 判定のしくみ</a:t>
            </a:r>
          </a:p>
        </p:txBody>
      </p:sp>
      <p:sp>
        <p:nvSpPr>
          <p:cNvPr id="5" name="TextBox 4"/>
          <p:cNvSpPr txBox="1"/>
          <p:nvPr/>
        </p:nvSpPr>
        <p:spPr>
          <a:xfrm>
            <a:off x="594360" y="868680"/>
            <a:ext cx="10972800" cy="731520"/>
          </a:xfrm>
          <a:prstGeom prst="rect">
            <a:avLst/>
          </a:prstGeom>
          <a:noFill/>
        </p:spPr>
        <p:txBody>
          <a:bodyPr wrap="square" lIns="27432" rIns="27432" tIns="18288" bIns="18288" anchor="t">
            <a:spAutoFit/>
          </a:bodyPr>
          <a:lstStyle/>
          <a:p>
            <a:pPr algn="l"/>
            <a:r>
              <a:rPr sz="2200" b="1">
                <a:solidFill>
                  <a:srgbClr val="000000"/>
                </a:solidFill>
                <a:latin typeface="Noto Sans JP"/>
              </a:rPr>
              <a:t>判定のしくみ（津丸様との確認に基づく確定ロジック）</a:t>
            </a:r>
          </a:p>
        </p:txBody>
      </p:sp>
      <p:sp>
        <p:nvSpPr>
          <p:cNvPr id="6" name="TextBox 5"/>
          <p:cNvSpPr txBox="1"/>
          <p:nvPr/>
        </p:nvSpPr>
        <p:spPr>
          <a:xfrm>
            <a:off x="594360" y="1417320"/>
            <a:ext cx="11430000" cy="457200"/>
          </a:xfrm>
          <a:prstGeom prst="rect">
            <a:avLst/>
          </a:prstGeom>
          <a:noFill/>
        </p:spPr>
        <p:txBody>
          <a:bodyPr wrap="square" lIns="27432" rIns="27432" tIns="18288" bIns="18288" anchor="t">
            <a:spAutoFit/>
          </a:bodyPr>
          <a:lstStyle/>
          <a:p>
            <a:pPr algn="l">
              <a:lnSpc>
                <a:spcPct val="130000"/>
              </a:lnSpc>
            </a:pPr>
            <a:r>
              <a:rPr sz="1300" b="0">
                <a:solidFill>
                  <a:srgbClr val="000000"/>
                </a:solidFill>
                <a:latin typeface="Noto Sans JP"/>
              </a:rPr>
              <a:t>判定は</a:t>
            </a:r>
            <a:r>
              <a:rPr sz="1300" b="1">
                <a:solidFill>
                  <a:srgbClr val="000000"/>
                </a:solidFill>
                <a:latin typeface="Noto Sans JP"/>
              </a:rPr>
              <a:t>4段階</a:t>
            </a:r>
            <a:r>
              <a:rPr sz="1300" b="0">
                <a:solidFill>
                  <a:srgbClr val="000000"/>
                </a:solidFill>
                <a:latin typeface="Noto Sans JP"/>
              </a:rPr>
              <a:t>あり、</a:t>
            </a:r>
            <a:r>
              <a:rPr sz="1300" b="1">
                <a:solidFill>
                  <a:srgbClr val="000000"/>
                </a:solidFill>
                <a:latin typeface="Noto Sans JP"/>
              </a:rPr>
              <a:t>上から順番にチェックしていく</a:t>
            </a:r>
            <a:r>
              <a:rPr sz="1300" b="0">
                <a:solidFill>
                  <a:srgbClr val="000000"/>
                </a:solidFill>
                <a:latin typeface="Noto Sans JP"/>
              </a:rPr>
              <a:t>。どこかのステップに当てはまったら、そこで結果が確定する。下のステップは見ない。</a:t>
            </a:r>
          </a:p>
        </p:txBody>
      </p:sp>
      <p:sp>
        <p:nvSpPr>
          <p:cNvPr id="7" name="Rounded Rectangle 6"/>
          <p:cNvSpPr/>
          <p:nvPr/>
        </p:nvSpPr>
        <p:spPr>
          <a:xfrm>
            <a:off x="594360" y="2103120"/>
            <a:ext cx="10972800" cy="731520"/>
          </a:xfrm>
          <a:prstGeom prst="roundRect">
            <a:avLst>
              <a:gd name="adj" fmla="val 4000"/>
            </a:avLst>
          </a:prstGeom>
          <a:solidFill>
            <a:srgbClr val="FFFFFF"/>
          </a:solidFill>
          <a:ln w="9525">
            <a:solidFill>
              <a:srgbClr val="C8C3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2212848"/>
            <a:ext cx="502920" cy="502920"/>
          </a:xfrm>
          <a:prstGeom prst="roundRect">
            <a:avLst>
              <a:gd name="adj" fmla="val 4000"/>
            </a:avLst>
          </a:prstGeom>
          <a:solidFill>
            <a:srgbClr val="3A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21991"/>
            <a:ext cx="502920" cy="502920"/>
          </a:xfrm>
          <a:prstGeom prst="rect">
            <a:avLst/>
          </a:prstGeom>
          <a:noFill/>
        </p:spPr>
        <p:txBody>
          <a:bodyPr wrap="square" lIns="27432" rIns="27432" tIns="18288" bIns="18288" anchor="ctr">
            <a:spAutoFit/>
          </a:bodyPr>
          <a:lstStyle/>
          <a:p>
            <a:pPr algn="ctr"/>
            <a:r>
              <a:rPr sz="1800" b="1">
                <a:solidFill>
                  <a:srgbClr val="FFFFFF"/>
                </a:solidFill>
                <a:latin typeface="Noto Sans JP"/>
              </a:rPr>
              <a:t>0</a:t>
            </a:r>
          </a:p>
        </p:txBody>
      </p:sp>
      <p:sp>
        <p:nvSpPr>
          <p:cNvPr id="10" name="TextBox 9"/>
          <p:cNvSpPr txBox="1"/>
          <p:nvPr/>
        </p:nvSpPr>
        <p:spPr>
          <a:xfrm>
            <a:off x="1417320" y="2194560"/>
            <a:ext cx="10058400" cy="274320"/>
          </a:xfrm>
          <a:prstGeom prst="rect">
            <a:avLst/>
          </a:prstGeom>
          <a:noFill/>
        </p:spPr>
        <p:txBody>
          <a:bodyPr wrap="square" lIns="27432" rIns="27432" tIns="18288" bIns="18288" anchor="t">
            <a:spAutoFit/>
          </a:bodyPr>
          <a:lstStyle/>
          <a:p>
            <a:pPr algn="l"/>
            <a:r>
              <a:rPr sz="1300" b="1">
                <a:solidFill>
                  <a:srgbClr val="000000"/>
                </a:solidFill>
                <a:latin typeface="Noto Sans JP"/>
              </a:rPr>
              <a:t>前処理: 嘘回答の補正</a:t>
            </a:r>
          </a:p>
        </p:txBody>
      </p:sp>
      <p:sp>
        <p:nvSpPr>
          <p:cNvPr id="11" name="Rounded Rectangle 10"/>
          <p:cNvSpPr/>
          <p:nvPr/>
        </p:nvSpPr>
        <p:spPr>
          <a:xfrm>
            <a:off x="594360" y="2926079"/>
            <a:ext cx="10972800" cy="731520"/>
          </a:xfrm>
          <a:prstGeom prst="roundRect">
            <a:avLst>
              <a:gd name="adj" fmla="val 4000"/>
            </a:avLst>
          </a:prstGeom>
          <a:solidFill>
            <a:srgbClr val="FFFFFF"/>
          </a:solidFill>
          <a:ln w="9525">
            <a:solidFill>
              <a:srgbClr val="C8C3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77240" y="3035808"/>
            <a:ext cx="502920" cy="502920"/>
          </a:xfrm>
          <a:prstGeom prst="roundRect">
            <a:avLst>
              <a:gd name="adj" fmla="val 4000"/>
            </a:avLst>
          </a:prstGeom>
          <a:solidFill>
            <a:srgbClr val="B9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044951"/>
            <a:ext cx="502920" cy="502920"/>
          </a:xfrm>
          <a:prstGeom prst="rect">
            <a:avLst/>
          </a:prstGeom>
          <a:noFill/>
        </p:spPr>
        <p:txBody>
          <a:bodyPr wrap="square" lIns="27432" rIns="27432" tIns="18288" bIns="18288" anchor="ctr">
            <a:spAutoFit/>
          </a:bodyPr>
          <a:lstStyle/>
          <a:p>
            <a:pPr algn="ctr"/>
            <a:r>
              <a:rPr sz="1800" b="1">
                <a:solidFill>
                  <a:srgbClr val="FFFFFF"/>
                </a:solidFill>
                <a:latin typeface="Noto Sans JP"/>
              </a:rPr>
              <a:t>1</a:t>
            </a:r>
          </a:p>
        </p:txBody>
      </p:sp>
      <p:sp>
        <p:nvSpPr>
          <p:cNvPr id="14" name="TextBox 13"/>
          <p:cNvSpPr txBox="1"/>
          <p:nvPr/>
        </p:nvSpPr>
        <p:spPr>
          <a:xfrm>
            <a:off x="1417320" y="3017520"/>
            <a:ext cx="10058400" cy="274320"/>
          </a:xfrm>
          <a:prstGeom prst="rect">
            <a:avLst/>
          </a:prstGeom>
          <a:noFill/>
        </p:spPr>
        <p:txBody>
          <a:bodyPr wrap="square" lIns="27432" rIns="27432" tIns="18288" bIns="18288" anchor="t">
            <a:spAutoFit/>
          </a:bodyPr>
          <a:lstStyle/>
          <a:p>
            <a:pPr algn="l"/>
            <a:r>
              <a:rPr sz="1300" b="1">
                <a:solidFill>
                  <a:srgbClr val="000000"/>
                </a:solidFill>
                <a:latin typeface="Noto Sans JP"/>
              </a:rPr>
              <a:t>最優先: 「志向が定まっていない」学生を検出</a:t>
            </a:r>
          </a:p>
        </p:txBody>
      </p:sp>
      <p:sp>
        <p:nvSpPr>
          <p:cNvPr id="15" name="TextBox 14"/>
          <p:cNvSpPr txBox="1"/>
          <p:nvPr/>
        </p:nvSpPr>
        <p:spPr>
          <a:xfrm>
            <a:off x="1417320" y="3291839"/>
            <a:ext cx="10058400" cy="274320"/>
          </a:xfrm>
          <a:prstGeom prst="rect">
            <a:avLst/>
          </a:prstGeom>
          <a:noFill/>
        </p:spPr>
        <p:txBody>
          <a:bodyPr wrap="square" lIns="27432" rIns="27432" tIns="18288" bIns="18288" anchor="t">
            <a:spAutoFit/>
          </a:bodyPr>
          <a:lstStyle/>
          <a:p>
            <a:pPr algn="l"/>
            <a:r>
              <a:rPr sz="1100" b="0">
                <a:solidFill>
                  <a:srgbClr val="141414"/>
                </a:solidFill>
                <a:latin typeface="Noto Sans JP"/>
              </a:rPr>
              <a:t>→ 当てはまったら → トモキャリに誘導して終了</a:t>
            </a:r>
          </a:p>
        </p:txBody>
      </p:sp>
      <p:sp>
        <p:nvSpPr>
          <p:cNvPr id="16" name="Rounded Rectangle 15"/>
          <p:cNvSpPr/>
          <p:nvPr/>
        </p:nvSpPr>
        <p:spPr>
          <a:xfrm>
            <a:off x="594360" y="3749039"/>
            <a:ext cx="10972800" cy="731520"/>
          </a:xfrm>
          <a:prstGeom prst="roundRect">
            <a:avLst>
              <a:gd name="adj" fmla="val 4000"/>
            </a:avLst>
          </a:prstGeom>
          <a:solidFill>
            <a:srgbClr val="FFFFFF"/>
          </a:solidFill>
          <a:ln w="9525">
            <a:solidFill>
              <a:srgbClr val="C8C3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77240" y="3858768"/>
            <a:ext cx="502920" cy="502920"/>
          </a:xfrm>
          <a:prstGeom prst="roundRect">
            <a:avLst>
              <a:gd name="adj" fmla="val 4000"/>
            </a:avLst>
          </a:prstGeom>
          <a:solidFill>
            <a:srgbClr val="2F7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3867911"/>
            <a:ext cx="502920" cy="502920"/>
          </a:xfrm>
          <a:prstGeom prst="rect">
            <a:avLst/>
          </a:prstGeom>
          <a:noFill/>
        </p:spPr>
        <p:txBody>
          <a:bodyPr wrap="square" lIns="27432" rIns="27432" tIns="18288" bIns="18288" anchor="ctr">
            <a:spAutoFit/>
          </a:bodyPr>
          <a:lstStyle/>
          <a:p>
            <a:pPr algn="ctr"/>
            <a:r>
              <a:rPr sz="1800" b="1">
                <a:solidFill>
                  <a:srgbClr val="FFFFFF"/>
                </a:solidFill>
                <a:latin typeface="Noto Sans JP"/>
              </a:rPr>
              <a:t>2</a:t>
            </a:r>
          </a:p>
        </p:txBody>
      </p:sp>
      <p:sp>
        <p:nvSpPr>
          <p:cNvPr id="19" name="TextBox 18"/>
          <p:cNvSpPr txBox="1"/>
          <p:nvPr/>
        </p:nvSpPr>
        <p:spPr>
          <a:xfrm>
            <a:off x="1417320" y="3840479"/>
            <a:ext cx="10058400" cy="274320"/>
          </a:xfrm>
          <a:prstGeom prst="rect">
            <a:avLst/>
          </a:prstGeom>
          <a:noFill/>
        </p:spPr>
        <p:txBody>
          <a:bodyPr wrap="square" lIns="27432" rIns="27432" tIns="18288" bIns="18288" anchor="t">
            <a:spAutoFit/>
          </a:bodyPr>
          <a:lstStyle/>
          <a:p>
            <a:pPr algn="l"/>
            <a:r>
              <a:rPr sz="1300" b="1">
                <a:solidFill>
                  <a:srgbClr val="000000"/>
                </a:solidFill>
                <a:latin typeface="Noto Sans JP"/>
              </a:rPr>
              <a:t>「主体性・変革意欲が高い」かつ「BtoB志向」の学生を検出</a:t>
            </a:r>
          </a:p>
        </p:txBody>
      </p:sp>
      <p:sp>
        <p:nvSpPr>
          <p:cNvPr id="20" name="TextBox 19"/>
          <p:cNvSpPr txBox="1"/>
          <p:nvPr/>
        </p:nvSpPr>
        <p:spPr>
          <a:xfrm>
            <a:off x="1417320" y="4114800"/>
            <a:ext cx="10058400" cy="274320"/>
          </a:xfrm>
          <a:prstGeom prst="rect">
            <a:avLst/>
          </a:prstGeom>
          <a:noFill/>
        </p:spPr>
        <p:txBody>
          <a:bodyPr wrap="square" lIns="27432" rIns="27432" tIns="18288" bIns="18288" anchor="t">
            <a:spAutoFit/>
          </a:bodyPr>
          <a:lstStyle/>
          <a:p>
            <a:pPr algn="l"/>
            <a:r>
              <a:rPr sz="1100" b="0">
                <a:solidFill>
                  <a:srgbClr val="141414"/>
                </a:solidFill>
                <a:latin typeface="Noto Sans JP"/>
              </a:rPr>
              <a:t>→ 当てはまったら → 中西製作所様を推薦して終了</a:t>
            </a:r>
          </a:p>
        </p:txBody>
      </p:sp>
      <p:sp>
        <p:nvSpPr>
          <p:cNvPr id="21" name="Rounded Rectangle 20"/>
          <p:cNvSpPr/>
          <p:nvPr/>
        </p:nvSpPr>
        <p:spPr>
          <a:xfrm>
            <a:off x="594360" y="4572000"/>
            <a:ext cx="10972800" cy="731520"/>
          </a:xfrm>
          <a:prstGeom prst="roundRect">
            <a:avLst>
              <a:gd name="adj" fmla="val 4000"/>
            </a:avLst>
          </a:prstGeom>
          <a:solidFill>
            <a:srgbClr val="FFFFFF"/>
          </a:solidFill>
          <a:ln w="9525">
            <a:solidFill>
              <a:srgbClr val="C8C3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77240" y="4681728"/>
            <a:ext cx="502920" cy="502920"/>
          </a:xfrm>
          <a:prstGeom prst="roundRect">
            <a:avLst>
              <a:gd name="adj" fmla="val 4000"/>
            </a:avLst>
          </a:prstGeom>
          <a:solidFill>
            <a:srgbClr val="2F7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690872"/>
            <a:ext cx="502920" cy="502920"/>
          </a:xfrm>
          <a:prstGeom prst="rect">
            <a:avLst/>
          </a:prstGeom>
          <a:noFill/>
        </p:spPr>
        <p:txBody>
          <a:bodyPr wrap="square" lIns="27432" rIns="27432" tIns="18288" bIns="18288" anchor="ctr">
            <a:spAutoFit/>
          </a:bodyPr>
          <a:lstStyle/>
          <a:p>
            <a:pPr algn="ctr"/>
            <a:r>
              <a:rPr sz="1800" b="1">
                <a:solidFill>
                  <a:srgbClr val="FFFFFF"/>
                </a:solidFill>
                <a:latin typeface="Noto Sans JP"/>
              </a:rPr>
              <a:t>3</a:t>
            </a:r>
          </a:p>
        </p:txBody>
      </p:sp>
      <p:sp>
        <p:nvSpPr>
          <p:cNvPr id="24" name="TextBox 23"/>
          <p:cNvSpPr txBox="1"/>
          <p:nvPr/>
        </p:nvSpPr>
        <p:spPr>
          <a:xfrm>
            <a:off x="1417320" y="4663440"/>
            <a:ext cx="10058400" cy="274320"/>
          </a:xfrm>
          <a:prstGeom prst="rect">
            <a:avLst/>
          </a:prstGeom>
          <a:noFill/>
        </p:spPr>
        <p:txBody>
          <a:bodyPr wrap="square" lIns="27432" rIns="27432" tIns="18288" bIns="18288" anchor="t">
            <a:spAutoFit/>
          </a:bodyPr>
          <a:lstStyle/>
          <a:p>
            <a:pPr algn="l"/>
            <a:r>
              <a:rPr sz="1300" b="1">
                <a:solidFill>
                  <a:srgbClr val="000000"/>
                </a:solidFill>
                <a:latin typeface="Noto Sans JP"/>
              </a:rPr>
              <a:t>「中西と相性のいいタイプ＋業界志向」の学生を検出</a:t>
            </a:r>
          </a:p>
        </p:txBody>
      </p:sp>
      <p:sp>
        <p:nvSpPr>
          <p:cNvPr id="25" name="TextBox 24"/>
          <p:cNvSpPr txBox="1"/>
          <p:nvPr/>
        </p:nvSpPr>
        <p:spPr>
          <a:xfrm>
            <a:off x="1417320" y="4937760"/>
            <a:ext cx="10058400" cy="274320"/>
          </a:xfrm>
          <a:prstGeom prst="rect">
            <a:avLst/>
          </a:prstGeom>
          <a:noFill/>
        </p:spPr>
        <p:txBody>
          <a:bodyPr wrap="square" lIns="27432" rIns="27432" tIns="18288" bIns="18288" anchor="t">
            <a:spAutoFit/>
          </a:bodyPr>
          <a:lstStyle/>
          <a:p>
            <a:pPr algn="l"/>
            <a:r>
              <a:rPr sz="1100" b="0">
                <a:solidFill>
                  <a:srgbClr val="141414"/>
                </a:solidFill>
                <a:latin typeface="Noto Sans JP"/>
              </a:rPr>
              <a:t>→ 当てはまったら → 中西製作所様を推薦して終了</a:t>
            </a:r>
          </a:p>
        </p:txBody>
      </p:sp>
      <p:sp>
        <p:nvSpPr>
          <p:cNvPr id="26" name="Rounded Rectangle 25"/>
          <p:cNvSpPr/>
          <p:nvPr/>
        </p:nvSpPr>
        <p:spPr>
          <a:xfrm>
            <a:off x="594360" y="5394960"/>
            <a:ext cx="10972800" cy="731520"/>
          </a:xfrm>
          <a:prstGeom prst="roundRect">
            <a:avLst>
              <a:gd name="adj" fmla="val 4000"/>
            </a:avLst>
          </a:prstGeom>
          <a:solidFill>
            <a:srgbClr val="FFFFFF"/>
          </a:solidFill>
          <a:ln w="9525">
            <a:solidFill>
              <a:srgbClr val="C8C3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77240" y="5504688"/>
            <a:ext cx="502920" cy="502920"/>
          </a:xfrm>
          <a:prstGeom prst="roundRect">
            <a:avLst>
              <a:gd name="adj" fmla="val 4000"/>
            </a:avLst>
          </a:prstGeom>
          <a:solidFill>
            <a:srgbClr val="1C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513832"/>
            <a:ext cx="502920" cy="502920"/>
          </a:xfrm>
          <a:prstGeom prst="rect">
            <a:avLst/>
          </a:prstGeom>
          <a:noFill/>
        </p:spPr>
        <p:txBody>
          <a:bodyPr wrap="square" lIns="27432" rIns="27432" tIns="18288" bIns="18288" anchor="ctr">
            <a:spAutoFit/>
          </a:bodyPr>
          <a:lstStyle/>
          <a:p>
            <a:pPr algn="ctr"/>
            <a:r>
              <a:rPr sz="1800" b="1">
                <a:solidFill>
                  <a:srgbClr val="FFFFFF"/>
                </a:solidFill>
                <a:latin typeface="Noto Sans JP"/>
              </a:rPr>
              <a:t>4</a:t>
            </a:r>
          </a:p>
        </p:txBody>
      </p:sp>
      <p:sp>
        <p:nvSpPr>
          <p:cNvPr id="29" name="TextBox 28"/>
          <p:cNvSpPr txBox="1"/>
          <p:nvPr/>
        </p:nvSpPr>
        <p:spPr>
          <a:xfrm>
            <a:off x="1417320" y="5486400"/>
            <a:ext cx="10058400" cy="274320"/>
          </a:xfrm>
          <a:prstGeom prst="rect">
            <a:avLst/>
          </a:prstGeom>
          <a:noFill/>
        </p:spPr>
        <p:txBody>
          <a:bodyPr wrap="square" lIns="27432" rIns="27432" tIns="18288" bIns="18288" anchor="t">
            <a:spAutoFit/>
          </a:bodyPr>
          <a:lstStyle/>
          <a:p>
            <a:pPr algn="l"/>
            <a:r>
              <a:rPr sz="1300" b="1">
                <a:solidFill>
                  <a:srgbClr val="000000"/>
                </a:solidFill>
                <a:latin typeface="Noto Sans JP"/>
              </a:rPr>
              <a:t>タイプに合った企業を推薦</a:t>
            </a:r>
          </a:p>
        </p:txBody>
      </p:sp>
      <p:sp>
        <p:nvSpPr>
          <p:cNvPr id="30" name="TextBox 29"/>
          <p:cNvSpPr txBox="1"/>
          <p:nvPr/>
        </p:nvSpPr>
        <p:spPr>
          <a:xfrm>
            <a:off x="457200" y="6492240"/>
            <a:ext cx="3657600" cy="274320"/>
          </a:xfrm>
          <a:prstGeom prst="rect">
            <a:avLst/>
          </a:prstGeom>
          <a:noFill/>
        </p:spPr>
        <p:txBody>
          <a:bodyPr wrap="none" lIns="0" tIns="0">
            <a:spAutoFit/>
          </a:bodyPr>
          <a:lstStyle/>
          <a:p>
            <a:r>
              <a:rPr sz="1000" b="1">
                <a:solidFill>
                  <a:srgbClr val="3A3A3A"/>
                </a:solidFill>
                <a:latin typeface="Noto Sans JP"/>
              </a:rPr>
              <a:t>TOMOSHIKA</a:t>
            </a:r>
          </a:p>
        </p:txBody>
      </p:sp>
      <p:sp>
        <p:nvSpPr>
          <p:cNvPr id="31" name="TextBox 30"/>
          <p:cNvSpPr txBox="1"/>
          <p:nvPr/>
        </p:nvSpPr>
        <p:spPr>
          <a:xfrm>
            <a:off x="10972800" y="6492240"/>
            <a:ext cx="914400" cy="274320"/>
          </a:xfrm>
          <a:prstGeom prst="rect">
            <a:avLst/>
          </a:prstGeom>
          <a:noFill/>
        </p:spPr>
        <p:txBody>
          <a:bodyPr wrap="none" lIns="0" tIns="0">
            <a:spAutoFit/>
          </a:bodyPr>
          <a:lstStyle/>
          <a:p>
            <a:pPr algn="r"/>
            <a:r>
              <a:rPr sz="1000" b="1">
                <a:solidFill>
                  <a:srgbClr val="3A3A3A"/>
                </a:solidFill>
                <a:latin typeface="Noto Sans JP"/>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502920"/>
            <a:ext cx="109728" cy="109728"/>
          </a:xfrm>
          <a:prstGeom prst="rect">
            <a:avLst/>
          </a:prstGeom>
          <a:solidFill>
            <a:srgbClr val="B9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9144000" cy="320040"/>
          </a:xfrm>
          <a:prstGeom prst="rect">
            <a:avLst/>
          </a:prstGeom>
          <a:noFill/>
        </p:spPr>
        <p:txBody>
          <a:bodyPr wrap="none" lIns="0" tIns="0">
            <a:spAutoFit/>
          </a:bodyPr>
          <a:lstStyle/>
          <a:p>
            <a:r>
              <a:rPr sz="1400" b="1">
                <a:solidFill>
                  <a:srgbClr val="141414"/>
                </a:solidFill>
                <a:latin typeface="Noto Sans JP"/>
              </a:rPr>
              <a:t>PHASE 03 / Step 0</a:t>
            </a:r>
          </a:p>
        </p:txBody>
      </p:sp>
      <p:sp>
        <p:nvSpPr>
          <p:cNvPr id="5" name="TextBox 4"/>
          <p:cNvSpPr txBox="1"/>
          <p:nvPr/>
        </p:nvSpPr>
        <p:spPr>
          <a:xfrm>
            <a:off x="594360" y="868680"/>
            <a:ext cx="10972800" cy="731520"/>
          </a:xfrm>
          <a:prstGeom prst="rect">
            <a:avLst/>
          </a:prstGeom>
          <a:noFill/>
        </p:spPr>
        <p:txBody>
          <a:bodyPr wrap="square" lIns="27432" rIns="27432" tIns="18288" bIns="18288" anchor="t">
            <a:spAutoFit/>
          </a:bodyPr>
          <a:lstStyle/>
          <a:p>
            <a:pPr algn="l"/>
            <a:r>
              <a:rPr sz="2400" b="1">
                <a:solidFill>
                  <a:srgbClr val="000000"/>
                </a:solidFill>
                <a:latin typeface="Noto Sans JP"/>
              </a:rPr>
              <a:t>Step 0: 嘘回答の補正（前処理）</a:t>
            </a:r>
          </a:p>
        </p:txBody>
      </p:sp>
      <p:sp>
        <p:nvSpPr>
          <p:cNvPr id="6" name="TextBox 5"/>
          <p:cNvSpPr txBox="1"/>
          <p:nvPr/>
        </p:nvSpPr>
        <p:spPr>
          <a:xfrm>
            <a:off x="594360" y="1463040"/>
            <a:ext cx="10972800" cy="320040"/>
          </a:xfrm>
          <a:prstGeom prst="rect">
            <a:avLst/>
          </a:prstGeom>
          <a:noFill/>
        </p:spPr>
        <p:txBody>
          <a:bodyPr wrap="square" lIns="27432" rIns="27432" tIns="18288" bIns="18288" anchor="t">
            <a:spAutoFit/>
          </a:bodyPr>
          <a:lstStyle/>
          <a:p>
            <a:pPr algn="l"/>
            <a:r>
              <a:rPr sz="1500" b="1">
                <a:solidFill>
                  <a:srgbClr val="000000"/>
                </a:solidFill>
                <a:latin typeface="Noto Sans JP"/>
              </a:rPr>
              <a:t>目的</a:t>
            </a:r>
          </a:p>
        </p:txBody>
      </p:sp>
      <p:sp>
        <p:nvSpPr>
          <p:cNvPr id="7" name="TextBox 6"/>
          <p:cNvSpPr txBox="1"/>
          <p:nvPr/>
        </p:nvSpPr>
        <p:spPr>
          <a:xfrm>
            <a:off x="594360" y="1783080"/>
            <a:ext cx="10972800" cy="365760"/>
          </a:xfrm>
          <a:prstGeom prst="rect">
            <a:avLst/>
          </a:prstGeom>
          <a:noFill/>
        </p:spPr>
        <p:txBody>
          <a:bodyPr wrap="square" lIns="27432" rIns="27432" tIns="18288" bIns="18288" anchor="t">
            <a:spAutoFit/>
          </a:bodyPr>
          <a:lstStyle/>
          <a:p>
            <a:pPr algn="l"/>
            <a:r>
              <a:rPr sz="1300" b="0">
                <a:solidFill>
                  <a:srgbClr val="000000"/>
                </a:solidFill>
                <a:latin typeface="Noto Sans JP"/>
              </a:rPr>
              <a:t>自分をよく見せようとして回答を盛っている可能性がある学生の点数を割り引く。</a:t>
            </a:r>
          </a:p>
        </p:txBody>
      </p:sp>
      <p:sp>
        <p:nvSpPr>
          <p:cNvPr id="8" name="TextBox 7"/>
          <p:cNvSpPr txBox="1"/>
          <p:nvPr/>
        </p:nvSpPr>
        <p:spPr>
          <a:xfrm>
            <a:off x="594360" y="2194560"/>
            <a:ext cx="10972800" cy="320040"/>
          </a:xfrm>
          <a:prstGeom prst="rect">
            <a:avLst/>
          </a:prstGeom>
          <a:noFill/>
        </p:spPr>
        <p:txBody>
          <a:bodyPr wrap="square" lIns="27432" rIns="27432" tIns="18288" bIns="18288" anchor="t">
            <a:spAutoFit/>
          </a:bodyPr>
          <a:lstStyle/>
          <a:p>
            <a:pPr algn="l"/>
            <a:r>
              <a:rPr sz="1500" b="1">
                <a:solidFill>
                  <a:srgbClr val="000000"/>
                </a:solidFill>
                <a:latin typeface="Noto Sans JP"/>
              </a:rPr>
              <a:t>しくみ</a:t>
            </a:r>
          </a:p>
        </p:txBody>
      </p:sp>
      <p:sp>
        <p:nvSpPr>
          <p:cNvPr id="9" name="Oval 8"/>
          <p:cNvSpPr/>
          <p:nvPr/>
        </p:nvSpPr>
        <p:spPr>
          <a:xfrm>
            <a:off x="731520" y="2670048"/>
            <a:ext cx="73152" cy="73152"/>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560320"/>
            <a:ext cx="10789920" cy="365760"/>
          </a:xfrm>
          <a:prstGeom prst="rect">
            <a:avLst/>
          </a:prstGeom>
          <a:noFill/>
        </p:spPr>
        <p:txBody>
          <a:bodyPr wrap="square" lIns="27432" rIns="27432" tIns="18288" bIns="18288" anchor="t">
            <a:spAutoFit/>
          </a:bodyPr>
          <a:lstStyle/>
          <a:p>
            <a:pPr algn="l"/>
            <a:r>
              <a:rPr sz="1200" b="0">
                <a:solidFill>
                  <a:srgbClr val="000000"/>
                </a:solidFill>
                <a:latin typeface="Noto Sans JP"/>
              </a:rPr>
              <a:t>Q49（嘘回答検知）の点数が </a:t>
            </a:r>
            <a:r>
              <a:rPr sz="1200" b="1">
                <a:solidFill>
                  <a:srgbClr val="000000"/>
                </a:solidFill>
                <a:latin typeface="Noto Sans JP"/>
              </a:rPr>
              <a:t>5点（満点）のときだけ</a:t>
            </a:r>
            <a:r>
              <a:rPr sz="1200" b="0">
                <a:solidFill>
                  <a:srgbClr val="000000"/>
                </a:solidFill>
                <a:latin typeface="Noto Sans JP"/>
              </a:rPr>
              <a:t>、6タイプ（R, I, A, S, E, C）の点数すべてに</a:t>
            </a:r>
            <a:r>
              <a:rPr sz="1200" b="1">
                <a:solidFill>
                  <a:srgbClr val="000000"/>
                </a:solidFill>
                <a:latin typeface="Noto Sans JP"/>
              </a:rPr>
              <a:t>×0.8</a:t>
            </a:r>
            <a:r>
              <a:rPr sz="1200" b="0">
                <a:solidFill>
                  <a:srgbClr val="000000"/>
                </a:solidFill>
                <a:latin typeface="Noto Sans JP"/>
              </a:rPr>
              <a:t>をかける</a:t>
            </a:r>
          </a:p>
        </p:txBody>
      </p:sp>
      <p:sp>
        <p:nvSpPr>
          <p:cNvPr id="11" name="Oval 10"/>
          <p:cNvSpPr/>
          <p:nvPr/>
        </p:nvSpPr>
        <p:spPr>
          <a:xfrm>
            <a:off x="731520" y="3017520"/>
            <a:ext cx="73152" cy="73152"/>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907791"/>
            <a:ext cx="10789920" cy="365760"/>
          </a:xfrm>
          <a:prstGeom prst="rect">
            <a:avLst/>
          </a:prstGeom>
          <a:noFill/>
        </p:spPr>
        <p:txBody>
          <a:bodyPr wrap="square" lIns="27432" rIns="27432" tIns="18288" bIns="18288" anchor="t">
            <a:spAutoFit/>
          </a:bodyPr>
          <a:lstStyle/>
          <a:p>
            <a:pPr algn="l"/>
            <a:r>
              <a:rPr sz="1200" b="0">
                <a:solidFill>
                  <a:srgbClr val="000000"/>
                </a:solidFill>
                <a:latin typeface="Noto Sans JP"/>
              </a:rPr>
              <a:t>Q49が5点以外のときは、何もしない</a:t>
            </a:r>
          </a:p>
        </p:txBody>
      </p:sp>
      <p:sp>
        <p:nvSpPr>
          <p:cNvPr id="13" name="TextBox 12"/>
          <p:cNvSpPr txBox="1"/>
          <p:nvPr/>
        </p:nvSpPr>
        <p:spPr>
          <a:xfrm>
            <a:off x="594360" y="3383280"/>
            <a:ext cx="10972800" cy="320040"/>
          </a:xfrm>
          <a:prstGeom prst="rect">
            <a:avLst/>
          </a:prstGeom>
          <a:noFill/>
        </p:spPr>
        <p:txBody>
          <a:bodyPr wrap="square" lIns="27432" rIns="27432" tIns="18288" bIns="18288" anchor="t">
            <a:spAutoFit/>
          </a:bodyPr>
          <a:lstStyle/>
          <a:p>
            <a:pPr algn="l"/>
            <a:r>
              <a:rPr sz="1500" b="1">
                <a:solidFill>
                  <a:srgbClr val="000000"/>
                </a:solidFill>
                <a:latin typeface="Noto Sans JP"/>
              </a:rPr>
              <a:t>例</a:t>
            </a:r>
          </a:p>
        </p:txBody>
      </p:sp>
      <p:graphicFrame>
        <p:nvGraphicFramePr>
          <p:cNvPr id="14" name="Table 13"/>
          <p:cNvGraphicFramePr>
            <a:graphicFrameLocks noGrp="1"/>
          </p:cNvGraphicFramePr>
          <p:nvPr/>
        </p:nvGraphicFramePr>
        <p:xfrm>
          <a:off x="594360" y="3749039"/>
          <a:ext cx="10972800" cy="1371600"/>
        </p:xfrm>
        <a:graphic>
          <a:graphicData uri="http://schemas.openxmlformats.org/drawingml/2006/table">
            <a:tbl>
              <a:tblPr firstRow="1" bandRow="1">
                <a:tableStyleId>{5C22544A-7EE6-4342-B048-85BDC9FD1C3A}</a:tableStyleId>
              </a:tblPr>
              <a:tblGrid>
                <a:gridCol w="1371600"/>
                <a:gridCol w="1645920"/>
                <a:gridCol w="1828800"/>
                <a:gridCol w="1828800"/>
                <a:gridCol w="2194560"/>
                <a:gridCol w="2103120"/>
              </a:tblGrid>
              <a:tr h="457200">
                <a:tc>
                  <a:txBody>
                    <a:bodyPr wrap="square" lIns="45720" rIns="45720" tIns="36576" bIns="36576"/>
                    <a:lstStyle/>
                    <a:p>
                      <a:r>
                        <a:rPr sz="1100" b="1">
                          <a:solidFill>
                            <a:srgbClr val="000000"/>
                          </a:solidFill>
                          <a:latin typeface="Noto Sans JP"/>
                        </a:rPr>
                        <a:t>学生</a:t>
                      </a:r>
                    </a:p>
                  </a:txBody>
                  <a:tcPr marL="73152" marR="73152" marT="45720" marB="45720" anchor="t">
                    <a:solidFill>
                      <a:srgbClr val="EDE6D2"/>
                    </a:solidFill>
                  </a:tcPr>
                </a:tc>
                <a:tc>
                  <a:txBody>
                    <a:bodyPr wrap="square" lIns="45720" rIns="45720" tIns="36576" bIns="36576"/>
                    <a:lstStyle/>
                    <a:p>
                      <a:r>
                        <a:rPr sz="1100" b="1">
                          <a:solidFill>
                            <a:srgbClr val="000000"/>
                          </a:solidFill>
                          <a:latin typeface="Noto Sans JP"/>
                        </a:rPr>
                        <a:t>Q49の点数</a:t>
                      </a:r>
                    </a:p>
                  </a:txBody>
                  <a:tcPr marL="73152" marR="73152" marT="45720" marB="45720" anchor="t">
                    <a:solidFill>
                      <a:srgbClr val="EDE6D2"/>
                    </a:solidFill>
                  </a:tcPr>
                </a:tc>
                <a:tc>
                  <a:txBody>
                    <a:bodyPr wrap="square" lIns="45720" rIns="45720" tIns="36576" bIns="36576"/>
                    <a:lstStyle/>
                    <a:p>
                      <a:r>
                        <a:rPr sz="1100" b="1">
                          <a:solidFill>
                            <a:srgbClr val="000000"/>
                          </a:solidFill>
                          <a:latin typeface="Noto Sans JP"/>
                        </a:rPr>
                        <a:t>補正前のE型</a:t>
                      </a:r>
                    </a:p>
                  </a:txBody>
                  <a:tcPr marL="73152" marR="73152" marT="45720" marB="45720" anchor="t">
                    <a:solidFill>
                      <a:srgbClr val="EDE6D2"/>
                    </a:solidFill>
                  </a:tcPr>
                </a:tc>
                <a:tc>
                  <a:txBody>
                    <a:bodyPr wrap="square" lIns="45720" rIns="45720" tIns="36576" bIns="36576"/>
                    <a:lstStyle/>
                    <a:p>
                      <a:r>
                        <a:rPr sz="1100" b="1">
                          <a:solidFill>
                            <a:srgbClr val="000000"/>
                          </a:solidFill>
                          <a:latin typeface="Noto Sans JP"/>
                        </a:rPr>
                        <a:t>補正前のR型</a:t>
                      </a:r>
                    </a:p>
                  </a:txBody>
                  <a:tcPr marL="73152" marR="73152" marT="45720" marB="45720" anchor="t">
                    <a:solidFill>
                      <a:srgbClr val="EDE6D2"/>
                    </a:solidFill>
                  </a:tcPr>
                </a:tc>
                <a:tc>
                  <a:txBody>
                    <a:bodyPr wrap="square" lIns="45720" rIns="45720" tIns="36576" bIns="36576"/>
                    <a:lstStyle/>
                    <a:p>
                      <a:r>
                        <a:rPr sz="1100" b="1">
                          <a:solidFill>
                            <a:srgbClr val="000000"/>
                          </a:solidFill>
                          <a:latin typeface="Noto Sans JP"/>
                        </a:rPr>
                        <a:t>→ 補正後のE型</a:t>
                      </a:r>
                    </a:p>
                  </a:txBody>
                  <a:tcPr marL="73152" marR="73152" marT="45720" marB="45720" anchor="t">
                    <a:solidFill>
                      <a:srgbClr val="EDE6D2"/>
                    </a:solidFill>
                  </a:tcPr>
                </a:tc>
                <a:tc>
                  <a:txBody>
                    <a:bodyPr wrap="square" lIns="45720" rIns="45720" tIns="36576" bIns="36576"/>
                    <a:lstStyle/>
                    <a:p>
                      <a:r>
                        <a:rPr sz="1100" b="1">
                          <a:solidFill>
                            <a:srgbClr val="000000"/>
                          </a:solidFill>
                          <a:latin typeface="Noto Sans JP"/>
                        </a:rPr>
                        <a:t>→ 補正後のR型</a:t>
                      </a:r>
                    </a:p>
                  </a:txBody>
                  <a:tcPr marL="73152" marR="73152" marT="45720" marB="45720" anchor="t">
                    <a:solidFill>
                      <a:srgbClr val="EDE6D2"/>
                    </a:solidFill>
                  </a:tcPr>
                </a:tc>
              </a:tr>
              <a:tr h="457200">
                <a:tc>
                  <a:txBody>
                    <a:bodyPr wrap="square" lIns="45720" rIns="45720" tIns="36576" bIns="36576"/>
                    <a:lstStyle/>
                    <a:p>
                      <a:r>
                        <a:rPr sz="1100" b="0">
                          <a:solidFill>
                            <a:srgbClr val="000000"/>
                          </a:solidFill>
                          <a:latin typeface="Noto Sans JP"/>
                        </a:rPr>
                        <a:t>Xさん</a:t>
                      </a:r>
                    </a:p>
                  </a:txBody>
                  <a:tcPr marL="73152" marR="73152" marT="45720" marB="45720" anchor="t">
                    <a:solidFill>
                      <a:srgbClr val="FFFFFF"/>
                    </a:solidFill>
                  </a:tcPr>
                </a:tc>
                <a:tc>
                  <a:txBody>
                    <a:bodyPr wrap="square" lIns="45720" rIns="45720" tIns="36576" bIns="36576"/>
                    <a:lstStyle/>
                    <a:p>
                      <a:r>
                        <a:rPr sz="1100" b="1">
                          <a:solidFill>
                            <a:srgbClr val="000000"/>
                          </a:solidFill>
                          <a:latin typeface="Noto Sans JP"/>
                        </a:rPr>
                        <a:t>5点</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20点</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15点</a:t>
                      </a:r>
                    </a:p>
                  </a:txBody>
                  <a:tcPr marL="73152" marR="73152" marT="45720" marB="45720" anchor="t">
                    <a:solidFill>
                      <a:srgbClr val="FFFFFF"/>
                    </a:solidFill>
                  </a:tcPr>
                </a:tc>
                <a:tc>
                  <a:txBody>
                    <a:bodyPr wrap="square" lIns="45720" rIns="45720" tIns="36576" bIns="36576"/>
                    <a:lstStyle/>
                    <a:p>
                      <a:r>
                        <a:rPr sz="1100" b="1">
                          <a:solidFill>
                            <a:srgbClr val="000000"/>
                          </a:solidFill>
                          <a:latin typeface="Noto Sans JP"/>
                        </a:rPr>
                        <a:t>16点</a:t>
                      </a:r>
                      <a:r>
                        <a:rPr sz="1100" b="0">
                          <a:solidFill>
                            <a:srgbClr val="000000"/>
                          </a:solidFill>
                          <a:latin typeface="Noto Sans JP"/>
                        </a:rPr>
                        <a:t>（×0.8）</a:t>
                      </a:r>
                    </a:p>
                  </a:txBody>
                  <a:tcPr marL="73152" marR="73152" marT="45720" marB="45720" anchor="t">
                    <a:solidFill>
                      <a:srgbClr val="FFFFFF"/>
                    </a:solidFill>
                  </a:tcPr>
                </a:tc>
                <a:tc>
                  <a:txBody>
                    <a:bodyPr wrap="square" lIns="45720" rIns="45720" tIns="36576" bIns="36576"/>
                    <a:lstStyle/>
                    <a:p>
                      <a:r>
                        <a:rPr sz="1100" b="1">
                          <a:solidFill>
                            <a:srgbClr val="000000"/>
                          </a:solidFill>
                          <a:latin typeface="Noto Sans JP"/>
                        </a:rPr>
                        <a:t>12点</a:t>
                      </a:r>
                      <a:r>
                        <a:rPr sz="1100" b="0">
                          <a:solidFill>
                            <a:srgbClr val="000000"/>
                          </a:solidFill>
                          <a:latin typeface="Noto Sans JP"/>
                        </a:rPr>
                        <a:t>（×0.8）</a:t>
                      </a:r>
                    </a:p>
                  </a:txBody>
                  <a:tcPr marL="73152" marR="73152" marT="45720" marB="45720" anchor="t">
                    <a:solidFill>
                      <a:srgbClr val="FFFFFF"/>
                    </a:solidFill>
                  </a:tcPr>
                </a:tc>
              </a:tr>
              <a:tr h="457200">
                <a:tc>
                  <a:txBody>
                    <a:bodyPr wrap="square" lIns="45720" rIns="45720" tIns="36576" bIns="36576"/>
                    <a:lstStyle/>
                    <a:p>
                      <a:r>
                        <a:rPr sz="1100" b="0">
                          <a:solidFill>
                            <a:srgbClr val="000000"/>
                          </a:solidFill>
                          <a:latin typeface="Noto Sans JP"/>
                        </a:rPr>
                        <a:t>Yさん</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3点</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20点</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15点</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20点（そのまま）</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15点（そのまま）</a:t>
                      </a:r>
                    </a:p>
                  </a:txBody>
                  <a:tcPr marL="73152" marR="73152" marT="45720" marB="45720" anchor="t">
                    <a:solidFill>
                      <a:srgbClr val="FFFFFF"/>
                    </a:solidFill>
                  </a:tcPr>
                </a:tc>
              </a:tr>
            </a:tbl>
          </a:graphicData>
        </a:graphic>
      </p:graphicFrame>
      <p:sp>
        <p:nvSpPr>
          <p:cNvPr id="15" name="TextBox 14"/>
          <p:cNvSpPr txBox="1"/>
          <p:nvPr/>
        </p:nvSpPr>
        <p:spPr>
          <a:xfrm>
            <a:off x="594360" y="5257800"/>
            <a:ext cx="10972800" cy="365760"/>
          </a:xfrm>
          <a:prstGeom prst="rect">
            <a:avLst/>
          </a:prstGeom>
          <a:noFill/>
        </p:spPr>
        <p:txBody>
          <a:bodyPr wrap="square" lIns="27432" rIns="27432" tIns="18288" bIns="18288" anchor="t">
            <a:spAutoFit/>
          </a:bodyPr>
          <a:lstStyle/>
          <a:p>
            <a:pPr algn="l"/>
            <a:r>
              <a:rPr sz="1300" b="0">
                <a:solidFill>
                  <a:srgbClr val="000000"/>
                </a:solidFill>
                <a:latin typeface="Noto Sans JP"/>
              </a:rPr>
              <a:t>この補正後の点数を使って、以降のStep 1〜4を判定する。</a:t>
            </a:r>
          </a:p>
        </p:txBody>
      </p:sp>
      <p:sp>
        <p:nvSpPr>
          <p:cNvPr id="16" name="TextBox 15"/>
          <p:cNvSpPr txBox="1"/>
          <p:nvPr/>
        </p:nvSpPr>
        <p:spPr>
          <a:xfrm>
            <a:off x="457200" y="6492240"/>
            <a:ext cx="3657600" cy="274320"/>
          </a:xfrm>
          <a:prstGeom prst="rect">
            <a:avLst/>
          </a:prstGeom>
          <a:noFill/>
        </p:spPr>
        <p:txBody>
          <a:bodyPr wrap="none" lIns="0" tIns="0">
            <a:spAutoFit/>
          </a:bodyPr>
          <a:lstStyle/>
          <a:p>
            <a:r>
              <a:rPr sz="1000" b="1">
                <a:solidFill>
                  <a:srgbClr val="3A3A3A"/>
                </a:solidFill>
                <a:latin typeface="Noto Sans JP"/>
              </a:rPr>
              <a:t>TOMOSHIKA</a:t>
            </a:r>
          </a:p>
        </p:txBody>
      </p:sp>
      <p:sp>
        <p:nvSpPr>
          <p:cNvPr id="17" name="TextBox 16"/>
          <p:cNvSpPr txBox="1"/>
          <p:nvPr/>
        </p:nvSpPr>
        <p:spPr>
          <a:xfrm>
            <a:off x="10972800" y="6492240"/>
            <a:ext cx="914400" cy="274320"/>
          </a:xfrm>
          <a:prstGeom prst="rect">
            <a:avLst/>
          </a:prstGeom>
          <a:noFill/>
        </p:spPr>
        <p:txBody>
          <a:bodyPr wrap="none" lIns="0" tIns="0">
            <a:spAutoFit/>
          </a:bodyPr>
          <a:lstStyle/>
          <a:p>
            <a:pPr algn="r"/>
            <a:r>
              <a:rPr sz="1000" b="1">
                <a:solidFill>
                  <a:srgbClr val="3A3A3A"/>
                </a:solidFill>
                <a:latin typeface="Noto Sans JP"/>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502920"/>
            <a:ext cx="109728" cy="109728"/>
          </a:xfrm>
          <a:prstGeom prst="rect">
            <a:avLst/>
          </a:prstGeom>
          <a:solidFill>
            <a:srgbClr val="B9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9144000" cy="320040"/>
          </a:xfrm>
          <a:prstGeom prst="rect">
            <a:avLst/>
          </a:prstGeom>
          <a:noFill/>
        </p:spPr>
        <p:txBody>
          <a:bodyPr wrap="none" lIns="0" tIns="0">
            <a:spAutoFit/>
          </a:bodyPr>
          <a:lstStyle/>
          <a:p>
            <a:r>
              <a:rPr sz="1400" b="1">
                <a:solidFill>
                  <a:srgbClr val="141414"/>
                </a:solidFill>
                <a:latin typeface="Noto Sans JP"/>
              </a:rPr>
              <a:t>PHASE 03 / Step 1</a:t>
            </a:r>
          </a:p>
        </p:txBody>
      </p:sp>
      <p:sp>
        <p:nvSpPr>
          <p:cNvPr id="5" name="TextBox 4"/>
          <p:cNvSpPr txBox="1"/>
          <p:nvPr/>
        </p:nvSpPr>
        <p:spPr>
          <a:xfrm>
            <a:off x="594360" y="868680"/>
            <a:ext cx="10972800" cy="731520"/>
          </a:xfrm>
          <a:prstGeom prst="rect">
            <a:avLst/>
          </a:prstGeom>
          <a:noFill/>
        </p:spPr>
        <p:txBody>
          <a:bodyPr wrap="square" lIns="27432" rIns="27432" tIns="18288" bIns="18288" anchor="t">
            <a:spAutoFit/>
          </a:bodyPr>
          <a:lstStyle/>
          <a:p>
            <a:pPr algn="l"/>
            <a:r>
              <a:rPr sz="2200" b="1">
                <a:solidFill>
                  <a:srgbClr val="000000"/>
                </a:solidFill>
                <a:latin typeface="Noto Sans JP"/>
              </a:rPr>
              <a:t>Step 1: 志向が定まっていない学生を検出する（最優先）</a:t>
            </a:r>
          </a:p>
        </p:txBody>
      </p:sp>
      <p:sp>
        <p:nvSpPr>
          <p:cNvPr id="6" name="TextBox 5"/>
          <p:cNvSpPr txBox="1"/>
          <p:nvPr/>
        </p:nvSpPr>
        <p:spPr>
          <a:xfrm>
            <a:off x="594360" y="1417320"/>
            <a:ext cx="10972800" cy="320040"/>
          </a:xfrm>
          <a:prstGeom prst="rect">
            <a:avLst/>
          </a:prstGeom>
          <a:noFill/>
        </p:spPr>
        <p:txBody>
          <a:bodyPr wrap="square" lIns="27432" rIns="27432" tIns="18288" bIns="18288" anchor="t">
            <a:spAutoFit/>
          </a:bodyPr>
          <a:lstStyle/>
          <a:p>
            <a:pPr algn="l"/>
            <a:r>
              <a:rPr sz="1500" b="1">
                <a:solidFill>
                  <a:srgbClr val="000000"/>
                </a:solidFill>
                <a:latin typeface="Noto Sans JP"/>
              </a:rPr>
              <a:t>目的</a:t>
            </a:r>
          </a:p>
        </p:txBody>
      </p:sp>
      <p:sp>
        <p:nvSpPr>
          <p:cNvPr id="7" name="TextBox 6"/>
          <p:cNvSpPr txBox="1"/>
          <p:nvPr/>
        </p:nvSpPr>
        <p:spPr>
          <a:xfrm>
            <a:off x="594360" y="1737360"/>
            <a:ext cx="11430000" cy="640080"/>
          </a:xfrm>
          <a:prstGeom prst="rect">
            <a:avLst/>
          </a:prstGeom>
          <a:noFill/>
        </p:spPr>
        <p:txBody>
          <a:bodyPr wrap="square" lIns="27432" rIns="27432" tIns="18288" bIns="18288" anchor="t">
            <a:spAutoFit/>
          </a:bodyPr>
          <a:lstStyle/>
          <a:p>
            <a:pPr algn="l">
              <a:lnSpc>
                <a:spcPct val="135000"/>
              </a:lnSpc>
            </a:pPr>
            <a:r>
              <a:rPr sz="1300" b="0">
                <a:solidFill>
                  <a:srgbClr val="000000"/>
                </a:solidFill>
                <a:latin typeface="Noto Sans JP"/>
              </a:rPr>
              <a:t>6タイプの点数にほとんど差がない学生 ＝ どの仕事に向いているか判断できない学生を検出して、企業を推薦せずに</a:t>
            </a:r>
            <a:r>
              <a:rPr sz="1300" b="1">
                <a:solidFill>
                  <a:srgbClr val="000000"/>
                </a:solidFill>
                <a:latin typeface="Noto Sans JP"/>
              </a:rPr>
              <a:t>キャリア相談（トモキャリ）に誘導する</a:t>
            </a:r>
            <a:r>
              <a:rPr sz="1300" b="0">
                <a:solidFill>
                  <a:srgbClr val="000000"/>
                </a:solidFill>
                <a:latin typeface="Noto Sans JP"/>
              </a:rPr>
              <a:t>。</a:t>
            </a:r>
          </a:p>
        </p:txBody>
      </p:sp>
      <p:sp>
        <p:nvSpPr>
          <p:cNvPr id="8" name="TextBox 7"/>
          <p:cNvSpPr txBox="1"/>
          <p:nvPr/>
        </p:nvSpPr>
        <p:spPr>
          <a:xfrm>
            <a:off x="594360" y="2468880"/>
            <a:ext cx="10972800" cy="320040"/>
          </a:xfrm>
          <a:prstGeom prst="rect">
            <a:avLst/>
          </a:prstGeom>
          <a:noFill/>
        </p:spPr>
        <p:txBody>
          <a:bodyPr wrap="square" lIns="27432" rIns="27432" tIns="18288" bIns="18288" anchor="t">
            <a:spAutoFit/>
          </a:bodyPr>
          <a:lstStyle/>
          <a:p>
            <a:pPr algn="l"/>
            <a:r>
              <a:rPr sz="1500" b="1">
                <a:solidFill>
                  <a:srgbClr val="000000"/>
                </a:solidFill>
                <a:latin typeface="Noto Sans JP"/>
              </a:rPr>
              <a:t>条件</a:t>
            </a:r>
          </a:p>
        </p:txBody>
      </p:sp>
      <p:sp>
        <p:nvSpPr>
          <p:cNvPr id="9" name="TextBox 8"/>
          <p:cNvSpPr txBox="1"/>
          <p:nvPr/>
        </p:nvSpPr>
        <p:spPr>
          <a:xfrm>
            <a:off x="594360" y="2788920"/>
            <a:ext cx="11430000" cy="365760"/>
          </a:xfrm>
          <a:prstGeom prst="rect">
            <a:avLst/>
          </a:prstGeom>
          <a:noFill/>
        </p:spPr>
        <p:txBody>
          <a:bodyPr wrap="square" lIns="27432" rIns="27432" tIns="18288" bIns="18288" anchor="t">
            <a:spAutoFit/>
          </a:bodyPr>
          <a:lstStyle/>
          <a:p>
            <a:pPr algn="l"/>
            <a:r>
              <a:rPr sz="1300" b="0">
                <a:solidFill>
                  <a:srgbClr val="000000"/>
                </a:solidFill>
                <a:latin typeface="Noto Sans JP"/>
              </a:rPr>
              <a:t>6タイプの中で一番高い点数と一番低い点数の差が </a:t>
            </a:r>
            <a:r>
              <a:rPr sz="1300" b="1">
                <a:solidFill>
                  <a:srgbClr val="000000"/>
                </a:solidFill>
                <a:latin typeface="Noto Sans JP"/>
              </a:rPr>
              <a:t>1点以下</a:t>
            </a:r>
          </a:p>
        </p:txBody>
      </p:sp>
      <p:sp>
        <p:nvSpPr>
          <p:cNvPr id="10" name="TextBox 9"/>
          <p:cNvSpPr txBox="1"/>
          <p:nvPr/>
        </p:nvSpPr>
        <p:spPr>
          <a:xfrm>
            <a:off x="594360" y="3291840"/>
            <a:ext cx="10972800" cy="320040"/>
          </a:xfrm>
          <a:prstGeom prst="rect">
            <a:avLst/>
          </a:prstGeom>
          <a:noFill/>
        </p:spPr>
        <p:txBody>
          <a:bodyPr wrap="square" lIns="27432" rIns="27432" tIns="18288" bIns="18288" anchor="t">
            <a:spAutoFit/>
          </a:bodyPr>
          <a:lstStyle/>
          <a:p>
            <a:pPr algn="l"/>
            <a:r>
              <a:rPr sz="1500" b="1">
                <a:solidFill>
                  <a:srgbClr val="000000"/>
                </a:solidFill>
                <a:latin typeface="Noto Sans JP"/>
              </a:rPr>
              <a:t>例</a:t>
            </a:r>
          </a:p>
        </p:txBody>
      </p:sp>
      <p:graphicFrame>
        <p:nvGraphicFramePr>
          <p:cNvPr id="11" name="Table 10"/>
          <p:cNvGraphicFramePr>
            <a:graphicFrameLocks noGrp="1"/>
          </p:cNvGraphicFramePr>
          <p:nvPr/>
        </p:nvGraphicFramePr>
        <p:xfrm>
          <a:off x="594360" y="3657600"/>
          <a:ext cx="10972800" cy="1280160"/>
        </p:xfrm>
        <a:graphic>
          <a:graphicData uri="http://schemas.openxmlformats.org/drawingml/2006/table">
            <a:tbl>
              <a:tblPr firstRow="1" bandRow="1">
                <a:tableStyleId>{5C22544A-7EE6-4342-B048-85BDC9FD1C3A}</a:tableStyleId>
              </a:tblPr>
              <a:tblGrid>
                <a:gridCol w="1097280"/>
                <a:gridCol w="548640"/>
                <a:gridCol w="548640"/>
                <a:gridCol w="548640"/>
                <a:gridCol w="548640"/>
                <a:gridCol w="548640"/>
                <a:gridCol w="548640"/>
                <a:gridCol w="1828800"/>
                <a:gridCol w="4754880"/>
              </a:tblGrid>
              <a:tr h="426720">
                <a:tc>
                  <a:txBody>
                    <a:bodyPr wrap="square" lIns="45720" rIns="45720" tIns="36576" bIns="36576"/>
                    <a:lstStyle/>
                    <a:p>
                      <a:r>
                        <a:rPr sz="1100" b="1">
                          <a:solidFill>
                            <a:srgbClr val="000000"/>
                          </a:solidFill>
                          <a:latin typeface="Noto Sans JP"/>
                        </a:rPr>
                        <a:t>学生</a:t>
                      </a:r>
                    </a:p>
                  </a:txBody>
                  <a:tcPr marL="73152" marR="73152" marT="45720" marB="45720" anchor="t">
                    <a:solidFill>
                      <a:srgbClr val="EDE6D2"/>
                    </a:solidFill>
                  </a:tcPr>
                </a:tc>
                <a:tc>
                  <a:txBody>
                    <a:bodyPr wrap="square" lIns="45720" rIns="45720" tIns="36576" bIns="36576"/>
                    <a:lstStyle/>
                    <a:p>
                      <a:r>
                        <a:rPr sz="1100" b="1">
                          <a:solidFill>
                            <a:srgbClr val="000000"/>
                          </a:solidFill>
                          <a:latin typeface="Noto Sans JP"/>
                        </a:rPr>
                        <a:t>R</a:t>
                      </a:r>
                    </a:p>
                  </a:txBody>
                  <a:tcPr marL="73152" marR="73152" marT="45720" marB="45720" anchor="t">
                    <a:solidFill>
                      <a:srgbClr val="EDE6D2"/>
                    </a:solidFill>
                  </a:tcPr>
                </a:tc>
                <a:tc>
                  <a:txBody>
                    <a:bodyPr wrap="square" lIns="45720" rIns="45720" tIns="36576" bIns="36576"/>
                    <a:lstStyle/>
                    <a:p>
                      <a:r>
                        <a:rPr sz="1100" b="1">
                          <a:solidFill>
                            <a:srgbClr val="000000"/>
                          </a:solidFill>
                          <a:latin typeface="Noto Sans JP"/>
                        </a:rPr>
                        <a:t>I</a:t>
                      </a:r>
                    </a:p>
                  </a:txBody>
                  <a:tcPr marL="73152" marR="73152" marT="45720" marB="45720" anchor="t">
                    <a:solidFill>
                      <a:srgbClr val="EDE6D2"/>
                    </a:solidFill>
                  </a:tcPr>
                </a:tc>
                <a:tc>
                  <a:txBody>
                    <a:bodyPr wrap="square" lIns="45720" rIns="45720" tIns="36576" bIns="36576"/>
                    <a:lstStyle/>
                    <a:p>
                      <a:r>
                        <a:rPr sz="1100" b="1">
                          <a:solidFill>
                            <a:srgbClr val="000000"/>
                          </a:solidFill>
                          <a:latin typeface="Noto Sans JP"/>
                        </a:rPr>
                        <a:t>A</a:t>
                      </a:r>
                    </a:p>
                  </a:txBody>
                  <a:tcPr marL="73152" marR="73152" marT="45720" marB="45720" anchor="t">
                    <a:solidFill>
                      <a:srgbClr val="EDE6D2"/>
                    </a:solidFill>
                  </a:tcPr>
                </a:tc>
                <a:tc>
                  <a:txBody>
                    <a:bodyPr wrap="square" lIns="45720" rIns="45720" tIns="36576" bIns="36576"/>
                    <a:lstStyle/>
                    <a:p>
                      <a:r>
                        <a:rPr sz="1100" b="1">
                          <a:solidFill>
                            <a:srgbClr val="000000"/>
                          </a:solidFill>
                          <a:latin typeface="Noto Sans JP"/>
                        </a:rPr>
                        <a:t>S</a:t>
                      </a:r>
                    </a:p>
                  </a:txBody>
                  <a:tcPr marL="73152" marR="73152" marT="45720" marB="45720" anchor="t">
                    <a:solidFill>
                      <a:srgbClr val="EDE6D2"/>
                    </a:solidFill>
                  </a:tcPr>
                </a:tc>
                <a:tc>
                  <a:txBody>
                    <a:bodyPr wrap="square" lIns="45720" rIns="45720" tIns="36576" bIns="36576"/>
                    <a:lstStyle/>
                    <a:p>
                      <a:r>
                        <a:rPr sz="1100" b="1">
                          <a:solidFill>
                            <a:srgbClr val="000000"/>
                          </a:solidFill>
                          <a:latin typeface="Noto Sans JP"/>
                        </a:rPr>
                        <a:t>E</a:t>
                      </a:r>
                    </a:p>
                  </a:txBody>
                  <a:tcPr marL="73152" marR="73152" marT="45720" marB="45720" anchor="t">
                    <a:solidFill>
                      <a:srgbClr val="EDE6D2"/>
                    </a:solidFill>
                  </a:tcPr>
                </a:tc>
                <a:tc>
                  <a:txBody>
                    <a:bodyPr wrap="square" lIns="45720" rIns="45720" tIns="36576" bIns="36576"/>
                    <a:lstStyle/>
                    <a:p>
                      <a:r>
                        <a:rPr sz="1100" b="1">
                          <a:solidFill>
                            <a:srgbClr val="000000"/>
                          </a:solidFill>
                          <a:latin typeface="Noto Sans JP"/>
                        </a:rPr>
                        <a:t>C</a:t>
                      </a:r>
                    </a:p>
                  </a:txBody>
                  <a:tcPr marL="73152" marR="73152" marT="45720" marB="45720" anchor="t">
                    <a:solidFill>
                      <a:srgbClr val="EDE6D2"/>
                    </a:solidFill>
                  </a:tcPr>
                </a:tc>
                <a:tc>
                  <a:txBody>
                    <a:bodyPr wrap="square" lIns="45720" rIns="45720" tIns="36576" bIns="36576"/>
                    <a:lstStyle/>
                    <a:p>
                      <a:r>
                        <a:rPr sz="1100" b="1">
                          <a:solidFill>
                            <a:srgbClr val="000000"/>
                          </a:solidFill>
                          <a:latin typeface="Noto Sans JP"/>
                        </a:rPr>
                        <a:t>最高−最低</a:t>
                      </a:r>
                    </a:p>
                  </a:txBody>
                  <a:tcPr marL="73152" marR="73152" marT="45720" marB="45720" anchor="t">
                    <a:solidFill>
                      <a:srgbClr val="EDE6D2"/>
                    </a:solidFill>
                  </a:tcPr>
                </a:tc>
                <a:tc>
                  <a:txBody>
                    <a:bodyPr wrap="square" lIns="45720" rIns="45720" tIns="36576" bIns="36576"/>
                    <a:lstStyle/>
                    <a:p>
                      <a:r>
                        <a:rPr sz="1100" b="1">
                          <a:solidFill>
                            <a:srgbClr val="000000"/>
                          </a:solidFill>
                          <a:latin typeface="Noto Sans JP"/>
                        </a:rPr>
                        <a:t>結果</a:t>
                      </a:r>
                    </a:p>
                  </a:txBody>
                  <a:tcPr marL="73152" marR="73152" marT="45720" marB="45720" anchor="t">
                    <a:solidFill>
                      <a:srgbClr val="EDE6D2"/>
                    </a:solidFill>
                  </a:tcPr>
                </a:tc>
              </a:tr>
              <a:tr h="426720">
                <a:tc>
                  <a:txBody>
                    <a:bodyPr wrap="square" lIns="45720" rIns="45720" tIns="36576" bIns="36576"/>
                    <a:lstStyle/>
                    <a:p>
                      <a:r>
                        <a:rPr sz="1100" b="0">
                          <a:solidFill>
                            <a:srgbClr val="000000"/>
                          </a:solidFill>
                          <a:latin typeface="Noto Sans JP"/>
                        </a:rPr>
                        <a:t>Aさん</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12</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12</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11</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12</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12</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11</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12−11 = </a:t>
                      </a:r>
                      <a:r>
                        <a:rPr sz="1100" b="1">
                          <a:solidFill>
                            <a:srgbClr val="000000"/>
                          </a:solidFill>
                          <a:latin typeface="Noto Sans JP"/>
                        </a:rPr>
                        <a:t>1点</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 </a:t>
                      </a:r>
                      <a:r>
                        <a:rPr sz="1100" b="1">
                          <a:solidFill>
                            <a:srgbClr val="000000"/>
                          </a:solidFill>
                          <a:latin typeface="Noto Sans JP"/>
                        </a:rPr>
                        <a:t>トモキャリ誘導</a:t>
                      </a:r>
                      <a:r>
                        <a:rPr sz="1100" b="0">
                          <a:solidFill>
                            <a:srgbClr val="000000"/>
                          </a:solidFill>
                          <a:latin typeface="Noto Sans JP"/>
                        </a:rPr>
                        <a:t>（差がなさすぎて判定できない）</a:t>
                      </a:r>
                    </a:p>
                  </a:txBody>
                  <a:tcPr marL="73152" marR="73152" marT="45720" marB="45720" anchor="t">
                    <a:solidFill>
                      <a:srgbClr val="FFFFFF"/>
                    </a:solidFill>
                  </a:tcPr>
                </a:tc>
              </a:tr>
              <a:tr h="426720">
                <a:tc>
                  <a:txBody>
                    <a:bodyPr wrap="square" lIns="45720" rIns="45720" tIns="36576" bIns="36576"/>
                    <a:lstStyle/>
                    <a:p>
                      <a:r>
                        <a:rPr sz="1100" b="0">
                          <a:solidFill>
                            <a:srgbClr val="000000"/>
                          </a:solidFill>
                          <a:latin typeface="Noto Sans JP"/>
                        </a:rPr>
                        <a:t>Bさん</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15</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12</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8</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18</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10</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6</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18−6 = </a:t>
                      </a:r>
                      <a:r>
                        <a:rPr sz="1100" b="1">
                          <a:solidFill>
                            <a:srgbClr val="000000"/>
                          </a:solidFill>
                          <a:latin typeface="Noto Sans JP"/>
                        </a:rPr>
                        <a:t>12点</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 次のStep 2へ（はっきり差がある）</a:t>
                      </a:r>
                    </a:p>
                  </a:txBody>
                  <a:tcPr marL="73152" marR="73152" marT="45720" marB="45720" anchor="t">
                    <a:solidFill>
                      <a:srgbClr val="FFFFFF"/>
                    </a:solidFill>
                  </a:tcPr>
                </a:tc>
              </a:tr>
            </a:tbl>
          </a:graphicData>
        </a:graphic>
      </p:graphicFrame>
      <p:sp>
        <p:nvSpPr>
          <p:cNvPr id="12" name="TextBox 11"/>
          <p:cNvSpPr txBox="1"/>
          <p:nvPr/>
        </p:nvSpPr>
        <p:spPr>
          <a:xfrm>
            <a:off x="594360" y="5074920"/>
            <a:ext cx="10972800" cy="457200"/>
          </a:xfrm>
          <a:prstGeom prst="rect">
            <a:avLst/>
          </a:prstGeom>
          <a:noFill/>
        </p:spPr>
        <p:txBody>
          <a:bodyPr wrap="square" lIns="27432" rIns="27432" tIns="18288" bIns="18288" anchor="t">
            <a:spAutoFit/>
          </a:bodyPr>
          <a:lstStyle/>
          <a:p>
            <a:pPr algn="l"/>
            <a:r>
              <a:rPr sz="1300" b="0">
                <a:solidFill>
                  <a:srgbClr val="000000"/>
                </a:solidFill>
                <a:latin typeface="Noto Sans JP"/>
              </a:rPr>
              <a:t>→ Aさんのように全タイプの点数が横並びの場合は、企業を推薦しても意味がないのでトモキャリに案内する。</a:t>
            </a:r>
          </a:p>
        </p:txBody>
      </p:sp>
      <p:sp>
        <p:nvSpPr>
          <p:cNvPr id="13" name="TextBox 12"/>
          <p:cNvSpPr txBox="1"/>
          <p:nvPr/>
        </p:nvSpPr>
        <p:spPr>
          <a:xfrm>
            <a:off x="457200" y="6492240"/>
            <a:ext cx="3657600" cy="274320"/>
          </a:xfrm>
          <a:prstGeom prst="rect">
            <a:avLst/>
          </a:prstGeom>
          <a:noFill/>
        </p:spPr>
        <p:txBody>
          <a:bodyPr wrap="none" lIns="0" tIns="0">
            <a:spAutoFit/>
          </a:bodyPr>
          <a:lstStyle/>
          <a:p>
            <a:r>
              <a:rPr sz="1000" b="1">
                <a:solidFill>
                  <a:srgbClr val="3A3A3A"/>
                </a:solidFill>
                <a:latin typeface="Noto Sans JP"/>
              </a:rPr>
              <a:t>TOMOSHIKA</a:t>
            </a:r>
          </a:p>
        </p:txBody>
      </p:sp>
      <p:sp>
        <p:nvSpPr>
          <p:cNvPr id="14" name="TextBox 13"/>
          <p:cNvSpPr txBox="1"/>
          <p:nvPr/>
        </p:nvSpPr>
        <p:spPr>
          <a:xfrm>
            <a:off x="10972800" y="6492240"/>
            <a:ext cx="914400" cy="274320"/>
          </a:xfrm>
          <a:prstGeom prst="rect">
            <a:avLst/>
          </a:prstGeom>
          <a:noFill/>
        </p:spPr>
        <p:txBody>
          <a:bodyPr wrap="none" lIns="0" tIns="0">
            <a:spAutoFit/>
          </a:bodyPr>
          <a:lstStyle/>
          <a:p>
            <a:pPr algn="r"/>
            <a:r>
              <a:rPr sz="1000" b="1">
                <a:solidFill>
                  <a:srgbClr val="3A3A3A"/>
                </a:solidFill>
                <a:latin typeface="Noto Sans JP"/>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502920"/>
            <a:ext cx="109728" cy="109728"/>
          </a:xfrm>
          <a:prstGeom prst="rect">
            <a:avLst/>
          </a:prstGeom>
          <a:solidFill>
            <a:srgbClr val="B9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9144000" cy="320040"/>
          </a:xfrm>
          <a:prstGeom prst="rect">
            <a:avLst/>
          </a:prstGeom>
          <a:noFill/>
        </p:spPr>
        <p:txBody>
          <a:bodyPr wrap="none" lIns="0" tIns="0">
            <a:spAutoFit/>
          </a:bodyPr>
          <a:lstStyle/>
          <a:p>
            <a:r>
              <a:rPr sz="1400" b="1">
                <a:solidFill>
                  <a:srgbClr val="141414"/>
                </a:solidFill>
                <a:latin typeface="Noto Sans JP"/>
              </a:rPr>
              <a:t>PHASE 03 / Step 2</a:t>
            </a:r>
          </a:p>
        </p:txBody>
      </p:sp>
      <p:sp>
        <p:nvSpPr>
          <p:cNvPr id="5" name="TextBox 4"/>
          <p:cNvSpPr txBox="1"/>
          <p:nvPr/>
        </p:nvSpPr>
        <p:spPr>
          <a:xfrm>
            <a:off x="594360" y="868680"/>
            <a:ext cx="10972800" cy="731520"/>
          </a:xfrm>
          <a:prstGeom prst="rect">
            <a:avLst/>
          </a:prstGeom>
          <a:noFill/>
        </p:spPr>
        <p:txBody>
          <a:bodyPr wrap="square" lIns="27432" rIns="27432" tIns="18288" bIns="18288" anchor="t">
            <a:spAutoFit/>
          </a:bodyPr>
          <a:lstStyle/>
          <a:p>
            <a:pPr algn="l"/>
            <a:r>
              <a:rPr sz="2200" b="1">
                <a:solidFill>
                  <a:srgbClr val="000000"/>
                </a:solidFill>
                <a:latin typeface="Noto Sans JP"/>
              </a:rPr>
              <a:t>Step 2: 主体性・変革意欲が高く、BtoB志向の学生を検出する</a:t>
            </a:r>
          </a:p>
        </p:txBody>
      </p:sp>
      <p:sp>
        <p:nvSpPr>
          <p:cNvPr id="6" name="TextBox 5"/>
          <p:cNvSpPr txBox="1"/>
          <p:nvPr/>
        </p:nvSpPr>
        <p:spPr>
          <a:xfrm>
            <a:off x="594360" y="1417320"/>
            <a:ext cx="10972800" cy="320040"/>
          </a:xfrm>
          <a:prstGeom prst="rect">
            <a:avLst/>
          </a:prstGeom>
          <a:noFill/>
        </p:spPr>
        <p:txBody>
          <a:bodyPr wrap="square" lIns="27432" rIns="27432" tIns="18288" bIns="18288" anchor="t">
            <a:spAutoFit/>
          </a:bodyPr>
          <a:lstStyle/>
          <a:p>
            <a:pPr algn="l"/>
            <a:r>
              <a:rPr sz="1400" b="1">
                <a:solidFill>
                  <a:srgbClr val="000000"/>
                </a:solidFill>
                <a:latin typeface="Noto Sans JP"/>
              </a:rPr>
              <a:t>目的</a:t>
            </a:r>
          </a:p>
        </p:txBody>
      </p:sp>
      <p:sp>
        <p:nvSpPr>
          <p:cNvPr id="7" name="TextBox 6"/>
          <p:cNvSpPr txBox="1"/>
          <p:nvPr/>
        </p:nvSpPr>
        <p:spPr>
          <a:xfrm>
            <a:off x="594360" y="1737360"/>
            <a:ext cx="11430000" cy="365760"/>
          </a:xfrm>
          <a:prstGeom prst="rect">
            <a:avLst/>
          </a:prstGeom>
          <a:noFill/>
        </p:spPr>
        <p:txBody>
          <a:bodyPr wrap="square" lIns="27432" rIns="27432" tIns="18288" bIns="18288" anchor="t">
            <a:spAutoFit/>
          </a:bodyPr>
          <a:lstStyle/>
          <a:p>
            <a:pPr algn="l"/>
            <a:r>
              <a:rPr sz="1200" b="0">
                <a:solidFill>
                  <a:srgbClr val="000000"/>
                </a:solidFill>
                <a:latin typeface="Noto Sans JP"/>
              </a:rPr>
              <a:t>中西製作所様の社風に合う学生を検出して、</a:t>
            </a:r>
            <a:r>
              <a:rPr sz="1200" b="1">
                <a:solidFill>
                  <a:srgbClr val="000000"/>
                </a:solidFill>
                <a:latin typeface="Noto Sans JP"/>
              </a:rPr>
              <a:t>中西製作所様を推薦する</a:t>
            </a:r>
            <a:r>
              <a:rPr sz="1200" b="0">
                <a:solidFill>
                  <a:srgbClr val="000000"/>
                </a:solidFill>
                <a:latin typeface="Noto Sans JP"/>
              </a:rPr>
              <a:t>。</a:t>
            </a:r>
          </a:p>
        </p:txBody>
      </p:sp>
      <p:sp>
        <p:nvSpPr>
          <p:cNvPr id="8" name="TextBox 7"/>
          <p:cNvSpPr txBox="1"/>
          <p:nvPr/>
        </p:nvSpPr>
        <p:spPr>
          <a:xfrm>
            <a:off x="594360" y="2103120"/>
            <a:ext cx="10972800" cy="320040"/>
          </a:xfrm>
          <a:prstGeom prst="rect">
            <a:avLst/>
          </a:prstGeom>
          <a:noFill/>
        </p:spPr>
        <p:txBody>
          <a:bodyPr wrap="square" lIns="27432" rIns="27432" tIns="18288" bIns="18288" anchor="t">
            <a:spAutoFit/>
          </a:bodyPr>
          <a:lstStyle/>
          <a:p>
            <a:pPr algn="l"/>
            <a:r>
              <a:rPr sz="1400" b="1">
                <a:solidFill>
                  <a:srgbClr val="000000"/>
                </a:solidFill>
                <a:latin typeface="Noto Sans JP"/>
              </a:rPr>
              <a:t>背景（津丸様との確認に基づく）</a:t>
            </a:r>
          </a:p>
        </p:txBody>
      </p:sp>
      <p:sp>
        <p:nvSpPr>
          <p:cNvPr id="9" name="TextBox 8"/>
          <p:cNvSpPr txBox="1"/>
          <p:nvPr/>
        </p:nvSpPr>
        <p:spPr>
          <a:xfrm>
            <a:off x="594360" y="2423160"/>
            <a:ext cx="11430000" cy="640080"/>
          </a:xfrm>
          <a:prstGeom prst="rect">
            <a:avLst/>
          </a:prstGeom>
          <a:noFill/>
        </p:spPr>
        <p:txBody>
          <a:bodyPr wrap="square" lIns="27432" rIns="27432" tIns="18288" bIns="18288" anchor="t">
            <a:spAutoFit/>
          </a:bodyPr>
          <a:lstStyle/>
          <a:p>
            <a:pPr algn="l">
              <a:lnSpc>
                <a:spcPct val="130000"/>
              </a:lnSpc>
            </a:pPr>
            <a:r>
              <a:rPr sz="1100" b="0">
                <a:solidFill>
                  <a:srgbClr val="000000"/>
                </a:solidFill>
                <a:latin typeface="Noto Sans JP"/>
              </a:rPr>
              <a:t>中西製作所様は「安定した基盤がありながらベンチャー精神で変革を推進する」社風。この社風に合う人材は、</a:t>
            </a:r>
            <a:r>
              <a:rPr sz="1100" b="1">
                <a:solidFill>
                  <a:srgbClr val="000000"/>
                </a:solidFill>
                <a:latin typeface="Noto Sans JP"/>
              </a:rPr>
              <a:t>主体性（Q30）と変革意欲（Q31）が両方高い人</a:t>
            </a:r>
            <a:r>
              <a:rPr sz="1100" b="0">
                <a:solidFill>
                  <a:srgbClr val="000000"/>
                </a:solidFill>
                <a:latin typeface="Noto Sans JP"/>
              </a:rPr>
              <a:t>。ただし中西製作所様はBtoB企業なので、</a:t>
            </a:r>
            <a:r>
              <a:rPr sz="1100" b="1">
                <a:solidFill>
                  <a:srgbClr val="000000"/>
                </a:solidFill>
                <a:latin typeface="Noto Sans JP"/>
              </a:rPr>
              <a:t>BtoC志向が強い学生には中西を案内しない</a:t>
            </a:r>
            <a:r>
              <a:rPr sz="1100" b="0">
                <a:solidFill>
                  <a:srgbClr val="000000"/>
                </a:solidFill>
                <a:latin typeface="Noto Sans JP"/>
              </a:rPr>
              <a:t>。</a:t>
            </a:r>
          </a:p>
        </p:txBody>
      </p:sp>
      <p:sp>
        <p:nvSpPr>
          <p:cNvPr id="10" name="TextBox 9"/>
          <p:cNvSpPr txBox="1"/>
          <p:nvPr/>
        </p:nvSpPr>
        <p:spPr>
          <a:xfrm>
            <a:off x="594360" y="3108960"/>
            <a:ext cx="11430000" cy="320040"/>
          </a:xfrm>
          <a:prstGeom prst="rect">
            <a:avLst/>
          </a:prstGeom>
          <a:noFill/>
        </p:spPr>
        <p:txBody>
          <a:bodyPr wrap="square" lIns="27432" rIns="27432" tIns="18288" bIns="18288" anchor="t">
            <a:spAutoFit/>
          </a:bodyPr>
          <a:lstStyle/>
          <a:p>
            <a:pPr algn="l"/>
            <a:r>
              <a:rPr sz="1400" b="0">
                <a:solidFill>
                  <a:srgbClr val="000000"/>
                </a:solidFill>
                <a:latin typeface="Noto Sans JP"/>
              </a:rPr>
              <a:t>条件（3つを</a:t>
            </a:r>
            <a:r>
              <a:rPr sz="1400" b="1">
                <a:solidFill>
                  <a:srgbClr val="000000"/>
                </a:solidFill>
                <a:latin typeface="Noto Sans JP"/>
              </a:rPr>
              <a:t>すべて</a:t>
            </a:r>
            <a:r>
              <a:rPr sz="1400" b="0">
                <a:solidFill>
                  <a:srgbClr val="000000"/>
                </a:solidFill>
                <a:latin typeface="Noto Sans JP"/>
              </a:rPr>
              <a:t>満たす）</a:t>
            </a:r>
          </a:p>
        </p:txBody>
      </p:sp>
      <p:sp>
        <p:nvSpPr>
          <p:cNvPr id="11" name="TextBox 10"/>
          <p:cNvSpPr txBox="1"/>
          <p:nvPr/>
        </p:nvSpPr>
        <p:spPr>
          <a:xfrm>
            <a:off x="685800" y="3474720"/>
            <a:ext cx="365760" cy="320040"/>
          </a:xfrm>
          <a:prstGeom prst="rect">
            <a:avLst/>
          </a:prstGeom>
          <a:noFill/>
        </p:spPr>
        <p:txBody>
          <a:bodyPr wrap="square" lIns="27432" rIns="27432" tIns="18288" bIns="18288" anchor="t">
            <a:spAutoFit/>
          </a:bodyPr>
          <a:lstStyle/>
          <a:p>
            <a:pPr algn="l"/>
            <a:r>
              <a:rPr sz="1200" b="1">
                <a:solidFill>
                  <a:srgbClr val="000000"/>
                </a:solidFill>
                <a:latin typeface="Noto Sans JP"/>
              </a:rPr>
              <a:t>1.</a:t>
            </a:r>
          </a:p>
        </p:txBody>
      </p:sp>
      <p:sp>
        <p:nvSpPr>
          <p:cNvPr id="12" name="TextBox 11"/>
          <p:cNvSpPr txBox="1"/>
          <p:nvPr/>
        </p:nvSpPr>
        <p:spPr>
          <a:xfrm>
            <a:off x="1051560" y="3474720"/>
            <a:ext cx="10515600" cy="320040"/>
          </a:xfrm>
          <a:prstGeom prst="rect">
            <a:avLst/>
          </a:prstGeom>
          <a:noFill/>
        </p:spPr>
        <p:txBody>
          <a:bodyPr wrap="square" lIns="27432" rIns="27432" tIns="18288" bIns="18288" anchor="t">
            <a:spAutoFit/>
          </a:bodyPr>
          <a:lstStyle/>
          <a:p>
            <a:pPr algn="l"/>
            <a:r>
              <a:rPr sz="1200" b="0">
                <a:latin typeface="Noto Sans JP"/>
              </a:rPr>
              <a:t>Q30（主体性）が </a:t>
            </a:r>
            <a:r>
              <a:rPr sz="1200" b="1">
                <a:latin typeface="Noto Sans JP"/>
              </a:rPr>
              <a:t>4点以上</a:t>
            </a:r>
            <a:r>
              <a:rPr sz="1200" b="0">
                <a:latin typeface="Noto Sans JP"/>
              </a:rPr>
              <a:t>（5点満点中）</a:t>
            </a:r>
          </a:p>
        </p:txBody>
      </p:sp>
      <p:sp>
        <p:nvSpPr>
          <p:cNvPr id="13" name="TextBox 12"/>
          <p:cNvSpPr txBox="1"/>
          <p:nvPr/>
        </p:nvSpPr>
        <p:spPr>
          <a:xfrm>
            <a:off x="685800" y="3767328"/>
            <a:ext cx="365760" cy="320040"/>
          </a:xfrm>
          <a:prstGeom prst="rect">
            <a:avLst/>
          </a:prstGeom>
          <a:noFill/>
        </p:spPr>
        <p:txBody>
          <a:bodyPr wrap="square" lIns="27432" rIns="27432" tIns="18288" bIns="18288" anchor="t">
            <a:spAutoFit/>
          </a:bodyPr>
          <a:lstStyle/>
          <a:p>
            <a:pPr algn="l"/>
            <a:r>
              <a:rPr sz="1200" b="1">
                <a:solidFill>
                  <a:srgbClr val="000000"/>
                </a:solidFill>
                <a:latin typeface="Noto Sans JP"/>
              </a:rPr>
              <a:t>2.</a:t>
            </a:r>
          </a:p>
        </p:txBody>
      </p:sp>
      <p:sp>
        <p:nvSpPr>
          <p:cNvPr id="14" name="TextBox 13"/>
          <p:cNvSpPr txBox="1"/>
          <p:nvPr/>
        </p:nvSpPr>
        <p:spPr>
          <a:xfrm>
            <a:off x="1051560" y="3767328"/>
            <a:ext cx="10515600" cy="320040"/>
          </a:xfrm>
          <a:prstGeom prst="rect">
            <a:avLst/>
          </a:prstGeom>
          <a:noFill/>
        </p:spPr>
        <p:txBody>
          <a:bodyPr wrap="square" lIns="27432" rIns="27432" tIns="18288" bIns="18288" anchor="t">
            <a:spAutoFit/>
          </a:bodyPr>
          <a:lstStyle/>
          <a:p>
            <a:pPr algn="l"/>
            <a:r>
              <a:rPr sz="1200" b="0">
                <a:latin typeface="Noto Sans JP"/>
              </a:rPr>
              <a:t>Q31（変革意欲）が </a:t>
            </a:r>
            <a:r>
              <a:rPr sz="1200" b="1">
                <a:latin typeface="Noto Sans JP"/>
              </a:rPr>
              <a:t>4点以上</a:t>
            </a:r>
            <a:r>
              <a:rPr sz="1200" b="0">
                <a:latin typeface="Noto Sans JP"/>
              </a:rPr>
              <a:t>（5点満点中）</a:t>
            </a:r>
          </a:p>
        </p:txBody>
      </p:sp>
      <p:sp>
        <p:nvSpPr>
          <p:cNvPr id="15" name="TextBox 14"/>
          <p:cNvSpPr txBox="1"/>
          <p:nvPr/>
        </p:nvSpPr>
        <p:spPr>
          <a:xfrm>
            <a:off x="685800" y="4059936"/>
            <a:ext cx="365760" cy="320040"/>
          </a:xfrm>
          <a:prstGeom prst="rect">
            <a:avLst/>
          </a:prstGeom>
          <a:noFill/>
        </p:spPr>
        <p:txBody>
          <a:bodyPr wrap="square" lIns="27432" rIns="27432" tIns="18288" bIns="18288" anchor="t">
            <a:spAutoFit/>
          </a:bodyPr>
          <a:lstStyle/>
          <a:p>
            <a:pPr algn="l"/>
            <a:r>
              <a:rPr sz="1200" b="1">
                <a:solidFill>
                  <a:srgbClr val="000000"/>
                </a:solidFill>
                <a:latin typeface="Noto Sans JP"/>
              </a:rPr>
              <a:t>3.</a:t>
            </a:r>
          </a:p>
        </p:txBody>
      </p:sp>
      <p:sp>
        <p:nvSpPr>
          <p:cNvPr id="16" name="TextBox 15"/>
          <p:cNvSpPr txBox="1"/>
          <p:nvPr/>
        </p:nvSpPr>
        <p:spPr>
          <a:xfrm>
            <a:off x="1051560" y="4059936"/>
            <a:ext cx="10515600" cy="320040"/>
          </a:xfrm>
          <a:prstGeom prst="rect">
            <a:avLst/>
          </a:prstGeom>
          <a:noFill/>
        </p:spPr>
        <p:txBody>
          <a:bodyPr wrap="square" lIns="27432" rIns="27432" tIns="18288" bIns="18288" anchor="t">
            <a:spAutoFit/>
          </a:bodyPr>
          <a:lstStyle/>
          <a:p>
            <a:pPr algn="l"/>
            <a:r>
              <a:rPr sz="1200" b="0">
                <a:latin typeface="Noto Sans JP"/>
              </a:rPr>
              <a:t>Q50（BtoB志向）が </a:t>
            </a:r>
            <a:r>
              <a:rPr sz="1200" b="1">
                <a:latin typeface="Noto Sans JP"/>
              </a:rPr>
              <a:t>3点以上</a:t>
            </a:r>
            <a:r>
              <a:rPr sz="1200" b="0">
                <a:latin typeface="Noto Sans JP"/>
              </a:rPr>
              <a:t>（＝ BtoB寄り）</a:t>
            </a:r>
          </a:p>
        </p:txBody>
      </p:sp>
      <p:graphicFrame>
        <p:nvGraphicFramePr>
          <p:cNvPr id="17" name="Table 16"/>
          <p:cNvGraphicFramePr>
            <a:graphicFrameLocks noGrp="1"/>
          </p:cNvGraphicFramePr>
          <p:nvPr/>
        </p:nvGraphicFramePr>
        <p:xfrm>
          <a:off x="594360" y="4434840"/>
          <a:ext cx="10972800" cy="1645920"/>
        </p:xfrm>
        <a:graphic>
          <a:graphicData uri="http://schemas.openxmlformats.org/drawingml/2006/table">
            <a:tbl>
              <a:tblPr firstRow="1" bandRow="1">
                <a:tableStyleId>{5C22544A-7EE6-4342-B048-85BDC9FD1C3A}</a:tableStyleId>
              </a:tblPr>
              <a:tblGrid>
                <a:gridCol w="914400"/>
                <a:gridCol w="731520"/>
                <a:gridCol w="731520"/>
                <a:gridCol w="731520"/>
                <a:gridCol w="7863840"/>
              </a:tblGrid>
              <a:tr h="329184">
                <a:tc>
                  <a:txBody>
                    <a:bodyPr wrap="square" lIns="45720" rIns="45720" tIns="36576" bIns="36576"/>
                    <a:lstStyle/>
                    <a:p>
                      <a:r>
                        <a:rPr sz="1000" b="1">
                          <a:solidFill>
                            <a:srgbClr val="000000"/>
                          </a:solidFill>
                          <a:latin typeface="Noto Sans JP"/>
                        </a:rPr>
                        <a:t>学生</a:t>
                      </a:r>
                    </a:p>
                  </a:txBody>
                  <a:tcPr marL="73152" marR="73152" marT="45720" marB="45720" anchor="t">
                    <a:solidFill>
                      <a:srgbClr val="EDE6D2"/>
                    </a:solidFill>
                  </a:tcPr>
                </a:tc>
                <a:tc>
                  <a:txBody>
                    <a:bodyPr wrap="square" lIns="45720" rIns="45720" tIns="36576" bIns="36576"/>
                    <a:lstStyle/>
                    <a:p>
                      <a:r>
                        <a:rPr sz="1000" b="1">
                          <a:solidFill>
                            <a:srgbClr val="000000"/>
                          </a:solidFill>
                          <a:latin typeface="Noto Sans JP"/>
                        </a:rPr>
                        <a:t>Q30</a:t>
                      </a:r>
                    </a:p>
                  </a:txBody>
                  <a:tcPr marL="73152" marR="73152" marT="45720" marB="45720" anchor="t">
                    <a:solidFill>
                      <a:srgbClr val="EDE6D2"/>
                    </a:solidFill>
                  </a:tcPr>
                </a:tc>
                <a:tc>
                  <a:txBody>
                    <a:bodyPr wrap="square" lIns="45720" rIns="45720" tIns="36576" bIns="36576"/>
                    <a:lstStyle/>
                    <a:p>
                      <a:r>
                        <a:rPr sz="1000" b="1">
                          <a:solidFill>
                            <a:srgbClr val="000000"/>
                          </a:solidFill>
                          <a:latin typeface="Noto Sans JP"/>
                        </a:rPr>
                        <a:t>Q31</a:t>
                      </a:r>
                    </a:p>
                  </a:txBody>
                  <a:tcPr marL="73152" marR="73152" marT="45720" marB="45720" anchor="t">
                    <a:solidFill>
                      <a:srgbClr val="EDE6D2"/>
                    </a:solidFill>
                  </a:tcPr>
                </a:tc>
                <a:tc>
                  <a:txBody>
                    <a:bodyPr wrap="square" lIns="45720" rIns="45720" tIns="36576" bIns="36576"/>
                    <a:lstStyle/>
                    <a:p>
                      <a:r>
                        <a:rPr sz="1000" b="1">
                          <a:solidFill>
                            <a:srgbClr val="000000"/>
                          </a:solidFill>
                          <a:latin typeface="Noto Sans JP"/>
                        </a:rPr>
                        <a:t>Q50</a:t>
                      </a:r>
                    </a:p>
                  </a:txBody>
                  <a:tcPr marL="73152" marR="73152" marT="45720" marB="45720" anchor="t">
                    <a:solidFill>
                      <a:srgbClr val="EDE6D2"/>
                    </a:solidFill>
                  </a:tcPr>
                </a:tc>
                <a:tc>
                  <a:txBody>
                    <a:bodyPr wrap="square" lIns="45720" rIns="45720" tIns="36576" bIns="36576"/>
                    <a:lstStyle/>
                    <a:p>
                      <a:r>
                        <a:rPr sz="1000" b="1">
                          <a:solidFill>
                            <a:srgbClr val="000000"/>
                          </a:solidFill>
                          <a:latin typeface="Noto Sans JP"/>
                        </a:rPr>
                        <a:t>結果</a:t>
                      </a:r>
                    </a:p>
                  </a:txBody>
                  <a:tcPr marL="73152" marR="73152" marT="45720" marB="45720" anchor="t">
                    <a:solidFill>
                      <a:srgbClr val="EDE6D2"/>
                    </a:solidFill>
                  </a:tcPr>
                </a:tc>
              </a:tr>
              <a:tr h="329184">
                <a:tc>
                  <a:txBody>
                    <a:bodyPr wrap="square" lIns="45720" rIns="45720" tIns="36576" bIns="36576"/>
                    <a:lstStyle/>
                    <a:p>
                      <a:r>
                        <a:rPr sz="1000" b="0">
                          <a:solidFill>
                            <a:srgbClr val="000000"/>
                          </a:solidFill>
                          <a:latin typeface="Noto Sans JP"/>
                        </a:rPr>
                        <a:t>Aさん</a:t>
                      </a:r>
                    </a:p>
                  </a:txBody>
                  <a:tcPr marL="73152" marR="73152" marT="45720" marB="45720" anchor="t">
                    <a:solidFill>
                      <a:srgbClr val="FFFFFF"/>
                    </a:solidFill>
                  </a:tcPr>
                </a:tc>
                <a:tc>
                  <a:txBody>
                    <a:bodyPr wrap="square" lIns="45720" rIns="45720" tIns="36576" bIns="36576"/>
                    <a:lstStyle/>
                    <a:p>
                      <a:r>
                        <a:rPr sz="1000" b="0">
                          <a:solidFill>
                            <a:srgbClr val="000000"/>
                          </a:solidFill>
                          <a:latin typeface="Noto Sans JP"/>
                        </a:rPr>
                        <a:t>4</a:t>
                      </a:r>
                    </a:p>
                  </a:txBody>
                  <a:tcPr marL="73152" marR="73152" marT="45720" marB="45720" anchor="t">
                    <a:solidFill>
                      <a:srgbClr val="FFFFFF"/>
                    </a:solidFill>
                  </a:tcPr>
                </a:tc>
                <a:tc>
                  <a:txBody>
                    <a:bodyPr wrap="square" lIns="45720" rIns="45720" tIns="36576" bIns="36576"/>
                    <a:lstStyle/>
                    <a:p>
                      <a:r>
                        <a:rPr sz="1000" b="0">
                          <a:solidFill>
                            <a:srgbClr val="000000"/>
                          </a:solidFill>
                          <a:latin typeface="Noto Sans JP"/>
                        </a:rPr>
                        <a:t>5</a:t>
                      </a:r>
                    </a:p>
                  </a:txBody>
                  <a:tcPr marL="73152" marR="73152" marT="45720" marB="45720" anchor="t">
                    <a:solidFill>
                      <a:srgbClr val="FFFFFF"/>
                    </a:solidFill>
                  </a:tcPr>
                </a:tc>
                <a:tc>
                  <a:txBody>
                    <a:bodyPr wrap="square" lIns="45720" rIns="45720" tIns="36576" bIns="36576"/>
                    <a:lstStyle/>
                    <a:p>
                      <a:r>
                        <a:rPr sz="1000" b="0">
                          <a:solidFill>
                            <a:srgbClr val="000000"/>
                          </a:solidFill>
                          <a:latin typeface="Noto Sans JP"/>
                        </a:rPr>
                        <a:t>4</a:t>
                      </a:r>
                    </a:p>
                  </a:txBody>
                  <a:tcPr marL="73152" marR="73152" marT="45720" marB="45720" anchor="t">
                    <a:solidFill>
                      <a:srgbClr val="FFFFFF"/>
                    </a:solidFill>
                  </a:tcPr>
                </a:tc>
                <a:tc>
                  <a:txBody>
                    <a:bodyPr wrap="square" lIns="45720" rIns="45720" tIns="36576" bIns="36576"/>
                    <a:lstStyle/>
                    <a:p>
                      <a:r>
                        <a:rPr sz="1000" b="0">
                          <a:solidFill>
                            <a:srgbClr val="000000"/>
                          </a:solidFill>
                          <a:latin typeface="Noto Sans JP"/>
                        </a:rPr>
                        <a:t>3つとも満たす → </a:t>
                      </a:r>
                      <a:r>
                        <a:rPr sz="1000" b="1">
                          <a:solidFill>
                            <a:srgbClr val="000000"/>
                          </a:solidFill>
                          <a:latin typeface="Noto Sans JP"/>
                        </a:rPr>
                        <a:t>中西製作所様を推薦</a:t>
                      </a:r>
                    </a:p>
                  </a:txBody>
                  <a:tcPr marL="73152" marR="73152" marT="45720" marB="45720" anchor="t">
                    <a:solidFill>
                      <a:srgbClr val="FFFFFF"/>
                    </a:solidFill>
                  </a:tcPr>
                </a:tc>
              </a:tr>
              <a:tr h="329184">
                <a:tc>
                  <a:txBody>
                    <a:bodyPr wrap="square" lIns="45720" rIns="45720" tIns="36576" bIns="36576"/>
                    <a:lstStyle/>
                    <a:p>
                      <a:r>
                        <a:rPr sz="1000" b="0">
                          <a:solidFill>
                            <a:srgbClr val="000000"/>
                          </a:solidFill>
                          <a:latin typeface="Noto Sans JP"/>
                        </a:rPr>
                        <a:t>Bさん</a:t>
                      </a:r>
                    </a:p>
                  </a:txBody>
                  <a:tcPr marL="73152" marR="73152" marT="45720" marB="45720" anchor="t">
                    <a:solidFill>
                      <a:srgbClr val="FFFFFF"/>
                    </a:solidFill>
                  </a:tcPr>
                </a:tc>
                <a:tc>
                  <a:txBody>
                    <a:bodyPr wrap="square" lIns="45720" rIns="45720" tIns="36576" bIns="36576"/>
                    <a:lstStyle/>
                    <a:p>
                      <a:r>
                        <a:rPr sz="1000" b="0">
                          <a:solidFill>
                            <a:srgbClr val="000000"/>
                          </a:solidFill>
                          <a:latin typeface="Noto Sans JP"/>
                        </a:rPr>
                        <a:t>5</a:t>
                      </a:r>
                    </a:p>
                  </a:txBody>
                  <a:tcPr marL="73152" marR="73152" marT="45720" marB="45720" anchor="t">
                    <a:solidFill>
                      <a:srgbClr val="FFFFFF"/>
                    </a:solidFill>
                  </a:tcPr>
                </a:tc>
                <a:tc>
                  <a:txBody>
                    <a:bodyPr wrap="square" lIns="45720" rIns="45720" tIns="36576" bIns="36576"/>
                    <a:lstStyle/>
                    <a:p>
                      <a:r>
                        <a:rPr sz="1000" b="0">
                          <a:solidFill>
                            <a:srgbClr val="000000"/>
                          </a:solidFill>
                          <a:latin typeface="Noto Sans JP"/>
                        </a:rPr>
                        <a:t>3</a:t>
                      </a:r>
                    </a:p>
                  </a:txBody>
                  <a:tcPr marL="73152" marR="73152" marT="45720" marB="45720" anchor="t">
                    <a:solidFill>
                      <a:srgbClr val="FFFFFF"/>
                    </a:solidFill>
                  </a:tcPr>
                </a:tc>
                <a:tc>
                  <a:txBody>
                    <a:bodyPr wrap="square" lIns="45720" rIns="45720" tIns="36576" bIns="36576"/>
                    <a:lstStyle/>
                    <a:p>
                      <a:r>
                        <a:rPr sz="1000" b="0">
                          <a:solidFill>
                            <a:srgbClr val="000000"/>
                          </a:solidFill>
                          <a:latin typeface="Noto Sans JP"/>
                        </a:rPr>
                        <a:t>4</a:t>
                      </a:r>
                    </a:p>
                  </a:txBody>
                  <a:tcPr marL="73152" marR="73152" marT="45720" marB="45720" anchor="t">
                    <a:solidFill>
                      <a:srgbClr val="FFFFFF"/>
                    </a:solidFill>
                  </a:tcPr>
                </a:tc>
                <a:tc>
                  <a:txBody>
                    <a:bodyPr wrap="square" lIns="45720" rIns="45720" tIns="36576" bIns="36576"/>
                    <a:lstStyle/>
                    <a:p>
                      <a:r>
                        <a:rPr sz="1000" b="0">
                          <a:solidFill>
                            <a:srgbClr val="000000"/>
                          </a:solidFill>
                          <a:latin typeface="Noto Sans JP"/>
                        </a:rPr>
                        <a:t>Q31が4未満 → 次のStep 3へ</a:t>
                      </a:r>
                    </a:p>
                  </a:txBody>
                  <a:tcPr marL="73152" marR="73152" marT="45720" marB="45720" anchor="t">
                    <a:solidFill>
                      <a:srgbClr val="FFFFFF"/>
                    </a:solidFill>
                  </a:tcPr>
                </a:tc>
              </a:tr>
              <a:tr h="329184">
                <a:tc>
                  <a:txBody>
                    <a:bodyPr wrap="square" lIns="45720" rIns="45720" tIns="36576" bIns="36576"/>
                    <a:lstStyle/>
                    <a:p>
                      <a:r>
                        <a:rPr sz="1000" b="0">
                          <a:solidFill>
                            <a:srgbClr val="000000"/>
                          </a:solidFill>
                          <a:latin typeface="Noto Sans JP"/>
                        </a:rPr>
                        <a:t>Cさん</a:t>
                      </a:r>
                    </a:p>
                  </a:txBody>
                  <a:tcPr marL="73152" marR="73152" marT="45720" marB="45720" anchor="t">
                    <a:solidFill>
                      <a:srgbClr val="FFFFFF"/>
                    </a:solidFill>
                  </a:tcPr>
                </a:tc>
                <a:tc>
                  <a:txBody>
                    <a:bodyPr wrap="square" lIns="45720" rIns="45720" tIns="36576" bIns="36576"/>
                    <a:lstStyle/>
                    <a:p>
                      <a:r>
                        <a:rPr sz="1000" b="0">
                          <a:solidFill>
                            <a:srgbClr val="000000"/>
                          </a:solidFill>
                          <a:latin typeface="Noto Sans JP"/>
                        </a:rPr>
                        <a:t>4</a:t>
                      </a:r>
                    </a:p>
                  </a:txBody>
                  <a:tcPr marL="73152" marR="73152" marT="45720" marB="45720" anchor="t">
                    <a:solidFill>
                      <a:srgbClr val="FFFFFF"/>
                    </a:solidFill>
                  </a:tcPr>
                </a:tc>
                <a:tc>
                  <a:txBody>
                    <a:bodyPr wrap="square" lIns="45720" rIns="45720" tIns="36576" bIns="36576"/>
                    <a:lstStyle/>
                    <a:p>
                      <a:r>
                        <a:rPr sz="1000" b="0">
                          <a:solidFill>
                            <a:srgbClr val="000000"/>
                          </a:solidFill>
                          <a:latin typeface="Noto Sans JP"/>
                        </a:rPr>
                        <a:t>4</a:t>
                      </a:r>
                    </a:p>
                  </a:txBody>
                  <a:tcPr marL="73152" marR="73152" marT="45720" marB="45720" anchor="t">
                    <a:solidFill>
                      <a:srgbClr val="FFFFFF"/>
                    </a:solidFill>
                  </a:tcPr>
                </a:tc>
                <a:tc>
                  <a:txBody>
                    <a:bodyPr wrap="square" lIns="45720" rIns="45720" tIns="36576" bIns="36576"/>
                    <a:lstStyle/>
                    <a:p>
                      <a:r>
                        <a:rPr sz="1000" b="0">
                          <a:solidFill>
                            <a:srgbClr val="000000"/>
                          </a:solidFill>
                          <a:latin typeface="Noto Sans JP"/>
                        </a:rPr>
                        <a:t>2</a:t>
                      </a:r>
                    </a:p>
                  </a:txBody>
                  <a:tcPr marL="73152" marR="73152" marT="45720" marB="45720" anchor="t">
                    <a:solidFill>
                      <a:srgbClr val="FFFFFF"/>
                    </a:solidFill>
                  </a:tcPr>
                </a:tc>
                <a:tc>
                  <a:txBody>
                    <a:bodyPr wrap="square" lIns="45720" rIns="45720" tIns="36576" bIns="36576"/>
                    <a:lstStyle/>
                    <a:p>
                      <a:r>
                        <a:rPr sz="1000" b="0">
                          <a:solidFill>
                            <a:srgbClr val="000000"/>
                          </a:solidFill>
                          <a:latin typeface="Noto Sans JP"/>
                        </a:rPr>
                        <a:t>Q50が3未満（BtoC寄り）→ 次のStep 3へ</a:t>
                      </a:r>
                    </a:p>
                  </a:txBody>
                  <a:tcPr marL="73152" marR="73152" marT="45720" marB="45720" anchor="t">
                    <a:solidFill>
                      <a:srgbClr val="FFFFFF"/>
                    </a:solidFill>
                  </a:tcPr>
                </a:tc>
              </a:tr>
              <a:tr h="329184">
                <a:tc>
                  <a:txBody>
                    <a:bodyPr wrap="square" lIns="45720" rIns="45720" tIns="36576" bIns="36576"/>
                    <a:lstStyle/>
                    <a:p>
                      <a:r>
                        <a:rPr sz="1000" b="0">
                          <a:solidFill>
                            <a:srgbClr val="000000"/>
                          </a:solidFill>
                          <a:latin typeface="Noto Sans JP"/>
                        </a:rPr>
                        <a:t>Dさん</a:t>
                      </a:r>
                    </a:p>
                  </a:txBody>
                  <a:tcPr marL="73152" marR="73152" marT="45720" marB="45720" anchor="t">
                    <a:solidFill>
                      <a:srgbClr val="FFFFFF"/>
                    </a:solidFill>
                  </a:tcPr>
                </a:tc>
                <a:tc>
                  <a:txBody>
                    <a:bodyPr wrap="square" lIns="45720" rIns="45720" tIns="36576" bIns="36576"/>
                    <a:lstStyle/>
                    <a:p>
                      <a:r>
                        <a:rPr sz="1000" b="0">
                          <a:solidFill>
                            <a:srgbClr val="000000"/>
                          </a:solidFill>
                          <a:latin typeface="Noto Sans JP"/>
                        </a:rPr>
                        <a:t>3</a:t>
                      </a:r>
                    </a:p>
                  </a:txBody>
                  <a:tcPr marL="73152" marR="73152" marT="45720" marB="45720" anchor="t">
                    <a:solidFill>
                      <a:srgbClr val="FFFFFF"/>
                    </a:solidFill>
                  </a:tcPr>
                </a:tc>
                <a:tc>
                  <a:txBody>
                    <a:bodyPr wrap="square" lIns="45720" rIns="45720" tIns="36576" bIns="36576"/>
                    <a:lstStyle/>
                    <a:p>
                      <a:r>
                        <a:rPr sz="1000" b="0">
                          <a:solidFill>
                            <a:srgbClr val="000000"/>
                          </a:solidFill>
                          <a:latin typeface="Noto Sans JP"/>
                        </a:rPr>
                        <a:t>4</a:t>
                      </a:r>
                    </a:p>
                  </a:txBody>
                  <a:tcPr marL="73152" marR="73152" marT="45720" marB="45720" anchor="t">
                    <a:solidFill>
                      <a:srgbClr val="FFFFFF"/>
                    </a:solidFill>
                  </a:tcPr>
                </a:tc>
                <a:tc>
                  <a:txBody>
                    <a:bodyPr wrap="square" lIns="45720" rIns="45720" tIns="36576" bIns="36576"/>
                    <a:lstStyle/>
                    <a:p>
                      <a:r>
                        <a:rPr sz="1000" b="0">
                          <a:solidFill>
                            <a:srgbClr val="000000"/>
                          </a:solidFill>
                          <a:latin typeface="Noto Sans JP"/>
                        </a:rPr>
                        <a:t>4</a:t>
                      </a:r>
                    </a:p>
                  </a:txBody>
                  <a:tcPr marL="73152" marR="73152" marT="45720" marB="45720" anchor="t">
                    <a:solidFill>
                      <a:srgbClr val="FFFFFF"/>
                    </a:solidFill>
                  </a:tcPr>
                </a:tc>
                <a:tc>
                  <a:txBody>
                    <a:bodyPr wrap="square" lIns="45720" rIns="45720" tIns="36576" bIns="36576"/>
                    <a:lstStyle/>
                    <a:p>
                      <a:r>
                        <a:rPr sz="1000" b="0">
                          <a:solidFill>
                            <a:srgbClr val="000000"/>
                          </a:solidFill>
                          <a:latin typeface="Noto Sans JP"/>
                        </a:rPr>
                        <a:t>Q30が4未満 → 次のStep 3へ</a:t>
                      </a:r>
                    </a:p>
                  </a:txBody>
                  <a:tcPr marL="73152" marR="73152" marT="45720" marB="45720" anchor="t">
                    <a:solidFill>
                      <a:srgbClr val="FFFFFF"/>
                    </a:solidFill>
                  </a:tcPr>
                </a:tc>
              </a:tr>
            </a:tbl>
          </a:graphicData>
        </a:graphic>
      </p:graphicFrame>
      <p:sp>
        <p:nvSpPr>
          <p:cNvPr id="18" name="TextBox 17"/>
          <p:cNvSpPr txBox="1"/>
          <p:nvPr/>
        </p:nvSpPr>
        <p:spPr>
          <a:xfrm>
            <a:off x="594360" y="6172200"/>
            <a:ext cx="10972800" cy="365760"/>
          </a:xfrm>
          <a:prstGeom prst="rect">
            <a:avLst/>
          </a:prstGeom>
          <a:noFill/>
        </p:spPr>
        <p:txBody>
          <a:bodyPr wrap="square" lIns="27432" rIns="27432" tIns="18288" bIns="18288" anchor="t">
            <a:spAutoFit/>
          </a:bodyPr>
          <a:lstStyle/>
          <a:p>
            <a:pPr algn="l"/>
            <a:r>
              <a:rPr sz="1000" b="0">
                <a:solidFill>
                  <a:srgbClr val="141414"/>
                </a:solidFill>
                <a:latin typeface="Noto Sans JP"/>
              </a:rPr>
              <a:t>→ Cさんは主体性・変革意欲は高いが、BtoC志向が強いため中西製作所様（BtoB企業）には案内せず、Step 4の通常判定でBtoC企業を推薦する。</a:t>
            </a:r>
          </a:p>
        </p:txBody>
      </p:sp>
      <p:sp>
        <p:nvSpPr>
          <p:cNvPr id="19" name="TextBox 18"/>
          <p:cNvSpPr txBox="1"/>
          <p:nvPr/>
        </p:nvSpPr>
        <p:spPr>
          <a:xfrm>
            <a:off x="457200" y="6492240"/>
            <a:ext cx="3657600" cy="274320"/>
          </a:xfrm>
          <a:prstGeom prst="rect">
            <a:avLst/>
          </a:prstGeom>
          <a:noFill/>
        </p:spPr>
        <p:txBody>
          <a:bodyPr wrap="none" lIns="0" tIns="0">
            <a:spAutoFit/>
          </a:bodyPr>
          <a:lstStyle/>
          <a:p>
            <a:r>
              <a:rPr sz="1000" b="1">
                <a:solidFill>
                  <a:srgbClr val="3A3A3A"/>
                </a:solidFill>
                <a:latin typeface="Noto Sans JP"/>
              </a:rPr>
              <a:t>TOMOSHIKA</a:t>
            </a:r>
          </a:p>
        </p:txBody>
      </p:sp>
      <p:sp>
        <p:nvSpPr>
          <p:cNvPr id="20" name="TextBox 19"/>
          <p:cNvSpPr txBox="1"/>
          <p:nvPr/>
        </p:nvSpPr>
        <p:spPr>
          <a:xfrm>
            <a:off x="10972800" y="6492240"/>
            <a:ext cx="914400" cy="274320"/>
          </a:xfrm>
          <a:prstGeom prst="rect">
            <a:avLst/>
          </a:prstGeom>
          <a:noFill/>
        </p:spPr>
        <p:txBody>
          <a:bodyPr wrap="none" lIns="0" tIns="0">
            <a:spAutoFit/>
          </a:bodyPr>
          <a:lstStyle/>
          <a:p>
            <a:pPr algn="r"/>
            <a:r>
              <a:rPr sz="1000" b="1">
                <a:solidFill>
                  <a:srgbClr val="3A3A3A"/>
                </a:solidFill>
                <a:latin typeface="Noto Sans JP"/>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502920"/>
            <a:ext cx="109728" cy="109728"/>
          </a:xfrm>
          <a:prstGeom prst="rect">
            <a:avLst/>
          </a:prstGeom>
          <a:solidFill>
            <a:srgbClr val="B9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9144000" cy="320040"/>
          </a:xfrm>
          <a:prstGeom prst="rect">
            <a:avLst/>
          </a:prstGeom>
          <a:noFill/>
        </p:spPr>
        <p:txBody>
          <a:bodyPr wrap="none" lIns="0" tIns="0">
            <a:spAutoFit/>
          </a:bodyPr>
          <a:lstStyle/>
          <a:p>
            <a:r>
              <a:rPr sz="1400" b="1">
                <a:solidFill>
                  <a:srgbClr val="141414"/>
                </a:solidFill>
                <a:latin typeface="Noto Sans JP"/>
              </a:rPr>
              <a:t>PHASE 03 / Step 3</a:t>
            </a:r>
          </a:p>
        </p:txBody>
      </p:sp>
      <p:sp>
        <p:nvSpPr>
          <p:cNvPr id="5" name="TextBox 4"/>
          <p:cNvSpPr txBox="1"/>
          <p:nvPr/>
        </p:nvSpPr>
        <p:spPr>
          <a:xfrm>
            <a:off x="594360" y="868680"/>
            <a:ext cx="10972800" cy="731520"/>
          </a:xfrm>
          <a:prstGeom prst="rect">
            <a:avLst/>
          </a:prstGeom>
          <a:noFill/>
        </p:spPr>
        <p:txBody>
          <a:bodyPr wrap="square" lIns="27432" rIns="27432" tIns="18288" bIns="18288" anchor="t">
            <a:spAutoFit/>
          </a:bodyPr>
          <a:lstStyle/>
          <a:p>
            <a:pPr algn="l"/>
            <a:r>
              <a:rPr sz="2200" b="1">
                <a:solidFill>
                  <a:srgbClr val="000000"/>
                </a:solidFill>
                <a:latin typeface="Noto Sans JP"/>
              </a:rPr>
              <a:t>Step 3: 中西と相性のいいタイプ × 業界志向の学生を検出する</a:t>
            </a:r>
          </a:p>
        </p:txBody>
      </p:sp>
      <p:sp>
        <p:nvSpPr>
          <p:cNvPr id="6" name="TextBox 5"/>
          <p:cNvSpPr txBox="1"/>
          <p:nvPr/>
        </p:nvSpPr>
        <p:spPr>
          <a:xfrm>
            <a:off x="594360" y="1417320"/>
            <a:ext cx="11430000" cy="594360"/>
          </a:xfrm>
          <a:prstGeom prst="rect">
            <a:avLst/>
          </a:prstGeom>
          <a:noFill/>
        </p:spPr>
        <p:txBody>
          <a:bodyPr wrap="square" lIns="27432" rIns="27432" tIns="18288" bIns="18288" anchor="t">
            <a:spAutoFit/>
          </a:bodyPr>
          <a:lstStyle/>
          <a:p>
            <a:pPr algn="l">
              <a:lnSpc>
                <a:spcPct val="130000"/>
              </a:lnSpc>
            </a:pPr>
            <a:r>
              <a:rPr sz="1100" b="0">
                <a:solidFill>
                  <a:srgbClr val="000000"/>
                </a:solidFill>
                <a:latin typeface="Noto Sans JP"/>
              </a:rPr>
              <a:t>目的: Step 2に当てはまらなかったけど、</a:t>
            </a:r>
            <a:r>
              <a:rPr sz="1100" b="1">
                <a:solidFill>
                  <a:srgbClr val="000000"/>
                </a:solidFill>
                <a:latin typeface="Noto Sans JP"/>
              </a:rPr>
              <a:t>タイプ的にも業界志向的にも中西製作所様と合っている学生</a:t>
            </a:r>
            <a:r>
              <a:rPr sz="1100" b="0">
                <a:solidFill>
                  <a:srgbClr val="000000"/>
                </a:solidFill>
                <a:latin typeface="Noto Sans JP"/>
              </a:rPr>
              <a:t>を拾って、</a:t>
            </a:r>
            <a:r>
              <a:rPr sz="1100" b="1">
                <a:solidFill>
                  <a:srgbClr val="000000"/>
                </a:solidFill>
                <a:latin typeface="Noto Sans JP"/>
              </a:rPr>
              <a:t>中西製作所様を推薦する</a:t>
            </a:r>
            <a:r>
              <a:rPr sz="1100" b="0">
                <a:solidFill>
                  <a:srgbClr val="000000"/>
                </a:solidFill>
                <a:latin typeface="Noto Sans JP"/>
              </a:rPr>
              <a:t>。以下の3つの条件を</a:t>
            </a:r>
            <a:r>
              <a:rPr sz="1100" b="1">
                <a:solidFill>
                  <a:srgbClr val="000000"/>
                </a:solidFill>
                <a:latin typeface="Noto Sans JP"/>
              </a:rPr>
              <a:t>すべて</a:t>
            </a:r>
            <a:r>
              <a:rPr sz="1100" b="0">
                <a:solidFill>
                  <a:srgbClr val="000000"/>
                </a:solidFill>
                <a:latin typeface="Noto Sans JP"/>
              </a:rPr>
              <a:t>満たす必要がある。</a:t>
            </a:r>
          </a:p>
        </p:txBody>
      </p:sp>
      <p:sp>
        <p:nvSpPr>
          <p:cNvPr id="7" name="Rounded Rectangle 6"/>
          <p:cNvSpPr/>
          <p:nvPr/>
        </p:nvSpPr>
        <p:spPr>
          <a:xfrm>
            <a:off x="594360" y="2148840"/>
            <a:ext cx="3566160" cy="2331720"/>
          </a:xfrm>
          <a:prstGeom prst="roundRect">
            <a:avLst>
              <a:gd name="adj" fmla="val 4000"/>
            </a:avLst>
          </a:prstGeom>
          <a:solidFill>
            <a:srgbClr val="FFFFFF"/>
          </a:solidFill>
          <a:ln w="9525">
            <a:solidFill>
              <a:srgbClr val="C8C3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286000"/>
            <a:ext cx="3200400" cy="274320"/>
          </a:xfrm>
          <a:prstGeom prst="rect">
            <a:avLst/>
          </a:prstGeom>
          <a:noFill/>
        </p:spPr>
        <p:txBody>
          <a:bodyPr wrap="square" lIns="27432" rIns="27432" tIns="18288" bIns="18288" anchor="t">
            <a:spAutoFit/>
          </a:bodyPr>
          <a:lstStyle/>
          <a:p>
            <a:pPr algn="l"/>
            <a:r>
              <a:rPr sz="1000" b="1">
                <a:solidFill>
                  <a:srgbClr val="141414"/>
                </a:solidFill>
                <a:latin typeface="Noto Sans JP"/>
              </a:rPr>
              <a:t>条件 ①</a:t>
            </a:r>
          </a:p>
        </p:txBody>
      </p:sp>
      <p:sp>
        <p:nvSpPr>
          <p:cNvPr id="9" name="TextBox 8"/>
          <p:cNvSpPr txBox="1"/>
          <p:nvPr/>
        </p:nvSpPr>
        <p:spPr>
          <a:xfrm>
            <a:off x="777240" y="2560320"/>
            <a:ext cx="3200400" cy="411480"/>
          </a:xfrm>
          <a:prstGeom prst="rect">
            <a:avLst/>
          </a:prstGeom>
          <a:noFill/>
        </p:spPr>
        <p:txBody>
          <a:bodyPr wrap="square" lIns="27432" rIns="27432" tIns="18288" bIns="18288" anchor="t">
            <a:spAutoFit/>
          </a:bodyPr>
          <a:lstStyle/>
          <a:p>
            <a:pPr algn="l"/>
            <a:r>
              <a:rPr sz="1400" b="1">
                <a:solidFill>
                  <a:srgbClr val="000000"/>
                </a:solidFill>
                <a:latin typeface="Noto Sans JP"/>
              </a:rPr>
              <a:t>タイプの相性</a:t>
            </a:r>
          </a:p>
        </p:txBody>
      </p:sp>
      <p:sp>
        <p:nvSpPr>
          <p:cNvPr id="10" name="TextBox 9"/>
          <p:cNvSpPr txBox="1"/>
          <p:nvPr/>
        </p:nvSpPr>
        <p:spPr>
          <a:xfrm>
            <a:off x="777240" y="3017520"/>
            <a:ext cx="3200400" cy="1463040"/>
          </a:xfrm>
          <a:prstGeom prst="rect">
            <a:avLst/>
          </a:prstGeom>
          <a:noFill/>
        </p:spPr>
        <p:txBody>
          <a:bodyPr wrap="square" lIns="27432" rIns="27432" tIns="18288" bIns="18288" anchor="t">
            <a:spAutoFit/>
          </a:bodyPr>
          <a:lstStyle/>
          <a:p>
            <a:pPr algn="l"/>
            <a:r>
              <a:rPr sz="900" b="0">
                <a:solidFill>
                  <a:srgbClr val="000000"/>
                </a:solidFill>
                <a:latin typeface="Noto Sans JP"/>
              </a:rPr>
              <a:t>1位タイプか2位タイプのどちらかが E型・I型・A型 のいずれかであること。</a:t>
            </a:r>
          </a:p>
          <a:p>
            <a:pPr algn="l"/>
            <a:r>
              <a:rPr sz="900" b="0">
                <a:solidFill>
                  <a:srgbClr val="000000"/>
                </a:solidFill>
                <a:latin typeface="Noto Sans JP"/>
              </a:rPr>
              <a:t>・E型（経営・リーダーシップ志向）</a:t>
            </a:r>
          </a:p>
          <a:p>
            <a:pPr algn="l"/>
            <a:r>
              <a:rPr sz="900" b="0">
                <a:solidFill>
                  <a:srgbClr val="000000"/>
                </a:solidFill>
                <a:latin typeface="Noto Sans JP"/>
              </a:rPr>
              <a:t>・I型（研究・分析志向）</a:t>
            </a:r>
          </a:p>
          <a:p>
            <a:pPr algn="l"/>
            <a:r>
              <a:rPr sz="900" b="0">
                <a:solidFill>
                  <a:srgbClr val="000000"/>
                </a:solidFill>
                <a:latin typeface="Noto Sans JP"/>
              </a:rPr>
              <a:t>・A型（創造・企画志向）</a:t>
            </a:r>
          </a:p>
          <a:p>
            <a:pPr algn="l"/>
            <a:r>
              <a:rPr sz="900" b="0">
                <a:solidFill>
                  <a:srgbClr val="000000"/>
                </a:solidFill>
                <a:latin typeface="Noto Sans JP"/>
              </a:rPr>
              <a:t/>
            </a:r>
          </a:p>
          <a:p>
            <a:pPr algn="l"/>
            <a:r>
              <a:rPr sz="900" b="0">
                <a:solidFill>
                  <a:srgbClr val="000000"/>
                </a:solidFill>
                <a:latin typeface="Noto Sans JP"/>
              </a:rPr>
              <a:t>1位でなくても、2位に入っていればOK。</a:t>
            </a:r>
          </a:p>
        </p:txBody>
      </p:sp>
      <p:sp>
        <p:nvSpPr>
          <p:cNvPr id="11" name="Rounded Rectangle 10"/>
          <p:cNvSpPr/>
          <p:nvPr/>
        </p:nvSpPr>
        <p:spPr>
          <a:xfrm>
            <a:off x="4343400" y="2148840"/>
            <a:ext cx="3566160" cy="2331720"/>
          </a:xfrm>
          <a:prstGeom prst="roundRect">
            <a:avLst>
              <a:gd name="adj" fmla="val 4000"/>
            </a:avLst>
          </a:prstGeom>
          <a:solidFill>
            <a:srgbClr val="FFFFFF"/>
          </a:solidFill>
          <a:ln w="9525">
            <a:solidFill>
              <a:srgbClr val="C8C3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2286000"/>
            <a:ext cx="3200400" cy="274320"/>
          </a:xfrm>
          <a:prstGeom prst="rect">
            <a:avLst/>
          </a:prstGeom>
          <a:noFill/>
        </p:spPr>
        <p:txBody>
          <a:bodyPr wrap="square" lIns="27432" rIns="27432" tIns="18288" bIns="18288" anchor="t">
            <a:spAutoFit/>
          </a:bodyPr>
          <a:lstStyle/>
          <a:p>
            <a:pPr algn="l"/>
            <a:r>
              <a:rPr sz="1000" b="1">
                <a:solidFill>
                  <a:srgbClr val="141414"/>
                </a:solidFill>
                <a:latin typeface="Noto Sans JP"/>
              </a:rPr>
              <a:t>条件 ②</a:t>
            </a:r>
          </a:p>
        </p:txBody>
      </p:sp>
      <p:sp>
        <p:nvSpPr>
          <p:cNvPr id="13" name="TextBox 12"/>
          <p:cNvSpPr txBox="1"/>
          <p:nvPr/>
        </p:nvSpPr>
        <p:spPr>
          <a:xfrm>
            <a:off x="4526280" y="2560320"/>
            <a:ext cx="3200400" cy="411480"/>
          </a:xfrm>
          <a:prstGeom prst="rect">
            <a:avLst/>
          </a:prstGeom>
          <a:noFill/>
        </p:spPr>
        <p:txBody>
          <a:bodyPr wrap="square" lIns="27432" rIns="27432" tIns="18288" bIns="18288" anchor="t">
            <a:spAutoFit/>
          </a:bodyPr>
          <a:lstStyle/>
          <a:p>
            <a:pPr algn="l"/>
            <a:r>
              <a:rPr sz="1400" b="1">
                <a:solidFill>
                  <a:srgbClr val="000000"/>
                </a:solidFill>
                <a:latin typeface="Noto Sans JP"/>
              </a:rPr>
              <a:t>業界志向の相性</a:t>
            </a:r>
          </a:p>
        </p:txBody>
      </p:sp>
      <p:sp>
        <p:nvSpPr>
          <p:cNvPr id="14" name="TextBox 13"/>
          <p:cNvSpPr txBox="1"/>
          <p:nvPr/>
        </p:nvSpPr>
        <p:spPr>
          <a:xfrm>
            <a:off x="4526280" y="3017520"/>
            <a:ext cx="3200400" cy="1463040"/>
          </a:xfrm>
          <a:prstGeom prst="rect">
            <a:avLst/>
          </a:prstGeom>
          <a:noFill/>
        </p:spPr>
        <p:txBody>
          <a:bodyPr wrap="square" lIns="27432" rIns="27432" tIns="18288" bIns="18288" anchor="t">
            <a:spAutoFit/>
          </a:bodyPr>
          <a:lstStyle/>
          <a:p>
            <a:pPr algn="l"/>
            <a:r>
              <a:rPr sz="900" b="0">
                <a:solidFill>
                  <a:srgbClr val="000000"/>
                </a:solidFill>
                <a:latin typeface="Noto Sans JP"/>
              </a:rPr>
              <a:t>Q50（BtoB志向）とQ51（メーカー志向）の平均が3点以上であること。</a:t>
            </a:r>
          </a:p>
          <a:p>
            <a:pPr algn="l"/>
            <a:r>
              <a:rPr sz="900" b="0">
                <a:solidFill>
                  <a:srgbClr val="000000"/>
                </a:solidFill>
                <a:latin typeface="Noto Sans JP"/>
              </a:rPr>
              <a:t/>
            </a:r>
          </a:p>
          <a:p>
            <a:pPr algn="l"/>
            <a:r>
              <a:rPr sz="900" b="0">
                <a:solidFill>
                  <a:srgbClr val="000000"/>
                </a:solidFill>
                <a:latin typeface="Noto Sans JP"/>
              </a:rPr>
              <a:t>→ BtoB企業やメーカーに興味がある ＝ 中西製作所様の業界と合っている。</a:t>
            </a:r>
          </a:p>
        </p:txBody>
      </p:sp>
      <p:sp>
        <p:nvSpPr>
          <p:cNvPr id="15" name="Rounded Rectangle 14"/>
          <p:cNvSpPr/>
          <p:nvPr/>
        </p:nvSpPr>
        <p:spPr>
          <a:xfrm>
            <a:off x="8092440" y="2148840"/>
            <a:ext cx="3566160" cy="2331720"/>
          </a:xfrm>
          <a:prstGeom prst="roundRect">
            <a:avLst>
              <a:gd name="adj" fmla="val 4000"/>
            </a:avLst>
          </a:prstGeom>
          <a:solidFill>
            <a:srgbClr val="FFFFFF"/>
          </a:solidFill>
          <a:ln w="9525">
            <a:solidFill>
              <a:srgbClr val="C8C3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19" y="2286000"/>
            <a:ext cx="3200400" cy="274320"/>
          </a:xfrm>
          <a:prstGeom prst="rect">
            <a:avLst/>
          </a:prstGeom>
          <a:noFill/>
        </p:spPr>
        <p:txBody>
          <a:bodyPr wrap="square" lIns="27432" rIns="27432" tIns="18288" bIns="18288" anchor="t">
            <a:spAutoFit/>
          </a:bodyPr>
          <a:lstStyle/>
          <a:p>
            <a:pPr algn="l"/>
            <a:r>
              <a:rPr sz="1000" b="1">
                <a:solidFill>
                  <a:srgbClr val="141414"/>
                </a:solidFill>
                <a:latin typeface="Noto Sans JP"/>
              </a:rPr>
              <a:t>条件 ③</a:t>
            </a:r>
          </a:p>
        </p:txBody>
      </p:sp>
      <p:sp>
        <p:nvSpPr>
          <p:cNvPr id="17" name="TextBox 16"/>
          <p:cNvSpPr txBox="1"/>
          <p:nvPr/>
        </p:nvSpPr>
        <p:spPr>
          <a:xfrm>
            <a:off x="8275319" y="2560320"/>
            <a:ext cx="3200400" cy="411480"/>
          </a:xfrm>
          <a:prstGeom prst="rect">
            <a:avLst/>
          </a:prstGeom>
          <a:noFill/>
        </p:spPr>
        <p:txBody>
          <a:bodyPr wrap="square" lIns="27432" rIns="27432" tIns="18288" bIns="18288" anchor="t">
            <a:spAutoFit/>
          </a:bodyPr>
          <a:lstStyle/>
          <a:p>
            <a:pPr algn="l"/>
            <a:r>
              <a:rPr sz="1400" b="1">
                <a:solidFill>
                  <a:srgbClr val="000000"/>
                </a:solidFill>
                <a:latin typeface="Noto Sans JP"/>
              </a:rPr>
              <a:t>BtoB志向</a:t>
            </a:r>
          </a:p>
        </p:txBody>
      </p:sp>
      <p:sp>
        <p:nvSpPr>
          <p:cNvPr id="18" name="TextBox 17"/>
          <p:cNvSpPr txBox="1"/>
          <p:nvPr/>
        </p:nvSpPr>
        <p:spPr>
          <a:xfrm>
            <a:off x="8275319" y="3017520"/>
            <a:ext cx="3200400" cy="1463040"/>
          </a:xfrm>
          <a:prstGeom prst="rect">
            <a:avLst/>
          </a:prstGeom>
          <a:noFill/>
        </p:spPr>
        <p:txBody>
          <a:bodyPr wrap="square" lIns="27432" rIns="27432" tIns="18288" bIns="18288" anchor="t">
            <a:spAutoFit/>
          </a:bodyPr>
          <a:lstStyle/>
          <a:p>
            <a:pPr algn="l"/>
            <a:r>
              <a:rPr sz="900" b="0">
                <a:solidFill>
                  <a:srgbClr val="000000"/>
                </a:solidFill>
                <a:latin typeface="Noto Sans JP"/>
              </a:rPr>
              <a:t>Q50（BtoB志向）が3点以上であること。</a:t>
            </a:r>
          </a:p>
          <a:p>
            <a:pPr algn="l"/>
            <a:r>
              <a:rPr sz="900" b="0">
                <a:solidFill>
                  <a:srgbClr val="000000"/>
                </a:solidFill>
                <a:latin typeface="Noto Sans JP"/>
              </a:rPr>
              <a:t/>
            </a:r>
          </a:p>
          <a:p>
            <a:pPr algn="l"/>
            <a:r>
              <a:rPr sz="900" b="0">
                <a:solidFill>
                  <a:srgbClr val="000000"/>
                </a:solidFill>
                <a:latin typeface="Noto Sans JP"/>
              </a:rPr>
              <a:t>→ 中西製作所様はBtoB企業なので、BtoC寄りの学生には案内しない。</a:t>
            </a:r>
          </a:p>
        </p:txBody>
      </p:sp>
      <p:sp>
        <p:nvSpPr>
          <p:cNvPr id="19" name="TextBox 18"/>
          <p:cNvSpPr txBox="1"/>
          <p:nvPr/>
        </p:nvSpPr>
        <p:spPr>
          <a:xfrm>
            <a:off x="594360" y="4572000"/>
            <a:ext cx="10972800" cy="320040"/>
          </a:xfrm>
          <a:prstGeom prst="rect">
            <a:avLst/>
          </a:prstGeom>
          <a:noFill/>
        </p:spPr>
        <p:txBody>
          <a:bodyPr wrap="square" lIns="27432" rIns="27432" tIns="18288" bIns="18288" anchor="t">
            <a:spAutoFit/>
          </a:bodyPr>
          <a:lstStyle/>
          <a:p>
            <a:pPr algn="l"/>
            <a:r>
              <a:rPr sz="1400" b="1">
                <a:solidFill>
                  <a:srgbClr val="000000"/>
                </a:solidFill>
                <a:latin typeface="Noto Sans JP"/>
              </a:rPr>
              <a:t>例</a:t>
            </a:r>
          </a:p>
        </p:txBody>
      </p:sp>
      <p:graphicFrame>
        <p:nvGraphicFramePr>
          <p:cNvPr id="20" name="Table 19"/>
          <p:cNvGraphicFramePr>
            <a:graphicFrameLocks noGrp="1"/>
          </p:cNvGraphicFramePr>
          <p:nvPr/>
        </p:nvGraphicFramePr>
        <p:xfrm>
          <a:off x="594360" y="4937760"/>
          <a:ext cx="10972800" cy="1463040"/>
        </p:xfrm>
        <a:graphic>
          <a:graphicData uri="http://schemas.openxmlformats.org/drawingml/2006/table">
            <a:tbl>
              <a:tblPr firstRow="1" bandRow="1">
                <a:tableStyleId>{5C22544A-7EE6-4342-B048-85BDC9FD1C3A}</a:tableStyleId>
              </a:tblPr>
              <a:tblGrid>
                <a:gridCol w="822960"/>
                <a:gridCol w="1005840"/>
                <a:gridCol w="1005840"/>
                <a:gridCol w="502920"/>
                <a:gridCol w="502920"/>
                <a:gridCol w="594360"/>
                <a:gridCol w="457200"/>
                <a:gridCol w="457200"/>
                <a:gridCol w="457200"/>
                <a:gridCol w="5166360"/>
              </a:tblGrid>
              <a:tr h="292608">
                <a:tc>
                  <a:txBody>
                    <a:bodyPr wrap="square" lIns="45720" rIns="45720" tIns="36576" bIns="36576"/>
                    <a:lstStyle/>
                    <a:p>
                      <a:r>
                        <a:rPr sz="900" b="1">
                          <a:solidFill>
                            <a:srgbClr val="000000"/>
                          </a:solidFill>
                          <a:latin typeface="Noto Sans JP"/>
                        </a:rPr>
                        <a:t>学生</a:t>
                      </a:r>
                    </a:p>
                  </a:txBody>
                  <a:tcPr marL="73152" marR="73152" marT="45720" marB="45720" anchor="t">
                    <a:solidFill>
                      <a:srgbClr val="EDE6D2"/>
                    </a:solidFill>
                  </a:tcPr>
                </a:tc>
                <a:tc>
                  <a:txBody>
                    <a:bodyPr wrap="square" lIns="45720" rIns="45720" tIns="36576" bIns="36576"/>
                    <a:lstStyle/>
                    <a:p>
                      <a:r>
                        <a:rPr sz="900" b="1">
                          <a:solidFill>
                            <a:srgbClr val="000000"/>
                          </a:solidFill>
                          <a:latin typeface="Noto Sans JP"/>
                        </a:rPr>
                        <a:t>1位</a:t>
                      </a:r>
                    </a:p>
                  </a:txBody>
                  <a:tcPr marL="73152" marR="73152" marT="45720" marB="45720" anchor="t">
                    <a:solidFill>
                      <a:srgbClr val="EDE6D2"/>
                    </a:solidFill>
                  </a:tcPr>
                </a:tc>
                <a:tc>
                  <a:txBody>
                    <a:bodyPr wrap="square" lIns="45720" rIns="45720" tIns="36576" bIns="36576"/>
                    <a:lstStyle/>
                    <a:p>
                      <a:r>
                        <a:rPr sz="900" b="1">
                          <a:solidFill>
                            <a:srgbClr val="000000"/>
                          </a:solidFill>
                          <a:latin typeface="Noto Sans JP"/>
                        </a:rPr>
                        <a:t>2位</a:t>
                      </a:r>
                    </a:p>
                  </a:txBody>
                  <a:tcPr marL="73152" marR="73152" marT="45720" marB="45720" anchor="t">
                    <a:solidFill>
                      <a:srgbClr val="EDE6D2"/>
                    </a:solidFill>
                  </a:tcPr>
                </a:tc>
                <a:tc>
                  <a:txBody>
                    <a:bodyPr wrap="square" lIns="45720" rIns="45720" tIns="36576" bIns="36576"/>
                    <a:lstStyle/>
                    <a:p>
                      <a:r>
                        <a:rPr sz="900" b="1">
                          <a:solidFill>
                            <a:srgbClr val="000000"/>
                          </a:solidFill>
                          <a:latin typeface="Noto Sans JP"/>
                        </a:rPr>
                        <a:t>Q50</a:t>
                      </a:r>
                    </a:p>
                  </a:txBody>
                  <a:tcPr marL="73152" marR="73152" marT="45720" marB="45720" anchor="t">
                    <a:solidFill>
                      <a:srgbClr val="EDE6D2"/>
                    </a:solidFill>
                  </a:tcPr>
                </a:tc>
                <a:tc>
                  <a:txBody>
                    <a:bodyPr wrap="square" lIns="45720" rIns="45720" tIns="36576" bIns="36576"/>
                    <a:lstStyle/>
                    <a:p>
                      <a:r>
                        <a:rPr sz="900" b="1">
                          <a:solidFill>
                            <a:srgbClr val="000000"/>
                          </a:solidFill>
                          <a:latin typeface="Noto Sans JP"/>
                        </a:rPr>
                        <a:t>Q51</a:t>
                      </a:r>
                    </a:p>
                  </a:txBody>
                  <a:tcPr marL="73152" marR="73152" marT="45720" marB="45720" anchor="t">
                    <a:solidFill>
                      <a:srgbClr val="EDE6D2"/>
                    </a:solidFill>
                  </a:tcPr>
                </a:tc>
                <a:tc>
                  <a:txBody>
                    <a:bodyPr wrap="square" lIns="45720" rIns="45720" tIns="36576" bIns="36576"/>
                    <a:lstStyle/>
                    <a:p>
                      <a:r>
                        <a:rPr sz="900" b="1">
                          <a:solidFill>
                            <a:srgbClr val="000000"/>
                          </a:solidFill>
                          <a:latin typeface="Noto Sans JP"/>
                        </a:rPr>
                        <a:t>平均</a:t>
                      </a:r>
                    </a:p>
                  </a:txBody>
                  <a:tcPr marL="73152" marR="73152" marT="45720" marB="45720" anchor="t">
                    <a:solidFill>
                      <a:srgbClr val="EDE6D2"/>
                    </a:solidFill>
                  </a:tcPr>
                </a:tc>
                <a:tc>
                  <a:txBody>
                    <a:bodyPr wrap="square" lIns="45720" rIns="45720" tIns="36576" bIns="36576"/>
                    <a:lstStyle/>
                    <a:p>
                      <a:r>
                        <a:rPr sz="900" b="1">
                          <a:solidFill>
                            <a:srgbClr val="000000"/>
                          </a:solidFill>
                          <a:latin typeface="Noto Sans JP"/>
                        </a:rPr>
                        <a:t>①</a:t>
                      </a:r>
                    </a:p>
                  </a:txBody>
                  <a:tcPr marL="73152" marR="73152" marT="45720" marB="45720" anchor="t">
                    <a:solidFill>
                      <a:srgbClr val="EDE6D2"/>
                    </a:solidFill>
                  </a:tcPr>
                </a:tc>
                <a:tc>
                  <a:txBody>
                    <a:bodyPr wrap="square" lIns="45720" rIns="45720" tIns="36576" bIns="36576"/>
                    <a:lstStyle/>
                    <a:p>
                      <a:r>
                        <a:rPr sz="900" b="1">
                          <a:solidFill>
                            <a:srgbClr val="000000"/>
                          </a:solidFill>
                          <a:latin typeface="Noto Sans JP"/>
                        </a:rPr>
                        <a:t>②</a:t>
                      </a:r>
                    </a:p>
                  </a:txBody>
                  <a:tcPr marL="73152" marR="73152" marT="45720" marB="45720" anchor="t">
                    <a:solidFill>
                      <a:srgbClr val="EDE6D2"/>
                    </a:solidFill>
                  </a:tcPr>
                </a:tc>
                <a:tc>
                  <a:txBody>
                    <a:bodyPr wrap="square" lIns="45720" rIns="45720" tIns="36576" bIns="36576"/>
                    <a:lstStyle/>
                    <a:p>
                      <a:r>
                        <a:rPr sz="900" b="1">
                          <a:solidFill>
                            <a:srgbClr val="000000"/>
                          </a:solidFill>
                          <a:latin typeface="Noto Sans JP"/>
                        </a:rPr>
                        <a:t>③</a:t>
                      </a:r>
                    </a:p>
                  </a:txBody>
                  <a:tcPr marL="73152" marR="73152" marT="45720" marB="45720" anchor="t">
                    <a:solidFill>
                      <a:srgbClr val="EDE6D2"/>
                    </a:solidFill>
                  </a:tcPr>
                </a:tc>
                <a:tc>
                  <a:txBody>
                    <a:bodyPr wrap="square" lIns="45720" rIns="45720" tIns="36576" bIns="36576"/>
                    <a:lstStyle/>
                    <a:p>
                      <a:r>
                        <a:rPr sz="900" b="1">
                          <a:solidFill>
                            <a:srgbClr val="000000"/>
                          </a:solidFill>
                          <a:latin typeface="Noto Sans JP"/>
                        </a:rPr>
                        <a:t>結果</a:t>
                      </a:r>
                    </a:p>
                  </a:txBody>
                  <a:tcPr marL="73152" marR="73152" marT="45720" marB="45720" anchor="t">
                    <a:solidFill>
                      <a:srgbClr val="EDE6D2"/>
                    </a:solidFill>
                  </a:tcPr>
                </a:tc>
              </a:tr>
              <a:tr h="292608">
                <a:tc>
                  <a:txBody>
                    <a:bodyPr wrap="square" lIns="45720" rIns="45720" tIns="36576" bIns="36576"/>
                    <a:lstStyle/>
                    <a:p>
                      <a:r>
                        <a:rPr sz="900" b="0">
                          <a:solidFill>
                            <a:srgbClr val="000000"/>
                          </a:solidFill>
                          <a:latin typeface="Noto Sans JP"/>
                        </a:rPr>
                        <a:t>Aさん</a:t>
                      </a:r>
                    </a:p>
                  </a:txBody>
                  <a:tcPr marL="73152" marR="73152" marT="45720" marB="45720" anchor="t">
                    <a:solidFill>
                      <a:srgbClr val="FFFFFF"/>
                    </a:solidFill>
                  </a:tcPr>
                </a:tc>
                <a:tc>
                  <a:txBody>
                    <a:bodyPr wrap="square" lIns="45720" rIns="45720" tIns="36576" bIns="36576"/>
                    <a:lstStyle/>
                    <a:p>
                      <a:r>
                        <a:rPr sz="900" b="0">
                          <a:solidFill>
                            <a:srgbClr val="000000"/>
                          </a:solidFill>
                          <a:latin typeface="Noto Sans JP"/>
                        </a:rPr>
                        <a:t>E型(19)</a:t>
                      </a:r>
                    </a:p>
                  </a:txBody>
                  <a:tcPr marL="73152" marR="73152" marT="45720" marB="45720" anchor="t">
                    <a:solidFill>
                      <a:srgbClr val="FFFFFF"/>
                    </a:solidFill>
                  </a:tcPr>
                </a:tc>
                <a:tc>
                  <a:txBody>
                    <a:bodyPr wrap="square" lIns="45720" rIns="45720" tIns="36576" bIns="36576"/>
                    <a:lstStyle/>
                    <a:p>
                      <a:r>
                        <a:rPr sz="900" b="0">
                          <a:solidFill>
                            <a:srgbClr val="000000"/>
                          </a:solidFill>
                          <a:latin typeface="Noto Sans JP"/>
                        </a:rPr>
                        <a:t>A型(16)</a:t>
                      </a:r>
                    </a:p>
                  </a:txBody>
                  <a:tcPr marL="73152" marR="73152" marT="45720" marB="45720" anchor="t">
                    <a:solidFill>
                      <a:srgbClr val="FFFFFF"/>
                    </a:solidFill>
                  </a:tcPr>
                </a:tc>
                <a:tc>
                  <a:txBody>
                    <a:bodyPr wrap="square" lIns="45720" rIns="45720" tIns="36576" bIns="36576"/>
                    <a:lstStyle/>
                    <a:p>
                      <a:r>
                        <a:rPr sz="900" b="0">
                          <a:solidFill>
                            <a:srgbClr val="000000"/>
                          </a:solidFill>
                          <a:latin typeface="Noto Sans JP"/>
                        </a:rPr>
                        <a:t>4</a:t>
                      </a:r>
                    </a:p>
                  </a:txBody>
                  <a:tcPr marL="73152" marR="73152" marT="45720" marB="45720" anchor="t">
                    <a:solidFill>
                      <a:srgbClr val="FFFFFF"/>
                    </a:solidFill>
                  </a:tcPr>
                </a:tc>
                <a:tc>
                  <a:txBody>
                    <a:bodyPr wrap="square" lIns="45720" rIns="45720" tIns="36576" bIns="36576"/>
                    <a:lstStyle/>
                    <a:p>
                      <a:r>
                        <a:rPr sz="900" b="0">
                          <a:solidFill>
                            <a:srgbClr val="000000"/>
                          </a:solidFill>
                          <a:latin typeface="Noto Sans JP"/>
                        </a:rPr>
                        <a:t>4</a:t>
                      </a:r>
                    </a:p>
                  </a:txBody>
                  <a:tcPr marL="73152" marR="73152" marT="45720" marB="45720" anchor="t">
                    <a:solidFill>
                      <a:srgbClr val="FFFFFF"/>
                    </a:solidFill>
                  </a:tcPr>
                </a:tc>
                <a:tc>
                  <a:txBody>
                    <a:bodyPr wrap="square" lIns="45720" rIns="45720" tIns="36576" bIns="36576"/>
                    <a:lstStyle/>
                    <a:p>
                      <a:r>
                        <a:rPr sz="900" b="0">
                          <a:solidFill>
                            <a:srgbClr val="000000"/>
                          </a:solidFill>
                          <a:latin typeface="Noto Sans JP"/>
                        </a:rPr>
                        <a:t>4.0</a:t>
                      </a:r>
                    </a:p>
                  </a:txBody>
                  <a:tcPr marL="73152" marR="73152" marT="45720" marB="45720" anchor="t">
                    <a:solidFill>
                      <a:srgbClr val="FFFFFF"/>
                    </a:solidFill>
                  </a:tcPr>
                </a:tc>
                <a:tc>
                  <a:txBody>
                    <a:bodyPr wrap="square" lIns="45720" rIns="45720" tIns="36576" bIns="36576"/>
                    <a:lstStyle/>
                    <a:p>
                      <a:r>
                        <a:rPr sz="900" b="0">
                          <a:solidFill>
                            <a:srgbClr val="000000"/>
                          </a:solidFill>
                          <a:latin typeface="Noto Sans JP"/>
                        </a:rPr>
                        <a:t>✅</a:t>
                      </a:r>
                    </a:p>
                  </a:txBody>
                  <a:tcPr marL="73152" marR="73152" marT="45720" marB="45720" anchor="t">
                    <a:solidFill>
                      <a:srgbClr val="FFFFFF"/>
                    </a:solidFill>
                  </a:tcPr>
                </a:tc>
                <a:tc>
                  <a:txBody>
                    <a:bodyPr wrap="square" lIns="45720" rIns="45720" tIns="36576" bIns="36576"/>
                    <a:lstStyle/>
                    <a:p>
                      <a:r>
                        <a:rPr sz="900" b="0">
                          <a:solidFill>
                            <a:srgbClr val="000000"/>
                          </a:solidFill>
                          <a:latin typeface="Noto Sans JP"/>
                        </a:rPr>
                        <a:t>✅</a:t>
                      </a:r>
                    </a:p>
                  </a:txBody>
                  <a:tcPr marL="73152" marR="73152" marT="45720" marB="45720" anchor="t">
                    <a:solidFill>
                      <a:srgbClr val="FFFFFF"/>
                    </a:solidFill>
                  </a:tcPr>
                </a:tc>
                <a:tc>
                  <a:txBody>
                    <a:bodyPr wrap="square" lIns="45720" rIns="45720" tIns="36576" bIns="36576"/>
                    <a:lstStyle/>
                    <a:p>
                      <a:r>
                        <a:rPr sz="900" b="0">
                          <a:solidFill>
                            <a:srgbClr val="000000"/>
                          </a:solidFill>
                          <a:latin typeface="Noto Sans JP"/>
                        </a:rPr>
                        <a:t>✅</a:t>
                      </a:r>
                    </a:p>
                  </a:txBody>
                  <a:tcPr marL="73152" marR="73152" marT="45720" marB="45720" anchor="t">
                    <a:solidFill>
                      <a:srgbClr val="FFFFFF"/>
                    </a:solidFill>
                  </a:tcPr>
                </a:tc>
                <a:tc>
                  <a:txBody>
                    <a:bodyPr wrap="square" lIns="45720" rIns="45720" tIns="36576" bIns="36576"/>
                    <a:lstStyle/>
                    <a:p>
                      <a:r>
                        <a:rPr sz="900" b="0">
                          <a:solidFill>
                            <a:srgbClr val="000000"/>
                          </a:solidFill>
                          <a:latin typeface="Noto Sans JP"/>
                        </a:rPr>
                        <a:t>→ </a:t>
                      </a:r>
                      <a:r>
                        <a:rPr sz="900" b="1">
                          <a:solidFill>
                            <a:srgbClr val="000000"/>
                          </a:solidFill>
                          <a:latin typeface="Noto Sans JP"/>
                        </a:rPr>
                        <a:t>中西製作所様を推薦</a:t>
                      </a:r>
                    </a:p>
                  </a:txBody>
                  <a:tcPr marL="73152" marR="73152" marT="45720" marB="45720" anchor="t">
                    <a:solidFill>
                      <a:srgbClr val="FFFFFF"/>
                    </a:solidFill>
                  </a:tcPr>
                </a:tc>
              </a:tr>
              <a:tr h="292608">
                <a:tc>
                  <a:txBody>
                    <a:bodyPr wrap="square" lIns="45720" rIns="45720" tIns="36576" bIns="36576"/>
                    <a:lstStyle/>
                    <a:p>
                      <a:r>
                        <a:rPr sz="900" b="0">
                          <a:solidFill>
                            <a:srgbClr val="000000"/>
                          </a:solidFill>
                          <a:latin typeface="Noto Sans JP"/>
                        </a:rPr>
                        <a:t>Bさん</a:t>
                      </a:r>
                    </a:p>
                  </a:txBody>
                  <a:tcPr marL="73152" marR="73152" marT="45720" marB="45720" anchor="t">
                    <a:solidFill>
                      <a:srgbClr val="FFFFFF"/>
                    </a:solidFill>
                  </a:tcPr>
                </a:tc>
                <a:tc>
                  <a:txBody>
                    <a:bodyPr wrap="square" lIns="45720" rIns="45720" tIns="36576" bIns="36576"/>
                    <a:lstStyle/>
                    <a:p>
                      <a:r>
                        <a:rPr sz="900" b="0">
                          <a:solidFill>
                            <a:srgbClr val="000000"/>
                          </a:solidFill>
                          <a:latin typeface="Noto Sans JP"/>
                        </a:rPr>
                        <a:t>S型(18)</a:t>
                      </a:r>
                    </a:p>
                  </a:txBody>
                  <a:tcPr marL="73152" marR="73152" marT="45720" marB="45720" anchor="t">
                    <a:solidFill>
                      <a:srgbClr val="FFFFFF"/>
                    </a:solidFill>
                  </a:tcPr>
                </a:tc>
                <a:tc>
                  <a:txBody>
                    <a:bodyPr wrap="square" lIns="45720" rIns="45720" tIns="36576" bIns="36576"/>
                    <a:lstStyle/>
                    <a:p>
                      <a:r>
                        <a:rPr sz="900" b="0">
                          <a:solidFill>
                            <a:srgbClr val="000000"/>
                          </a:solidFill>
                          <a:latin typeface="Noto Sans JP"/>
                        </a:rPr>
                        <a:t>I型(15)</a:t>
                      </a:r>
                    </a:p>
                  </a:txBody>
                  <a:tcPr marL="73152" marR="73152" marT="45720" marB="45720" anchor="t">
                    <a:solidFill>
                      <a:srgbClr val="FFFFFF"/>
                    </a:solidFill>
                  </a:tcPr>
                </a:tc>
                <a:tc>
                  <a:txBody>
                    <a:bodyPr wrap="square" lIns="45720" rIns="45720" tIns="36576" bIns="36576"/>
                    <a:lstStyle/>
                    <a:p>
                      <a:r>
                        <a:rPr sz="900" b="0">
                          <a:solidFill>
                            <a:srgbClr val="000000"/>
                          </a:solidFill>
                          <a:latin typeface="Noto Sans JP"/>
                        </a:rPr>
                        <a:t>4</a:t>
                      </a:r>
                    </a:p>
                  </a:txBody>
                  <a:tcPr marL="73152" marR="73152" marT="45720" marB="45720" anchor="t">
                    <a:solidFill>
                      <a:srgbClr val="FFFFFF"/>
                    </a:solidFill>
                  </a:tcPr>
                </a:tc>
                <a:tc>
                  <a:txBody>
                    <a:bodyPr wrap="square" lIns="45720" rIns="45720" tIns="36576" bIns="36576"/>
                    <a:lstStyle/>
                    <a:p>
                      <a:r>
                        <a:rPr sz="900" b="0">
                          <a:solidFill>
                            <a:srgbClr val="000000"/>
                          </a:solidFill>
                          <a:latin typeface="Noto Sans JP"/>
                        </a:rPr>
                        <a:t>3</a:t>
                      </a:r>
                    </a:p>
                  </a:txBody>
                  <a:tcPr marL="73152" marR="73152" marT="45720" marB="45720" anchor="t">
                    <a:solidFill>
                      <a:srgbClr val="FFFFFF"/>
                    </a:solidFill>
                  </a:tcPr>
                </a:tc>
                <a:tc>
                  <a:txBody>
                    <a:bodyPr wrap="square" lIns="45720" rIns="45720" tIns="36576" bIns="36576"/>
                    <a:lstStyle/>
                    <a:p>
                      <a:r>
                        <a:rPr sz="900" b="0">
                          <a:solidFill>
                            <a:srgbClr val="000000"/>
                          </a:solidFill>
                          <a:latin typeface="Noto Sans JP"/>
                        </a:rPr>
                        <a:t>3.5</a:t>
                      </a:r>
                    </a:p>
                  </a:txBody>
                  <a:tcPr marL="73152" marR="73152" marT="45720" marB="45720" anchor="t">
                    <a:solidFill>
                      <a:srgbClr val="FFFFFF"/>
                    </a:solidFill>
                  </a:tcPr>
                </a:tc>
                <a:tc>
                  <a:txBody>
                    <a:bodyPr wrap="square" lIns="45720" rIns="45720" tIns="36576" bIns="36576"/>
                    <a:lstStyle/>
                    <a:p>
                      <a:r>
                        <a:rPr sz="900" b="0">
                          <a:solidFill>
                            <a:srgbClr val="000000"/>
                          </a:solidFill>
                          <a:latin typeface="Noto Sans JP"/>
                        </a:rPr>
                        <a:t>✅</a:t>
                      </a:r>
                    </a:p>
                  </a:txBody>
                  <a:tcPr marL="73152" marR="73152" marT="45720" marB="45720" anchor="t">
                    <a:solidFill>
                      <a:srgbClr val="FFFFFF"/>
                    </a:solidFill>
                  </a:tcPr>
                </a:tc>
                <a:tc>
                  <a:txBody>
                    <a:bodyPr wrap="square" lIns="45720" rIns="45720" tIns="36576" bIns="36576"/>
                    <a:lstStyle/>
                    <a:p>
                      <a:r>
                        <a:rPr sz="900" b="0">
                          <a:solidFill>
                            <a:srgbClr val="000000"/>
                          </a:solidFill>
                          <a:latin typeface="Noto Sans JP"/>
                        </a:rPr>
                        <a:t>✅</a:t>
                      </a:r>
                    </a:p>
                  </a:txBody>
                  <a:tcPr marL="73152" marR="73152" marT="45720" marB="45720" anchor="t">
                    <a:solidFill>
                      <a:srgbClr val="FFFFFF"/>
                    </a:solidFill>
                  </a:tcPr>
                </a:tc>
                <a:tc>
                  <a:txBody>
                    <a:bodyPr wrap="square" lIns="45720" rIns="45720" tIns="36576" bIns="36576"/>
                    <a:lstStyle/>
                    <a:p>
                      <a:r>
                        <a:rPr sz="900" b="0">
                          <a:solidFill>
                            <a:srgbClr val="000000"/>
                          </a:solidFill>
                          <a:latin typeface="Noto Sans JP"/>
                        </a:rPr>
                        <a:t>✅</a:t>
                      </a:r>
                    </a:p>
                  </a:txBody>
                  <a:tcPr marL="73152" marR="73152" marT="45720" marB="45720" anchor="t">
                    <a:solidFill>
                      <a:srgbClr val="FFFFFF"/>
                    </a:solidFill>
                  </a:tcPr>
                </a:tc>
                <a:tc>
                  <a:txBody>
                    <a:bodyPr wrap="square" lIns="45720" rIns="45720" tIns="36576" bIns="36576"/>
                    <a:lstStyle/>
                    <a:p>
                      <a:r>
                        <a:rPr sz="900" b="0">
                          <a:solidFill>
                            <a:srgbClr val="000000"/>
                          </a:solidFill>
                          <a:latin typeface="Noto Sans JP"/>
                        </a:rPr>
                        <a:t>→ </a:t>
                      </a:r>
                      <a:r>
                        <a:rPr sz="900" b="1">
                          <a:solidFill>
                            <a:srgbClr val="000000"/>
                          </a:solidFill>
                          <a:latin typeface="Noto Sans JP"/>
                        </a:rPr>
                        <a:t>中西製作所様を推薦</a:t>
                      </a:r>
                    </a:p>
                  </a:txBody>
                  <a:tcPr marL="73152" marR="73152" marT="45720" marB="45720" anchor="t">
                    <a:solidFill>
                      <a:srgbClr val="FFFFFF"/>
                    </a:solidFill>
                  </a:tcPr>
                </a:tc>
              </a:tr>
              <a:tr h="292608">
                <a:tc>
                  <a:txBody>
                    <a:bodyPr wrap="square" lIns="45720" rIns="45720" tIns="36576" bIns="36576"/>
                    <a:lstStyle/>
                    <a:p>
                      <a:r>
                        <a:rPr sz="900" b="0">
                          <a:solidFill>
                            <a:srgbClr val="000000"/>
                          </a:solidFill>
                          <a:latin typeface="Noto Sans JP"/>
                        </a:rPr>
                        <a:t>Cさん</a:t>
                      </a:r>
                    </a:p>
                  </a:txBody>
                  <a:tcPr marL="73152" marR="73152" marT="45720" marB="45720" anchor="t">
                    <a:solidFill>
                      <a:srgbClr val="FFFFFF"/>
                    </a:solidFill>
                  </a:tcPr>
                </a:tc>
                <a:tc>
                  <a:txBody>
                    <a:bodyPr wrap="square" lIns="45720" rIns="45720" tIns="36576" bIns="36576"/>
                    <a:lstStyle/>
                    <a:p>
                      <a:r>
                        <a:rPr sz="900" b="0">
                          <a:solidFill>
                            <a:srgbClr val="000000"/>
                          </a:solidFill>
                          <a:latin typeface="Noto Sans JP"/>
                        </a:rPr>
                        <a:t>S型(18)</a:t>
                      </a:r>
                    </a:p>
                  </a:txBody>
                  <a:tcPr marL="73152" marR="73152" marT="45720" marB="45720" anchor="t">
                    <a:solidFill>
                      <a:srgbClr val="FFFFFF"/>
                    </a:solidFill>
                  </a:tcPr>
                </a:tc>
                <a:tc>
                  <a:txBody>
                    <a:bodyPr wrap="square" lIns="45720" rIns="45720" tIns="36576" bIns="36576"/>
                    <a:lstStyle/>
                    <a:p>
                      <a:r>
                        <a:rPr sz="900" b="0">
                          <a:solidFill>
                            <a:srgbClr val="000000"/>
                          </a:solidFill>
                          <a:latin typeface="Noto Sans JP"/>
                        </a:rPr>
                        <a:t>R型(15)</a:t>
                      </a:r>
                    </a:p>
                  </a:txBody>
                  <a:tcPr marL="73152" marR="73152" marT="45720" marB="45720" anchor="t">
                    <a:solidFill>
                      <a:srgbClr val="FFFFFF"/>
                    </a:solidFill>
                  </a:tcPr>
                </a:tc>
                <a:tc>
                  <a:txBody>
                    <a:bodyPr wrap="square" lIns="45720" rIns="45720" tIns="36576" bIns="36576"/>
                    <a:lstStyle/>
                    <a:p>
                      <a:r>
                        <a:rPr sz="900" b="0">
                          <a:solidFill>
                            <a:srgbClr val="000000"/>
                          </a:solidFill>
                          <a:latin typeface="Noto Sans JP"/>
                        </a:rPr>
                        <a:t>4</a:t>
                      </a:r>
                    </a:p>
                  </a:txBody>
                  <a:tcPr marL="73152" marR="73152" marT="45720" marB="45720" anchor="t">
                    <a:solidFill>
                      <a:srgbClr val="FFFFFF"/>
                    </a:solidFill>
                  </a:tcPr>
                </a:tc>
                <a:tc>
                  <a:txBody>
                    <a:bodyPr wrap="square" lIns="45720" rIns="45720" tIns="36576" bIns="36576"/>
                    <a:lstStyle/>
                    <a:p>
                      <a:r>
                        <a:rPr sz="900" b="0">
                          <a:solidFill>
                            <a:srgbClr val="000000"/>
                          </a:solidFill>
                          <a:latin typeface="Noto Sans JP"/>
                        </a:rPr>
                        <a:t>4</a:t>
                      </a:r>
                    </a:p>
                  </a:txBody>
                  <a:tcPr marL="73152" marR="73152" marT="45720" marB="45720" anchor="t">
                    <a:solidFill>
                      <a:srgbClr val="FFFFFF"/>
                    </a:solidFill>
                  </a:tcPr>
                </a:tc>
                <a:tc>
                  <a:txBody>
                    <a:bodyPr wrap="square" lIns="45720" rIns="45720" tIns="36576" bIns="36576"/>
                    <a:lstStyle/>
                    <a:p>
                      <a:r>
                        <a:rPr sz="900" b="0">
                          <a:solidFill>
                            <a:srgbClr val="000000"/>
                          </a:solidFill>
                          <a:latin typeface="Noto Sans JP"/>
                        </a:rPr>
                        <a:t>4.0</a:t>
                      </a:r>
                    </a:p>
                  </a:txBody>
                  <a:tcPr marL="73152" marR="73152" marT="45720" marB="45720" anchor="t">
                    <a:solidFill>
                      <a:srgbClr val="FFFFFF"/>
                    </a:solidFill>
                  </a:tcPr>
                </a:tc>
                <a:tc>
                  <a:txBody>
                    <a:bodyPr wrap="square" lIns="45720" rIns="45720" tIns="36576" bIns="36576"/>
                    <a:lstStyle/>
                    <a:p>
                      <a:r>
                        <a:rPr sz="900" b="0">
                          <a:solidFill>
                            <a:srgbClr val="000000"/>
                          </a:solidFill>
                          <a:latin typeface="Noto Sans JP"/>
                        </a:rPr>
                        <a:t>❌</a:t>
                      </a:r>
                    </a:p>
                  </a:txBody>
                  <a:tcPr marL="73152" marR="73152" marT="45720" marB="45720" anchor="t">
                    <a:solidFill>
                      <a:srgbClr val="FFFFFF"/>
                    </a:solidFill>
                  </a:tcPr>
                </a:tc>
                <a:tc>
                  <a:txBody>
                    <a:bodyPr wrap="square" lIns="45720" rIns="45720" tIns="36576" bIns="36576"/>
                    <a:lstStyle/>
                    <a:p>
                      <a:r>
                        <a:rPr sz="900" b="0">
                          <a:solidFill>
                            <a:srgbClr val="000000"/>
                          </a:solidFill>
                          <a:latin typeface="Noto Sans JP"/>
                        </a:rPr>
                        <a:t>✅</a:t>
                      </a:r>
                    </a:p>
                  </a:txBody>
                  <a:tcPr marL="73152" marR="73152" marT="45720" marB="45720" anchor="t">
                    <a:solidFill>
                      <a:srgbClr val="FFFFFF"/>
                    </a:solidFill>
                  </a:tcPr>
                </a:tc>
                <a:tc>
                  <a:txBody>
                    <a:bodyPr wrap="square" lIns="45720" rIns="45720" tIns="36576" bIns="36576"/>
                    <a:lstStyle/>
                    <a:p>
                      <a:r>
                        <a:rPr sz="900" b="0">
                          <a:solidFill>
                            <a:srgbClr val="000000"/>
                          </a:solidFill>
                          <a:latin typeface="Noto Sans JP"/>
                        </a:rPr>
                        <a:t>✅</a:t>
                      </a:r>
                    </a:p>
                  </a:txBody>
                  <a:tcPr marL="73152" marR="73152" marT="45720" marB="45720" anchor="t">
                    <a:solidFill>
                      <a:srgbClr val="FFFFFF"/>
                    </a:solidFill>
                  </a:tcPr>
                </a:tc>
                <a:tc>
                  <a:txBody>
                    <a:bodyPr wrap="square" lIns="45720" rIns="45720" tIns="36576" bIns="36576"/>
                    <a:lstStyle/>
                    <a:p>
                      <a:r>
                        <a:rPr sz="900" b="0">
                          <a:solidFill>
                            <a:srgbClr val="000000"/>
                          </a:solidFill>
                          <a:latin typeface="Noto Sans JP"/>
                        </a:rPr>
                        <a:t>→ Step 4へ（タイプが対象外）</a:t>
                      </a:r>
                    </a:p>
                  </a:txBody>
                  <a:tcPr marL="73152" marR="73152" marT="45720" marB="45720" anchor="t">
                    <a:solidFill>
                      <a:srgbClr val="FFFFFF"/>
                    </a:solidFill>
                  </a:tcPr>
                </a:tc>
              </a:tr>
              <a:tr h="292608">
                <a:tc>
                  <a:txBody>
                    <a:bodyPr wrap="square" lIns="45720" rIns="45720" tIns="36576" bIns="36576"/>
                    <a:lstStyle/>
                    <a:p>
                      <a:r>
                        <a:rPr sz="900" b="0">
                          <a:solidFill>
                            <a:srgbClr val="000000"/>
                          </a:solidFill>
                          <a:latin typeface="Noto Sans JP"/>
                        </a:rPr>
                        <a:t>Dさん</a:t>
                      </a:r>
                    </a:p>
                  </a:txBody>
                  <a:tcPr marL="73152" marR="73152" marT="45720" marB="45720" anchor="t">
                    <a:solidFill>
                      <a:srgbClr val="FFFFFF"/>
                    </a:solidFill>
                  </a:tcPr>
                </a:tc>
                <a:tc>
                  <a:txBody>
                    <a:bodyPr wrap="square" lIns="45720" rIns="45720" tIns="36576" bIns="36576"/>
                    <a:lstStyle/>
                    <a:p>
                      <a:r>
                        <a:rPr sz="900" b="0">
                          <a:solidFill>
                            <a:srgbClr val="000000"/>
                          </a:solidFill>
                          <a:latin typeface="Noto Sans JP"/>
                        </a:rPr>
                        <a:t>E型(19)</a:t>
                      </a:r>
                    </a:p>
                  </a:txBody>
                  <a:tcPr marL="73152" marR="73152" marT="45720" marB="45720" anchor="t">
                    <a:solidFill>
                      <a:srgbClr val="FFFFFF"/>
                    </a:solidFill>
                  </a:tcPr>
                </a:tc>
                <a:tc>
                  <a:txBody>
                    <a:bodyPr wrap="square" lIns="45720" rIns="45720" tIns="36576" bIns="36576"/>
                    <a:lstStyle/>
                    <a:p>
                      <a:r>
                        <a:rPr sz="900" b="0">
                          <a:solidFill>
                            <a:srgbClr val="000000"/>
                          </a:solidFill>
                          <a:latin typeface="Noto Sans JP"/>
                        </a:rPr>
                        <a:t>A型(16)</a:t>
                      </a:r>
                    </a:p>
                  </a:txBody>
                  <a:tcPr marL="73152" marR="73152" marT="45720" marB="45720" anchor="t">
                    <a:solidFill>
                      <a:srgbClr val="FFFFFF"/>
                    </a:solidFill>
                  </a:tcPr>
                </a:tc>
                <a:tc>
                  <a:txBody>
                    <a:bodyPr wrap="square" lIns="45720" rIns="45720" tIns="36576" bIns="36576"/>
                    <a:lstStyle/>
                    <a:p>
                      <a:r>
                        <a:rPr sz="900" b="0">
                          <a:solidFill>
                            <a:srgbClr val="000000"/>
                          </a:solidFill>
                          <a:latin typeface="Noto Sans JP"/>
                        </a:rPr>
                        <a:t>2</a:t>
                      </a:r>
                    </a:p>
                  </a:txBody>
                  <a:tcPr marL="73152" marR="73152" marT="45720" marB="45720" anchor="t">
                    <a:solidFill>
                      <a:srgbClr val="FFFFFF"/>
                    </a:solidFill>
                  </a:tcPr>
                </a:tc>
                <a:tc>
                  <a:txBody>
                    <a:bodyPr wrap="square" lIns="45720" rIns="45720" tIns="36576" bIns="36576"/>
                    <a:lstStyle/>
                    <a:p>
                      <a:r>
                        <a:rPr sz="900" b="0">
                          <a:solidFill>
                            <a:srgbClr val="000000"/>
                          </a:solidFill>
                          <a:latin typeface="Noto Sans JP"/>
                        </a:rPr>
                        <a:t>4</a:t>
                      </a:r>
                    </a:p>
                  </a:txBody>
                  <a:tcPr marL="73152" marR="73152" marT="45720" marB="45720" anchor="t">
                    <a:solidFill>
                      <a:srgbClr val="FFFFFF"/>
                    </a:solidFill>
                  </a:tcPr>
                </a:tc>
                <a:tc>
                  <a:txBody>
                    <a:bodyPr wrap="square" lIns="45720" rIns="45720" tIns="36576" bIns="36576"/>
                    <a:lstStyle/>
                    <a:p>
                      <a:r>
                        <a:rPr sz="900" b="0">
                          <a:solidFill>
                            <a:srgbClr val="000000"/>
                          </a:solidFill>
                          <a:latin typeface="Noto Sans JP"/>
                        </a:rPr>
                        <a:t>3.0</a:t>
                      </a:r>
                    </a:p>
                  </a:txBody>
                  <a:tcPr marL="73152" marR="73152" marT="45720" marB="45720" anchor="t">
                    <a:solidFill>
                      <a:srgbClr val="FFFFFF"/>
                    </a:solidFill>
                  </a:tcPr>
                </a:tc>
                <a:tc>
                  <a:txBody>
                    <a:bodyPr wrap="square" lIns="45720" rIns="45720" tIns="36576" bIns="36576"/>
                    <a:lstStyle/>
                    <a:p>
                      <a:r>
                        <a:rPr sz="900" b="0">
                          <a:solidFill>
                            <a:srgbClr val="000000"/>
                          </a:solidFill>
                          <a:latin typeface="Noto Sans JP"/>
                        </a:rPr>
                        <a:t>✅</a:t>
                      </a:r>
                    </a:p>
                  </a:txBody>
                  <a:tcPr marL="73152" marR="73152" marT="45720" marB="45720" anchor="t">
                    <a:solidFill>
                      <a:srgbClr val="FFFFFF"/>
                    </a:solidFill>
                  </a:tcPr>
                </a:tc>
                <a:tc>
                  <a:txBody>
                    <a:bodyPr wrap="square" lIns="45720" rIns="45720" tIns="36576" bIns="36576"/>
                    <a:lstStyle/>
                    <a:p>
                      <a:r>
                        <a:rPr sz="900" b="0">
                          <a:solidFill>
                            <a:srgbClr val="000000"/>
                          </a:solidFill>
                          <a:latin typeface="Noto Sans JP"/>
                        </a:rPr>
                        <a:t>✅</a:t>
                      </a:r>
                    </a:p>
                  </a:txBody>
                  <a:tcPr marL="73152" marR="73152" marT="45720" marB="45720" anchor="t">
                    <a:solidFill>
                      <a:srgbClr val="FFFFFF"/>
                    </a:solidFill>
                  </a:tcPr>
                </a:tc>
                <a:tc>
                  <a:txBody>
                    <a:bodyPr wrap="square" lIns="45720" rIns="45720" tIns="36576" bIns="36576"/>
                    <a:lstStyle/>
                    <a:p>
                      <a:r>
                        <a:rPr sz="900" b="0">
                          <a:solidFill>
                            <a:srgbClr val="000000"/>
                          </a:solidFill>
                          <a:latin typeface="Noto Sans JP"/>
                        </a:rPr>
                        <a:t>❌</a:t>
                      </a:r>
                    </a:p>
                  </a:txBody>
                  <a:tcPr marL="73152" marR="73152" marT="45720" marB="45720" anchor="t">
                    <a:solidFill>
                      <a:srgbClr val="FFFFFF"/>
                    </a:solidFill>
                  </a:tcPr>
                </a:tc>
                <a:tc>
                  <a:txBody>
                    <a:bodyPr wrap="square" lIns="45720" rIns="45720" tIns="36576" bIns="36576"/>
                    <a:lstStyle/>
                    <a:p>
                      <a:r>
                        <a:rPr sz="900" b="0">
                          <a:solidFill>
                            <a:srgbClr val="000000"/>
                          </a:solidFill>
                          <a:latin typeface="Noto Sans JP"/>
                        </a:rPr>
                        <a:t>→ Step 4へ（BtoC寄り）</a:t>
                      </a:r>
                    </a:p>
                  </a:txBody>
                  <a:tcPr marL="73152" marR="73152" marT="45720" marB="45720" anchor="t">
                    <a:solidFill>
                      <a:srgbClr val="FFFFFF"/>
                    </a:solidFill>
                  </a:tcPr>
                </a:tc>
              </a:tr>
            </a:tbl>
          </a:graphicData>
        </a:graphic>
      </p:graphicFrame>
      <p:sp>
        <p:nvSpPr>
          <p:cNvPr id="21" name="TextBox 20"/>
          <p:cNvSpPr txBox="1"/>
          <p:nvPr/>
        </p:nvSpPr>
        <p:spPr>
          <a:xfrm>
            <a:off x="594360" y="6446520"/>
            <a:ext cx="10972800" cy="320040"/>
          </a:xfrm>
          <a:prstGeom prst="rect">
            <a:avLst/>
          </a:prstGeom>
          <a:noFill/>
        </p:spPr>
        <p:txBody>
          <a:bodyPr wrap="square" lIns="27432" rIns="27432" tIns="18288" bIns="18288" anchor="t">
            <a:spAutoFit/>
          </a:bodyPr>
          <a:lstStyle/>
          <a:p>
            <a:pPr algn="l"/>
            <a:r>
              <a:rPr sz="900" b="0">
                <a:solidFill>
                  <a:srgbClr val="141414"/>
                </a:solidFill>
                <a:latin typeface="Noto Sans JP"/>
              </a:rPr>
              <a:t>→ Dさんはタイプ・業界志向の平均は合うが、Q50が3未満でBtoC寄りなので中西製作所様は案内せず、Step 4（通常判定）に進む。</a:t>
            </a:r>
          </a:p>
        </p:txBody>
      </p:sp>
      <p:sp>
        <p:nvSpPr>
          <p:cNvPr id="22" name="TextBox 21"/>
          <p:cNvSpPr txBox="1"/>
          <p:nvPr/>
        </p:nvSpPr>
        <p:spPr>
          <a:xfrm>
            <a:off x="457200" y="6492240"/>
            <a:ext cx="3657600" cy="274320"/>
          </a:xfrm>
          <a:prstGeom prst="rect">
            <a:avLst/>
          </a:prstGeom>
          <a:noFill/>
        </p:spPr>
        <p:txBody>
          <a:bodyPr wrap="none" lIns="0" tIns="0">
            <a:spAutoFit/>
          </a:bodyPr>
          <a:lstStyle/>
          <a:p>
            <a:r>
              <a:rPr sz="1000" b="1">
                <a:solidFill>
                  <a:srgbClr val="3A3A3A"/>
                </a:solidFill>
                <a:latin typeface="Noto Sans JP"/>
              </a:rPr>
              <a:t>TOMOSHIKA</a:t>
            </a:r>
          </a:p>
        </p:txBody>
      </p:sp>
      <p:sp>
        <p:nvSpPr>
          <p:cNvPr id="23" name="TextBox 22"/>
          <p:cNvSpPr txBox="1"/>
          <p:nvPr/>
        </p:nvSpPr>
        <p:spPr>
          <a:xfrm>
            <a:off x="10972800" y="6492240"/>
            <a:ext cx="914400" cy="274320"/>
          </a:xfrm>
          <a:prstGeom prst="rect">
            <a:avLst/>
          </a:prstGeom>
          <a:noFill/>
        </p:spPr>
        <p:txBody>
          <a:bodyPr wrap="none" lIns="0" tIns="0">
            <a:spAutoFit/>
          </a:bodyPr>
          <a:lstStyle/>
          <a:p>
            <a:pPr algn="r"/>
            <a:r>
              <a:rPr sz="1000" b="1">
                <a:solidFill>
                  <a:srgbClr val="3A3A3A"/>
                </a:solidFill>
                <a:latin typeface="Noto Sans JP"/>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502920"/>
            <a:ext cx="109728" cy="109728"/>
          </a:xfrm>
          <a:prstGeom prst="rect">
            <a:avLst/>
          </a:prstGeom>
          <a:solidFill>
            <a:srgbClr val="B9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9144000" cy="320040"/>
          </a:xfrm>
          <a:prstGeom prst="rect">
            <a:avLst/>
          </a:prstGeom>
          <a:noFill/>
        </p:spPr>
        <p:txBody>
          <a:bodyPr wrap="none" lIns="0" tIns="0">
            <a:spAutoFit/>
          </a:bodyPr>
          <a:lstStyle/>
          <a:p>
            <a:r>
              <a:rPr sz="1400" b="1">
                <a:solidFill>
                  <a:srgbClr val="141414"/>
                </a:solidFill>
                <a:latin typeface="Noto Sans JP"/>
              </a:rPr>
              <a:t>PHASE 03 / Step 4</a:t>
            </a:r>
          </a:p>
        </p:txBody>
      </p:sp>
      <p:sp>
        <p:nvSpPr>
          <p:cNvPr id="5" name="TextBox 4"/>
          <p:cNvSpPr txBox="1"/>
          <p:nvPr/>
        </p:nvSpPr>
        <p:spPr>
          <a:xfrm>
            <a:off x="594360" y="868680"/>
            <a:ext cx="10972800" cy="731520"/>
          </a:xfrm>
          <a:prstGeom prst="rect">
            <a:avLst/>
          </a:prstGeom>
          <a:noFill/>
        </p:spPr>
        <p:txBody>
          <a:bodyPr wrap="square" lIns="27432" rIns="27432" tIns="18288" bIns="18288" anchor="t">
            <a:spAutoFit/>
          </a:bodyPr>
          <a:lstStyle/>
          <a:p>
            <a:pPr algn="l"/>
            <a:r>
              <a:rPr sz="2200" b="1">
                <a:solidFill>
                  <a:srgbClr val="000000"/>
                </a:solidFill>
                <a:latin typeface="Noto Sans JP"/>
              </a:rPr>
              <a:t>Step 4: タイプに合った企業を推薦する（通常判定）</a:t>
            </a:r>
          </a:p>
        </p:txBody>
      </p:sp>
      <p:sp>
        <p:nvSpPr>
          <p:cNvPr id="6" name="TextBox 5"/>
          <p:cNvSpPr txBox="1"/>
          <p:nvPr/>
        </p:nvSpPr>
        <p:spPr>
          <a:xfrm>
            <a:off x="594360" y="1417320"/>
            <a:ext cx="10972800" cy="320040"/>
          </a:xfrm>
          <a:prstGeom prst="rect">
            <a:avLst/>
          </a:prstGeom>
          <a:noFill/>
        </p:spPr>
        <p:txBody>
          <a:bodyPr wrap="square" lIns="27432" rIns="27432" tIns="18288" bIns="18288" anchor="t">
            <a:spAutoFit/>
          </a:bodyPr>
          <a:lstStyle/>
          <a:p>
            <a:pPr algn="l"/>
            <a:r>
              <a:rPr sz="1400" b="1">
                <a:solidFill>
                  <a:srgbClr val="000000"/>
                </a:solidFill>
                <a:latin typeface="Noto Sans JP"/>
              </a:rPr>
              <a:t>目的</a:t>
            </a:r>
          </a:p>
        </p:txBody>
      </p:sp>
      <p:sp>
        <p:nvSpPr>
          <p:cNvPr id="7" name="TextBox 6"/>
          <p:cNvSpPr txBox="1"/>
          <p:nvPr/>
        </p:nvSpPr>
        <p:spPr>
          <a:xfrm>
            <a:off x="594360" y="1737360"/>
            <a:ext cx="11430000" cy="365760"/>
          </a:xfrm>
          <a:prstGeom prst="rect">
            <a:avLst/>
          </a:prstGeom>
          <a:noFill/>
        </p:spPr>
        <p:txBody>
          <a:bodyPr wrap="square" lIns="27432" rIns="27432" tIns="18288" bIns="18288" anchor="t">
            <a:spAutoFit/>
          </a:bodyPr>
          <a:lstStyle/>
          <a:p>
            <a:pPr algn="l"/>
            <a:r>
              <a:rPr sz="1200" b="0">
                <a:solidFill>
                  <a:srgbClr val="000000"/>
                </a:solidFill>
                <a:latin typeface="Noto Sans JP"/>
              </a:rPr>
              <a:t>Step 1〜3のどれにも当てはまらなかった学生に対し、</a:t>
            </a:r>
            <a:r>
              <a:rPr sz="1200" b="1">
                <a:solidFill>
                  <a:srgbClr val="000000"/>
                </a:solidFill>
                <a:latin typeface="Noto Sans JP"/>
              </a:rPr>
              <a:t>その学生のタイプに合った企業を推薦する</a:t>
            </a:r>
            <a:r>
              <a:rPr sz="1200" b="0">
                <a:solidFill>
                  <a:srgbClr val="000000"/>
                </a:solidFill>
                <a:latin typeface="Noto Sans JP"/>
              </a:rPr>
              <a:t>。</a:t>
            </a:r>
          </a:p>
        </p:txBody>
      </p:sp>
      <p:sp>
        <p:nvSpPr>
          <p:cNvPr id="8" name="TextBox 7"/>
          <p:cNvSpPr txBox="1"/>
          <p:nvPr/>
        </p:nvSpPr>
        <p:spPr>
          <a:xfrm>
            <a:off x="594360" y="2103120"/>
            <a:ext cx="10972800" cy="320040"/>
          </a:xfrm>
          <a:prstGeom prst="rect">
            <a:avLst/>
          </a:prstGeom>
          <a:noFill/>
        </p:spPr>
        <p:txBody>
          <a:bodyPr wrap="square" lIns="27432" rIns="27432" tIns="18288" bIns="18288" anchor="t">
            <a:spAutoFit/>
          </a:bodyPr>
          <a:lstStyle/>
          <a:p>
            <a:pPr algn="l"/>
            <a:r>
              <a:rPr sz="1400" b="1">
                <a:solidFill>
                  <a:srgbClr val="000000"/>
                </a:solidFill>
                <a:latin typeface="Noto Sans JP"/>
              </a:rPr>
              <a:t>しくみ</a:t>
            </a:r>
          </a:p>
        </p:txBody>
      </p:sp>
      <p:sp>
        <p:nvSpPr>
          <p:cNvPr id="9" name="TextBox 8"/>
          <p:cNvSpPr txBox="1"/>
          <p:nvPr/>
        </p:nvSpPr>
        <p:spPr>
          <a:xfrm>
            <a:off x="594360" y="2423160"/>
            <a:ext cx="10972800" cy="365760"/>
          </a:xfrm>
          <a:prstGeom prst="rect">
            <a:avLst/>
          </a:prstGeom>
          <a:noFill/>
        </p:spPr>
        <p:txBody>
          <a:bodyPr wrap="square" lIns="27432" rIns="27432" tIns="18288" bIns="18288" anchor="t">
            <a:spAutoFit/>
          </a:bodyPr>
          <a:lstStyle/>
          <a:p>
            <a:pPr algn="l"/>
            <a:r>
              <a:rPr sz="1200" b="0">
                <a:solidFill>
                  <a:srgbClr val="000000"/>
                </a:solidFill>
                <a:latin typeface="Noto Sans JP"/>
              </a:rPr>
              <a:t>以下の2つを出す。</a:t>
            </a:r>
          </a:p>
        </p:txBody>
      </p:sp>
      <p:sp>
        <p:nvSpPr>
          <p:cNvPr id="10" name="TextBox 9"/>
          <p:cNvSpPr txBox="1"/>
          <p:nvPr/>
        </p:nvSpPr>
        <p:spPr>
          <a:xfrm>
            <a:off x="685800" y="2788920"/>
            <a:ext cx="274320" cy="274320"/>
          </a:xfrm>
          <a:prstGeom prst="rect">
            <a:avLst/>
          </a:prstGeom>
          <a:noFill/>
        </p:spPr>
        <p:txBody>
          <a:bodyPr wrap="square" lIns="27432" rIns="27432" tIns="18288" bIns="18288" anchor="t">
            <a:spAutoFit/>
          </a:bodyPr>
          <a:lstStyle/>
          <a:p>
            <a:pPr algn="l"/>
            <a:r>
              <a:rPr sz="1200" b="1">
                <a:solidFill>
                  <a:srgbClr val="000000"/>
                </a:solidFill>
                <a:latin typeface="Noto Sans JP"/>
              </a:rPr>
              <a:t>1.</a:t>
            </a:r>
          </a:p>
        </p:txBody>
      </p:sp>
      <p:sp>
        <p:nvSpPr>
          <p:cNvPr id="11" name="TextBox 10"/>
          <p:cNvSpPr txBox="1"/>
          <p:nvPr/>
        </p:nvSpPr>
        <p:spPr>
          <a:xfrm>
            <a:off x="1005840" y="2788920"/>
            <a:ext cx="10515600" cy="365760"/>
          </a:xfrm>
          <a:prstGeom prst="rect">
            <a:avLst/>
          </a:prstGeom>
          <a:noFill/>
        </p:spPr>
        <p:txBody>
          <a:bodyPr wrap="square" lIns="27432" rIns="27432" tIns="18288" bIns="18288" anchor="t">
            <a:spAutoFit/>
          </a:bodyPr>
          <a:lstStyle/>
          <a:p>
            <a:pPr algn="l"/>
            <a:r>
              <a:rPr sz="1200" b="1">
                <a:solidFill>
                  <a:srgbClr val="000000"/>
                </a:solidFill>
                <a:latin typeface="Noto Sans JP"/>
              </a:rPr>
              <a:t>メインの推薦企業</a:t>
            </a:r>
            <a:r>
              <a:rPr sz="1200" b="0">
                <a:solidFill>
                  <a:srgbClr val="000000"/>
                </a:solidFill>
                <a:latin typeface="Noto Sans JP"/>
              </a:rPr>
              <a:t>: 1位タイプに対応する企業リストから出す</a:t>
            </a:r>
          </a:p>
        </p:txBody>
      </p:sp>
      <p:sp>
        <p:nvSpPr>
          <p:cNvPr id="12" name="TextBox 11"/>
          <p:cNvSpPr txBox="1"/>
          <p:nvPr/>
        </p:nvSpPr>
        <p:spPr>
          <a:xfrm>
            <a:off x="685800" y="3108960"/>
            <a:ext cx="274320" cy="274320"/>
          </a:xfrm>
          <a:prstGeom prst="rect">
            <a:avLst/>
          </a:prstGeom>
          <a:noFill/>
        </p:spPr>
        <p:txBody>
          <a:bodyPr wrap="square" lIns="27432" rIns="27432" tIns="18288" bIns="18288" anchor="t">
            <a:spAutoFit/>
          </a:bodyPr>
          <a:lstStyle/>
          <a:p>
            <a:pPr algn="l"/>
            <a:r>
              <a:rPr sz="1200" b="1">
                <a:solidFill>
                  <a:srgbClr val="000000"/>
                </a:solidFill>
                <a:latin typeface="Noto Sans JP"/>
              </a:rPr>
              <a:t>2.</a:t>
            </a:r>
          </a:p>
        </p:txBody>
      </p:sp>
      <p:sp>
        <p:nvSpPr>
          <p:cNvPr id="13" name="TextBox 12"/>
          <p:cNvSpPr txBox="1"/>
          <p:nvPr/>
        </p:nvSpPr>
        <p:spPr>
          <a:xfrm>
            <a:off x="1005840" y="3108960"/>
            <a:ext cx="10515600" cy="365760"/>
          </a:xfrm>
          <a:prstGeom prst="rect">
            <a:avLst/>
          </a:prstGeom>
          <a:noFill/>
        </p:spPr>
        <p:txBody>
          <a:bodyPr wrap="square" lIns="27432" rIns="27432" tIns="18288" bIns="18288" anchor="t">
            <a:spAutoFit/>
          </a:bodyPr>
          <a:lstStyle/>
          <a:p>
            <a:pPr algn="l"/>
            <a:r>
              <a:rPr sz="1200" b="1">
                <a:solidFill>
                  <a:srgbClr val="000000"/>
                </a:solidFill>
                <a:latin typeface="Noto Sans JP"/>
              </a:rPr>
              <a:t>補足の推薦企業</a:t>
            </a:r>
            <a:r>
              <a:rPr sz="1200" b="0">
                <a:solidFill>
                  <a:srgbClr val="000000"/>
                </a:solidFill>
                <a:latin typeface="Noto Sans JP"/>
              </a:rPr>
              <a:t>: 2位タイプに対応する企業リストから出す（「あなたにはこんな面もありますよ」という補足）</a:t>
            </a:r>
          </a:p>
        </p:txBody>
      </p:sp>
      <p:sp>
        <p:nvSpPr>
          <p:cNvPr id="14" name="TextBox 13"/>
          <p:cNvSpPr txBox="1"/>
          <p:nvPr/>
        </p:nvSpPr>
        <p:spPr>
          <a:xfrm>
            <a:off x="594360" y="3474720"/>
            <a:ext cx="11430000" cy="320040"/>
          </a:xfrm>
          <a:prstGeom prst="rect">
            <a:avLst/>
          </a:prstGeom>
          <a:noFill/>
        </p:spPr>
        <p:txBody>
          <a:bodyPr wrap="square" lIns="27432" rIns="27432" tIns="18288" bIns="18288" anchor="t">
            <a:spAutoFit/>
          </a:bodyPr>
          <a:lstStyle/>
          <a:p>
            <a:pPr algn="l"/>
            <a:r>
              <a:rPr sz="1200" b="0">
                <a:solidFill>
                  <a:srgbClr val="000000"/>
                </a:solidFill>
                <a:latin typeface="Noto Sans JP"/>
              </a:rPr>
              <a:t>さらに、</a:t>
            </a:r>
            <a:r>
              <a:rPr sz="1200" b="1">
                <a:solidFill>
                  <a:srgbClr val="000000"/>
                </a:solidFill>
                <a:latin typeface="Noto Sans JP"/>
              </a:rPr>
              <a:t>Q50（BtoB志向）の点数</a:t>
            </a:r>
            <a:r>
              <a:rPr sz="1200" b="0">
                <a:solidFill>
                  <a:srgbClr val="000000"/>
                </a:solidFill>
                <a:latin typeface="Noto Sans JP"/>
              </a:rPr>
              <a:t>で、BtoB企業リストとBtoC企業リストを切り替える。</a:t>
            </a:r>
          </a:p>
        </p:txBody>
      </p:sp>
      <p:sp>
        <p:nvSpPr>
          <p:cNvPr id="15" name="Oval 14"/>
          <p:cNvSpPr/>
          <p:nvPr/>
        </p:nvSpPr>
        <p:spPr>
          <a:xfrm>
            <a:off x="731520" y="3995928"/>
            <a:ext cx="64008" cy="64008"/>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886200"/>
            <a:ext cx="10515600" cy="320040"/>
          </a:xfrm>
          <a:prstGeom prst="rect">
            <a:avLst/>
          </a:prstGeom>
          <a:noFill/>
        </p:spPr>
        <p:txBody>
          <a:bodyPr wrap="square" lIns="27432" rIns="27432" tIns="18288" bIns="18288" anchor="t">
            <a:spAutoFit/>
          </a:bodyPr>
          <a:lstStyle/>
          <a:p>
            <a:pPr algn="l"/>
            <a:r>
              <a:rPr sz="1200" b="0">
                <a:solidFill>
                  <a:srgbClr val="000000"/>
                </a:solidFill>
                <a:latin typeface="Noto Sans JP"/>
              </a:rPr>
              <a:t>Q50が </a:t>
            </a:r>
            <a:r>
              <a:rPr sz="1200" b="1">
                <a:solidFill>
                  <a:srgbClr val="000000"/>
                </a:solidFill>
                <a:latin typeface="Noto Sans JP"/>
              </a:rPr>
              <a:t>3点以上</a:t>
            </a:r>
            <a:r>
              <a:rPr sz="1200" b="0">
                <a:solidFill>
                  <a:srgbClr val="000000"/>
                </a:solidFill>
                <a:latin typeface="Noto Sans JP"/>
              </a:rPr>
              <a:t> → BtoB企業リストを使う</a:t>
            </a:r>
          </a:p>
        </p:txBody>
      </p:sp>
      <p:sp>
        <p:nvSpPr>
          <p:cNvPr id="17" name="Oval 16"/>
          <p:cNvSpPr/>
          <p:nvPr/>
        </p:nvSpPr>
        <p:spPr>
          <a:xfrm>
            <a:off x="731520" y="4288536"/>
            <a:ext cx="64008" cy="64008"/>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178808"/>
            <a:ext cx="10515600" cy="320040"/>
          </a:xfrm>
          <a:prstGeom prst="rect">
            <a:avLst/>
          </a:prstGeom>
          <a:noFill/>
        </p:spPr>
        <p:txBody>
          <a:bodyPr wrap="square" lIns="27432" rIns="27432" tIns="18288" bIns="18288" anchor="t">
            <a:spAutoFit/>
          </a:bodyPr>
          <a:lstStyle/>
          <a:p>
            <a:pPr algn="l"/>
            <a:r>
              <a:rPr sz="1200" b="0">
                <a:solidFill>
                  <a:srgbClr val="000000"/>
                </a:solidFill>
                <a:latin typeface="Noto Sans JP"/>
              </a:rPr>
              <a:t>Q50が </a:t>
            </a:r>
            <a:r>
              <a:rPr sz="1200" b="1">
                <a:solidFill>
                  <a:srgbClr val="000000"/>
                </a:solidFill>
                <a:latin typeface="Noto Sans JP"/>
              </a:rPr>
              <a:t>3点未満</a:t>
            </a:r>
            <a:r>
              <a:rPr sz="1200" b="0">
                <a:solidFill>
                  <a:srgbClr val="000000"/>
                </a:solidFill>
                <a:latin typeface="Noto Sans JP"/>
              </a:rPr>
              <a:t> → BtoC企業リストを使う</a:t>
            </a:r>
          </a:p>
        </p:txBody>
      </p:sp>
      <p:sp>
        <p:nvSpPr>
          <p:cNvPr id="19" name="TextBox 18"/>
          <p:cNvSpPr txBox="1"/>
          <p:nvPr/>
        </p:nvSpPr>
        <p:spPr>
          <a:xfrm>
            <a:off x="594360" y="4572000"/>
            <a:ext cx="10972800" cy="365760"/>
          </a:xfrm>
          <a:prstGeom prst="rect">
            <a:avLst/>
          </a:prstGeom>
          <a:noFill/>
        </p:spPr>
        <p:txBody>
          <a:bodyPr wrap="square" lIns="27432" rIns="27432" tIns="18288" bIns="18288" anchor="t">
            <a:spAutoFit/>
          </a:bodyPr>
          <a:lstStyle/>
          <a:p>
            <a:pPr algn="l"/>
            <a:r>
              <a:rPr sz="1400" b="1">
                <a:solidFill>
                  <a:srgbClr val="000000"/>
                </a:solidFill>
                <a:latin typeface="Noto Sans JP"/>
              </a:rPr>
              <a:t>具体例: 1位 = S型、2位 = R型、Q50 = 4点 の学生の場合</a:t>
            </a:r>
          </a:p>
        </p:txBody>
      </p:sp>
      <p:sp>
        <p:nvSpPr>
          <p:cNvPr id="20" name="Rounded Rectangle 19"/>
          <p:cNvSpPr/>
          <p:nvPr/>
        </p:nvSpPr>
        <p:spPr>
          <a:xfrm>
            <a:off x="594360" y="4983480"/>
            <a:ext cx="10972800" cy="1371600"/>
          </a:xfrm>
          <a:prstGeom prst="roundRect">
            <a:avLst>
              <a:gd name="adj" fmla="val 4000"/>
            </a:avLst>
          </a:prstGeom>
          <a:solidFill>
            <a:srgbClr val="FFFFFF"/>
          </a:solidFill>
          <a:ln w="9525">
            <a:solidFill>
              <a:srgbClr val="C8C3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074920"/>
            <a:ext cx="10789920" cy="1280160"/>
          </a:xfrm>
          <a:prstGeom prst="rect">
            <a:avLst/>
          </a:prstGeom>
          <a:noFill/>
        </p:spPr>
        <p:txBody>
          <a:bodyPr wrap="square" lIns="27432" rIns="27432" tIns="18288" bIns="18288" anchor="t">
            <a:spAutoFit/>
          </a:bodyPr>
          <a:lstStyle/>
          <a:p>
            <a:pPr algn="l"/>
            <a:r>
              <a:rPr sz="1100" b="0">
                <a:solidFill>
                  <a:srgbClr val="000000"/>
                </a:solidFill>
                <a:latin typeface="Courier New"/>
              </a:rPr>
              <a:t>1位 S型 → Q50が4点（3以上なのでBtoB） → 企業リストの「S型 × BtoB」を見る</a:t>
            </a:r>
          </a:p>
          <a:p>
            <a:pPr algn="l"/>
            <a:r>
              <a:rPr sz="1100" b="0">
                <a:solidFill>
                  <a:srgbClr val="000000"/>
                </a:solidFill>
                <a:latin typeface="Courier New"/>
              </a:rPr>
              <a:t>  → メイン推薦: ベネッセ, リクルートマネジメント, パソナ, ワークスアプリ, LITALICO</a:t>
            </a:r>
          </a:p>
          <a:p>
            <a:pPr algn="l"/>
            <a:r>
              <a:rPr sz="1100" b="0">
                <a:solidFill>
                  <a:srgbClr val="000000"/>
                </a:solidFill>
                <a:latin typeface="Courier New"/>
              </a:rPr>
              <a:t/>
            </a:r>
          </a:p>
          <a:p>
            <a:pPr algn="l"/>
            <a:r>
              <a:rPr sz="1100" b="0">
                <a:solidFill>
                  <a:srgbClr val="000000"/>
                </a:solidFill>
                <a:latin typeface="Courier New"/>
              </a:rPr>
              <a:t>2位 R型 → Q50が4点（3以上なのでBtoB） → 企業リストの「R型 × BtoB」を見る</a:t>
            </a:r>
          </a:p>
          <a:p>
            <a:pPr algn="l"/>
            <a:r>
              <a:rPr sz="1100" b="0">
                <a:solidFill>
                  <a:srgbClr val="000000"/>
                </a:solidFill>
                <a:latin typeface="Courier New"/>
              </a:rPr>
              <a:t>  → 補足推薦: 三菱電機, 村田製作所, 安川電機, 栗田工業, THK</a:t>
            </a:r>
          </a:p>
        </p:txBody>
      </p:sp>
      <p:sp>
        <p:nvSpPr>
          <p:cNvPr id="22" name="TextBox 21"/>
          <p:cNvSpPr txBox="1"/>
          <p:nvPr/>
        </p:nvSpPr>
        <p:spPr>
          <a:xfrm>
            <a:off x="457200" y="6492240"/>
            <a:ext cx="3657600" cy="274320"/>
          </a:xfrm>
          <a:prstGeom prst="rect">
            <a:avLst/>
          </a:prstGeom>
          <a:noFill/>
        </p:spPr>
        <p:txBody>
          <a:bodyPr wrap="none" lIns="0" tIns="0">
            <a:spAutoFit/>
          </a:bodyPr>
          <a:lstStyle/>
          <a:p>
            <a:r>
              <a:rPr sz="1000" b="1">
                <a:solidFill>
                  <a:srgbClr val="3A3A3A"/>
                </a:solidFill>
                <a:latin typeface="Noto Sans JP"/>
              </a:rPr>
              <a:t>TOMOSHIKA</a:t>
            </a:r>
          </a:p>
        </p:txBody>
      </p:sp>
      <p:sp>
        <p:nvSpPr>
          <p:cNvPr id="23" name="TextBox 22"/>
          <p:cNvSpPr txBox="1"/>
          <p:nvPr/>
        </p:nvSpPr>
        <p:spPr>
          <a:xfrm>
            <a:off x="10972800" y="6492240"/>
            <a:ext cx="914400" cy="274320"/>
          </a:xfrm>
          <a:prstGeom prst="rect">
            <a:avLst/>
          </a:prstGeom>
          <a:noFill/>
        </p:spPr>
        <p:txBody>
          <a:bodyPr wrap="none" lIns="0" tIns="0">
            <a:spAutoFit/>
          </a:bodyPr>
          <a:lstStyle/>
          <a:p>
            <a:pPr algn="r"/>
            <a:r>
              <a:rPr sz="1000" b="1">
                <a:solidFill>
                  <a:srgbClr val="3A3A3A"/>
                </a:solidFill>
                <a:latin typeface="Noto Sans JP"/>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502920"/>
            <a:ext cx="109728" cy="109728"/>
          </a:xfrm>
          <a:prstGeom prst="rect">
            <a:avLst/>
          </a:prstGeom>
          <a:solidFill>
            <a:srgbClr val="B9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9144000" cy="320040"/>
          </a:xfrm>
          <a:prstGeom prst="rect">
            <a:avLst/>
          </a:prstGeom>
          <a:noFill/>
        </p:spPr>
        <p:txBody>
          <a:bodyPr wrap="none" lIns="0" tIns="0">
            <a:spAutoFit/>
          </a:bodyPr>
          <a:lstStyle/>
          <a:p>
            <a:r>
              <a:rPr sz="1400" b="1">
                <a:solidFill>
                  <a:srgbClr val="141414"/>
                </a:solidFill>
                <a:latin typeface="Noto Sans JP"/>
              </a:rPr>
              <a:t>PHASE 03 / 企業リスト</a:t>
            </a:r>
          </a:p>
        </p:txBody>
      </p:sp>
      <p:sp>
        <p:nvSpPr>
          <p:cNvPr id="5" name="TextBox 4"/>
          <p:cNvSpPr txBox="1"/>
          <p:nvPr/>
        </p:nvSpPr>
        <p:spPr>
          <a:xfrm>
            <a:off x="594360" y="868680"/>
            <a:ext cx="10972800" cy="731520"/>
          </a:xfrm>
          <a:prstGeom prst="rect">
            <a:avLst/>
          </a:prstGeom>
          <a:noFill/>
        </p:spPr>
        <p:txBody>
          <a:bodyPr wrap="square" lIns="27432" rIns="27432" tIns="18288" bIns="18288" anchor="t">
            <a:spAutoFit/>
          </a:bodyPr>
          <a:lstStyle/>
          <a:p>
            <a:pPr algn="l"/>
            <a:r>
              <a:rPr sz="2400" b="1">
                <a:solidFill>
                  <a:srgbClr val="000000"/>
                </a:solidFill>
                <a:latin typeface="Noto Sans JP"/>
              </a:rPr>
              <a:t>企業リスト（Difyの中に登録済み）</a:t>
            </a:r>
          </a:p>
        </p:txBody>
      </p:sp>
      <p:sp>
        <p:nvSpPr>
          <p:cNvPr id="6" name="TextBox 5"/>
          <p:cNvSpPr txBox="1"/>
          <p:nvPr/>
        </p:nvSpPr>
        <p:spPr>
          <a:xfrm>
            <a:off x="594360" y="1417320"/>
            <a:ext cx="10972800" cy="640080"/>
          </a:xfrm>
          <a:prstGeom prst="rect">
            <a:avLst/>
          </a:prstGeom>
          <a:noFill/>
        </p:spPr>
        <p:txBody>
          <a:bodyPr wrap="square" lIns="27432" rIns="27432" tIns="18288" bIns="18288" anchor="t">
            <a:spAutoFit/>
          </a:bodyPr>
          <a:lstStyle/>
          <a:p>
            <a:pPr algn="l"/>
            <a:r>
              <a:rPr sz="1100" b="0">
                <a:solidFill>
                  <a:srgbClr val="141414"/>
                </a:solidFill>
                <a:latin typeface="Noto Sans JP"/>
              </a:rPr>
              <a:t>津丸様から提供いただいたExcelシート「紹介企業」にもとづいて、以下のリストをDifyの中に登録している（4/10登録済み）。各企業に対する推薦理由テキストも登録済み。</a:t>
            </a:r>
          </a:p>
        </p:txBody>
      </p:sp>
      <p:graphicFrame>
        <p:nvGraphicFramePr>
          <p:cNvPr id="7" name="Table 6"/>
          <p:cNvGraphicFramePr>
            <a:graphicFrameLocks noGrp="1"/>
          </p:cNvGraphicFramePr>
          <p:nvPr/>
        </p:nvGraphicFramePr>
        <p:xfrm>
          <a:off x="594360" y="2103120"/>
          <a:ext cx="10972800" cy="4297680"/>
        </p:xfrm>
        <a:graphic>
          <a:graphicData uri="http://schemas.openxmlformats.org/drawingml/2006/table">
            <a:tbl>
              <a:tblPr firstRow="1" bandRow="1">
                <a:tableStyleId>{5C22544A-7EE6-4342-B048-85BDC9FD1C3A}</a:tableStyleId>
              </a:tblPr>
              <a:tblGrid>
                <a:gridCol w="2286000"/>
                <a:gridCol w="4343400"/>
                <a:gridCol w="4343400"/>
              </a:tblGrid>
              <a:tr h="537210">
                <a:tc>
                  <a:txBody>
                    <a:bodyPr wrap="square" lIns="45720" rIns="45720" tIns="36576" bIns="36576"/>
                    <a:lstStyle/>
                    <a:p>
                      <a:r>
                        <a:rPr sz="1000" b="1">
                          <a:solidFill>
                            <a:srgbClr val="000000"/>
                          </a:solidFill>
                          <a:latin typeface="Noto Sans JP"/>
                        </a:rPr>
                        <a:t>タイプ</a:t>
                      </a:r>
                    </a:p>
                  </a:txBody>
                  <a:tcPr marL="73152" marR="73152" marT="45720" marB="45720" anchor="t">
                    <a:solidFill>
                      <a:srgbClr val="EDE6D2"/>
                    </a:solidFill>
                  </a:tcPr>
                </a:tc>
                <a:tc>
                  <a:txBody>
                    <a:bodyPr wrap="square" lIns="45720" rIns="45720" tIns="36576" bIns="36576"/>
                    <a:lstStyle/>
                    <a:p>
                      <a:r>
                        <a:rPr sz="1000" b="1">
                          <a:solidFill>
                            <a:srgbClr val="000000"/>
                          </a:solidFill>
                          <a:latin typeface="Noto Sans JP"/>
                        </a:rPr>
                        <a:t>BtoB企業（Q50が3点以上のとき）</a:t>
                      </a:r>
                    </a:p>
                  </a:txBody>
                  <a:tcPr marL="73152" marR="73152" marT="45720" marB="45720" anchor="t">
                    <a:solidFill>
                      <a:srgbClr val="EDE6D2"/>
                    </a:solidFill>
                  </a:tcPr>
                </a:tc>
                <a:tc>
                  <a:txBody>
                    <a:bodyPr wrap="square" lIns="45720" rIns="45720" tIns="36576" bIns="36576"/>
                    <a:lstStyle/>
                    <a:p>
                      <a:r>
                        <a:rPr sz="1000" b="1">
                          <a:solidFill>
                            <a:srgbClr val="000000"/>
                          </a:solidFill>
                          <a:latin typeface="Noto Sans JP"/>
                        </a:rPr>
                        <a:t>BtoC企業（Q50が3点未満のとき）</a:t>
                      </a:r>
                    </a:p>
                  </a:txBody>
                  <a:tcPr marL="73152" marR="73152" marT="45720" marB="45720" anchor="t">
                    <a:solidFill>
                      <a:srgbClr val="EDE6D2"/>
                    </a:solidFill>
                  </a:tcPr>
                </a:tc>
              </a:tr>
              <a:tr h="537210">
                <a:tc>
                  <a:txBody>
                    <a:bodyPr wrap="square" lIns="45720" rIns="45720" tIns="36576" bIns="36576"/>
                    <a:lstStyle/>
                    <a:p>
                      <a:r>
                        <a:rPr sz="1000" b="1">
                          <a:solidFill>
                            <a:srgbClr val="000000"/>
                          </a:solidFill>
                          <a:latin typeface="Noto Sans JP"/>
                        </a:rPr>
                        <a:t>中西型</a:t>
                      </a:r>
                      <a:r>
                        <a:rPr sz="1000" b="0">
                          <a:solidFill>
                            <a:srgbClr val="000000"/>
                          </a:solidFill>
                          <a:latin typeface="Noto Sans JP"/>
                        </a:rPr>
                        <a:t>（Step 2,3で該当した場合）</a:t>
                      </a:r>
                    </a:p>
                  </a:txBody>
                  <a:tcPr marL="73152" marR="73152" marT="45720" marB="45720" anchor="t">
                    <a:solidFill>
                      <a:srgbClr val="FFFFFF"/>
                    </a:solidFill>
                  </a:tcPr>
                </a:tc>
                <a:tc>
                  <a:txBody>
                    <a:bodyPr wrap="square" lIns="45720" rIns="45720" tIns="36576" bIns="36576"/>
                    <a:lstStyle/>
                    <a:p>
                      <a:r>
                        <a:rPr sz="1000" b="0">
                          <a:solidFill>
                            <a:srgbClr val="000000"/>
                          </a:solidFill>
                          <a:latin typeface="Noto Sans JP"/>
                        </a:rPr>
                        <a:t>中西製作所, キーエンス, 平田機工, マクニカ, ダイフク</a:t>
                      </a:r>
                    </a:p>
                  </a:txBody>
                  <a:tcPr marL="73152" marR="73152" marT="45720" marB="45720" anchor="t">
                    <a:solidFill>
                      <a:srgbClr val="FFFFFF"/>
                    </a:solidFill>
                  </a:tcPr>
                </a:tc>
                <a:tc>
                  <a:txBody>
                    <a:bodyPr wrap="square" lIns="45720" rIns="45720" tIns="36576" bIns="36576"/>
                    <a:lstStyle/>
                    <a:p>
                      <a:r>
                        <a:rPr sz="1000" b="0">
                          <a:solidFill>
                            <a:srgbClr val="000000"/>
                          </a:solidFill>
                          <a:latin typeface="Noto Sans JP"/>
                        </a:rPr>
                        <a:t>※中西該当かつBtoC寄りの場合は中西を案内せず、Step 4で通常判定に回す</a:t>
                      </a:r>
                    </a:p>
                  </a:txBody>
                  <a:tcPr marL="73152" marR="73152" marT="45720" marB="45720" anchor="t">
                    <a:solidFill>
                      <a:srgbClr val="FFFFFF"/>
                    </a:solidFill>
                  </a:tcPr>
                </a:tc>
              </a:tr>
              <a:tr h="537210">
                <a:tc>
                  <a:txBody>
                    <a:bodyPr wrap="square" lIns="45720" rIns="45720" tIns="36576" bIns="36576"/>
                    <a:lstStyle/>
                    <a:p>
                      <a:r>
                        <a:rPr sz="1000" b="1">
                          <a:solidFill>
                            <a:srgbClr val="000000"/>
                          </a:solidFill>
                          <a:latin typeface="Noto Sans JP"/>
                        </a:rPr>
                        <a:t>R型</a:t>
                      </a:r>
                      <a:r>
                        <a:rPr sz="1000" b="0">
                          <a:solidFill>
                            <a:srgbClr val="000000"/>
                          </a:solidFill>
                          <a:latin typeface="Noto Sans JP"/>
                        </a:rPr>
                        <a:t>（現実型）</a:t>
                      </a:r>
                    </a:p>
                  </a:txBody>
                  <a:tcPr marL="73152" marR="73152" marT="45720" marB="45720" anchor="t">
                    <a:solidFill>
                      <a:srgbClr val="FFFFFF"/>
                    </a:solidFill>
                  </a:tcPr>
                </a:tc>
                <a:tc>
                  <a:txBody>
                    <a:bodyPr wrap="square" lIns="45720" rIns="45720" tIns="36576" bIns="36576"/>
                    <a:lstStyle/>
                    <a:p>
                      <a:r>
                        <a:rPr sz="1000" b="0">
                          <a:solidFill>
                            <a:srgbClr val="000000"/>
                          </a:solidFill>
                          <a:latin typeface="Noto Sans JP"/>
                        </a:rPr>
                        <a:t>三菱電機, 村田製作所, 安川電機, 栗田工業, THK</a:t>
                      </a:r>
                    </a:p>
                  </a:txBody>
                  <a:tcPr marL="73152" marR="73152" marT="45720" marB="45720" anchor="t">
                    <a:solidFill>
                      <a:srgbClr val="FFFFFF"/>
                    </a:solidFill>
                  </a:tcPr>
                </a:tc>
                <a:tc>
                  <a:txBody>
                    <a:bodyPr wrap="square" lIns="45720" rIns="45720" tIns="36576" bIns="36576"/>
                    <a:lstStyle/>
                    <a:p>
                      <a:r>
                        <a:rPr sz="1000" b="0">
                          <a:solidFill>
                            <a:srgbClr val="000000"/>
                          </a:solidFill>
                          <a:latin typeface="Noto Sans JP"/>
                        </a:rPr>
                        <a:t>トヨタ, 任天堂, スノーピーク, ヤマハ, マキタ</a:t>
                      </a:r>
                    </a:p>
                  </a:txBody>
                  <a:tcPr marL="73152" marR="73152" marT="45720" marB="45720" anchor="t">
                    <a:solidFill>
                      <a:srgbClr val="FFFFFF"/>
                    </a:solidFill>
                  </a:tcPr>
                </a:tc>
              </a:tr>
              <a:tr h="537210">
                <a:tc>
                  <a:txBody>
                    <a:bodyPr wrap="square" lIns="45720" rIns="45720" tIns="36576" bIns="36576"/>
                    <a:lstStyle/>
                    <a:p>
                      <a:r>
                        <a:rPr sz="1000" b="1">
                          <a:solidFill>
                            <a:srgbClr val="000000"/>
                          </a:solidFill>
                          <a:latin typeface="Noto Sans JP"/>
                        </a:rPr>
                        <a:t>I型</a:t>
                      </a:r>
                      <a:r>
                        <a:rPr sz="1000" b="0">
                          <a:solidFill>
                            <a:srgbClr val="000000"/>
                          </a:solidFill>
                          <a:latin typeface="Noto Sans JP"/>
                        </a:rPr>
                        <a:t>（研究型）</a:t>
                      </a:r>
                    </a:p>
                  </a:txBody>
                  <a:tcPr marL="73152" marR="73152" marT="45720" marB="45720" anchor="t">
                    <a:solidFill>
                      <a:srgbClr val="FFFFFF"/>
                    </a:solidFill>
                  </a:tcPr>
                </a:tc>
                <a:tc>
                  <a:txBody>
                    <a:bodyPr wrap="square" lIns="45720" rIns="45720" tIns="36576" bIns="36576"/>
                    <a:lstStyle/>
                    <a:p>
                      <a:r>
                        <a:rPr sz="1000" b="0">
                          <a:solidFill>
                            <a:srgbClr val="000000"/>
                          </a:solidFill>
                          <a:latin typeface="Noto Sans JP"/>
                        </a:rPr>
                        <a:t>野村総研, 島津製作所, 中外製薬, オムロン, ユーザーベース</a:t>
                      </a:r>
                    </a:p>
                  </a:txBody>
                  <a:tcPr marL="73152" marR="73152" marT="45720" marB="45720" anchor="t">
                    <a:solidFill>
                      <a:srgbClr val="FFFFFF"/>
                    </a:solidFill>
                  </a:tcPr>
                </a:tc>
                <a:tc>
                  <a:txBody>
                    <a:bodyPr wrap="square" lIns="45720" rIns="45720" tIns="36576" bIns="36576"/>
                    <a:lstStyle/>
                    <a:p>
                      <a:r>
                        <a:rPr sz="1000" b="0">
                          <a:solidFill>
                            <a:srgbClr val="000000"/>
                          </a:solidFill>
                          <a:latin typeface="Noto Sans JP"/>
                        </a:rPr>
                        <a:t>Google, 武田薬品, コーセー, エーザイ, メルカリ</a:t>
                      </a:r>
                    </a:p>
                  </a:txBody>
                  <a:tcPr marL="73152" marR="73152" marT="45720" marB="45720" anchor="t">
                    <a:solidFill>
                      <a:srgbClr val="FFFFFF"/>
                    </a:solidFill>
                  </a:tcPr>
                </a:tc>
              </a:tr>
              <a:tr h="537210">
                <a:tc>
                  <a:txBody>
                    <a:bodyPr wrap="square" lIns="45720" rIns="45720" tIns="36576" bIns="36576"/>
                    <a:lstStyle/>
                    <a:p>
                      <a:r>
                        <a:rPr sz="1000" b="1">
                          <a:solidFill>
                            <a:srgbClr val="000000"/>
                          </a:solidFill>
                          <a:latin typeface="Noto Sans JP"/>
                        </a:rPr>
                        <a:t>A型</a:t>
                      </a:r>
                      <a:r>
                        <a:rPr sz="1000" b="0">
                          <a:solidFill>
                            <a:srgbClr val="000000"/>
                          </a:solidFill>
                          <a:latin typeface="Noto Sans JP"/>
                        </a:rPr>
                        <a:t>（芸術型）</a:t>
                      </a:r>
                    </a:p>
                  </a:txBody>
                  <a:tcPr marL="73152" marR="73152" marT="45720" marB="45720" anchor="t">
                    <a:solidFill>
                      <a:srgbClr val="FFFFFF"/>
                    </a:solidFill>
                  </a:tcPr>
                </a:tc>
                <a:tc>
                  <a:txBody>
                    <a:bodyPr wrap="square" lIns="45720" rIns="45720" tIns="36576" bIns="36576"/>
                    <a:lstStyle/>
                    <a:p>
                      <a:r>
                        <a:rPr sz="1000" b="0">
                          <a:solidFill>
                            <a:srgbClr val="000000"/>
                          </a:solidFill>
                          <a:latin typeface="Noto Sans JP"/>
                        </a:rPr>
                        <a:t>電通, 博報堂, チームラボ, Sansan, 乃村工藝社</a:t>
                      </a:r>
                    </a:p>
                  </a:txBody>
                  <a:tcPr marL="73152" marR="73152" marT="45720" marB="45720" anchor="t">
                    <a:solidFill>
                      <a:srgbClr val="FFFFFF"/>
                    </a:solidFill>
                  </a:tcPr>
                </a:tc>
                <a:tc>
                  <a:txBody>
                    <a:bodyPr wrap="square" lIns="45720" rIns="45720" tIns="36576" bIns="36576"/>
                    <a:lstStyle/>
                    <a:p>
                      <a:r>
                        <a:rPr sz="1000" b="0">
                          <a:solidFill>
                            <a:srgbClr val="000000"/>
                          </a:solidFill>
                          <a:latin typeface="Noto Sans JP"/>
                        </a:rPr>
                        <a:t>サンリオ, オリエンタルランド, 資生堂, 集英社, 無印良品</a:t>
                      </a:r>
                    </a:p>
                  </a:txBody>
                  <a:tcPr marL="73152" marR="73152" marT="45720" marB="45720" anchor="t">
                    <a:solidFill>
                      <a:srgbClr val="FFFFFF"/>
                    </a:solidFill>
                  </a:tcPr>
                </a:tc>
              </a:tr>
              <a:tr h="537210">
                <a:tc>
                  <a:txBody>
                    <a:bodyPr wrap="square" lIns="45720" rIns="45720" tIns="36576" bIns="36576"/>
                    <a:lstStyle/>
                    <a:p>
                      <a:r>
                        <a:rPr sz="1000" b="1">
                          <a:solidFill>
                            <a:srgbClr val="000000"/>
                          </a:solidFill>
                          <a:latin typeface="Noto Sans JP"/>
                        </a:rPr>
                        <a:t>S型</a:t>
                      </a:r>
                      <a:r>
                        <a:rPr sz="1000" b="0">
                          <a:solidFill>
                            <a:srgbClr val="000000"/>
                          </a:solidFill>
                          <a:latin typeface="Noto Sans JP"/>
                        </a:rPr>
                        <a:t>（社会型）</a:t>
                      </a:r>
                    </a:p>
                  </a:txBody>
                  <a:tcPr marL="73152" marR="73152" marT="45720" marB="45720" anchor="t">
                    <a:solidFill>
                      <a:srgbClr val="FFFFFF"/>
                    </a:solidFill>
                  </a:tcPr>
                </a:tc>
                <a:tc>
                  <a:txBody>
                    <a:bodyPr wrap="square" lIns="45720" rIns="45720" tIns="36576" bIns="36576"/>
                    <a:lstStyle/>
                    <a:p>
                      <a:r>
                        <a:rPr sz="1000" b="0">
                          <a:solidFill>
                            <a:srgbClr val="000000"/>
                          </a:solidFill>
                          <a:latin typeface="Noto Sans JP"/>
                        </a:rPr>
                        <a:t>ベネッセ, リクルートマネジメント, パソナ, ワークスアプリ, LITALICO</a:t>
                      </a:r>
                    </a:p>
                  </a:txBody>
                  <a:tcPr marL="73152" marR="73152" marT="45720" marB="45720" anchor="t">
                    <a:solidFill>
                      <a:srgbClr val="FFFFFF"/>
                    </a:solidFill>
                  </a:tcPr>
                </a:tc>
                <a:tc>
                  <a:txBody>
                    <a:bodyPr wrap="square" lIns="45720" rIns="45720" tIns="36576" bIns="36576"/>
                    <a:lstStyle/>
                    <a:p>
                      <a:r>
                        <a:rPr sz="1000" b="0">
                          <a:solidFill>
                            <a:srgbClr val="000000"/>
                          </a:solidFill>
                          <a:latin typeface="Noto Sans JP"/>
                        </a:rPr>
                        <a:t>日本赤十字, 損保ジャパン, 星野リゾート, Zoff, クラシコム</a:t>
                      </a:r>
                    </a:p>
                  </a:txBody>
                  <a:tcPr marL="73152" marR="73152" marT="45720" marB="45720" anchor="t">
                    <a:solidFill>
                      <a:srgbClr val="FFFFFF"/>
                    </a:solidFill>
                  </a:tcPr>
                </a:tc>
              </a:tr>
              <a:tr h="537210">
                <a:tc>
                  <a:txBody>
                    <a:bodyPr wrap="square" lIns="45720" rIns="45720" tIns="36576" bIns="36576"/>
                    <a:lstStyle/>
                    <a:p>
                      <a:r>
                        <a:rPr sz="1000" b="1">
                          <a:solidFill>
                            <a:srgbClr val="000000"/>
                          </a:solidFill>
                          <a:latin typeface="Noto Sans JP"/>
                        </a:rPr>
                        <a:t>E型</a:t>
                      </a:r>
                      <a:r>
                        <a:rPr sz="1000" b="0">
                          <a:solidFill>
                            <a:srgbClr val="000000"/>
                          </a:solidFill>
                          <a:latin typeface="Noto Sans JP"/>
                        </a:rPr>
                        <a:t>（企業型）</a:t>
                      </a:r>
                    </a:p>
                  </a:txBody>
                  <a:tcPr marL="73152" marR="73152" marT="45720" marB="45720" anchor="t">
                    <a:solidFill>
                      <a:srgbClr val="FFFFFF"/>
                    </a:solidFill>
                  </a:tcPr>
                </a:tc>
                <a:tc>
                  <a:txBody>
                    <a:bodyPr wrap="square" lIns="45720" rIns="45720" tIns="36576" bIns="36576"/>
                    <a:lstStyle/>
                    <a:p>
                      <a:r>
                        <a:rPr sz="1000" b="0">
                          <a:solidFill>
                            <a:srgbClr val="000000"/>
                          </a:solidFill>
                          <a:latin typeface="Noto Sans JP"/>
                        </a:rPr>
                        <a:t>三菱商事, 伊藤忠, 光通信, サイバーエージェント, レバレジーズ</a:t>
                      </a:r>
                    </a:p>
                  </a:txBody>
                  <a:tcPr marL="73152" marR="73152" marT="45720" marB="45720" anchor="t">
                    <a:solidFill>
                      <a:srgbClr val="FFFFFF"/>
                    </a:solidFill>
                  </a:tcPr>
                </a:tc>
                <a:tc>
                  <a:txBody>
                    <a:bodyPr wrap="square" lIns="45720" rIns="45720" tIns="36576" bIns="36576"/>
                    <a:lstStyle/>
                    <a:p>
                      <a:r>
                        <a:rPr sz="1000" b="0">
                          <a:solidFill>
                            <a:srgbClr val="000000"/>
                          </a:solidFill>
                          <a:latin typeface="Noto Sans JP"/>
                        </a:rPr>
                        <a:t>ソフトバンク, 楽天, ファーストリテイリング, ZOZO</a:t>
                      </a:r>
                    </a:p>
                  </a:txBody>
                  <a:tcPr marL="73152" marR="73152" marT="45720" marB="45720" anchor="t">
                    <a:solidFill>
                      <a:srgbClr val="FFFFFF"/>
                    </a:solidFill>
                  </a:tcPr>
                </a:tc>
              </a:tr>
              <a:tr h="537210">
                <a:tc>
                  <a:txBody>
                    <a:bodyPr wrap="square" lIns="45720" rIns="45720" tIns="36576" bIns="36576"/>
                    <a:lstStyle/>
                    <a:p>
                      <a:r>
                        <a:rPr sz="1000" b="1">
                          <a:solidFill>
                            <a:srgbClr val="000000"/>
                          </a:solidFill>
                          <a:latin typeface="Noto Sans JP"/>
                        </a:rPr>
                        <a:t>C型</a:t>
                      </a:r>
                      <a:r>
                        <a:rPr sz="1000" b="0">
                          <a:solidFill>
                            <a:srgbClr val="000000"/>
                          </a:solidFill>
                          <a:latin typeface="Noto Sans JP"/>
                        </a:rPr>
                        <a:t>（慣習型）</a:t>
                      </a:r>
                    </a:p>
                  </a:txBody>
                  <a:tcPr marL="73152" marR="73152" marT="45720" marB="45720" anchor="t">
                    <a:solidFill>
                      <a:srgbClr val="FFFFFF"/>
                    </a:solidFill>
                  </a:tcPr>
                </a:tc>
                <a:tc>
                  <a:txBody>
                    <a:bodyPr wrap="square" lIns="45720" rIns="45720" tIns="36576" bIns="36576"/>
                    <a:lstStyle/>
                    <a:p>
                      <a:r>
                        <a:rPr sz="1000" b="0">
                          <a:solidFill>
                            <a:srgbClr val="000000"/>
                          </a:solidFill>
                          <a:latin typeface="Noto Sans JP"/>
                        </a:rPr>
                        <a:t>日本生命, 東京海上, 三菱UFJ, 富士通, オービック</a:t>
                      </a:r>
                    </a:p>
                  </a:txBody>
                  <a:tcPr marL="73152" marR="73152" marT="45720" marB="45720" anchor="t">
                    <a:solidFill>
                      <a:srgbClr val="FFFFFF"/>
                    </a:solidFill>
                  </a:tcPr>
                </a:tc>
                <a:tc>
                  <a:txBody>
                    <a:bodyPr wrap="square" lIns="45720" rIns="45720" tIns="36576" bIns="36576"/>
                    <a:lstStyle/>
                    <a:p>
                      <a:r>
                        <a:rPr sz="1000" b="0">
                          <a:solidFill>
                            <a:srgbClr val="000000"/>
                          </a:solidFill>
                          <a:latin typeface="Noto Sans JP"/>
                        </a:rPr>
                        <a:t>JR東日本, ANA, 日本郵便, 公務員, ゆうちょ銀行</a:t>
                      </a:r>
                    </a:p>
                  </a:txBody>
                  <a:tcPr marL="73152" marR="73152" marT="45720" marB="45720" anchor="t">
                    <a:solidFill>
                      <a:srgbClr val="FFFFFF"/>
                    </a:solidFill>
                  </a:tcPr>
                </a:tc>
              </a:tr>
            </a:tbl>
          </a:graphicData>
        </a:graphic>
      </p:graphicFrame>
      <p:sp>
        <p:nvSpPr>
          <p:cNvPr id="8" name="TextBox 7"/>
          <p:cNvSpPr txBox="1"/>
          <p:nvPr/>
        </p:nvSpPr>
        <p:spPr>
          <a:xfrm>
            <a:off x="457200" y="6492240"/>
            <a:ext cx="3657600" cy="274320"/>
          </a:xfrm>
          <a:prstGeom prst="rect">
            <a:avLst/>
          </a:prstGeom>
          <a:noFill/>
        </p:spPr>
        <p:txBody>
          <a:bodyPr wrap="none" lIns="0" tIns="0">
            <a:spAutoFit/>
          </a:bodyPr>
          <a:lstStyle/>
          <a:p>
            <a:r>
              <a:rPr sz="1000" b="1">
                <a:solidFill>
                  <a:srgbClr val="3A3A3A"/>
                </a:solidFill>
                <a:latin typeface="Noto Sans JP"/>
              </a:rPr>
              <a:t>TOMOSHIKA</a:t>
            </a:r>
          </a:p>
        </p:txBody>
      </p:sp>
      <p:sp>
        <p:nvSpPr>
          <p:cNvPr id="9" name="TextBox 8"/>
          <p:cNvSpPr txBox="1"/>
          <p:nvPr/>
        </p:nvSpPr>
        <p:spPr>
          <a:xfrm>
            <a:off x="10972800" y="6492240"/>
            <a:ext cx="914400" cy="274320"/>
          </a:xfrm>
          <a:prstGeom prst="rect">
            <a:avLst/>
          </a:prstGeom>
          <a:noFill/>
        </p:spPr>
        <p:txBody>
          <a:bodyPr wrap="none" lIns="0" tIns="0">
            <a:spAutoFit/>
          </a:bodyPr>
          <a:lstStyle/>
          <a:p>
            <a:pPr algn="r"/>
            <a:r>
              <a:rPr sz="1000" b="1">
                <a:solidFill>
                  <a:srgbClr val="3A3A3A"/>
                </a:solidFill>
                <a:latin typeface="Noto Sans JP"/>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502920"/>
            <a:ext cx="109728" cy="109728"/>
          </a:xfrm>
          <a:prstGeom prst="rect">
            <a:avLst/>
          </a:prstGeom>
          <a:solidFill>
            <a:srgbClr val="B9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9144000" cy="320040"/>
          </a:xfrm>
          <a:prstGeom prst="rect">
            <a:avLst/>
          </a:prstGeom>
          <a:noFill/>
        </p:spPr>
        <p:txBody>
          <a:bodyPr wrap="none" lIns="0" tIns="0">
            <a:spAutoFit/>
          </a:bodyPr>
          <a:lstStyle/>
          <a:p>
            <a:r>
              <a:rPr sz="1400" b="1">
                <a:solidFill>
                  <a:srgbClr val="141414"/>
                </a:solidFill>
                <a:latin typeface="Noto Sans JP"/>
              </a:rPr>
              <a:t>PHASE 03 / まとめ</a:t>
            </a:r>
          </a:p>
        </p:txBody>
      </p:sp>
      <p:sp>
        <p:nvSpPr>
          <p:cNvPr id="5" name="TextBox 4"/>
          <p:cNvSpPr txBox="1"/>
          <p:nvPr/>
        </p:nvSpPr>
        <p:spPr>
          <a:xfrm>
            <a:off x="594360" y="868680"/>
            <a:ext cx="10972800" cy="731520"/>
          </a:xfrm>
          <a:prstGeom prst="rect">
            <a:avLst/>
          </a:prstGeom>
          <a:noFill/>
        </p:spPr>
        <p:txBody>
          <a:bodyPr wrap="square" lIns="27432" rIns="27432" tIns="18288" bIns="18288" anchor="t">
            <a:spAutoFit/>
          </a:bodyPr>
          <a:lstStyle/>
          <a:p>
            <a:pPr algn="l"/>
            <a:r>
              <a:rPr sz="2200" b="1">
                <a:solidFill>
                  <a:srgbClr val="000000"/>
                </a:solidFill>
                <a:latin typeface="Noto Sans JP"/>
              </a:rPr>
              <a:t>判定結果と企業リストの組み合わせまとめ</a:t>
            </a:r>
          </a:p>
        </p:txBody>
      </p:sp>
      <p:graphicFrame>
        <p:nvGraphicFramePr>
          <p:cNvPr id="6" name="Table 5"/>
          <p:cNvGraphicFramePr>
            <a:graphicFrameLocks noGrp="1"/>
          </p:cNvGraphicFramePr>
          <p:nvPr/>
        </p:nvGraphicFramePr>
        <p:xfrm>
          <a:off x="594360" y="1737360"/>
          <a:ext cx="10972800" cy="1828800"/>
        </p:xfrm>
        <a:graphic>
          <a:graphicData uri="http://schemas.openxmlformats.org/drawingml/2006/table">
            <a:tbl>
              <a:tblPr firstRow="1" bandRow="1">
                <a:tableStyleId>{5C22544A-7EE6-4342-B048-85BDC9FD1C3A}</a:tableStyleId>
              </a:tblPr>
              <a:tblGrid>
                <a:gridCol w="3200400"/>
                <a:gridCol w="4114800"/>
                <a:gridCol w="3657600"/>
              </a:tblGrid>
              <a:tr h="365760">
                <a:tc>
                  <a:txBody>
                    <a:bodyPr wrap="square" lIns="45720" rIns="45720" tIns="36576" bIns="36576"/>
                    <a:lstStyle/>
                    <a:p>
                      <a:r>
                        <a:rPr sz="1100" b="1">
                          <a:solidFill>
                            <a:srgbClr val="000000"/>
                          </a:solidFill>
                          <a:latin typeface="Noto Sans JP"/>
                        </a:rPr>
                        <a:t>判定結果</a:t>
                      </a:r>
                    </a:p>
                  </a:txBody>
                  <a:tcPr marL="73152" marR="73152" marT="45720" marB="45720" anchor="t">
                    <a:solidFill>
                      <a:srgbClr val="EDE6D2"/>
                    </a:solidFill>
                  </a:tcPr>
                </a:tc>
                <a:tc>
                  <a:txBody>
                    <a:bodyPr wrap="square" lIns="45720" rIns="45720" tIns="36576" bIns="36576"/>
                    <a:lstStyle/>
                    <a:p>
                      <a:r>
                        <a:rPr sz="1100" b="1">
                          <a:solidFill>
                            <a:srgbClr val="000000"/>
                          </a:solidFill>
                          <a:latin typeface="Noto Sans JP"/>
                        </a:rPr>
                        <a:t>企業リストのどこを使うか</a:t>
                      </a:r>
                    </a:p>
                  </a:txBody>
                  <a:tcPr marL="73152" marR="73152" marT="45720" marB="45720" anchor="t">
                    <a:solidFill>
                      <a:srgbClr val="EDE6D2"/>
                    </a:solidFill>
                  </a:tcPr>
                </a:tc>
                <a:tc>
                  <a:txBody>
                    <a:bodyPr wrap="square" lIns="45720" rIns="45720" tIns="36576" bIns="36576"/>
                    <a:lstStyle/>
                    <a:p>
                      <a:r>
                        <a:rPr sz="1100" b="1">
                          <a:solidFill>
                            <a:srgbClr val="000000"/>
                          </a:solidFill>
                          <a:latin typeface="Noto Sans JP"/>
                        </a:rPr>
                        <a:t>出力例</a:t>
                      </a:r>
                    </a:p>
                  </a:txBody>
                  <a:tcPr marL="73152" marR="73152" marT="45720" marB="45720" anchor="t">
                    <a:solidFill>
                      <a:srgbClr val="EDE6D2"/>
                    </a:solidFill>
                  </a:tcPr>
                </a:tc>
              </a:tr>
              <a:tr h="365760">
                <a:tc>
                  <a:txBody>
                    <a:bodyPr wrap="square" lIns="45720" rIns="45720" tIns="36576" bIns="36576"/>
                    <a:lstStyle/>
                    <a:p>
                      <a:r>
                        <a:rPr sz="1100" b="0">
                          <a:solidFill>
                            <a:srgbClr val="000000"/>
                          </a:solidFill>
                          <a:latin typeface="Noto Sans JP"/>
                        </a:rPr>
                        <a:t>Step 2 or 3 で</a:t>
                      </a:r>
                      <a:r>
                        <a:rPr sz="1100" b="1">
                          <a:solidFill>
                            <a:srgbClr val="000000"/>
                          </a:solidFill>
                          <a:latin typeface="Noto Sans JP"/>
                        </a:rPr>
                        <a:t>中西該当</a:t>
                      </a:r>
                      <a:r>
                        <a:rPr sz="1100" b="0">
                          <a:solidFill>
                            <a:srgbClr val="000000"/>
                          </a:solidFill>
                          <a:latin typeface="Noto Sans JP"/>
                        </a:rPr>
                        <a:t>（Q50≧3のみ）</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「中西型 × BtoB」の行を使う</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中西製作所, キーエンス, 平田機工…</a:t>
                      </a:r>
                    </a:p>
                  </a:txBody>
                  <a:tcPr marL="73152" marR="73152" marT="45720" marB="45720" anchor="t">
                    <a:solidFill>
                      <a:srgbClr val="FFFFFF"/>
                    </a:solidFill>
                  </a:tcPr>
                </a:tc>
              </a:tr>
              <a:tr h="365760">
                <a:tc>
                  <a:txBody>
                    <a:bodyPr wrap="square" lIns="45720" rIns="45720" tIns="36576" bIns="36576"/>
                    <a:lstStyle/>
                    <a:p>
                      <a:r>
                        <a:rPr sz="1100" b="0">
                          <a:solidFill>
                            <a:srgbClr val="000000"/>
                          </a:solidFill>
                          <a:latin typeface="Noto Sans JP"/>
                        </a:rPr>
                        <a:t>Step 4 の</a:t>
                      </a:r>
                      <a:r>
                        <a:rPr sz="1100" b="1">
                          <a:solidFill>
                            <a:srgbClr val="000000"/>
                          </a:solidFill>
                          <a:latin typeface="Noto Sans JP"/>
                        </a:rPr>
                        <a:t>メイン推薦</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1位タイプの行。Q50でBtoB/BtoC切替</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1位がE型 × BtoB → 三菱商事, 伊藤忠…</a:t>
                      </a:r>
                    </a:p>
                  </a:txBody>
                  <a:tcPr marL="73152" marR="73152" marT="45720" marB="45720" anchor="t">
                    <a:solidFill>
                      <a:srgbClr val="FFFFFF"/>
                    </a:solidFill>
                  </a:tcPr>
                </a:tc>
              </a:tr>
              <a:tr h="365760">
                <a:tc>
                  <a:txBody>
                    <a:bodyPr wrap="square" lIns="45720" rIns="45720" tIns="36576" bIns="36576"/>
                    <a:lstStyle/>
                    <a:p>
                      <a:r>
                        <a:rPr sz="1100" b="0">
                          <a:solidFill>
                            <a:srgbClr val="000000"/>
                          </a:solidFill>
                          <a:latin typeface="Noto Sans JP"/>
                        </a:rPr>
                        <a:t>Step 4 の</a:t>
                      </a:r>
                      <a:r>
                        <a:rPr sz="1100" b="1">
                          <a:solidFill>
                            <a:srgbClr val="000000"/>
                          </a:solidFill>
                          <a:latin typeface="Noto Sans JP"/>
                        </a:rPr>
                        <a:t>補足推薦</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2位タイプの行。Q50でBtoB/BtoC切替</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2位がA型 × BtoB → 電通, 博報堂…</a:t>
                      </a:r>
                    </a:p>
                  </a:txBody>
                  <a:tcPr marL="73152" marR="73152" marT="45720" marB="45720" anchor="t">
                    <a:solidFill>
                      <a:srgbClr val="FFFFFF"/>
                    </a:solidFill>
                  </a:tcPr>
                </a:tc>
              </a:tr>
              <a:tr h="365760">
                <a:tc>
                  <a:txBody>
                    <a:bodyPr wrap="square" lIns="45720" rIns="45720" tIns="36576" bIns="36576"/>
                    <a:lstStyle/>
                    <a:p>
                      <a:r>
                        <a:rPr sz="1100" b="0">
                          <a:solidFill>
                            <a:srgbClr val="000000"/>
                          </a:solidFill>
                          <a:latin typeface="Noto Sans JP"/>
                        </a:rPr>
                        <a:t>Step 1 で</a:t>
                      </a:r>
                      <a:r>
                        <a:rPr sz="1100" b="1">
                          <a:solidFill>
                            <a:srgbClr val="000000"/>
                          </a:solidFill>
                          <a:latin typeface="Noto Sans JP"/>
                        </a:rPr>
                        <a:t>未分化</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企業リストは使わない</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トモキャリ誘導（企業推薦なし）</a:t>
                      </a:r>
                    </a:p>
                  </a:txBody>
                  <a:tcPr marL="73152" marR="73152" marT="45720" marB="45720" anchor="t">
                    <a:solidFill>
                      <a:srgbClr val="FFFFFF"/>
                    </a:solidFill>
                  </a:tcPr>
                </a:tc>
              </a:tr>
            </a:tbl>
          </a:graphicData>
        </a:graphic>
      </p:graphicFrame>
      <p:sp>
        <p:nvSpPr>
          <p:cNvPr id="7" name="Rounded Rectangle 6"/>
          <p:cNvSpPr/>
          <p:nvPr/>
        </p:nvSpPr>
        <p:spPr>
          <a:xfrm>
            <a:off x="594360" y="3749039"/>
            <a:ext cx="10972800" cy="1737360"/>
          </a:xfrm>
          <a:prstGeom prst="roundRect">
            <a:avLst>
              <a:gd name="adj" fmla="val 4000"/>
            </a:avLst>
          </a:prstGeom>
          <a:solidFill>
            <a:srgbClr val="E8EEF8"/>
          </a:solidFill>
          <a:ln w="9525">
            <a:solidFill>
              <a:srgbClr val="1C4D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3749039"/>
            <a:ext cx="73152" cy="1737360"/>
          </a:xfrm>
          <a:prstGeom prst="rect">
            <a:avLst/>
          </a:prstGeom>
          <a:solidFill>
            <a:srgbClr val="1C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840480"/>
            <a:ext cx="10515600" cy="365760"/>
          </a:xfrm>
          <a:prstGeom prst="rect">
            <a:avLst/>
          </a:prstGeom>
          <a:noFill/>
        </p:spPr>
        <p:txBody>
          <a:bodyPr wrap="square" lIns="27432" rIns="27432" tIns="18288" bIns="18288" anchor="t">
            <a:spAutoFit/>
          </a:bodyPr>
          <a:lstStyle/>
          <a:p>
            <a:pPr algn="l"/>
            <a:r>
              <a:rPr sz="1400" b="1">
                <a:solidFill>
                  <a:srgbClr val="000000"/>
                </a:solidFill>
                <a:latin typeface="Noto Sans JP"/>
              </a:rPr>
              <a:t>ℹ️ 現在の設計</a:t>
            </a:r>
          </a:p>
        </p:txBody>
      </p:sp>
      <p:sp>
        <p:nvSpPr>
          <p:cNvPr id="10" name="Oval 9"/>
          <p:cNvSpPr/>
          <p:nvPr/>
        </p:nvSpPr>
        <p:spPr>
          <a:xfrm>
            <a:off x="914400" y="4361688"/>
            <a:ext cx="64008" cy="64008"/>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251960"/>
            <a:ext cx="10241280" cy="640080"/>
          </a:xfrm>
          <a:prstGeom prst="rect">
            <a:avLst/>
          </a:prstGeom>
          <a:noFill/>
        </p:spPr>
        <p:txBody>
          <a:bodyPr wrap="square" lIns="27432" rIns="27432" tIns="18288" bIns="18288" anchor="t">
            <a:spAutoFit/>
          </a:bodyPr>
          <a:lstStyle/>
          <a:p>
            <a:pPr algn="l">
              <a:lnSpc>
                <a:spcPct val="130000"/>
              </a:lnSpc>
            </a:pPr>
            <a:r>
              <a:rPr sz="1100" b="1">
                <a:solidFill>
                  <a:srgbClr val="000000"/>
                </a:solidFill>
                <a:latin typeface="Noto Sans JP"/>
              </a:rPr>
              <a:t>企業リスト</a:t>
            </a:r>
            <a:r>
              <a:rPr sz="1100" b="0">
                <a:solidFill>
                  <a:srgbClr val="000000"/>
                </a:solidFill>
                <a:latin typeface="Noto Sans JP"/>
              </a:rPr>
              <a:t>: 4/10に津丸様提供のExcelに基づいて登録済み。推薦理由テキストも全タイプ分登録済み</a:t>
            </a:r>
          </a:p>
        </p:txBody>
      </p:sp>
      <p:sp>
        <p:nvSpPr>
          <p:cNvPr id="12" name="Oval 11"/>
          <p:cNvSpPr/>
          <p:nvPr/>
        </p:nvSpPr>
        <p:spPr>
          <a:xfrm>
            <a:off x="914400" y="4956048"/>
            <a:ext cx="64008" cy="64008"/>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846320"/>
            <a:ext cx="10241280" cy="640080"/>
          </a:xfrm>
          <a:prstGeom prst="rect">
            <a:avLst/>
          </a:prstGeom>
          <a:noFill/>
        </p:spPr>
        <p:txBody>
          <a:bodyPr wrap="square" lIns="27432" rIns="27432" tIns="18288" bIns="18288" anchor="t">
            <a:spAutoFit/>
          </a:bodyPr>
          <a:lstStyle/>
          <a:p>
            <a:pPr algn="l">
              <a:lnSpc>
                <a:spcPct val="130000"/>
              </a:lnSpc>
            </a:pPr>
            <a:r>
              <a:rPr sz="1100" b="1">
                <a:solidFill>
                  <a:srgbClr val="000000"/>
                </a:solidFill>
                <a:latin typeface="Noto Sans JP"/>
              </a:rPr>
              <a:t>推薦理由テキストの作成</a:t>
            </a:r>
            <a:r>
              <a:rPr sz="1100" b="0">
                <a:solidFill>
                  <a:srgbClr val="000000"/>
                </a:solidFill>
                <a:latin typeface="Noto Sans JP"/>
              </a:rPr>
              <a:t>: エヌイチ側でExcelの内容をもとに作成・登録した。中西製作所様側での最終チェックはまだ</a:t>
            </a:r>
          </a:p>
        </p:txBody>
      </p:sp>
      <p:sp>
        <p:nvSpPr>
          <p:cNvPr id="14" name="Rounded Rectangle 13"/>
          <p:cNvSpPr/>
          <p:nvPr/>
        </p:nvSpPr>
        <p:spPr>
          <a:xfrm>
            <a:off x="594360" y="5623560"/>
            <a:ext cx="5349240" cy="731520"/>
          </a:xfrm>
          <a:prstGeom prst="roundRect">
            <a:avLst>
              <a:gd name="adj" fmla="val 4000"/>
            </a:avLst>
          </a:prstGeom>
          <a:solidFill>
            <a:srgbClr val="FFF3D6"/>
          </a:solidFill>
          <a:ln w="9525">
            <a:solidFill>
              <a:srgbClr val="B46A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715000"/>
            <a:ext cx="5029200" cy="548640"/>
          </a:xfrm>
          <a:prstGeom prst="rect">
            <a:avLst/>
          </a:prstGeom>
          <a:noFill/>
        </p:spPr>
        <p:txBody>
          <a:bodyPr wrap="square" lIns="27432" rIns="27432" tIns="18288" bIns="18288" anchor="t">
            <a:spAutoFit/>
          </a:bodyPr>
          <a:lstStyle/>
          <a:p>
            <a:pPr algn="l"/>
            <a:r>
              <a:rPr sz="1200" b="1">
                <a:solidFill>
                  <a:srgbClr val="6B3A00"/>
                </a:solidFill>
                <a:latin typeface="Noto Sans JP"/>
              </a:rPr>
              <a:t>→ 確認</a:t>
            </a:r>
          </a:p>
          <a:p>
            <a:pPr algn="l"/>
            <a:r>
              <a:rPr sz="1100" b="0">
                <a:solidFill>
                  <a:srgbClr val="141414"/>
                </a:solidFill>
                <a:latin typeface="Noto Sans JP"/>
              </a:rPr>
              <a:t>企業リストの内容に変更・追加がないか</a:t>
            </a:r>
          </a:p>
        </p:txBody>
      </p:sp>
      <p:sp>
        <p:nvSpPr>
          <p:cNvPr id="16" name="Rounded Rectangle 15"/>
          <p:cNvSpPr/>
          <p:nvPr/>
        </p:nvSpPr>
        <p:spPr>
          <a:xfrm>
            <a:off x="6217920" y="5623560"/>
            <a:ext cx="5349240" cy="731520"/>
          </a:xfrm>
          <a:prstGeom prst="roundRect">
            <a:avLst>
              <a:gd name="adj" fmla="val 4000"/>
            </a:avLst>
          </a:prstGeom>
          <a:solidFill>
            <a:srgbClr val="FFF3D6"/>
          </a:solidFill>
          <a:ln w="9525">
            <a:solidFill>
              <a:srgbClr val="B46A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5715000"/>
            <a:ext cx="5029200" cy="548640"/>
          </a:xfrm>
          <a:prstGeom prst="rect">
            <a:avLst/>
          </a:prstGeom>
          <a:noFill/>
        </p:spPr>
        <p:txBody>
          <a:bodyPr wrap="square" lIns="27432" rIns="27432" tIns="18288" bIns="18288" anchor="t">
            <a:spAutoFit/>
          </a:bodyPr>
          <a:lstStyle/>
          <a:p>
            <a:pPr algn="l"/>
            <a:r>
              <a:rPr sz="1200" b="1">
                <a:solidFill>
                  <a:srgbClr val="6B3A00"/>
                </a:solidFill>
                <a:latin typeface="Noto Sans JP"/>
              </a:rPr>
              <a:t>→ 相談</a:t>
            </a:r>
          </a:p>
          <a:p>
            <a:pPr algn="l"/>
            <a:r>
              <a:rPr sz="1100" b="0">
                <a:solidFill>
                  <a:srgbClr val="141414"/>
                </a:solidFill>
                <a:latin typeface="Noto Sans JP"/>
              </a:rPr>
              <a:t>推薦理由テキストの最終チェックを誰がいつやるか</a:t>
            </a:r>
          </a:p>
        </p:txBody>
      </p:sp>
      <p:sp>
        <p:nvSpPr>
          <p:cNvPr id="18" name="TextBox 17"/>
          <p:cNvSpPr txBox="1"/>
          <p:nvPr/>
        </p:nvSpPr>
        <p:spPr>
          <a:xfrm>
            <a:off x="457200" y="6492240"/>
            <a:ext cx="3657600" cy="274320"/>
          </a:xfrm>
          <a:prstGeom prst="rect">
            <a:avLst/>
          </a:prstGeom>
          <a:noFill/>
        </p:spPr>
        <p:txBody>
          <a:bodyPr wrap="none" lIns="0" tIns="0">
            <a:spAutoFit/>
          </a:bodyPr>
          <a:lstStyle/>
          <a:p>
            <a:r>
              <a:rPr sz="1000" b="1">
                <a:solidFill>
                  <a:srgbClr val="3A3A3A"/>
                </a:solidFill>
                <a:latin typeface="Noto Sans JP"/>
              </a:rPr>
              <a:t>TOMOSHIKA</a:t>
            </a:r>
          </a:p>
        </p:txBody>
      </p:sp>
      <p:sp>
        <p:nvSpPr>
          <p:cNvPr id="19" name="TextBox 18"/>
          <p:cNvSpPr txBox="1"/>
          <p:nvPr/>
        </p:nvSpPr>
        <p:spPr>
          <a:xfrm>
            <a:off x="10972800" y="6492240"/>
            <a:ext cx="914400" cy="274320"/>
          </a:xfrm>
          <a:prstGeom prst="rect">
            <a:avLst/>
          </a:prstGeom>
          <a:noFill/>
        </p:spPr>
        <p:txBody>
          <a:bodyPr wrap="none" lIns="0" tIns="0">
            <a:spAutoFit/>
          </a:bodyPr>
          <a:lstStyle/>
          <a:p>
            <a:pPr algn="r"/>
            <a:r>
              <a:rPr sz="1000" b="1">
                <a:solidFill>
                  <a:srgbClr val="3A3A3A"/>
                </a:solidFill>
                <a:latin typeface="Noto Sans JP"/>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502920"/>
            <a:ext cx="128016" cy="128016"/>
          </a:xfrm>
          <a:prstGeom prst="rect">
            <a:avLst/>
          </a:prstGeom>
          <a:solidFill>
            <a:srgbClr val="E8C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429768"/>
            <a:ext cx="9144000" cy="320040"/>
          </a:xfrm>
          <a:prstGeom prst="rect">
            <a:avLst/>
          </a:prstGeom>
          <a:noFill/>
        </p:spPr>
        <p:txBody>
          <a:bodyPr wrap="square" lIns="27432" rIns="27432" tIns="18288" bIns="18288" anchor="t">
            <a:spAutoFit/>
          </a:bodyPr>
          <a:lstStyle/>
          <a:p>
            <a:pPr algn="l"/>
            <a:r>
              <a:rPr sz="1300" b="1">
                <a:solidFill>
                  <a:srgbClr val="E3DCC9"/>
                </a:solidFill>
                <a:latin typeface="Noto Sans JP"/>
              </a:rPr>
              <a:t>PHASE 04 / Dify → MIL 様</a:t>
            </a:r>
          </a:p>
        </p:txBody>
      </p:sp>
      <p:sp>
        <p:nvSpPr>
          <p:cNvPr id="5" name="TextBox 4"/>
          <p:cNvSpPr txBox="1"/>
          <p:nvPr/>
        </p:nvSpPr>
        <p:spPr>
          <a:xfrm>
            <a:off x="822960" y="1371600"/>
            <a:ext cx="5486400" cy="2286000"/>
          </a:xfrm>
          <a:prstGeom prst="rect">
            <a:avLst/>
          </a:prstGeom>
          <a:noFill/>
        </p:spPr>
        <p:txBody>
          <a:bodyPr wrap="square" lIns="27432" rIns="27432" tIns="18288" bIns="18288" anchor="t">
            <a:spAutoFit/>
          </a:bodyPr>
          <a:lstStyle/>
          <a:p>
            <a:pPr algn="l"/>
            <a:r>
              <a:rPr sz="14000" b="1">
                <a:solidFill>
                  <a:srgbClr val="D6A03A"/>
                </a:solidFill>
                <a:latin typeface="Noto Sans JP"/>
              </a:rPr>
              <a:t>04</a:t>
            </a:r>
          </a:p>
        </p:txBody>
      </p:sp>
      <p:sp>
        <p:nvSpPr>
          <p:cNvPr id="6" name="TextBox 5"/>
          <p:cNvSpPr txBox="1"/>
          <p:nvPr/>
        </p:nvSpPr>
        <p:spPr>
          <a:xfrm>
            <a:off x="822960" y="3657600"/>
            <a:ext cx="10972800" cy="1097280"/>
          </a:xfrm>
          <a:prstGeom prst="rect">
            <a:avLst/>
          </a:prstGeom>
          <a:noFill/>
        </p:spPr>
        <p:txBody>
          <a:bodyPr wrap="square" lIns="27432" rIns="27432" tIns="18288" bIns="18288" anchor="t">
            <a:spAutoFit/>
          </a:bodyPr>
          <a:lstStyle/>
          <a:p>
            <a:pPr algn="l"/>
            <a:r>
              <a:rPr sz="5200" b="1">
                <a:solidFill>
                  <a:srgbClr val="FFFFFF"/>
                </a:solidFill>
                <a:latin typeface="Noto Sans JP"/>
              </a:rPr>
              <a:t>結果をMIL様に返す</a:t>
            </a:r>
          </a:p>
        </p:txBody>
      </p:sp>
      <p:sp>
        <p:nvSpPr>
          <p:cNvPr id="7" name="TextBox 6"/>
          <p:cNvSpPr txBox="1"/>
          <p:nvPr/>
        </p:nvSpPr>
        <p:spPr>
          <a:xfrm>
            <a:off x="822960" y="4846320"/>
            <a:ext cx="10972800" cy="1645920"/>
          </a:xfrm>
          <a:prstGeom prst="rect">
            <a:avLst/>
          </a:prstGeom>
          <a:noFill/>
        </p:spPr>
        <p:txBody>
          <a:bodyPr wrap="square" lIns="27432" rIns="27432" tIns="18288" bIns="18288" anchor="t">
            <a:spAutoFit/>
          </a:bodyPr>
          <a:lstStyle/>
          <a:p>
            <a:pPr algn="l">
              <a:lnSpc>
                <a:spcPct val="140000"/>
              </a:lnSpc>
            </a:pPr>
            <a:r>
              <a:rPr sz="1500" b="0">
                <a:solidFill>
                  <a:srgbClr val="E3DCC9"/>
                </a:solidFill>
                <a:latin typeface="Noto Sans JP"/>
              </a:rPr>
              <a:t>フェーズ3の判定が終わると、その結果がMIL様に自動的に返される。</a:t>
            </a:r>
          </a:p>
          <a:p>
            <a:pPr algn="l">
              <a:lnSpc>
                <a:spcPct val="140000"/>
              </a:lnSpc>
            </a:pPr>
            <a:r>
              <a:rPr sz="1500" b="0">
                <a:solidFill>
                  <a:srgbClr val="E3DCC9"/>
                </a:solidFill>
                <a:latin typeface="Noto Sans JP"/>
              </a:rPr>
              <a:t>フェーズ2でMIL様がデータを送ったのと同じ通信の「返事」として返ってくるので、MIL様側で特別な設定は不要。</a:t>
            </a:r>
          </a:p>
          <a:p>
            <a:pPr algn="l">
              <a:lnSpc>
                <a:spcPct val="140000"/>
              </a:lnSpc>
            </a:pPr>
            <a:r>
              <a:rPr sz="1500" b="0">
                <a:solidFill>
                  <a:srgbClr val="E3DCC9"/>
                </a:solidFill>
                <a:latin typeface="Noto Sans JP"/>
              </a:rPr>
              <a:t>APIキーも不要（フェーズ2で送信したときに認証は済んでいるため）。</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502920"/>
            <a:ext cx="109728" cy="109728"/>
          </a:xfrm>
          <a:prstGeom prst="rect">
            <a:avLst/>
          </a:prstGeom>
          <a:solidFill>
            <a:srgbClr val="B9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9144000" cy="320040"/>
          </a:xfrm>
          <a:prstGeom prst="rect">
            <a:avLst/>
          </a:prstGeom>
          <a:noFill/>
        </p:spPr>
        <p:txBody>
          <a:bodyPr wrap="none" lIns="0" tIns="0">
            <a:spAutoFit/>
          </a:bodyPr>
          <a:lstStyle/>
          <a:p>
            <a:r>
              <a:rPr sz="1400" b="1">
                <a:solidFill>
                  <a:srgbClr val="141414"/>
                </a:solidFill>
                <a:latin typeface="Noto Sans JP"/>
              </a:rPr>
              <a:t>PHASE 04 / 返却データ</a:t>
            </a:r>
          </a:p>
        </p:txBody>
      </p:sp>
      <p:sp>
        <p:nvSpPr>
          <p:cNvPr id="5" name="TextBox 4"/>
          <p:cNvSpPr txBox="1"/>
          <p:nvPr/>
        </p:nvSpPr>
        <p:spPr>
          <a:xfrm>
            <a:off x="594360" y="868680"/>
            <a:ext cx="10972800" cy="731520"/>
          </a:xfrm>
          <a:prstGeom prst="rect">
            <a:avLst/>
          </a:prstGeom>
          <a:noFill/>
        </p:spPr>
        <p:txBody>
          <a:bodyPr wrap="square" lIns="27432" rIns="27432" tIns="18288" bIns="18288" anchor="t">
            <a:spAutoFit/>
          </a:bodyPr>
          <a:lstStyle/>
          <a:p>
            <a:pPr algn="l"/>
            <a:r>
              <a:rPr sz="2800" b="1">
                <a:solidFill>
                  <a:srgbClr val="000000"/>
                </a:solidFill>
                <a:latin typeface="Noto Sans JP"/>
              </a:rPr>
              <a:t>返ってくるデータの中身</a:t>
            </a:r>
          </a:p>
        </p:txBody>
      </p:sp>
      <p:sp>
        <p:nvSpPr>
          <p:cNvPr id="6" name="TextBox 5"/>
          <p:cNvSpPr txBox="1"/>
          <p:nvPr/>
        </p:nvSpPr>
        <p:spPr>
          <a:xfrm>
            <a:off x="594360" y="1417320"/>
            <a:ext cx="10972800" cy="411480"/>
          </a:xfrm>
          <a:prstGeom prst="rect">
            <a:avLst/>
          </a:prstGeom>
          <a:noFill/>
        </p:spPr>
        <p:txBody>
          <a:bodyPr wrap="square" lIns="27432" rIns="27432" tIns="18288" bIns="18288" anchor="t">
            <a:spAutoFit/>
          </a:bodyPr>
          <a:lstStyle/>
          <a:p>
            <a:pPr algn="l"/>
            <a:r>
              <a:rPr sz="1200" b="0">
                <a:solidFill>
                  <a:srgbClr val="000000"/>
                </a:solidFill>
                <a:latin typeface="Noto Sans JP"/>
              </a:rPr>
              <a:t>判定結果として以下の8つの情報が返ってくる。MIL様はこれをもとに学生の結果画面を表示する。</a:t>
            </a:r>
          </a:p>
        </p:txBody>
      </p:sp>
      <p:graphicFrame>
        <p:nvGraphicFramePr>
          <p:cNvPr id="7" name="Table 6"/>
          <p:cNvGraphicFramePr>
            <a:graphicFrameLocks noGrp="1"/>
          </p:cNvGraphicFramePr>
          <p:nvPr/>
        </p:nvGraphicFramePr>
        <p:xfrm>
          <a:off x="594360" y="1920240"/>
          <a:ext cx="10972800" cy="4389120"/>
        </p:xfrm>
        <a:graphic>
          <a:graphicData uri="http://schemas.openxmlformats.org/drawingml/2006/table">
            <a:tbl>
              <a:tblPr firstRow="1" bandRow="1">
                <a:tableStyleId>{5C22544A-7EE6-4342-B048-85BDC9FD1C3A}</a:tableStyleId>
              </a:tblPr>
              <a:tblGrid>
                <a:gridCol w="2194560"/>
                <a:gridCol w="4572000"/>
                <a:gridCol w="4206240"/>
              </a:tblGrid>
              <a:tr h="487680">
                <a:tc>
                  <a:txBody>
                    <a:bodyPr wrap="square" lIns="45720" rIns="45720" tIns="36576" bIns="36576"/>
                    <a:lstStyle/>
                    <a:p>
                      <a:r>
                        <a:rPr sz="1100" b="1">
                          <a:solidFill>
                            <a:srgbClr val="000000"/>
                          </a:solidFill>
                          <a:latin typeface="Noto Sans JP"/>
                        </a:rPr>
                        <a:t>項目</a:t>
                      </a:r>
                    </a:p>
                  </a:txBody>
                  <a:tcPr marL="73152" marR="73152" marT="45720" marB="45720" anchor="t">
                    <a:solidFill>
                      <a:srgbClr val="EDE6D2"/>
                    </a:solidFill>
                  </a:tcPr>
                </a:tc>
                <a:tc>
                  <a:txBody>
                    <a:bodyPr wrap="square" lIns="45720" rIns="45720" tIns="36576" bIns="36576"/>
                    <a:lstStyle/>
                    <a:p>
                      <a:r>
                        <a:rPr sz="1100" b="1">
                          <a:solidFill>
                            <a:srgbClr val="000000"/>
                          </a:solidFill>
                          <a:latin typeface="Noto Sans JP"/>
                        </a:rPr>
                        <a:t>何が入るか</a:t>
                      </a:r>
                    </a:p>
                  </a:txBody>
                  <a:tcPr marL="73152" marR="73152" marT="45720" marB="45720" anchor="t">
                    <a:solidFill>
                      <a:srgbClr val="EDE6D2"/>
                    </a:solidFill>
                  </a:tcPr>
                </a:tc>
                <a:tc>
                  <a:txBody>
                    <a:bodyPr wrap="square" lIns="45720" rIns="45720" tIns="36576" bIns="36576"/>
                    <a:lstStyle/>
                    <a:p>
                      <a:r>
                        <a:rPr sz="1100" b="1">
                          <a:solidFill>
                            <a:srgbClr val="000000"/>
                          </a:solidFill>
                          <a:latin typeface="Noto Sans JP"/>
                        </a:rPr>
                        <a:t>MIL様での使い方</a:t>
                      </a:r>
                    </a:p>
                  </a:txBody>
                  <a:tcPr marL="73152" marR="73152" marT="45720" marB="45720" anchor="t">
                    <a:solidFill>
                      <a:srgbClr val="EDE6D2"/>
                    </a:solidFill>
                  </a:tcPr>
                </a:tc>
              </a:tr>
              <a:tr h="487680">
                <a:tc>
                  <a:txBody>
                    <a:bodyPr wrap="square" lIns="45720" rIns="45720" tIns="36576" bIns="36576"/>
                    <a:lstStyle/>
                    <a:p>
                      <a:r>
                        <a:rPr sz="1100" b="1">
                          <a:solidFill>
                            <a:srgbClr val="000000"/>
                          </a:solidFill>
                          <a:latin typeface="Noto Sans JP"/>
                        </a:rPr>
                        <a:t>判定カテゴリ</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「中西該当」「タイプ別マッチング」「トモキャリ誘導」のいずれか</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どの結果画面を出すかの判別に使う</a:t>
                      </a:r>
                    </a:p>
                  </a:txBody>
                  <a:tcPr marL="73152" marR="73152" marT="45720" marB="45720" anchor="t">
                    <a:solidFill>
                      <a:srgbClr val="FFFFFF"/>
                    </a:solidFill>
                  </a:tcPr>
                </a:tc>
              </a:tr>
              <a:tr h="487680">
                <a:tc>
                  <a:txBody>
                    <a:bodyPr wrap="square" lIns="45720" rIns="45720" tIns="36576" bIns="36576"/>
                    <a:lstStyle/>
                    <a:p>
                      <a:r>
                        <a:rPr sz="1100" b="1">
                          <a:solidFill>
                            <a:srgbClr val="000000"/>
                          </a:solidFill>
                          <a:latin typeface="Noto Sans JP"/>
                        </a:rPr>
                        <a:t>1位タイプ</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R〜Cのいずれか</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「あなたは〇〇タイプです」として表示</a:t>
                      </a:r>
                    </a:p>
                  </a:txBody>
                  <a:tcPr marL="73152" marR="73152" marT="45720" marB="45720" anchor="t">
                    <a:solidFill>
                      <a:srgbClr val="FFFFFF"/>
                    </a:solidFill>
                  </a:tcPr>
                </a:tc>
              </a:tr>
              <a:tr h="487680">
                <a:tc>
                  <a:txBody>
                    <a:bodyPr wrap="square" lIns="45720" rIns="45720" tIns="36576" bIns="36576"/>
                    <a:lstStyle/>
                    <a:p>
                      <a:r>
                        <a:rPr sz="1100" b="1">
                          <a:solidFill>
                            <a:srgbClr val="000000"/>
                          </a:solidFill>
                          <a:latin typeface="Noto Sans JP"/>
                        </a:rPr>
                        <a:t>2位タイプ</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R〜Cのいずれか</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「〇〇な面もあります」として補足表示</a:t>
                      </a:r>
                    </a:p>
                  </a:txBody>
                  <a:tcPr marL="73152" marR="73152" marT="45720" marB="45720" anchor="t">
                    <a:solidFill>
                      <a:srgbClr val="FFFFFF"/>
                    </a:solidFill>
                  </a:tcPr>
                </a:tc>
              </a:tr>
              <a:tr h="487680">
                <a:tc>
                  <a:txBody>
                    <a:bodyPr wrap="square" lIns="45720" rIns="45720" tIns="36576" bIns="36576"/>
                    <a:lstStyle/>
                    <a:p>
                      <a:r>
                        <a:rPr sz="1100" b="1">
                          <a:solidFill>
                            <a:srgbClr val="000000"/>
                          </a:solidFill>
                          <a:latin typeface="Noto Sans JP"/>
                        </a:rPr>
                        <a:t>メインの推薦企業</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企業名のリスト（最大5社）</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結果画面にメインとして企業名を表示</a:t>
                      </a:r>
                    </a:p>
                  </a:txBody>
                  <a:tcPr marL="73152" marR="73152" marT="45720" marB="45720" anchor="t">
                    <a:solidFill>
                      <a:srgbClr val="FFFFFF"/>
                    </a:solidFill>
                  </a:tcPr>
                </a:tc>
              </a:tr>
              <a:tr h="487680">
                <a:tc>
                  <a:txBody>
                    <a:bodyPr wrap="square" lIns="45720" rIns="45720" tIns="36576" bIns="36576"/>
                    <a:lstStyle/>
                    <a:p>
                      <a:r>
                        <a:rPr sz="1100" b="1">
                          <a:solidFill>
                            <a:srgbClr val="000000"/>
                          </a:solidFill>
                          <a:latin typeface="Noto Sans JP"/>
                        </a:rPr>
                        <a:t>メインの推薦理由</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各企業への推薦理由テキスト</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企業名の下に表示</a:t>
                      </a:r>
                    </a:p>
                  </a:txBody>
                  <a:tcPr marL="73152" marR="73152" marT="45720" marB="45720" anchor="t">
                    <a:solidFill>
                      <a:srgbClr val="FFFFFF"/>
                    </a:solidFill>
                  </a:tcPr>
                </a:tc>
              </a:tr>
              <a:tr h="487680">
                <a:tc>
                  <a:txBody>
                    <a:bodyPr wrap="square" lIns="45720" rIns="45720" tIns="36576" bIns="36576"/>
                    <a:lstStyle/>
                    <a:p>
                      <a:r>
                        <a:rPr sz="1100" b="1">
                          <a:solidFill>
                            <a:srgbClr val="000000"/>
                          </a:solidFill>
                          <a:latin typeface="Noto Sans JP"/>
                        </a:rPr>
                        <a:t>補足の推薦企業</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企業名のリスト(通常判定時のみ)</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「こんな企業も」として表示</a:t>
                      </a:r>
                    </a:p>
                  </a:txBody>
                  <a:tcPr marL="73152" marR="73152" marT="45720" marB="45720" anchor="t">
                    <a:solidFill>
                      <a:srgbClr val="FFFFFF"/>
                    </a:solidFill>
                  </a:tcPr>
                </a:tc>
              </a:tr>
              <a:tr h="487680">
                <a:tc>
                  <a:txBody>
                    <a:bodyPr wrap="square" lIns="45720" rIns="45720" tIns="36576" bIns="36576"/>
                    <a:lstStyle/>
                    <a:p>
                      <a:r>
                        <a:rPr sz="1100" b="1">
                          <a:solidFill>
                            <a:srgbClr val="000000"/>
                          </a:solidFill>
                          <a:latin typeface="Noto Sans JP"/>
                        </a:rPr>
                        <a:t>補足の推薦理由</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各企業への推薦理由テキスト</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同上</a:t>
                      </a:r>
                    </a:p>
                  </a:txBody>
                  <a:tcPr marL="73152" marR="73152" marT="45720" marB="45720" anchor="t">
                    <a:solidFill>
                      <a:srgbClr val="FFFFFF"/>
                    </a:solidFill>
                  </a:tcPr>
                </a:tc>
              </a:tr>
              <a:tr h="487680">
                <a:tc>
                  <a:txBody>
                    <a:bodyPr wrap="square" lIns="45720" rIns="45720" tIns="36576" bIns="36576"/>
                    <a:lstStyle/>
                    <a:p>
                      <a:r>
                        <a:rPr sz="1100" b="1">
                          <a:solidFill>
                            <a:srgbClr val="000000"/>
                          </a:solidFill>
                          <a:latin typeface="Noto Sans JP"/>
                        </a:rPr>
                        <a:t>メッセージ</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学生への一言メッセージ</a:t>
                      </a:r>
                    </a:p>
                  </a:txBody>
                  <a:tcPr marL="73152" marR="73152" marT="45720" marB="45720" anchor="t">
                    <a:solidFill>
                      <a:srgbClr val="FFFFFF"/>
                    </a:solidFill>
                  </a:tcPr>
                </a:tc>
                <a:tc>
                  <a:txBody>
                    <a:bodyPr wrap="square" lIns="45720" rIns="45720" tIns="36576" bIns="36576"/>
                    <a:lstStyle/>
                    <a:p>
                      <a:r>
                        <a:rPr sz="1100" b="0">
                          <a:solidFill>
                            <a:srgbClr val="000000"/>
                          </a:solidFill>
                          <a:latin typeface="Noto Sans JP"/>
                        </a:rPr>
                        <a:t>結果画面の冒頭 or 末尾に表示</a:t>
                      </a:r>
                    </a:p>
                  </a:txBody>
                  <a:tcPr marL="73152" marR="73152" marT="45720" marB="45720" anchor="t">
                    <a:solidFill>
                      <a:srgbClr val="FFFFFF"/>
                    </a:solidFill>
                  </a:tcPr>
                </a:tc>
              </a:tr>
            </a:tbl>
          </a:graphicData>
        </a:graphic>
      </p:graphicFrame>
      <p:sp>
        <p:nvSpPr>
          <p:cNvPr id="8" name="TextBox 7"/>
          <p:cNvSpPr txBox="1"/>
          <p:nvPr/>
        </p:nvSpPr>
        <p:spPr>
          <a:xfrm>
            <a:off x="457200" y="6492240"/>
            <a:ext cx="3657600" cy="274320"/>
          </a:xfrm>
          <a:prstGeom prst="rect">
            <a:avLst/>
          </a:prstGeom>
          <a:noFill/>
        </p:spPr>
        <p:txBody>
          <a:bodyPr wrap="none" lIns="0" tIns="0">
            <a:spAutoFit/>
          </a:bodyPr>
          <a:lstStyle/>
          <a:p>
            <a:r>
              <a:rPr sz="1000" b="1">
                <a:solidFill>
                  <a:srgbClr val="3A3A3A"/>
                </a:solidFill>
                <a:latin typeface="Noto Sans JP"/>
              </a:rPr>
              <a:t>TOMOSHIKA</a:t>
            </a:r>
          </a:p>
        </p:txBody>
      </p:sp>
      <p:sp>
        <p:nvSpPr>
          <p:cNvPr id="9" name="TextBox 8"/>
          <p:cNvSpPr txBox="1"/>
          <p:nvPr/>
        </p:nvSpPr>
        <p:spPr>
          <a:xfrm>
            <a:off x="10972800" y="6492240"/>
            <a:ext cx="914400" cy="274320"/>
          </a:xfrm>
          <a:prstGeom prst="rect">
            <a:avLst/>
          </a:prstGeom>
          <a:noFill/>
        </p:spPr>
        <p:txBody>
          <a:bodyPr wrap="none" lIns="0" tIns="0">
            <a:spAutoFit/>
          </a:bodyPr>
          <a:lstStyle/>
          <a:p>
            <a:pPr algn="r"/>
            <a:r>
              <a:rPr sz="1000" b="1">
                <a:solidFill>
                  <a:srgbClr val="3A3A3A"/>
                </a:solidFill>
                <a:latin typeface="Noto Sans JP"/>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502920"/>
            <a:ext cx="109728" cy="109728"/>
          </a:xfrm>
          <a:prstGeom prst="rect">
            <a:avLst/>
          </a:prstGeom>
          <a:solidFill>
            <a:srgbClr val="B9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9144000" cy="320040"/>
          </a:xfrm>
          <a:prstGeom prst="rect">
            <a:avLst/>
          </a:prstGeom>
          <a:noFill/>
        </p:spPr>
        <p:txBody>
          <a:bodyPr wrap="none" lIns="0" tIns="0">
            <a:spAutoFit/>
          </a:bodyPr>
          <a:lstStyle/>
          <a:p>
            <a:r>
              <a:rPr sz="1400" b="1">
                <a:solidFill>
                  <a:srgbClr val="141414"/>
                </a:solidFill>
                <a:latin typeface="Noto Sans JP"/>
              </a:rPr>
              <a:t>PHASE 04 / 返却データ</a:t>
            </a:r>
          </a:p>
        </p:txBody>
      </p:sp>
      <p:sp>
        <p:nvSpPr>
          <p:cNvPr id="5" name="TextBox 4"/>
          <p:cNvSpPr txBox="1"/>
          <p:nvPr/>
        </p:nvSpPr>
        <p:spPr>
          <a:xfrm>
            <a:off x="594360" y="868680"/>
            <a:ext cx="10972800" cy="731520"/>
          </a:xfrm>
          <a:prstGeom prst="rect">
            <a:avLst/>
          </a:prstGeom>
          <a:noFill/>
        </p:spPr>
        <p:txBody>
          <a:bodyPr wrap="square" lIns="27432" rIns="27432" tIns="18288" bIns="18288" anchor="t">
            <a:spAutoFit/>
          </a:bodyPr>
          <a:lstStyle/>
          <a:p>
            <a:pPr algn="l"/>
            <a:r>
              <a:rPr sz="2200" b="1">
                <a:solidFill>
                  <a:srgbClr val="000000"/>
                </a:solidFill>
                <a:latin typeface="Noto Sans JP"/>
              </a:rPr>
              <a:t>判定カテゴリごとに返ってくる内容の違い</a:t>
            </a:r>
          </a:p>
        </p:txBody>
      </p:sp>
      <p:graphicFrame>
        <p:nvGraphicFramePr>
          <p:cNvPr id="6" name="Table 5"/>
          <p:cNvGraphicFramePr>
            <a:graphicFrameLocks noGrp="1"/>
          </p:cNvGraphicFramePr>
          <p:nvPr/>
        </p:nvGraphicFramePr>
        <p:xfrm>
          <a:off x="594360" y="1828800"/>
          <a:ext cx="10972800" cy="2743200"/>
        </p:xfrm>
        <a:graphic>
          <a:graphicData uri="http://schemas.openxmlformats.org/drawingml/2006/table">
            <a:tbl>
              <a:tblPr firstRow="1" bandRow="1">
                <a:tableStyleId>{5C22544A-7EE6-4342-B048-85BDC9FD1C3A}</a:tableStyleId>
              </a:tblPr>
              <a:tblGrid>
                <a:gridCol w="2377440"/>
                <a:gridCol w="2926080"/>
                <a:gridCol w="2926080"/>
                <a:gridCol w="2743200"/>
              </a:tblGrid>
              <a:tr h="685800">
                <a:tc>
                  <a:txBody>
                    <a:bodyPr wrap="square" lIns="45720" rIns="45720" tIns="36576" bIns="36576"/>
                    <a:lstStyle/>
                    <a:p>
                      <a:r>
                        <a:rPr sz="1200" b="1">
                          <a:solidFill>
                            <a:srgbClr val="000000"/>
                          </a:solidFill>
                          <a:latin typeface="Noto Sans JP"/>
                        </a:rPr>
                        <a:t/>
                      </a:r>
                    </a:p>
                  </a:txBody>
                  <a:tcPr marL="73152" marR="73152" marT="45720" marB="45720" anchor="t">
                    <a:solidFill>
                      <a:srgbClr val="EDE6D2"/>
                    </a:solidFill>
                  </a:tcPr>
                </a:tc>
                <a:tc>
                  <a:txBody>
                    <a:bodyPr wrap="square" lIns="45720" rIns="45720" tIns="36576" bIns="36576"/>
                    <a:lstStyle/>
                    <a:p>
                      <a:r>
                        <a:rPr sz="1200" b="1">
                          <a:solidFill>
                            <a:srgbClr val="000000"/>
                          </a:solidFill>
                          <a:latin typeface="Noto Sans JP"/>
                        </a:rPr>
                        <a:t>中西該当（Step 2 or 3）</a:t>
                      </a:r>
                    </a:p>
                  </a:txBody>
                  <a:tcPr marL="73152" marR="73152" marT="45720" marB="45720" anchor="t">
                    <a:solidFill>
                      <a:srgbClr val="EDE6D2"/>
                    </a:solidFill>
                  </a:tcPr>
                </a:tc>
                <a:tc>
                  <a:txBody>
                    <a:bodyPr wrap="square" lIns="45720" rIns="45720" tIns="36576" bIns="36576"/>
                    <a:lstStyle/>
                    <a:p>
                      <a:r>
                        <a:rPr sz="1200" b="1">
                          <a:solidFill>
                            <a:srgbClr val="000000"/>
                          </a:solidFill>
                          <a:latin typeface="Noto Sans JP"/>
                        </a:rPr>
                        <a:t>タイプ別マッチング（Step 4）</a:t>
                      </a:r>
                    </a:p>
                  </a:txBody>
                  <a:tcPr marL="73152" marR="73152" marT="45720" marB="45720" anchor="t">
                    <a:solidFill>
                      <a:srgbClr val="EDE6D2"/>
                    </a:solidFill>
                  </a:tcPr>
                </a:tc>
                <a:tc>
                  <a:txBody>
                    <a:bodyPr wrap="square" lIns="45720" rIns="45720" tIns="36576" bIns="36576"/>
                    <a:lstStyle/>
                    <a:p>
                      <a:r>
                        <a:rPr sz="1200" b="1">
                          <a:solidFill>
                            <a:srgbClr val="000000"/>
                          </a:solidFill>
                          <a:latin typeface="Noto Sans JP"/>
                        </a:rPr>
                        <a:t>トモキャリ誘導（Step 1）</a:t>
                      </a:r>
                    </a:p>
                  </a:txBody>
                  <a:tcPr marL="73152" marR="73152" marT="45720" marB="45720" anchor="t">
                    <a:solidFill>
                      <a:srgbClr val="EDE6D2"/>
                    </a:solidFill>
                  </a:tcPr>
                </a:tc>
              </a:tr>
              <a:tr h="685800">
                <a:tc>
                  <a:txBody>
                    <a:bodyPr wrap="square" lIns="45720" rIns="45720" tIns="36576" bIns="36576"/>
                    <a:lstStyle/>
                    <a:p>
                      <a:r>
                        <a:rPr sz="1200" b="1">
                          <a:solidFill>
                            <a:srgbClr val="000000"/>
                          </a:solidFill>
                          <a:latin typeface="Noto Sans JP"/>
                        </a:rPr>
                        <a:t>メインの推薦企業</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中西製作所様＋同系統5社</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1位タイプに合う企業</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なし（企業推薦しない）</a:t>
                      </a:r>
                    </a:p>
                  </a:txBody>
                  <a:tcPr marL="73152" marR="73152" marT="45720" marB="45720" anchor="t">
                    <a:solidFill>
                      <a:srgbClr val="FFFFFF"/>
                    </a:solidFill>
                  </a:tcPr>
                </a:tc>
              </a:tr>
              <a:tr h="685800">
                <a:tc>
                  <a:txBody>
                    <a:bodyPr wrap="square" lIns="45720" rIns="45720" tIns="36576" bIns="36576"/>
                    <a:lstStyle/>
                    <a:p>
                      <a:r>
                        <a:rPr sz="1200" b="1">
                          <a:solidFill>
                            <a:srgbClr val="000000"/>
                          </a:solidFill>
                          <a:latin typeface="Noto Sans JP"/>
                        </a:rPr>
                        <a:t>補足の推薦企業</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なし（中西への誘導を優先）</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2位タイプに合う企業</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なし</a:t>
                      </a:r>
                    </a:p>
                  </a:txBody>
                  <a:tcPr marL="73152" marR="73152" marT="45720" marB="45720" anchor="t">
                    <a:solidFill>
                      <a:srgbClr val="FFFFFF"/>
                    </a:solidFill>
                  </a:tcPr>
                </a:tc>
              </a:tr>
              <a:tr h="685800">
                <a:tc>
                  <a:txBody>
                    <a:bodyPr wrap="square" lIns="45720" rIns="45720" tIns="36576" bIns="36576"/>
                    <a:lstStyle/>
                    <a:p>
                      <a:r>
                        <a:rPr sz="1200" b="1">
                          <a:solidFill>
                            <a:srgbClr val="000000"/>
                          </a:solidFill>
                          <a:latin typeface="Noto Sans JP"/>
                        </a:rPr>
                        <a:t>メッセージ</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中西製作所様向けメッセージ</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タイプに合わせたメッセージ</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トモキャリへの誘導文</a:t>
                      </a:r>
                    </a:p>
                  </a:txBody>
                  <a:tcPr marL="73152" marR="73152" marT="45720" marB="45720" anchor="t">
                    <a:solidFill>
                      <a:srgbClr val="FFFFFF"/>
                    </a:solidFill>
                  </a:tcPr>
                </a:tc>
              </a:tr>
            </a:tbl>
          </a:graphicData>
        </a:graphic>
      </p:graphicFrame>
      <p:sp>
        <p:nvSpPr>
          <p:cNvPr id="7" name="TextBox 6"/>
          <p:cNvSpPr txBox="1"/>
          <p:nvPr/>
        </p:nvSpPr>
        <p:spPr>
          <a:xfrm>
            <a:off x="457200" y="6492240"/>
            <a:ext cx="3657600" cy="274320"/>
          </a:xfrm>
          <a:prstGeom prst="rect">
            <a:avLst/>
          </a:prstGeom>
          <a:noFill/>
        </p:spPr>
        <p:txBody>
          <a:bodyPr wrap="none" lIns="0" tIns="0">
            <a:spAutoFit/>
          </a:bodyPr>
          <a:lstStyle/>
          <a:p>
            <a:r>
              <a:rPr sz="1000" b="1">
                <a:solidFill>
                  <a:srgbClr val="3A3A3A"/>
                </a:solidFill>
                <a:latin typeface="Noto Sans JP"/>
              </a:rPr>
              <a:t>TOMOSHIKA</a:t>
            </a:r>
          </a:p>
        </p:txBody>
      </p:sp>
      <p:sp>
        <p:nvSpPr>
          <p:cNvPr id="8" name="TextBox 7"/>
          <p:cNvSpPr txBox="1"/>
          <p:nvPr/>
        </p:nvSpPr>
        <p:spPr>
          <a:xfrm>
            <a:off x="10972800" y="6492240"/>
            <a:ext cx="914400" cy="274320"/>
          </a:xfrm>
          <a:prstGeom prst="rect">
            <a:avLst/>
          </a:prstGeom>
          <a:noFill/>
        </p:spPr>
        <p:txBody>
          <a:bodyPr wrap="none" lIns="0" tIns="0">
            <a:spAutoFit/>
          </a:bodyPr>
          <a:lstStyle/>
          <a:p>
            <a:pPr algn="r"/>
            <a:r>
              <a:rPr sz="1000" b="1">
                <a:solidFill>
                  <a:srgbClr val="3A3A3A"/>
                </a:solidFill>
                <a:latin typeface="Noto Sans JP"/>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502920"/>
            <a:ext cx="109728" cy="109728"/>
          </a:xfrm>
          <a:prstGeom prst="rect">
            <a:avLst/>
          </a:prstGeom>
          <a:solidFill>
            <a:srgbClr val="B9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9144000" cy="320040"/>
          </a:xfrm>
          <a:prstGeom prst="rect">
            <a:avLst/>
          </a:prstGeom>
          <a:noFill/>
        </p:spPr>
        <p:txBody>
          <a:bodyPr wrap="none" lIns="0" tIns="0">
            <a:spAutoFit/>
          </a:bodyPr>
          <a:lstStyle/>
          <a:p>
            <a:r>
              <a:rPr sz="1400" b="1">
                <a:solidFill>
                  <a:srgbClr val="141414"/>
                </a:solidFill>
                <a:latin typeface="Noto Sans JP"/>
              </a:rPr>
              <a:t>PHASE 04 / 具体例</a:t>
            </a:r>
          </a:p>
        </p:txBody>
      </p:sp>
      <p:sp>
        <p:nvSpPr>
          <p:cNvPr id="5" name="TextBox 4"/>
          <p:cNvSpPr txBox="1"/>
          <p:nvPr/>
        </p:nvSpPr>
        <p:spPr>
          <a:xfrm>
            <a:off x="594360" y="868680"/>
            <a:ext cx="10972800" cy="731520"/>
          </a:xfrm>
          <a:prstGeom prst="rect">
            <a:avLst/>
          </a:prstGeom>
          <a:noFill/>
        </p:spPr>
        <p:txBody>
          <a:bodyPr wrap="square" lIns="27432" rIns="27432" tIns="18288" bIns="18288" anchor="t">
            <a:spAutoFit/>
          </a:bodyPr>
          <a:lstStyle/>
          <a:p>
            <a:pPr algn="l"/>
            <a:r>
              <a:rPr sz="2200" b="1">
                <a:solidFill>
                  <a:srgbClr val="000000"/>
                </a:solidFill>
                <a:latin typeface="Noto Sans JP"/>
              </a:rPr>
              <a:t>具体例: Step 2で中西該当になった学生の場合</a:t>
            </a:r>
          </a:p>
        </p:txBody>
      </p:sp>
      <p:sp>
        <p:nvSpPr>
          <p:cNvPr id="6" name="Rounded Rectangle 5"/>
          <p:cNvSpPr/>
          <p:nvPr/>
        </p:nvSpPr>
        <p:spPr>
          <a:xfrm>
            <a:off x="594360" y="1828800"/>
            <a:ext cx="10972800" cy="4297680"/>
          </a:xfrm>
          <a:prstGeom prst="roundRect">
            <a:avLst>
              <a:gd name="adj" fmla="val 4000"/>
            </a:avLst>
          </a:prstGeom>
          <a:solidFill>
            <a:srgbClr val="FFFFFF"/>
          </a:solidFill>
          <a:ln w="9525">
            <a:solidFill>
              <a:srgbClr val="C8C3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789920" cy="4114800"/>
          </a:xfrm>
          <a:prstGeom prst="rect">
            <a:avLst/>
          </a:prstGeom>
          <a:noFill/>
        </p:spPr>
        <p:txBody>
          <a:bodyPr wrap="square" lIns="27432" rIns="27432" tIns="18288" bIns="18288" anchor="t">
            <a:spAutoFit/>
          </a:bodyPr>
          <a:lstStyle/>
          <a:p>
            <a:pPr algn="l"/>
            <a:r>
              <a:rPr sz="1200" b="0">
                <a:solidFill>
                  <a:srgbClr val="000000"/>
                </a:solidFill>
                <a:latin typeface="Courier New"/>
              </a:rPr>
              <a:t>返ってくるデータ:</a:t>
            </a:r>
          </a:p>
          <a:p>
            <a:pPr algn="l"/>
            <a:r>
              <a:rPr sz="1200" b="0">
                <a:solidFill>
                  <a:srgbClr val="000000"/>
                </a:solidFill>
                <a:latin typeface="Courier New"/>
              </a:rPr>
              <a:t/>
            </a:r>
          </a:p>
          <a:p>
            <a:pPr algn="l"/>
            <a:r>
              <a:rPr sz="1200" b="0">
                <a:solidFill>
                  <a:srgbClr val="000000"/>
                </a:solidFill>
                <a:latin typeface="Courier New"/>
              </a:rPr>
              <a:t>  判定カテゴリ    = 中西該当</a:t>
            </a:r>
          </a:p>
          <a:p>
            <a:pPr algn="l"/>
            <a:r>
              <a:rPr sz="1200" b="0">
                <a:solidFill>
                  <a:srgbClr val="000000"/>
                </a:solidFill>
                <a:latin typeface="Courier New"/>
              </a:rPr>
              <a:t>  1位タイプ       = S型（社会型）</a:t>
            </a:r>
          </a:p>
          <a:p>
            <a:pPr algn="l"/>
            <a:r>
              <a:rPr sz="1200" b="0">
                <a:solidFill>
                  <a:srgbClr val="000000"/>
                </a:solidFill>
                <a:latin typeface="Courier New"/>
              </a:rPr>
              <a:t>  2位タイプ       = R型（現実型）</a:t>
            </a:r>
          </a:p>
          <a:p>
            <a:pPr algn="l"/>
            <a:r>
              <a:rPr sz="1200" b="0">
                <a:solidFill>
                  <a:srgbClr val="000000"/>
                </a:solidFill>
                <a:latin typeface="Courier New"/>
              </a:rPr>
              <a:t>  メインの推薦企業 = 中西製作所, キーエンス, 平田機工, マクニカ, ダイフク</a:t>
            </a:r>
          </a:p>
          <a:p>
            <a:pPr algn="l"/>
            <a:r>
              <a:rPr sz="1200" b="0">
                <a:solidFill>
                  <a:srgbClr val="000000"/>
                </a:solidFill>
                <a:latin typeface="Courier New"/>
              </a:rPr>
              <a:t>  メインの推薦理由 = （各社の「なぜあなたに合うか」テキスト）</a:t>
            </a:r>
          </a:p>
          <a:p>
            <a:pPr algn="l"/>
            <a:r>
              <a:rPr sz="1200" b="0">
                <a:solidFill>
                  <a:srgbClr val="000000"/>
                </a:solidFill>
                <a:latin typeface="Courier New"/>
              </a:rPr>
              <a:t>  補足の推薦企業  = なし</a:t>
            </a:r>
          </a:p>
          <a:p>
            <a:pPr algn="l"/>
            <a:r>
              <a:rPr sz="1200" b="0">
                <a:solidFill>
                  <a:srgbClr val="000000"/>
                </a:solidFill>
                <a:latin typeface="Courier New"/>
              </a:rPr>
              <a:t>  補足の推薦理由  = なし</a:t>
            </a:r>
          </a:p>
          <a:p>
            <a:pPr algn="l"/>
            <a:r>
              <a:rPr sz="1200" b="0">
                <a:solidFill>
                  <a:srgbClr val="000000"/>
                </a:solidFill>
                <a:latin typeface="Courier New"/>
              </a:rPr>
              <a:t>  メッセージ     = 「あなたの主体性と変革意欲は、安定基盤×ベンチャー志向の</a:t>
            </a:r>
          </a:p>
          <a:p>
            <a:pPr algn="l"/>
            <a:r>
              <a:rPr sz="1200" b="0">
                <a:solidFill>
                  <a:srgbClr val="000000"/>
                </a:solidFill>
                <a:latin typeface="Courier New"/>
              </a:rPr>
              <a:t>                   企業で大きく花開きます。」</a:t>
            </a:r>
          </a:p>
        </p:txBody>
      </p:sp>
      <p:sp>
        <p:nvSpPr>
          <p:cNvPr id="8" name="TextBox 7"/>
          <p:cNvSpPr txBox="1"/>
          <p:nvPr/>
        </p:nvSpPr>
        <p:spPr>
          <a:xfrm>
            <a:off x="457200" y="6492240"/>
            <a:ext cx="3657600" cy="274320"/>
          </a:xfrm>
          <a:prstGeom prst="rect">
            <a:avLst/>
          </a:prstGeom>
          <a:noFill/>
        </p:spPr>
        <p:txBody>
          <a:bodyPr wrap="none" lIns="0" tIns="0">
            <a:spAutoFit/>
          </a:bodyPr>
          <a:lstStyle/>
          <a:p>
            <a:r>
              <a:rPr sz="1000" b="1">
                <a:solidFill>
                  <a:srgbClr val="3A3A3A"/>
                </a:solidFill>
                <a:latin typeface="Noto Sans JP"/>
              </a:rPr>
              <a:t>TOMOSHIKA</a:t>
            </a:r>
          </a:p>
        </p:txBody>
      </p:sp>
      <p:sp>
        <p:nvSpPr>
          <p:cNvPr id="9" name="TextBox 8"/>
          <p:cNvSpPr txBox="1"/>
          <p:nvPr/>
        </p:nvSpPr>
        <p:spPr>
          <a:xfrm>
            <a:off x="10972800" y="6492240"/>
            <a:ext cx="914400" cy="274320"/>
          </a:xfrm>
          <a:prstGeom prst="rect">
            <a:avLst/>
          </a:prstGeom>
          <a:noFill/>
        </p:spPr>
        <p:txBody>
          <a:bodyPr wrap="none" lIns="0" tIns="0">
            <a:spAutoFit/>
          </a:bodyPr>
          <a:lstStyle/>
          <a:p>
            <a:pPr algn="r"/>
            <a:r>
              <a:rPr sz="1000" b="1">
                <a:solidFill>
                  <a:srgbClr val="3A3A3A"/>
                </a:solidFill>
                <a:latin typeface="Noto Sans JP"/>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502920"/>
            <a:ext cx="109728" cy="109728"/>
          </a:xfrm>
          <a:prstGeom prst="rect">
            <a:avLst/>
          </a:prstGeom>
          <a:solidFill>
            <a:srgbClr val="B9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9144000" cy="320040"/>
          </a:xfrm>
          <a:prstGeom prst="rect">
            <a:avLst/>
          </a:prstGeom>
          <a:noFill/>
        </p:spPr>
        <p:txBody>
          <a:bodyPr wrap="none" lIns="0" tIns="0">
            <a:spAutoFit/>
          </a:bodyPr>
          <a:lstStyle/>
          <a:p>
            <a:r>
              <a:rPr sz="1400" b="1">
                <a:solidFill>
                  <a:srgbClr val="141414"/>
                </a:solidFill>
                <a:latin typeface="Noto Sans JP"/>
              </a:rPr>
              <a:t>PHASE 04 / 具体例</a:t>
            </a:r>
          </a:p>
        </p:txBody>
      </p:sp>
      <p:sp>
        <p:nvSpPr>
          <p:cNvPr id="5" name="TextBox 4"/>
          <p:cNvSpPr txBox="1"/>
          <p:nvPr/>
        </p:nvSpPr>
        <p:spPr>
          <a:xfrm>
            <a:off x="594360" y="868680"/>
            <a:ext cx="10972800" cy="731520"/>
          </a:xfrm>
          <a:prstGeom prst="rect">
            <a:avLst/>
          </a:prstGeom>
          <a:noFill/>
        </p:spPr>
        <p:txBody>
          <a:bodyPr wrap="square" lIns="27432" rIns="27432" tIns="18288" bIns="18288" anchor="t">
            <a:spAutoFit/>
          </a:bodyPr>
          <a:lstStyle/>
          <a:p>
            <a:pPr algn="l"/>
            <a:r>
              <a:rPr sz="2200" b="1">
                <a:solidFill>
                  <a:srgbClr val="000000"/>
                </a:solidFill>
                <a:latin typeface="Noto Sans JP"/>
              </a:rPr>
              <a:t>具体例: Step 4で通常判定になった学生の場合</a:t>
            </a:r>
          </a:p>
        </p:txBody>
      </p:sp>
      <p:sp>
        <p:nvSpPr>
          <p:cNvPr id="6" name="Rounded Rectangle 5"/>
          <p:cNvSpPr/>
          <p:nvPr/>
        </p:nvSpPr>
        <p:spPr>
          <a:xfrm>
            <a:off x="594360" y="1600200"/>
            <a:ext cx="10972800" cy="2651760"/>
          </a:xfrm>
          <a:prstGeom prst="roundRect">
            <a:avLst>
              <a:gd name="adj" fmla="val 4000"/>
            </a:avLst>
          </a:prstGeom>
          <a:solidFill>
            <a:srgbClr val="FFFFFF"/>
          </a:solidFill>
          <a:ln w="9525">
            <a:solidFill>
              <a:srgbClr val="C8C3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789920" cy="2560320"/>
          </a:xfrm>
          <a:prstGeom prst="rect">
            <a:avLst/>
          </a:prstGeom>
          <a:noFill/>
        </p:spPr>
        <p:txBody>
          <a:bodyPr wrap="square" lIns="27432" rIns="27432" tIns="18288" bIns="18288" anchor="t">
            <a:spAutoFit/>
          </a:bodyPr>
          <a:lstStyle/>
          <a:p>
            <a:pPr algn="l"/>
            <a:r>
              <a:rPr sz="1100" b="0">
                <a:solidFill>
                  <a:srgbClr val="000000"/>
                </a:solidFill>
                <a:latin typeface="Courier New"/>
              </a:rPr>
              <a:t>返ってくるデータ:</a:t>
            </a:r>
          </a:p>
          <a:p>
            <a:pPr algn="l"/>
            <a:r>
              <a:rPr sz="1100" b="0">
                <a:solidFill>
                  <a:srgbClr val="000000"/>
                </a:solidFill>
                <a:latin typeface="Courier New"/>
              </a:rPr>
              <a:t/>
            </a:r>
          </a:p>
          <a:p>
            <a:pPr algn="l"/>
            <a:r>
              <a:rPr sz="1100" b="0">
                <a:solidFill>
                  <a:srgbClr val="000000"/>
                </a:solidFill>
                <a:latin typeface="Courier New"/>
              </a:rPr>
              <a:t>  判定カテゴリ    = タイプ別マッチング</a:t>
            </a:r>
          </a:p>
          <a:p>
            <a:pPr algn="l"/>
            <a:r>
              <a:rPr sz="1100" b="0">
                <a:solidFill>
                  <a:srgbClr val="000000"/>
                </a:solidFill>
                <a:latin typeface="Courier New"/>
              </a:rPr>
              <a:t>  1位タイプ       = E型（企業型）</a:t>
            </a:r>
          </a:p>
          <a:p>
            <a:pPr algn="l"/>
            <a:r>
              <a:rPr sz="1100" b="0">
                <a:solidFill>
                  <a:srgbClr val="000000"/>
                </a:solidFill>
                <a:latin typeface="Courier New"/>
              </a:rPr>
              <a:t>  2位タイプ       = A型（芸術型）</a:t>
            </a:r>
          </a:p>
          <a:p>
            <a:pPr algn="l"/>
            <a:r>
              <a:rPr sz="1100" b="0">
                <a:solidFill>
                  <a:srgbClr val="000000"/>
                </a:solidFill>
                <a:latin typeface="Courier New"/>
              </a:rPr>
              <a:t>  メインの推薦企業 = 三菱商事, 伊藤忠, 光通信, サイバーエージェント, レバレジーズ</a:t>
            </a:r>
          </a:p>
          <a:p>
            <a:pPr algn="l"/>
            <a:r>
              <a:rPr sz="1100" b="0">
                <a:solidFill>
                  <a:srgbClr val="000000"/>
                </a:solidFill>
                <a:latin typeface="Courier New"/>
              </a:rPr>
              <a:t>  メインの推薦理由 = （各社の理由テキスト）</a:t>
            </a:r>
          </a:p>
          <a:p>
            <a:pPr algn="l"/>
            <a:r>
              <a:rPr sz="1100" b="0">
                <a:solidFill>
                  <a:srgbClr val="000000"/>
                </a:solidFill>
                <a:latin typeface="Courier New"/>
              </a:rPr>
              <a:t>  補足の推薦企業  = 電通, 博報堂, チームラボ, Sansan, 乃村工藝社</a:t>
            </a:r>
          </a:p>
          <a:p>
            <a:pPr algn="l"/>
            <a:r>
              <a:rPr sz="1100" b="0">
                <a:solidFill>
                  <a:srgbClr val="000000"/>
                </a:solidFill>
                <a:latin typeface="Courier New"/>
              </a:rPr>
              <a:t>  補足の推薦理由  = （各社の理由テキスト）</a:t>
            </a:r>
          </a:p>
          <a:p>
            <a:pPr algn="l"/>
            <a:r>
              <a:rPr sz="1100" b="0">
                <a:solidFill>
                  <a:srgbClr val="000000"/>
                </a:solidFill>
                <a:latin typeface="Courier New"/>
              </a:rPr>
              <a:t>  メッセージ     = 「あなたはE型の特性が最も強く、A型の側面も備わっています。」</a:t>
            </a:r>
          </a:p>
        </p:txBody>
      </p:sp>
      <p:sp>
        <p:nvSpPr>
          <p:cNvPr id="8" name="Rounded Rectangle 7"/>
          <p:cNvSpPr/>
          <p:nvPr/>
        </p:nvSpPr>
        <p:spPr>
          <a:xfrm>
            <a:off x="594360" y="4434840"/>
            <a:ext cx="10972800" cy="1097280"/>
          </a:xfrm>
          <a:prstGeom prst="roundRect">
            <a:avLst>
              <a:gd name="adj" fmla="val 4000"/>
            </a:avLst>
          </a:prstGeom>
          <a:solidFill>
            <a:srgbClr val="E8EEF8"/>
          </a:solidFill>
          <a:ln w="9525">
            <a:solidFill>
              <a:srgbClr val="1C4D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4434840"/>
            <a:ext cx="73152" cy="1097280"/>
          </a:xfrm>
          <a:prstGeom prst="rect">
            <a:avLst/>
          </a:prstGeom>
          <a:solidFill>
            <a:srgbClr val="1C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498848"/>
            <a:ext cx="10515600" cy="274320"/>
          </a:xfrm>
          <a:prstGeom prst="rect">
            <a:avLst/>
          </a:prstGeom>
          <a:noFill/>
        </p:spPr>
        <p:txBody>
          <a:bodyPr wrap="square" lIns="27432" rIns="27432" tIns="18288" bIns="18288" anchor="t">
            <a:spAutoFit/>
          </a:bodyPr>
          <a:lstStyle/>
          <a:p>
            <a:pPr algn="l"/>
            <a:r>
              <a:rPr sz="1200" b="1">
                <a:solidFill>
                  <a:srgbClr val="000000"/>
                </a:solidFill>
                <a:latin typeface="Noto Sans JP"/>
              </a:rPr>
              <a:t>ℹ️ 現在の設計</a:t>
            </a:r>
          </a:p>
        </p:txBody>
      </p:sp>
      <p:sp>
        <p:nvSpPr>
          <p:cNvPr id="11" name="Oval 10"/>
          <p:cNvSpPr/>
          <p:nvPr/>
        </p:nvSpPr>
        <p:spPr>
          <a:xfrm>
            <a:off x="914400" y="4892040"/>
            <a:ext cx="64008" cy="64008"/>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4800600"/>
            <a:ext cx="10241280" cy="320040"/>
          </a:xfrm>
          <a:prstGeom prst="rect">
            <a:avLst/>
          </a:prstGeom>
          <a:noFill/>
        </p:spPr>
        <p:txBody>
          <a:bodyPr wrap="square" lIns="27432" rIns="27432" tIns="18288" bIns="18288" anchor="t">
            <a:spAutoFit/>
          </a:bodyPr>
          <a:lstStyle/>
          <a:p>
            <a:pPr algn="l"/>
            <a:r>
              <a:rPr sz="1000" b="1">
                <a:solidFill>
                  <a:srgbClr val="000000"/>
                </a:solidFill>
                <a:latin typeface="Noto Sans JP"/>
              </a:rPr>
              <a:t>データの形式</a:t>
            </a:r>
            <a:r>
              <a:rPr sz="1000" b="0">
                <a:solidFill>
                  <a:srgbClr val="000000"/>
                </a:solidFill>
                <a:latin typeface="Noto Sans JP"/>
              </a:rPr>
              <a:t>: エヌイチ側で上記の構成で作っている。MIL様側の実装に合わせて調整可能（上馬場様からの回答待ち）</a:t>
            </a:r>
          </a:p>
        </p:txBody>
      </p:sp>
      <p:sp>
        <p:nvSpPr>
          <p:cNvPr id="13" name="Oval 12"/>
          <p:cNvSpPr/>
          <p:nvPr/>
        </p:nvSpPr>
        <p:spPr>
          <a:xfrm>
            <a:off x="914400" y="5202936"/>
            <a:ext cx="64008" cy="64008"/>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5111496"/>
            <a:ext cx="10241280" cy="320040"/>
          </a:xfrm>
          <a:prstGeom prst="rect">
            <a:avLst/>
          </a:prstGeom>
          <a:noFill/>
        </p:spPr>
        <p:txBody>
          <a:bodyPr wrap="square" lIns="27432" rIns="27432" tIns="18288" bIns="18288" anchor="t">
            <a:spAutoFit/>
          </a:bodyPr>
          <a:lstStyle/>
          <a:p>
            <a:pPr algn="l"/>
            <a:r>
              <a:rPr sz="1000" b="1">
                <a:solidFill>
                  <a:srgbClr val="000000"/>
                </a:solidFill>
                <a:latin typeface="Noto Sans JP"/>
              </a:rPr>
              <a:t>企業名の形式</a:t>
            </a:r>
            <a:r>
              <a:rPr sz="1000" b="0">
                <a:solidFill>
                  <a:srgbClr val="000000"/>
                </a:solidFill>
                <a:latin typeface="Noto Sans JP"/>
              </a:rPr>
              <a:t>: 現在はカンマ区切りの文字列で返している</a:t>
            </a:r>
          </a:p>
        </p:txBody>
      </p:sp>
      <p:sp>
        <p:nvSpPr>
          <p:cNvPr id="15" name="Rounded Rectangle 14"/>
          <p:cNvSpPr/>
          <p:nvPr/>
        </p:nvSpPr>
        <p:spPr>
          <a:xfrm>
            <a:off x="594360" y="5669280"/>
            <a:ext cx="5349240" cy="731520"/>
          </a:xfrm>
          <a:prstGeom prst="roundRect">
            <a:avLst>
              <a:gd name="adj" fmla="val 4000"/>
            </a:avLst>
          </a:prstGeom>
          <a:solidFill>
            <a:srgbClr val="FFF3D6"/>
          </a:solidFill>
          <a:ln w="9525">
            <a:solidFill>
              <a:srgbClr val="B46A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760720"/>
            <a:ext cx="5029200" cy="548640"/>
          </a:xfrm>
          <a:prstGeom prst="rect">
            <a:avLst/>
          </a:prstGeom>
          <a:noFill/>
        </p:spPr>
        <p:txBody>
          <a:bodyPr wrap="square" lIns="27432" rIns="27432" tIns="18288" bIns="18288" anchor="t">
            <a:spAutoFit/>
          </a:bodyPr>
          <a:lstStyle/>
          <a:p>
            <a:pPr algn="l"/>
            <a:r>
              <a:rPr sz="1200" b="1">
                <a:solidFill>
                  <a:srgbClr val="6B3A00"/>
                </a:solidFill>
                <a:latin typeface="Noto Sans JP"/>
              </a:rPr>
              <a:t>→ 確認</a:t>
            </a:r>
          </a:p>
          <a:p>
            <a:pPr algn="l"/>
            <a:r>
              <a:rPr sz="1100" b="0">
                <a:solidFill>
                  <a:srgbClr val="141414"/>
                </a:solidFill>
                <a:latin typeface="Noto Sans JP"/>
              </a:rPr>
              <a:t>データの項目名・形式がMIL様の実装に合うか</a:t>
            </a:r>
          </a:p>
        </p:txBody>
      </p:sp>
      <p:sp>
        <p:nvSpPr>
          <p:cNvPr id="17" name="Rounded Rectangle 16"/>
          <p:cNvSpPr/>
          <p:nvPr/>
        </p:nvSpPr>
        <p:spPr>
          <a:xfrm>
            <a:off x="6217920" y="5669280"/>
            <a:ext cx="5349240" cy="731520"/>
          </a:xfrm>
          <a:prstGeom prst="roundRect">
            <a:avLst>
              <a:gd name="adj" fmla="val 4000"/>
            </a:avLst>
          </a:prstGeom>
          <a:solidFill>
            <a:srgbClr val="FFF3D6"/>
          </a:solidFill>
          <a:ln w="9525">
            <a:solidFill>
              <a:srgbClr val="B46A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5760720"/>
            <a:ext cx="5029200" cy="548640"/>
          </a:xfrm>
          <a:prstGeom prst="rect">
            <a:avLst/>
          </a:prstGeom>
          <a:noFill/>
        </p:spPr>
        <p:txBody>
          <a:bodyPr wrap="square" lIns="27432" rIns="27432" tIns="18288" bIns="18288" anchor="t">
            <a:spAutoFit/>
          </a:bodyPr>
          <a:lstStyle/>
          <a:p>
            <a:pPr algn="l"/>
            <a:r>
              <a:rPr sz="1200" b="1">
                <a:solidFill>
                  <a:srgbClr val="6B3A00"/>
                </a:solidFill>
                <a:latin typeface="Noto Sans JP"/>
              </a:rPr>
              <a:t>→ 相談</a:t>
            </a:r>
          </a:p>
          <a:p>
            <a:pPr algn="l"/>
            <a:r>
              <a:rPr sz="1100" b="0">
                <a:solidFill>
                  <a:srgbClr val="141414"/>
                </a:solidFill>
                <a:latin typeface="Noto Sans JP"/>
              </a:rPr>
              <a:t>企業名を配列とカンマ区切りのどちらで返すか</a:t>
            </a:r>
          </a:p>
        </p:txBody>
      </p:sp>
      <p:sp>
        <p:nvSpPr>
          <p:cNvPr id="19" name="TextBox 18"/>
          <p:cNvSpPr txBox="1"/>
          <p:nvPr/>
        </p:nvSpPr>
        <p:spPr>
          <a:xfrm>
            <a:off x="457200" y="6492240"/>
            <a:ext cx="3657600" cy="274320"/>
          </a:xfrm>
          <a:prstGeom prst="rect">
            <a:avLst/>
          </a:prstGeom>
          <a:noFill/>
        </p:spPr>
        <p:txBody>
          <a:bodyPr wrap="none" lIns="0" tIns="0">
            <a:spAutoFit/>
          </a:bodyPr>
          <a:lstStyle/>
          <a:p>
            <a:r>
              <a:rPr sz="1000" b="1">
                <a:solidFill>
                  <a:srgbClr val="3A3A3A"/>
                </a:solidFill>
                <a:latin typeface="Noto Sans JP"/>
              </a:rPr>
              <a:t>TOMOSHIKA</a:t>
            </a:r>
          </a:p>
        </p:txBody>
      </p:sp>
      <p:sp>
        <p:nvSpPr>
          <p:cNvPr id="20" name="TextBox 19"/>
          <p:cNvSpPr txBox="1"/>
          <p:nvPr/>
        </p:nvSpPr>
        <p:spPr>
          <a:xfrm>
            <a:off x="10972800" y="6492240"/>
            <a:ext cx="914400" cy="274320"/>
          </a:xfrm>
          <a:prstGeom prst="rect">
            <a:avLst/>
          </a:prstGeom>
          <a:noFill/>
        </p:spPr>
        <p:txBody>
          <a:bodyPr wrap="none" lIns="0" tIns="0">
            <a:spAutoFit/>
          </a:bodyPr>
          <a:lstStyle/>
          <a:p>
            <a:pPr algn="r"/>
            <a:r>
              <a:rPr sz="1000" b="1">
                <a:solidFill>
                  <a:srgbClr val="3A3A3A"/>
                </a:solidFill>
                <a:latin typeface="Noto Sans JP"/>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502920"/>
            <a:ext cx="128016" cy="128016"/>
          </a:xfrm>
          <a:prstGeom prst="rect">
            <a:avLst/>
          </a:prstGeom>
          <a:solidFill>
            <a:srgbClr val="E8C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429768"/>
            <a:ext cx="9144000" cy="320040"/>
          </a:xfrm>
          <a:prstGeom prst="rect">
            <a:avLst/>
          </a:prstGeom>
          <a:noFill/>
        </p:spPr>
        <p:txBody>
          <a:bodyPr wrap="square" lIns="27432" rIns="27432" tIns="18288" bIns="18288" anchor="t">
            <a:spAutoFit/>
          </a:bodyPr>
          <a:lstStyle/>
          <a:p>
            <a:pPr algn="l"/>
            <a:r>
              <a:rPr sz="1300" b="1">
                <a:solidFill>
                  <a:srgbClr val="E3DCC9"/>
                </a:solidFill>
                <a:latin typeface="Noto Sans JP"/>
              </a:rPr>
              <a:t>AGENDA</a:t>
            </a:r>
          </a:p>
        </p:txBody>
      </p:sp>
      <p:sp>
        <p:nvSpPr>
          <p:cNvPr id="5" name="TextBox 4"/>
          <p:cNvSpPr txBox="1"/>
          <p:nvPr/>
        </p:nvSpPr>
        <p:spPr>
          <a:xfrm>
            <a:off x="822960" y="1371600"/>
            <a:ext cx="5486400" cy="2286000"/>
          </a:xfrm>
          <a:prstGeom prst="rect">
            <a:avLst/>
          </a:prstGeom>
          <a:noFill/>
        </p:spPr>
        <p:txBody>
          <a:bodyPr wrap="square" lIns="27432" rIns="27432" tIns="18288" bIns="18288" anchor="t">
            <a:spAutoFit/>
          </a:bodyPr>
          <a:lstStyle/>
          <a:p>
            <a:pPr algn="l"/>
            <a:r>
              <a:rPr sz="14000" b="1">
                <a:solidFill>
                  <a:srgbClr val="D6A03A"/>
                </a:solidFill>
                <a:latin typeface="Noto Sans JP"/>
              </a:rPr>
              <a:t>※</a:t>
            </a:r>
          </a:p>
        </p:txBody>
      </p:sp>
      <p:sp>
        <p:nvSpPr>
          <p:cNvPr id="6" name="TextBox 5"/>
          <p:cNvSpPr txBox="1"/>
          <p:nvPr/>
        </p:nvSpPr>
        <p:spPr>
          <a:xfrm>
            <a:off x="822960" y="3657600"/>
            <a:ext cx="10972800" cy="1097280"/>
          </a:xfrm>
          <a:prstGeom prst="rect">
            <a:avLst/>
          </a:prstGeom>
          <a:noFill/>
        </p:spPr>
        <p:txBody>
          <a:bodyPr wrap="square" lIns="27432" rIns="27432" tIns="18288" bIns="18288" anchor="t">
            <a:spAutoFit/>
          </a:bodyPr>
          <a:lstStyle/>
          <a:p>
            <a:pPr algn="l"/>
            <a:r>
              <a:rPr sz="5200" b="1">
                <a:solidFill>
                  <a:srgbClr val="FFFFFF"/>
                </a:solidFill>
                <a:latin typeface="Noto Sans JP"/>
              </a:rPr>
              <a:t>会議で扱う事項まとめ</a:t>
            </a:r>
          </a:p>
        </p:txBody>
      </p:sp>
      <p:sp>
        <p:nvSpPr>
          <p:cNvPr id="7" name="TextBox 6"/>
          <p:cNvSpPr txBox="1"/>
          <p:nvPr/>
        </p:nvSpPr>
        <p:spPr>
          <a:xfrm>
            <a:off x="822960" y="4846320"/>
            <a:ext cx="10972800" cy="1645920"/>
          </a:xfrm>
          <a:prstGeom prst="rect">
            <a:avLst/>
          </a:prstGeom>
          <a:noFill/>
        </p:spPr>
        <p:txBody>
          <a:bodyPr wrap="square" lIns="27432" rIns="27432" tIns="18288" bIns="18288" anchor="t">
            <a:spAutoFit/>
          </a:bodyPr>
          <a:lstStyle/>
          <a:p>
            <a:pPr algn="l">
              <a:lnSpc>
                <a:spcPct val="140000"/>
              </a:lnSpc>
            </a:pPr>
            <a:r>
              <a:rPr sz="1500" b="0">
                <a:solidFill>
                  <a:srgbClr val="E3DCC9"/>
                </a:solidFill>
                <a:latin typeface="Noto Sans JP"/>
              </a:rPr>
              <a:t>共有 ／ 確認 ／ 相談 の3種類に分けて整理する。</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502920"/>
            <a:ext cx="109728" cy="109728"/>
          </a:xfrm>
          <a:prstGeom prst="rect">
            <a:avLst/>
          </a:prstGeom>
          <a:solidFill>
            <a:srgbClr val="B9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9144000" cy="320040"/>
          </a:xfrm>
          <a:prstGeom prst="rect">
            <a:avLst/>
          </a:prstGeom>
          <a:noFill/>
        </p:spPr>
        <p:txBody>
          <a:bodyPr wrap="none" lIns="0" tIns="0">
            <a:spAutoFit/>
          </a:bodyPr>
          <a:lstStyle/>
          <a:p>
            <a:r>
              <a:rPr sz="1400" b="1">
                <a:solidFill>
                  <a:srgbClr val="141414"/>
                </a:solidFill>
                <a:latin typeface="Noto Sans JP"/>
              </a:rPr>
              <a:t>AGENDA / 共有</a:t>
            </a:r>
          </a:p>
        </p:txBody>
      </p:sp>
      <p:sp>
        <p:nvSpPr>
          <p:cNvPr id="5" name="TextBox 4"/>
          <p:cNvSpPr txBox="1"/>
          <p:nvPr/>
        </p:nvSpPr>
        <p:spPr>
          <a:xfrm>
            <a:off x="594360" y="868680"/>
            <a:ext cx="10972800" cy="731520"/>
          </a:xfrm>
          <a:prstGeom prst="rect">
            <a:avLst/>
          </a:prstGeom>
          <a:noFill/>
        </p:spPr>
        <p:txBody>
          <a:bodyPr wrap="square" lIns="27432" rIns="27432" tIns="18288" bIns="18288" anchor="t">
            <a:spAutoFit/>
          </a:bodyPr>
          <a:lstStyle/>
          <a:p>
            <a:pPr algn="l"/>
            <a:r>
              <a:rPr sz="2400" b="1">
                <a:solidFill>
                  <a:srgbClr val="000000"/>
                </a:solidFill>
                <a:latin typeface="Noto Sans JP"/>
              </a:rPr>
              <a:t>共有（エヌイチから三社に伝える事項）</a:t>
            </a:r>
          </a:p>
        </p:txBody>
      </p:sp>
      <p:graphicFrame>
        <p:nvGraphicFramePr>
          <p:cNvPr id="6" name="Table 5"/>
          <p:cNvGraphicFramePr>
            <a:graphicFrameLocks noGrp="1"/>
          </p:cNvGraphicFramePr>
          <p:nvPr/>
        </p:nvGraphicFramePr>
        <p:xfrm>
          <a:off x="594360" y="1737360"/>
          <a:ext cx="10972800" cy="4114800"/>
        </p:xfrm>
        <a:graphic>
          <a:graphicData uri="http://schemas.openxmlformats.org/drawingml/2006/table">
            <a:tbl>
              <a:tblPr firstRow="1" bandRow="1">
                <a:tableStyleId>{5C22544A-7EE6-4342-B048-85BDC9FD1C3A}</a:tableStyleId>
              </a:tblPr>
              <a:tblGrid>
                <a:gridCol w="731520"/>
                <a:gridCol w="10241280"/>
              </a:tblGrid>
              <a:tr h="587828">
                <a:tc>
                  <a:txBody>
                    <a:bodyPr wrap="square" lIns="45720" rIns="45720" tIns="36576" bIns="36576"/>
                    <a:lstStyle/>
                    <a:p>
                      <a:r>
                        <a:rPr sz="1200" b="1">
                          <a:solidFill>
                            <a:srgbClr val="000000"/>
                          </a:solidFill>
                          <a:latin typeface="Noto Sans JP"/>
                        </a:rPr>
                        <a:t>#</a:t>
                      </a:r>
                    </a:p>
                  </a:txBody>
                  <a:tcPr marL="73152" marR="73152" marT="45720" marB="45720" anchor="t">
                    <a:solidFill>
                      <a:srgbClr val="EDE6D2"/>
                    </a:solidFill>
                  </a:tcPr>
                </a:tc>
                <a:tc>
                  <a:txBody>
                    <a:bodyPr wrap="square" lIns="45720" rIns="45720" tIns="36576" bIns="36576"/>
                    <a:lstStyle/>
                    <a:p>
                      <a:r>
                        <a:rPr sz="1200" b="1">
                          <a:solidFill>
                            <a:srgbClr val="000000"/>
                          </a:solidFill>
                          <a:latin typeface="Noto Sans JP"/>
                        </a:rPr>
                        <a:t>内容</a:t>
                      </a:r>
                    </a:p>
                  </a:txBody>
                  <a:tcPr marL="73152" marR="73152" marT="45720" marB="45720" anchor="t">
                    <a:solidFill>
                      <a:srgbClr val="EDE6D2"/>
                    </a:solidFill>
                  </a:tcPr>
                </a:tc>
              </a:tr>
              <a:tr h="587828">
                <a:tc>
                  <a:txBody>
                    <a:bodyPr wrap="square" lIns="45720" rIns="45720" tIns="36576" bIns="36576"/>
                    <a:lstStyle/>
                    <a:p>
                      <a:r>
                        <a:rPr sz="1200" b="0">
                          <a:solidFill>
                            <a:srgbClr val="000000"/>
                          </a:solidFill>
                          <a:latin typeface="Noto Sans JP"/>
                        </a:rPr>
                        <a:t>1</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6タイプの合計点はMIL様側で計算し、Difyには合計済みの点数を送る設計になっている</a:t>
                      </a:r>
                    </a:p>
                  </a:txBody>
                  <a:tcPr marL="73152" marR="73152" marT="45720" marB="45720" anchor="t">
                    <a:solidFill>
                      <a:srgbClr val="FFFFFF"/>
                    </a:solidFill>
                  </a:tcPr>
                </a:tc>
              </a:tr>
              <a:tr h="587828">
                <a:tc>
                  <a:txBody>
                    <a:bodyPr wrap="square" lIns="45720" rIns="45720" tIns="36576" bIns="36576"/>
                    <a:lstStyle/>
                    <a:p>
                      <a:r>
                        <a:rPr sz="1200" b="0">
                          <a:solidFill>
                            <a:srgbClr val="000000"/>
                          </a:solidFill>
                          <a:latin typeface="Noto Sans JP"/>
                        </a:rPr>
                        <a:t>2</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嘘回答補正（Q49=5のとき×0.8）はDify側で処理する設計になっている</a:t>
                      </a:r>
                    </a:p>
                  </a:txBody>
                  <a:tcPr marL="73152" marR="73152" marT="45720" marB="45720" anchor="t">
                    <a:solidFill>
                      <a:srgbClr val="FFFFFF"/>
                    </a:solidFill>
                  </a:tcPr>
                </a:tc>
              </a:tr>
              <a:tr h="587828">
                <a:tc>
                  <a:txBody>
                    <a:bodyPr wrap="square" lIns="45720" rIns="45720" tIns="36576" bIns="36576"/>
                    <a:lstStyle/>
                    <a:p>
                      <a:r>
                        <a:rPr sz="1200" b="0">
                          <a:solidFill>
                            <a:srgbClr val="000000"/>
                          </a:solidFill>
                          <a:latin typeface="Noto Sans JP"/>
                        </a:rPr>
                        <a:t>3</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企業リスト・推薦理由テキストは4/10に津丸様のExcelに基づいて登録済み</a:t>
                      </a:r>
                    </a:p>
                  </a:txBody>
                  <a:tcPr marL="73152" marR="73152" marT="45720" marB="45720" anchor="t">
                    <a:solidFill>
                      <a:srgbClr val="FFFFFF"/>
                    </a:solidFill>
                  </a:tcPr>
                </a:tc>
              </a:tr>
              <a:tr h="587828">
                <a:tc>
                  <a:txBody>
                    <a:bodyPr wrap="square" lIns="45720" rIns="45720" tIns="36576" bIns="36576"/>
                    <a:lstStyle/>
                    <a:p>
                      <a:r>
                        <a:rPr sz="1200" b="0">
                          <a:solidFill>
                            <a:srgbClr val="000000"/>
                          </a:solidFill>
                          <a:latin typeface="Noto Sans JP"/>
                        </a:rPr>
                        <a:t>4</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中西該当の場合でもQ50が3点未満（BtoC寄り）の学生には中西製作所様を案内しない。通常判定（Step 4）に回してBtoC企業を推薦する</a:t>
                      </a:r>
                    </a:p>
                  </a:txBody>
                  <a:tcPr marL="73152" marR="73152" marT="45720" marB="45720" anchor="t">
                    <a:solidFill>
                      <a:srgbClr val="FFFFFF"/>
                    </a:solidFill>
                  </a:tcPr>
                </a:tc>
              </a:tr>
              <a:tr h="587828">
                <a:tc>
                  <a:txBody>
                    <a:bodyPr wrap="square" lIns="45720" rIns="45720" tIns="36576" bIns="36576"/>
                    <a:lstStyle/>
                    <a:p>
                      <a:r>
                        <a:rPr sz="1200" b="0">
                          <a:solidFill>
                            <a:srgbClr val="000000"/>
                          </a:solidFill>
                          <a:latin typeface="Noto Sans JP"/>
                        </a:rPr>
                        <a:t>5</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APIキーとエンドポイントURLは中西製作所様のDifyアカウントから発行される。Dify有料プラン切替後にMIL様へ共有する</a:t>
                      </a:r>
                    </a:p>
                  </a:txBody>
                  <a:tcPr marL="73152" marR="73152" marT="45720" marB="45720" anchor="t">
                    <a:solidFill>
                      <a:srgbClr val="FFFFFF"/>
                    </a:solidFill>
                  </a:tcPr>
                </a:tc>
              </a:tr>
              <a:tr h="587832">
                <a:tc>
                  <a:txBody>
                    <a:bodyPr wrap="square" lIns="45720" rIns="45720" tIns="36576" bIns="36576"/>
                    <a:lstStyle/>
                    <a:p>
                      <a:r>
                        <a:rPr sz="1200" b="0">
                          <a:solidFill>
                            <a:srgbClr val="000000"/>
                          </a:solidFill>
                          <a:latin typeface="Noto Sans JP"/>
                        </a:rPr>
                        <a:t>6</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フェーズ2（送信）とフェーズ4（返却）は1回の通信の行きと帰り。フェーズ4でMIL様側の追加設定は不要</a:t>
                      </a:r>
                    </a:p>
                  </a:txBody>
                  <a:tcPr marL="73152" marR="73152" marT="45720" marB="45720" anchor="t">
                    <a:solidFill>
                      <a:srgbClr val="FFFFFF"/>
                    </a:solidFill>
                  </a:tcPr>
                </a:tc>
              </a:tr>
            </a:tbl>
          </a:graphicData>
        </a:graphic>
      </p:graphicFrame>
      <p:sp>
        <p:nvSpPr>
          <p:cNvPr id="7" name="TextBox 6"/>
          <p:cNvSpPr txBox="1"/>
          <p:nvPr/>
        </p:nvSpPr>
        <p:spPr>
          <a:xfrm>
            <a:off x="457200" y="6492240"/>
            <a:ext cx="3657600" cy="274320"/>
          </a:xfrm>
          <a:prstGeom prst="rect">
            <a:avLst/>
          </a:prstGeom>
          <a:noFill/>
        </p:spPr>
        <p:txBody>
          <a:bodyPr wrap="none" lIns="0" tIns="0">
            <a:spAutoFit/>
          </a:bodyPr>
          <a:lstStyle/>
          <a:p>
            <a:r>
              <a:rPr sz="1000" b="1">
                <a:solidFill>
                  <a:srgbClr val="3A3A3A"/>
                </a:solidFill>
                <a:latin typeface="Noto Sans JP"/>
              </a:rPr>
              <a:t>TOMOSHIKA</a:t>
            </a:r>
          </a:p>
        </p:txBody>
      </p:sp>
      <p:sp>
        <p:nvSpPr>
          <p:cNvPr id="8" name="TextBox 7"/>
          <p:cNvSpPr txBox="1"/>
          <p:nvPr/>
        </p:nvSpPr>
        <p:spPr>
          <a:xfrm>
            <a:off x="10972800" y="6492240"/>
            <a:ext cx="914400" cy="274320"/>
          </a:xfrm>
          <a:prstGeom prst="rect">
            <a:avLst/>
          </a:prstGeom>
          <a:noFill/>
        </p:spPr>
        <p:txBody>
          <a:bodyPr wrap="none" lIns="0" tIns="0">
            <a:spAutoFit/>
          </a:bodyPr>
          <a:lstStyle/>
          <a:p>
            <a:pPr algn="r"/>
            <a:r>
              <a:rPr sz="1000" b="1">
                <a:solidFill>
                  <a:srgbClr val="3A3A3A"/>
                </a:solidFill>
                <a:latin typeface="Noto Sans JP"/>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502920"/>
            <a:ext cx="109728" cy="109728"/>
          </a:xfrm>
          <a:prstGeom prst="rect">
            <a:avLst/>
          </a:prstGeom>
          <a:solidFill>
            <a:srgbClr val="B9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9144000" cy="320040"/>
          </a:xfrm>
          <a:prstGeom prst="rect">
            <a:avLst/>
          </a:prstGeom>
          <a:noFill/>
        </p:spPr>
        <p:txBody>
          <a:bodyPr wrap="none" lIns="0" tIns="0">
            <a:spAutoFit/>
          </a:bodyPr>
          <a:lstStyle/>
          <a:p>
            <a:r>
              <a:rPr sz="1400" b="1">
                <a:solidFill>
                  <a:srgbClr val="141414"/>
                </a:solidFill>
                <a:latin typeface="Noto Sans JP"/>
              </a:rPr>
              <a:t>AGENDA / 確認</a:t>
            </a:r>
          </a:p>
        </p:txBody>
      </p:sp>
      <p:sp>
        <p:nvSpPr>
          <p:cNvPr id="5" name="TextBox 4"/>
          <p:cNvSpPr txBox="1"/>
          <p:nvPr/>
        </p:nvSpPr>
        <p:spPr>
          <a:xfrm>
            <a:off x="594360" y="868680"/>
            <a:ext cx="10972800" cy="731520"/>
          </a:xfrm>
          <a:prstGeom prst="rect">
            <a:avLst/>
          </a:prstGeom>
          <a:noFill/>
        </p:spPr>
        <p:txBody>
          <a:bodyPr wrap="square" lIns="27432" rIns="27432" tIns="18288" bIns="18288" anchor="t">
            <a:spAutoFit/>
          </a:bodyPr>
          <a:lstStyle/>
          <a:p>
            <a:pPr algn="l"/>
            <a:r>
              <a:rPr sz="2400" b="1">
                <a:solidFill>
                  <a:srgbClr val="000000"/>
                </a:solidFill>
                <a:latin typeface="Noto Sans JP"/>
              </a:rPr>
              <a:t>確認（三社間で認識を合わせる事項）</a:t>
            </a:r>
          </a:p>
        </p:txBody>
      </p:sp>
      <p:graphicFrame>
        <p:nvGraphicFramePr>
          <p:cNvPr id="6" name="Table 5"/>
          <p:cNvGraphicFramePr>
            <a:graphicFrameLocks noGrp="1"/>
          </p:cNvGraphicFramePr>
          <p:nvPr/>
        </p:nvGraphicFramePr>
        <p:xfrm>
          <a:off x="594360" y="1737360"/>
          <a:ext cx="10972800" cy="3657600"/>
        </p:xfrm>
        <a:graphic>
          <a:graphicData uri="http://schemas.openxmlformats.org/drawingml/2006/table">
            <a:tbl>
              <a:tblPr firstRow="1" bandRow="1">
                <a:tableStyleId>{5C22544A-7EE6-4342-B048-85BDC9FD1C3A}</a:tableStyleId>
              </a:tblPr>
              <a:tblGrid>
                <a:gridCol w="731520"/>
                <a:gridCol w="7863840"/>
                <a:gridCol w="2377440"/>
              </a:tblGrid>
              <a:tr h="609600">
                <a:tc>
                  <a:txBody>
                    <a:bodyPr wrap="square" lIns="45720" rIns="45720" tIns="36576" bIns="36576"/>
                    <a:lstStyle/>
                    <a:p>
                      <a:r>
                        <a:rPr sz="1200" b="1">
                          <a:solidFill>
                            <a:srgbClr val="000000"/>
                          </a:solidFill>
                          <a:latin typeface="Noto Sans JP"/>
                        </a:rPr>
                        <a:t>#</a:t>
                      </a:r>
                    </a:p>
                  </a:txBody>
                  <a:tcPr marL="73152" marR="73152" marT="45720" marB="45720" anchor="t">
                    <a:solidFill>
                      <a:srgbClr val="EDE6D2"/>
                    </a:solidFill>
                  </a:tcPr>
                </a:tc>
                <a:tc>
                  <a:txBody>
                    <a:bodyPr wrap="square" lIns="45720" rIns="45720" tIns="36576" bIns="36576"/>
                    <a:lstStyle/>
                    <a:p>
                      <a:r>
                        <a:rPr sz="1200" b="1">
                          <a:solidFill>
                            <a:srgbClr val="000000"/>
                          </a:solidFill>
                          <a:latin typeface="Noto Sans JP"/>
                        </a:rPr>
                        <a:t>内容</a:t>
                      </a:r>
                    </a:p>
                  </a:txBody>
                  <a:tcPr marL="73152" marR="73152" marT="45720" marB="45720" anchor="t">
                    <a:solidFill>
                      <a:srgbClr val="EDE6D2"/>
                    </a:solidFill>
                  </a:tcPr>
                </a:tc>
                <a:tc>
                  <a:txBody>
                    <a:bodyPr wrap="square" lIns="45720" rIns="45720" tIns="36576" bIns="36576"/>
                    <a:lstStyle/>
                    <a:p>
                      <a:r>
                        <a:rPr sz="1200" b="1">
                          <a:solidFill>
                            <a:srgbClr val="000000"/>
                          </a:solidFill>
                          <a:latin typeface="Noto Sans JP"/>
                        </a:rPr>
                        <a:t>確認相手</a:t>
                      </a:r>
                    </a:p>
                  </a:txBody>
                  <a:tcPr marL="73152" marR="73152" marT="45720" marB="45720" anchor="t">
                    <a:solidFill>
                      <a:srgbClr val="EDE6D2"/>
                    </a:solidFill>
                  </a:tcPr>
                </a:tc>
              </a:tr>
              <a:tr h="609600">
                <a:tc>
                  <a:txBody>
                    <a:bodyPr wrap="square" lIns="45720" rIns="45720" tIns="36576" bIns="36576"/>
                    <a:lstStyle/>
                    <a:p>
                      <a:r>
                        <a:rPr sz="1200" b="0">
                          <a:solidFill>
                            <a:srgbClr val="000000"/>
                          </a:solidFill>
                          <a:latin typeface="Noto Sans JP"/>
                        </a:rPr>
                        <a:t>7</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データの項目名（R, I, A, S, E, C, Q30, Q31, Q49, Q50, Q51）がMIL様の実装と合っているか</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MIL様</a:t>
                      </a:r>
                    </a:p>
                  </a:txBody>
                  <a:tcPr marL="73152" marR="73152" marT="45720" marB="45720" anchor="t">
                    <a:solidFill>
                      <a:srgbClr val="FFFFFF"/>
                    </a:solidFill>
                  </a:tcPr>
                </a:tc>
              </a:tr>
              <a:tr h="609600">
                <a:tc>
                  <a:txBody>
                    <a:bodyPr wrap="square" lIns="45720" rIns="45720" tIns="36576" bIns="36576"/>
                    <a:lstStyle/>
                    <a:p>
                      <a:r>
                        <a:rPr sz="1200" b="0">
                          <a:solidFill>
                            <a:srgbClr val="000000"/>
                          </a:solidFill>
                          <a:latin typeface="Noto Sans JP"/>
                        </a:rPr>
                        <a:t>8</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各点数の範囲（6タイプは4〜20、その他は1〜5）に認識のずれがないか</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MIL様・中西製作所様</a:t>
                      </a:r>
                    </a:p>
                  </a:txBody>
                  <a:tcPr marL="73152" marR="73152" marT="45720" marB="45720" anchor="t">
                    <a:solidFill>
                      <a:srgbClr val="FFFFFF"/>
                    </a:solidFill>
                  </a:tcPr>
                </a:tc>
              </a:tr>
              <a:tr h="609600">
                <a:tc>
                  <a:txBody>
                    <a:bodyPr wrap="square" lIns="45720" rIns="45720" tIns="36576" bIns="36576"/>
                    <a:lstStyle/>
                    <a:p>
                      <a:r>
                        <a:rPr sz="1200" b="0">
                          <a:solidFill>
                            <a:srgbClr val="000000"/>
                          </a:solidFill>
                          <a:latin typeface="Noto Sans JP"/>
                        </a:rPr>
                        <a:t>9</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返却データの項目名・形式がMIL様の画面実装に合うか</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MIL様</a:t>
                      </a:r>
                    </a:p>
                  </a:txBody>
                  <a:tcPr marL="73152" marR="73152" marT="45720" marB="45720" anchor="t">
                    <a:solidFill>
                      <a:srgbClr val="FFFFFF"/>
                    </a:solidFill>
                  </a:tcPr>
                </a:tc>
              </a:tr>
              <a:tr h="609600">
                <a:tc>
                  <a:txBody>
                    <a:bodyPr wrap="square" lIns="45720" rIns="45720" tIns="36576" bIns="36576"/>
                    <a:lstStyle/>
                    <a:p>
                      <a:r>
                        <a:rPr sz="1200" b="0">
                          <a:solidFill>
                            <a:srgbClr val="000000"/>
                          </a:solidFill>
                          <a:latin typeface="Noto Sans JP"/>
                        </a:rPr>
                        <a:t>10</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企業リストの内容に変更・追加がないか</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中西製作所様</a:t>
                      </a:r>
                    </a:p>
                  </a:txBody>
                  <a:tcPr marL="73152" marR="73152" marT="45720" marB="45720" anchor="t">
                    <a:solidFill>
                      <a:srgbClr val="FFFFFF"/>
                    </a:solidFill>
                  </a:tcPr>
                </a:tc>
              </a:tr>
              <a:tr h="609600">
                <a:tc>
                  <a:txBody>
                    <a:bodyPr wrap="square" lIns="45720" rIns="45720" tIns="36576" bIns="36576"/>
                    <a:lstStyle/>
                    <a:p>
                      <a:r>
                        <a:rPr sz="1200" b="0">
                          <a:solidFill>
                            <a:srgbClr val="000000"/>
                          </a:solidFill>
                          <a:latin typeface="Noto Sans JP"/>
                        </a:rPr>
                        <a:t>11</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偏差値化（強調フラグ）は初期運用では保留し、1,000件以降で実装する方針でよいか</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中西製作所様</a:t>
                      </a:r>
                    </a:p>
                  </a:txBody>
                  <a:tcPr marL="73152" marR="73152" marT="45720" marB="45720" anchor="t">
                    <a:solidFill>
                      <a:srgbClr val="FFFFFF"/>
                    </a:solidFill>
                  </a:tcPr>
                </a:tc>
              </a:tr>
            </a:tbl>
          </a:graphicData>
        </a:graphic>
      </p:graphicFrame>
      <p:sp>
        <p:nvSpPr>
          <p:cNvPr id="7" name="TextBox 6"/>
          <p:cNvSpPr txBox="1"/>
          <p:nvPr/>
        </p:nvSpPr>
        <p:spPr>
          <a:xfrm>
            <a:off x="457200" y="6492240"/>
            <a:ext cx="3657600" cy="274320"/>
          </a:xfrm>
          <a:prstGeom prst="rect">
            <a:avLst/>
          </a:prstGeom>
          <a:noFill/>
        </p:spPr>
        <p:txBody>
          <a:bodyPr wrap="none" lIns="0" tIns="0">
            <a:spAutoFit/>
          </a:bodyPr>
          <a:lstStyle/>
          <a:p>
            <a:r>
              <a:rPr sz="1000" b="1">
                <a:solidFill>
                  <a:srgbClr val="3A3A3A"/>
                </a:solidFill>
                <a:latin typeface="Noto Sans JP"/>
              </a:rPr>
              <a:t>TOMOSHIKA</a:t>
            </a:r>
          </a:p>
        </p:txBody>
      </p:sp>
      <p:sp>
        <p:nvSpPr>
          <p:cNvPr id="8" name="TextBox 7"/>
          <p:cNvSpPr txBox="1"/>
          <p:nvPr/>
        </p:nvSpPr>
        <p:spPr>
          <a:xfrm>
            <a:off x="10972800" y="6492240"/>
            <a:ext cx="914400" cy="274320"/>
          </a:xfrm>
          <a:prstGeom prst="rect">
            <a:avLst/>
          </a:prstGeom>
          <a:noFill/>
        </p:spPr>
        <p:txBody>
          <a:bodyPr wrap="none" lIns="0" tIns="0">
            <a:spAutoFit/>
          </a:bodyPr>
          <a:lstStyle/>
          <a:p>
            <a:pPr algn="r"/>
            <a:r>
              <a:rPr sz="1000" b="1">
                <a:solidFill>
                  <a:srgbClr val="3A3A3A"/>
                </a:solidFill>
                <a:latin typeface="Noto Sans JP"/>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502920"/>
            <a:ext cx="109728" cy="109728"/>
          </a:xfrm>
          <a:prstGeom prst="rect">
            <a:avLst/>
          </a:prstGeom>
          <a:solidFill>
            <a:srgbClr val="B9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9144000" cy="320040"/>
          </a:xfrm>
          <a:prstGeom prst="rect">
            <a:avLst/>
          </a:prstGeom>
          <a:noFill/>
        </p:spPr>
        <p:txBody>
          <a:bodyPr wrap="none" lIns="0" tIns="0">
            <a:spAutoFit/>
          </a:bodyPr>
          <a:lstStyle/>
          <a:p>
            <a:r>
              <a:rPr sz="1400" b="1">
                <a:solidFill>
                  <a:srgbClr val="141414"/>
                </a:solidFill>
                <a:latin typeface="Noto Sans JP"/>
              </a:rPr>
              <a:t>AGENDA / 相談</a:t>
            </a:r>
          </a:p>
        </p:txBody>
      </p:sp>
      <p:sp>
        <p:nvSpPr>
          <p:cNvPr id="5" name="TextBox 4"/>
          <p:cNvSpPr txBox="1"/>
          <p:nvPr/>
        </p:nvSpPr>
        <p:spPr>
          <a:xfrm>
            <a:off x="594360" y="868680"/>
            <a:ext cx="10972800" cy="731520"/>
          </a:xfrm>
          <a:prstGeom prst="rect">
            <a:avLst/>
          </a:prstGeom>
          <a:noFill/>
        </p:spPr>
        <p:txBody>
          <a:bodyPr wrap="square" lIns="27432" rIns="27432" tIns="18288" bIns="18288" anchor="t">
            <a:spAutoFit/>
          </a:bodyPr>
          <a:lstStyle/>
          <a:p>
            <a:pPr algn="l"/>
            <a:r>
              <a:rPr sz="2400" b="1">
                <a:solidFill>
                  <a:srgbClr val="000000"/>
                </a:solidFill>
                <a:latin typeface="Noto Sans JP"/>
              </a:rPr>
              <a:t>相談（会議で議論・決定する事項）</a:t>
            </a:r>
          </a:p>
        </p:txBody>
      </p:sp>
      <p:graphicFrame>
        <p:nvGraphicFramePr>
          <p:cNvPr id="6" name="Table 5"/>
          <p:cNvGraphicFramePr>
            <a:graphicFrameLocks noGrp="1"/>
          </p:cNvGraphicFramePr>
          <p:nvPr/>
        </p:nvGraphicFramePr>
        <p:xfrm>
          <a:off x="594360" y="1737360"/>
          <a:ext cx="10972800" cy="2560320"/>
        </p:xfrm>
        <a:graphic>
          <a:graphicData uri="http://schemas.openxmlformats.org/drawingml/2006/table">
            <a:tbl>
              <a:tblPr firstRow="1" bandRow="1">
                <a:tableStyleId>{5C22544A-7EE6-4342-B048-85BDC9FD1C3A}</a:tableStyleId>
              </a:tblPr>
              <a:tblGrid>
                <a:gridCol w="731520"/>
                <a:gridCol w="4023360"/>
                <a:gridCol w="6217920"/>
              </a:tblGrid>
              <a:tr h="640080">
                <a:tc>
                  <a:txBody>
                    <a:bodyPr wrap="square" lIns="45720" rIns="45720" tIns="36576" bIns="36576"/>
                    <a:lstStyle/>
                    <a:p>
                      <a:r>
                        <a:rPr sz="1200" b="1">
                          <a:solidFill>
                            <a:srgbClr val="000000"/>
                          </a:solidFill>
                          <a:latin typeface="Noto Sans JP"/>
                        </a:rPr>
                        <a:t>#</a:t>
                      </a:r>
                    </a:p>
                  </a:txBody>
                  <a:tcPr marL="73152" marR="73152" marT="45720" marB="45720" anchor="t">
                    <a:solidFill>
                      <a:srgbClr val="EDE6D2"/>
                    </a:solidFill>
                  </a:tcPr>
                </a:tc>
                <a:tc>
                  <a:txBody>
                    <a:bodyPr wrap="square" lIns="45720" rIns="45720" tIns="36576" bIns="36576"/>
                    <a:lstStyle/>
                    <a:p>
                      <a:r>
                        <a:rPr sz="1200" b="1">
                          <a:solidFill>
                            <a:srgbClr val="000000"/>
                          </a:solidFill>
                          <a:latin typeface="Noto Sans JP"/>
                        </a:rPr>
                        <a:t>内容</a:t>
                      </a:r>
                    </a:p>
                  </a:txBody>
                  <a:tcPr marL="73152" marR="73152" marT="45720" marB="45720" anchor="t">
                    <a:solidFill>
                      <a:srgbClr val="EDE6D2"/>
                    </a:solidFill>
                  </a:tcPr>
                </a:tc>
                <a:tc>
                  <a:txBody>
                    <a:bodyPr wrap="square" lIns="45720" rIns="45720" tIns="36576" bIns="36576"/>
                    <a:lstStyle/>
                    <a:p>
                      <a:r>
                        <a:rPr sz="1200" b="1">
                          <a:solidFill>
                            <a:srgbClr val="000000"/>
                          </a:solidFill>
                          <a:latin typeface="Noto Sans JP"/>
                        </a:rPr>
                        <a:t>論点</a:t>
                      </a:r>
                    </a:p>
                  </a:txBody>
                  <a:tcPr marL="73152" marR="73152" marT="45720" marB="45720" anchor="t">
                    <a:solidFill>
                      <a:srgbClr val="EDE6D2"/>
                    </a:solidFill>
                  </a:tcPr>
                </a:tc>
              </a:tr>
              <a:tr h="640080">
                <a:tc>
                  <a:txBody>
                    <a:bodyPr wrap="square" lIns="45720" rIns="45720" tIns="36576" bIns="36576"/>
                    <a:lstStyle/>
                    <a:p>
                      <a:r>
                        <a:rPr sz="1200" b="0">
                          <a:solidFill>
                            <a:srgbClr val="000000"/>
                          </a:solidFill>
                          <a:latin typeface="Noto Sans JP"/>
                        </a:rPr>
                        <a:t>12</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APIキーの共有方法・タイミング</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メール・Slackなど。セキュリティ上の取り扱い</a:t>
                      </a:r>
                    </a:p>
                  </a:txBody>
                  <a:tcPr marL="73152" marR="73152" marT="45720" marB="45720" anchor="t">
                    <a:solidFill>
                      <a:srgbClr val="FFFFFF"/>
                    </a:solidFill>
                  </a:tcPr>
                </a:tc>
              </a:tr>
              <a:tr h="640080">
                <a:tc>
                  <a:txBody>
                    <a:bodyPr wrap="square" lIns="45720" rIns="45720" tIns="36576" bIns="36576"/>
                    <a:lstStyle/>
                    <a:p>
                      <a:r>
                        <a:rPr sz="1200" b="0">
                          <a:solidFill>
                            <a:srgbClr val="000000"/>
                          </a:solidFill>
                          <a:latin typeface="Noto Sans JP"/>
                        </a:rPr>
                        <a:t>13</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企業名の返却形式</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配列とカンマ区切り文字列のどちらがMIL様にとって扱いやすいか</a:t>
                      </a:r>
                    </a:p>
                  </a:txBody>
                  <a:tcPr marL="73152" marR="73152" marT="45720" marB="45720" anchor="t">
                    <a:solidFill>
                      <a:srgbClr val="FFFFFF"/>
                    </a:solidFill>
                  </a:tcPr>
                </a:tc>
              </a:tr>
              <a:tr h="640080">
                <a:tc>
                  <a:txBody>
                    <a:bodyPr wrap="square" lIns="45720" rIns="45720" tIns="36576" bIns="36576"/>
                    <a:lstStyle/>
                    <a:p>
                      <a:r>
                        <a:rPr sz="1200" b="0">
                          <a:solidFill>
                            <a:srgbClr val="000000"/>
                          </a:solidFill>
                          <a:latin typeface="Noto Sans JP"/>
                        </a:rPr>
                        <a:t>14</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推薦理由テキストの最終チェック</a:t>
                      </a:r>
                    </a:p>
                  </a:txBody>
                  <a:tcPr marL="73152" marR="73152" marT="45720" marB="45720" anchor="t">
                    <a:solidFill>
                      <a:srgbClr val="FFFFFF"/>
                    </a:solidFill>
                  </a:tcPr>
                </a:tc>
                <a:tc>
                  <a:txBody>
                    <a:bodyPr wrap="square" lIns="45720" rIns="45720" tIns="36576" bIns="36576"/>
                    <a:lstStyle/>
                    <a:p>
                      <a:r>
                        <a:rPr sz="1200" b="0">
                          <a:solidFill>
                            <a:srgbClr val="000000"/>
                          </a:solidFill>
                          <a:latin typeface="Noto Sans JP"/>
                        </a:rPr>
                        <a:t>誰がいつやるか。現状はエヌイチが作成・登録した内容のまま</a:t>
                      </a:r>
                    </a:p>
                  </a:txBody>
                  <a:tcPr marL="73152" marR="73152" marT="45720" marB="45720" anchor="t">
                    <a:solidFill>
                      <a:srgbClr val="FFFFFF"/>
                    </a:solidFill>
                  </a:tcPr>
                </a:tc>
              </a:tr>
            </a:tbl>
          </a:graphicData>
        </a:graphic>
      </p:graphicFrame>
      <p:sp>
        <p:nvSpPr>
          <p:cNvPr id="7" name="TextBox 6"/>
          <p:cNvSpPr txBox="1"/>
          <p:nvPr/>
        </p:nvSpPr>
        <p:spPr>
          <a:xfrm>
            <a:off x="457200" y="6492240"/>
            <a:ext cx="3657600" cy="274320"/>
          </a:xfrm>
          <a:prstGeom prst="rect">
            <a:avLst/>
          </a:prstGeom>
          <a:noFill/>
        </p:spPr>
        <p:txBody>
          <a:bodyPr wrap="none" lIns="0" tIns="0">
            <a:spAutoFit/>
          </a:bodyPr>
          <a:lstStyle/>
          <a:p>
            <a:r>
              <a:rPr sz="1000" b="1">
                <a:solidFill>
                  <a:srgbClr val="3A3A3A"/>
                </a:solidFill>
                <a:latin typeface="Noto Sans JP"/>
              </a:rPr>
              <a:t>TOMOSHIKA</a:t>
            </a:r>
          </a:p>
        </p:txBody>
      </p:sp>
      <p:sp>
        <p:nvSpPr>
          <p:cNvPr id="8" name="TextBox 7"/>
          <p:cNvSpPr txBox="1"/>
          <p:nvPr/>
        </p:nvSpPr>
        <p:spPr>
          <a:xfrm>
            <a:off x="10972800" y="6492240"/>
            <a:ext cx="914400" cy="274320"/>
          </a:xfrm>
          <a:prstGeom prst="rect">
            <a:avLst/>
          </a:prstGeom>
          <a:noFill/>
        </p:spPr>
        <p:txBody>
          <a:bodyPr wrap="none" lIns="0" tIns="0">
            <a:spAutoFit/>
          </a:bodyPr>
          <a:lstStyle/>
          <a:p>
            <a:pPr algn="r"/>
            <a:r>
              <a:rPr sz="1000" b="1">
                <a:solidFill>
                  <a:srgbClr val="3A3A3A"/>
                </a:solidFill>
                <a:latin typeface="Noto Sans JP"/>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3840480"/>
            <a:ext cx="128016" cy="128016"/>
          </a:xfrm>
          <a:prstGeom prst="rect">
            <a:avLst/>
          </a:prstGeom>
          <a:solidFill>
            <a:srgbClr val="E8C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3767328"/>
            <a:ext cx="9144000" cy="320040"/>
          </a:xfrm>
          <a:prstGeom prst="rect">
            <a:avLst/>
          </a:prstGeom>
          <a:noFill/>
        </p:spPr>
        <p:txBody>
          <a:bodyPr wrap="square" lIns="27432" rIns="27432" tIns="18288" bIns="18288" anchor="t">
            <a:spAutoFit/>
          </a:bodyPr>
          <a:lstStyle/>
          <a:p>
            <a:pPr algn="l"/>
            <a:r>
              <a:rPr sz="1300" b="1">
                <a:solidFill>
                  <a:srgbClr val="E3DCC9"/>
                </a:solidFill>
                <a:latin typeface="Noto Sans JP"/>
              </a:rPr>
              <a:t>END / 2026-04-18</a:t>
            </a:r>
          </a:p>
        </p:txBody>
      </p:sp>
      <p:sp>
        <p:nvSpPr>
          <p:cNvPr id="5" name="TextBox 4"/>
          <p:cNvSpPr txBox="1"/>
          <p:nvPr/>
        </p:nvSpPr>
        <p:spPr>
          <a:xfrm>
            <a:off x="822960" y="4160520"/>
            <a:ext cx="10972800" cy="2011680"/>
          </a:xfrm>
          <a:prstGeom prst="rect">
            <a:avLst/>
          </a:prstGeom>
          <a:noFill/>
        </p:spPr>
        <p:txBody>
          <a:bodyPr wrap="square" lIns="27432" rIns="27432" tIns="18288" bIns="18288" anchor="t">
            <a:spAutoFit/>
          </a:bodyPr>
          <a:lstStyle/>
          <a:p>
            <a:pPr algn="l"/>
            <a:r>
              <a:rPr sz="6800" b="1">
                <a:solidFill>
                  <a:srgbClr val="FFFFFF"/>
                </a:solidFill>
                <a:latin typeface="Noto Sans JP"/>
              </a:rPr>
              <a:t>ありがとう</a:t>
            </a:r>
          </a:p>
          <a:p>
            <a:pPr algn="l"/>
            <a:r>
              <a:rPr sz="6800" b="1">
                <a:solidFill>
                  <a:srgbClr val="FFFFFF"/>
                </a:solidFill>
                <a:latin typeface="Noto Sans JP"/>
              </a:rPr>
              <a:t>ございました</a:t>
            </a:r>
          </a:p>
        </p:txBody>
      </p:sp>
      <p:sp>
        <p:nvSpPr>
          <p:cNvPr id="6" name="TextBox 5"/>
          <p:cNvSpPr txBox="1"/>
          <p:nvPr/>
        </p:nvSpPr>
        <p:spPr>
          <a:xfrm>
            <a:off x="822960" y="6126480"/>
            <a:ext cx="10972800" cy="365760"/>
          </a:xfrm>
          <a:prstGeom prst="rect">
            <a:avLst/>
          </a:prstGeom>
          <a:noFill/>
        </p:spPr>
        <p:txBody>
          <a:bodyPr wrap="square" lIns="27432" rIns="27432" tIns="18288" bIns="18288" anchor="t">
            <a:spAutoFit/>
          </a:bodyPr>
          <a:lstStyle/>
          <a:p>
            <a:pPr algn="l"/>
            <a:r>
              <a:rPr sz="1500" b="0">
                <a:solidFill>
                  <a:srgbClr val="E3DCC9"/>
                </a:solidFill>
                <a:latin typeface="Noto Sans JP"/>
              </a:rPr>
              <a:t>ご質問・ご指摘は随時お願いいたします。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