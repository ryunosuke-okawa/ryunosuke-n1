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20240"/>
            <a:ext cx="9445752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4800" b="1">
                <a:solidFill>
                  <a:srgbClr val="000000"/>
                </a:solidFill>
                <a:latin typeface="Noto Sans JP"/>
              </a:rPr>
              <a:t>生成AI支援ご提案書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944575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4B5563"/>
                </a:solidFill>
                <a:latin typeface="Noto Sans JP"/>
              </a:rPr>
              <a:t>株式会社TSUBOMIYA 様向け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3794760"/>
            <a:ext cx="2743200" cy="3200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94360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2026年4月15日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5897880"/>
            <a:ext cx="34747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19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19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28016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お打合せ振り返り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645919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4/15 初回お打合せの振り返り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39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39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240279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240279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現状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606039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貴社の事業・AI活用・マーケティングの現状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20040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課題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56616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成長を阻む構造要因の整理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6052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ゴール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452628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3ヶ月後・6ヶ月後の目指す姿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74552" cy="822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54864" cy="8229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120640"/>
            <a:ext cx="59436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Noto Sans JP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12064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提案詳細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Kawaru Coach のご提案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お打合せ振り返り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4/15 初回お打合せの振り返り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4/15 初回お打合せ概要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振り返り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54480"/>
            <a:ext cx="480059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基本情報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日時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92024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2026年4月15日（火）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8600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228600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オンライン（約30分）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先方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65176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松尾雄太様（代表取締役）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77724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自社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01752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大川龍之介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38727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0439"/>
            <a:ext cx="480059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お伺いした内容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リラクゼーションサロン3店舗経営、2025年12月法人化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15384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フランチャイズ展開を準備中（FC募集段階）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44568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AI顧問サービスを複数社で比較検討中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73752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「やらないとやばい」という危機感をお持ち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02936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LP・広告の内製化、本部業務の効率化にご関心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417320"/>
            <a:ext cx="57424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417320"/>
            <a:ext cx="54864" cy="512064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554480"/>
            <a:ext cx="52395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965960"/>
            <a:ext cx="5376672" cy="9144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エヌイチ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→ 提案資料のお送り（本資料）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965960"/>
            <a:ext cx="45720" cy="914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2200" y="3063240"/>
            <a:ext cx="5376672" cy="9144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松尾様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→ 4月中にご判断、5月スタートをご希望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063240"/>
            <a:ext cx="4572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4343400"/>
            <a:ext cx="5376672" cy="146304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松尾様のお言葉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「AIにお金をかけとかないと、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知らないが故に20万30万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50万払っちゃうなって思って」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343400"/>
            <a:ext cx="45720" cy="146304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現状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貴社の事業・AI活用・マーケティングの現状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3店舗展開×FC募集フェーズ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現状①　事業概要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943600" cy="51206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事業内容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600200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リラクゼーションサロン「利率アップ」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39112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店舗数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039112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直営3店舗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78024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法人化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478024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2025年12月（株式会社TSUBOMIYA）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16936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本部体制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916936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松尾様＋2〜3名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55848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FC展開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355848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募集中（加盟店はまだゼロ）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その他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94760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セラピスト向けコミュニティ運営中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16552"/>
            <a:ext cx="5577840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「フランチャイズの加盟数が伸びたら嬉しい。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それが僕のセンターです」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16552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1417320"/>
            <a:ext cx="50566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417320"/>
            <a:ext cx="54864" cy="512064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554480"/>
            <a:ext cx="46908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事業構造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057400"/>
            <a:ext cx="4690872" cy="12801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057400"/>
            <a:ext cx="54864" cy="12801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2167128"/>
            <a:ext cx="432511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直営3店舗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532888"/>
            <a:ext cx="432511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サロン「利率アップ」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大阪エリア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474720"/>
            <a:ext cx="4690872" cy="12801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474720"/>
            <a:ext cx="54864" cy="128016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584448"/>
            <a:ext cx="432511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FC展開（準備中）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950208"/>
            <a:ext cx="432511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フランチャイズ加盟店募集中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現在加盟ゼロ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4892040"/>
            <a:ext cx="4690872" cy="12801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4892040"/>
            <a:ext cx="54864" cy="128016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001768"/>
            <a:ext cx="432511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コミュニティ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367527"/>
            <a:ext cx="432511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セラピスト向け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先生×受講生マッチング構想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AI活用は「手探り」の段階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現状②　AI活用状況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ツール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活用状況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417320"/>
            <a:ext cx="295351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頻度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56232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56232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ChatGPT / Gemini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56232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テキスト生成（簡単な質問・調べもの）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856232"/>
            <a:ext cx="295351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時々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86584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86584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Antigravity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× Claude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386584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LP制作を試行（完成度80%、モバイル崩れ）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386584"/>
            <a:ext cx="295351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試行段階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16936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16936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Dify / n8n 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916936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未使用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916936"/>
            <a:ext cx="295351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47288"/>
            <a:ext cx="11274552" cy="4572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47288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業務自動化ワークフロー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447288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未経験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47288"/>
            <a:ext cx="295351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「かなり疎いんですよ」—— 松尾様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5196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「やらないとやばいなっていう感じがひしひしと伝わってくる」—— 松尾様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53212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66D37"/>
                </a:solidFill>
                <a:latin typeface="Noto Sans JP"/>
              </a:rPr>
              <a:t>Antigravity×Claude CodeでLPを自作する行動力がある。正しいガイドがあれば加速できるポテンシャル。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32120"/>
            <a:ext cx="457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LP・広告は外注に依存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現状③　マーケティング体制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81912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LP制作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81912"/>
            <a:ext cx="81655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外注（1本あたり10〜50万円）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0008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50008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423160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広告運用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423160"/>
            <a:ext cx="81655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代行会社に委託（「任せきり」状態）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91256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64408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SNS・クリエイティブ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64408"/>
            <a:ext cx="81655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自社で作りたいが、コストがかかるなら控えている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32504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32504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105656"/>
            <a:ext cx="256032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チラシ等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105656"/>
            <a:ext cx="81655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「無料で作れるなら作る。お金かかるなら作る人減っちゃう」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56632"/>
            <a:ext cx="11274552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「AIにお金をかけとかないと、知らないが故に20万30万50万払っちゃうなって思って」—— 松尾様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56632"/>
            <a:ext cx="45720" cy="6400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833872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D97706"/>
                </a:solidFill>
                <a:latin typeface="Noto Sans JP"/>
              </a:rPr>
              <a:t>内製化の手段がないため、結果的に高コスト構造になっている【推察】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33872"/>
            <a:ext cx="457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成長を阻む構造要因の整理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成長を阻む4つの構造要因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課題①　全体マップ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828800" cy="5212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4864" cy="5212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508760"/>
            <a:ext cx="1627632" cy="502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FC展開と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事業成長を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支える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「本部機能」が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AI活用で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強化できて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いない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05054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8879" y="147218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79" y="147218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78608" y="1508760"/>
            <a:ext cx="2084831" cy="11201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A. クリエイティブ・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マーケが外注依存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165277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199" y="149961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9" y="149961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39" y="151790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79" y="1499616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LP制作に10〜50万の外注コスト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2050541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199" y="1897379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199" y="1897379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39" y="1915667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9" y="1897379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広告運用を代行に完全委託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244830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9" y="229514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199" y="229514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39" y="231343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2295144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制作スピードが外注に依存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335356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79" y="277520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68879" y="277520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78608" y="2811780"/>
            <a:ext cx="2084831" cy="11201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B. AI活用の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知識・スキル不足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79" y="295579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199" y="280263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199" y="280263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20639" y="282092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79" y="2802636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AI全般に「かなり疎い」と自認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79" y="335356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199" y="3200400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199" y="3200400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120639" y="3218688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79" y="3200400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Antigravity×Claude CodeでLP制作は80%止まり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79" y="375132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199" y="359816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199" y="359816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20639" y="361645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79" y="3598164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適切なツール選定ができない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65658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468879" y="407822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68879" y="407822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78608" y="4114800"/>
            <a:ext cx="2084831" cy="11201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C. FC展開の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基盤が未整備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79" y="425881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29199" y="410565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199" y="410565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120639" y="412394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79" y="4105656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FC加盟店ゼロ、募集段階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79" y="465658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199" y="4503420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199" y="4503420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120639" y="4521707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79" y="4503420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オペレーション標準化が課題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79" y="505434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29199" y="490118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199" y="490118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20639" y="491947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79" y="4901184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マニュアル・ナレッジ未整備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94560" y="595960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468879" y="5381244"/>
            <a:ext cx="2286000" cy="11932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68879" y="5381244"/>
            <a:ext cx="54864" cy="11932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78608" y="5417820"/>
            <a:ext cx="2084831" cy="11201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D. 少人数本部の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Noto Sans JP"/>
              </a:rPr>
              <a:t>リソース制約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79" y="5561838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199" y="5408676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29199" y="5408676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120639" y="5426964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79" y="5408676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本部スタッフは松尾様＋2〜3名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79" y="5959602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29199" y="5806440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29199" y="5806440"/>
            <a:ext cx="45720" cy="3429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120639" y="5824728"/>
            <a:ext cx="502920" cy="306324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79" y="5806440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「誰でもできる作業」が時間を圧迫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79" y="6357366"/>
            <a:ext cx="27432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029199" y="6204204"/>
            <a:ext cx="6931152" cy="3429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29199" y="6204204"/>
            <a:ext cx="45720" cy="3429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120639" y="6222492"/>
            <a:ext cx="502920" cy="306324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79" y="6204204"/>
            <a:ext cx="6199632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Noto Sans JP"/>
              </a:rPr>
              <a:t>コア業務に集中できていない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外注コストが成長投資を圧迫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課題②　コスト構造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1508760"/>
            <a:ext cx="1280160" cy="1280160"/>
          </a:xfrm>
          <a:prstGeom prst="ellipse">
            <a:avLst/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LP1本
10〜50
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7772400" cy="3657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外注項目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想定コスト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2377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年間試算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47672"/>
            <a:ext cx="7772400" cy="43891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47672"/>
            <a:ext cx="25603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LP制作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947672"/>
            <a:ext cx="25603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10〜50万円/本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947672"/>
            <a:ext cx="237744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C95454"/>
                </a:solidFill>
                <a:latin typeface="Noto Sans JP"/>
              </a:rPr>
              <a:t>40〜200万円（4本）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59736"/>
            <a:ext cx="7772400" cy="43891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59736"/>
            <a:ext cx="25603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広告運用代行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459736"/>
            <a:ext cx="25603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月額手数料（運用費の20%）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459736"/>
            <a:ext cx="237744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C95454"/>
                </a:solidFill>
                <a:latin typeface="Noto Sans JP"/>
              </a:rPr>
              <a:t>年間数十万円〜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71800"/>
            <a:ext cx="7772400" cy="43891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971800"/>
            <a:ext cx="25603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バナー・SNS素材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971800"/>
            <a:ext cx="25603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数万円/点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971800"/>
            <a:ext cx="237744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C95454"/>
                </a:solidFill>
                <a:latin typeface="Noto Sans JP"/>
              </a:rPr>
              <a:t>都度発生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58184"/>
            <a:ext cx="11274552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「AIにお金をかけとかないと、知らないが故に20万30万50万払っちゃうなって思って」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—— 松尾様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58184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489704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66D37"/>
                </a:solidFill>
                <a:latin typeface="Noto Sans JP"/>
              </a:rPr>
              <a:t>LP1本を外注するコストで、AI顧問6ヶ月分の大半を賄える → 内製化の投資対効果は極めて高い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9704"/>
            <a:ext cx="457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FC展開に「再現性の基盤」が不可欠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課題③　FC標準化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8347" y="150876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7" y="1508760"/>
            <a:ext cx="54864" cy="49377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" y="1645920"/>
            <a:ext cx="3108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オペレーション標準化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" y="2194560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現状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" y="256032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属人的。マニュアル未整備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07107" y="3383280"/>
            <a:ext cx="365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" y="3749039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AI活用後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" y="411480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AIで業務マニュアルを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体系化・自動更新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7" y="4114800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50876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2836" y="1508760"/>
            <a:ext cx="54864" cy="493776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9996" y="1645920"/>
            <a:ext cx="3108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集客の再現性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9996" y="2194560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現状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9996" y="256032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LP・広告を外注依存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9996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11595" y="3383280"/>
            <a:ext cx="365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9996" y="3749039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AI活用後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9996" y="411480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自社でLP制作・広告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クリエイティブを量産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9996" y="4114800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07324" y="150876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7324" y="1508760"/>
            <a:ext cx="54864" cy="493776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4484" y="1645920"/>
            <a:ext cx="3108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本部の管理効率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4484" y="2194560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現状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44484" y="256032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少人数で手作業中心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44484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16084" y="3383280"/>
            <a:ext cx="365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44484" y="3749039"/>
            <a:ext cx="3108960" cy="27432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AI活用後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4484" y="4114800"/>
            <a:ext cx="3108960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売上集計・報告・連絡を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自動化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4484" y="4114800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5257800"/>
            <a:ext cx="11274552" cy="5029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42A4AF"/>
                </a:solidFill>
                <a:latin typeface="Noto Sans JP"/>
              </a:rPr>
              <a:t>AI活用スキルを身につけることが、FC展開の基盤づくりに直結する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257800"/>
            <a:ext cx="45720" cy="50292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ゴール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3ヶ月後・6ヶ月後の目指す姿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Phase 1：LPを自力で作れる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3ヶ月後の姿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" cy="4937760"/>
          </a:xfrm>
          <a:prstGeom prst="rect">
            <a:avLst/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LP制作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外注で10〜50万円、納期2週間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LP更新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修正のたびに外注依頼・追加費用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FC募集LP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未着手 or 外注検討中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バナー・SNS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 or 作成を控えている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3703320"/>
            <a:ext cx="48463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1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8231" y="1508760"/>
            <a:ext cx="54864" cy="493776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After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LP制作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1112" y="246888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Antigravity等で自作、数時間で公開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LP更新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1112" y="329184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自分で即修正、A/Bテストも即座に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FC募集LP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11112" y="411480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FC募集用LPを自作・公開済み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バナー・SNS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11112" y="493776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AIで素材を量産、PDCAを自分で回す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Phase 2：本部業務を自動化できる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6ヶ月後の姿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" cy="4937760"/>
          </a:xfrm>
          <a:prstGeom prst="rect">
            <a:avLst/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売上集計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3店舗の数字を手動集計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口コミ対応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1件ずつ手打ちで返信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リマインド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スタッフが手動連絡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C95454"/>
                </a:solidFill>
                <a:latin typeface="Noto Sans JP"/>
              </a:rPr>
              <a:t>SNS投稿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毎回30分かけて文面作成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3703320"/>
            <a:ext cx="48463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1" y="150876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8231" y="1508760"/>
            <a:ext cx="54864" cy="493776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1645920"/>
            <a:ext cx="1280160" cy="320040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After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214884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売上集計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1112" y="246888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毎日自動集計→レポートが届く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297180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口コミ対応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1112" y="329184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AIが返信案を自動生成→確認して投稿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379476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リマインド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11112" y="411480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前日に自動でリマインド送信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4617720"/>
            <a:ext cx="4937759" cy="2743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166D37"/>
                </a:solidFill>
                <a:latin typeface="Noto Sans JP"/>
              </a:rPr>
              <a:t>SNS投稿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11112" y="4937760"/>
            <a:ext cx="493775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写真を入れるだけで投稿文が自動生成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「ここまで自分でできる」自動化の具体例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御社で実現できること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" y="150876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" y="1508760"/>
            <a:ext cx="54864" cy="214884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" y="1618488"/>
            <a:ext cx="315467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① LP制作・更新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" y="1947672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Antigravity × Claude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" y="2286000"/>
            <a:ext cx="3154679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外注10〜50万円→自分で数時間。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A/Bテストも即座に回せる。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7116" y="150876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7116" y="1508760"/>
            <a:ext cx="54864" cy="214884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39996" y="1618488"/>
            <a:ext cx="315467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② SNS投稿文の自動生成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9996" y="1947672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Dify +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2286000"/>
            <a:ext cx="3154679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写真を入れるだけで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Instagram投稿文が自動生成。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1604" y="150876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1604" y="1508760"/>
            <a:ext cx="54864" cy="214884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4484" y="1618488"/>
            <a:ext cx="315467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③ 口コミ返信の自動下書き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4484" y="1947672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n8n +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4484" y="2286000"/>
            <a:ext cx="3154679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Googleマップの口コミを自動検知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→AIが返信案を作成。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" y="393192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" y="3931920"/>
            <a:ext cx="54864" cy="214884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" y="4041648"/>
            <a:ext cx="315467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④ 予約リマインド自動送信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" y="4370831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n8n + 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" y="4709159"/>
            <a:ext cx="3154679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予約前日に自動でリマインド。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ノーショー率の削減に直結。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7116" y="393192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57116" y="3931920"/>
            <a:ext cx="54864" cy="214884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39996" y="4041648"/>
            <a:ext cx="315467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⑤ 売上日報の自動集計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6" y="4370831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n8n + スプレッドシート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9996" y="4709159"/>
            <a:ext cx="3154679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3店舗の売上を毎日自動集計。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レポートがLINEに届く。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1604" y="3931920"/>
            <a:ext cx="3474720" cy="2148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1604" y="3931920"/>
            <a:ext cx="54864" cy="214884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4484" y="4041648"/>
            <a:ext cx="3154679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⑥ FC向けマニュアル整備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4484" y="4370831"/>
            <a:ext cx="3154679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Claude Code /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4484" y="4709159"/>
            <a:ext cx="3154679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オペレーション情報をAIが整理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→標準化マニュアルとして出力。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600" b="1">
                <a:solidFill>
                  <a:srgbClr val="E5E7EB"/>
                </a:solidFill>
                <a:latin typeface="Noto Sans JP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提案詳細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4B5563"/>
                </a:solidFill>
                <a:latin typeface="Noto Sans JP"/>
              </a:rPr>
              <a:t>Kawaru Coach のご提案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「自分でできる」が最大のROI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提案根拠　アプローチ比較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7" y="146304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C9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① 外注し続ける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" y="205740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初期コスト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" y="231343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低い（都度払い）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" y="2724912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スキル蓄積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" y="2980944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✕ なし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" y="3392424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長期コスト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" y="3648456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✕ 永続的に外注費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" y="4059935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LP制作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" y="4315968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外注依存が続く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" y="4727448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業務自動化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" y="4983480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対象外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" y="539496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FC展開貢献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" y="565099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低い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8555" y="146304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② ツールだけ導入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8555" y="205740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初期コスト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8555" y="231343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低い（月額数千円）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8555" y="2724912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スキル蓄積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8555" y="2980944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△ 自力で限界あり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8555" y="3392424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長期コスト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8555" y="3648456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△ 活用しきれず放置リスク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8555" y="4059935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LP制作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8555" y="4315968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80%で止まる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8555" y="4727448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業務自動化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8555" y="4983480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何から始めるかわからない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8555" y="539496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6B7280"/>
                </a:solidFill>
                <a:latin typeface="Noto Sans JP"/>
              </a:rPr>
              <a:t>FC展開貢献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8555" y="565099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限定的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1604" y="146304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③ コーチ型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（Kawaru Coach）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1604" y="205740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初期コスト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1604" y="231343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中（月額20万円）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1604" y="2724912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スキル蓄積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1604" y="2980944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◎ 体系的に習得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61604" y="3392424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長期コスト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1604" y="3648456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◎ 6ヶ月後に自走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61604" y="4059935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LP制作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61604" y="4315968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100%を自力で作れる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61604" y="4727448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業務自動化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61604" y="4983480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ロードマップ通りに実現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61604" y="5394960"/>
            <a:ext cx="3291840" cy="2286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FC展開貢献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61604" y="5650992"/>
            <a:ext cx="3291840" cy="3657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標準化・内製化に直結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Kawaru Coach — 選ばれる4つの理由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サービス紹介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463040"/>
            <a:ext cx="54864" cy="31089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3744" y="1536192"/>
            <a:ext cx="402336" cy="402336"/>
          </a:xfrm>
          <a:prstGeom prst="ellipse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1600200"/>
            <a:ext cx="1965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5,000名超の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AIコンサルタント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331720"/>
            <a:ext cx="224028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業種・規模・フェーズに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応じて最適な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担当者を選定。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「知識が浅い」リスクなし。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463040"/>
            <a:ext cx="54864" cy="310896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0" y="1536192"/>
            <a:ext cx="402336" cy="402336"/>
          </a:xfrm>
          <a:prstGeom prst="ellipse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8728" y="1600200"/>
            <a:ext cx="1965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経営・事業・組織の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3視点で伴走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8728" y="2331720"/>
            <a:ext cx="224028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ツールの使い方だけでなく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「事業にどう効くか」を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設計。局所改善に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とどまらない。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463040"/>
            <a:ext cx="54864" cy="310896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6175" y="1536192"/>
            <a:ext cx="402336" cy="402336"/>
          </a:xfrm>
          <a:prstGeom prst="ellipse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9944" y="1600200"/>
            <a:ext cx="1965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ゴールは「自走」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顧問依存にしない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2331720"/>
            <a:ext cx="224028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契約終了後も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自分で回せる状態を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作ることが使命。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マニュアル整備まで支援。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463040"/>
            <a:ext cx="2514600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463040"/>
            <a:ext cx="54864" cy="310896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37392" y="1536192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600200"/>
            <a:ext cx="196596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月額制×最低3ヶ月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解約リスクは我々が取る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2331720"/>
            <a:ext cx="224028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成果が出なければ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継続理由がない設計。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常に成果にコミット。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74552" cy="1645920"/>
          </a:xfrm>
          <a:prstGeom prst="roundRect">
            <a:avLst>
              <a:gd name="adj" fmla="val 3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54864" cy="164592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846320"/>
            <a:ext cx="1828800" cy="2743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導入事例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484632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「ITリテラシーが低い会社でも、ちゃんと導入・運用まで伴走してくれます」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15000"/>
            <a:ext cx="1090879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代表自身がAI未経験 → バックオフィス効率化・代表業務の仕組み化を実現。経営資源を成長領域にシフト。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支援の進め方（3フェーズ）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支援プロセス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05355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フェーズ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5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5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0955" y="196596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「何をすべきか」を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言語化する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5" y="1965960"/>
            <a:ext cx="45720" cy="6400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" y="2724912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経営目標・業務課題・組織体制を整理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5" y="310896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AIで取り組むべき優先課題を明文化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49300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成果物：ロードマップ・優先課題リスト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877056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初期費用10万円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1356" y="416052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4583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フェーズ 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427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4276" y="1856232"/>
            <a:ext cx="54864" cy="475488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1436" y="196596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AI顧問が隣で動き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実装を前に進める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1436" y="1965960"/>
            <a:ext cx="45720" cy="64008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31436" y="2724912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月2回のMTGで進捗確認・実装支援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310896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MTG外もチャットで相談対応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49300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Phase 1: LP制作 → Phase 2: 業務自動化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877056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月額20万円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1836" y="416052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8631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フェーズ 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475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4756" y="1856232"/>
            <a:ext cx="54864" cy="475488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71916" y="1965960"/>
            <a:ext cx="2926080" cy="6400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成功体験を定着し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自走化する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1916" y="1965960"/>
            <a:ext cx="45720" cy="64008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71916" y="2724912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新しい自動化を自力で設計・構築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1916" y="3108960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ナレッジ蓄積・マニュアル整備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493008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FC展開に向けた業務基盤の完成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1916" y="3877056"/>
            <a:ext cx="2926080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契約終了後も自分で回せる状態に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6ヶ月ロードマップ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実施スケジュール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828800" cy="32004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クリエイティブ内製化（1〜3ヶ月目）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1274552" cy="292608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280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874519"/>
            <a:ext cx="32918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テーマ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74519"/>
            <a:ext cx="642823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到達ゴール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21991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21991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1ヶ月目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221991"/>
            <a:ext cx="32918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AI基礎×LP制作入門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221991"/>
            <a:ext cx="64282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Antigravity等の操作を習得。簡易LPを1本制作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79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97479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2ヶ月目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697479"/>
            <a:ext cx="32918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LP実践×広告クリエイティブ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697479"/>
            <a:ext cx="64282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FC募集用LPを実戦で制作。バナー・SNS素材も作成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72968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72968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2A4AF"/>
                </a:solidFill>
                <a:latin typeface="Noto Sans JP"/>
              </a:rPr>
              <a:t>3ヶ月目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72968"/>
            <a:ext cx="32918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LP改善×運用自走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172968"/>
            <a:ext cx="64282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A/Bテスト・改善サイクルを自分で回せる状態に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77056"/>
            <a:ext cx="1828800" cy="320040"/>
          </a:xfrm>
          <a:prstGeom prst="roundRect">
            <a:avLst>
              <a:gd name="adj" fmla="val 2000"/>
            </a:avLst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Phase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877056"/>
            <a:ext cx="3657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業務自動化（4〜6ヶ月目）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88536"/>
            <a:ext cx="11274552" cy="29260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88536"/>
            <a:ext cx="1280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4288536"/>
            <a:ext cx="32918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テーマ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4288536"/>
            <a:ext cx="642823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到達ゴール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36008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636008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C3557"/>
                </a:solidFill>
                <a:latin typeface="Noto Sans JP"/>
              </a:rPr>
              <a:t>4ヶ月目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4636008"/>
            <a:ext cx="32918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業務棚卸し×自動化入門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4636008"/>
            <a:ext cx="64282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Dify/n8nの基本操作。最初の1ワークフロー稼働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111496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111496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C3557"/>
                </a:solidFill>
                <a:latin typeface="Noto Sans JP"/>
              </a:rPr>
              <a:t>5ヶ月目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5111496"/>
            <a:ext cx="32918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複数ワークフロー構築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5111496"/>
            <a:ext cx="64282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口コミ返信・売上集計・リマインド等を自動化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586983"/>
            <a:ext cx="11274552" cy="4114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586983"/>
            <a:ext cx="1280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C3557"/>
                </a:solidFill>
                <a:latin typeface="Noto Sans JP"/>
              </a:rPr>
              <a:t>6ヶ月目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5586983"/>
            <a:ext cx="32918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自走化×FC基盤整備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5586983"/>
            <a:ext cx="642823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新しい自動化を自力で設計。FCマニュアル整備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費用・契約条件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費用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66928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" cy="41148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45336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27048"/>
            <a:ext cx="51663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料金プラン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プラン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920240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Kawaru Coach ライトプラン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04288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月額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304288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200,000円（税別）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88336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MTG頻度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688336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月2回（1回60分）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72384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MTG外サポート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072384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チャット相談対応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56432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初期費用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456432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100,000円（言語化フェーズ）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最低契約期間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840480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3ヶ月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24528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推奨契約期間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224528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6ヶ月（Phase 1 + Phase 2 完走）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08576"/>
            <a:ext cx="164592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お支払い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608576"/>
            <a:ext cx="3566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月ごと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417320"/>
            <a:ext cx="537667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417320"/>
            <a:ext cx="54864" cy="411480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1545336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1527048"/>
            <a:ext cx="487375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投資対効果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1920240"/>
            <a:ext cx="5010912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6ヶ月間の投資総額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初期10万＋月額20万×6ヶ月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= 130万円（税別）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1920240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2834640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LP外注費の削減：年間40〜200万円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218688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6ヶ月後に自走→以降のコンサル費用ゼロ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3602736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本部業務の自動化による工数削減効果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3986784"/>
            <a:ext cx="501091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FC展開の基盤構築→事業成長を加速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507992"/>
            <a:ext cx="5010912" cy="7315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66D37"/>
                </a:solidFill>
                <a:latin typeface="Noto Sans JP"/>
              </a:rPr>
              <a:t>LP1〜2本分の外注費で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66D37"/>
                </a:solidFill>
                <a:latin typeface="Noto Sans JP"/>
              </a:rPr>
              <a:t>6ヶ月間AIの専属コーチがつく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4507992"/>
            <a:ext cx="45720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143000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143000"/>
            <a:ext cx="54864" cy="1734312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772412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2877312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63040" y="1234440"/>
            <a:ext cx="731520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STEP 1 — ご検討・ご質問（〜4月末）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234440"/>
            <a:ext cx="45720" cy="31089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618488"/>
            <a:ext cx="9902952" cy="1185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本資料の内容をご確認いただき、ご不明点・ご質問があればお気軽にご連絡ください。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オンラインでの追加打ち合わせも可能です。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41904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3041904"/>
            <a:ext cx="54864" cy="1734312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6" y="3671316"/>
            <a:ext cx="475488" cy="475488"/>
          </a:xfrm>
          <a:prstGeom prst="ellipse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4776216"/>
            <a:ext cx="36576" cy="164592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3040" y="3133344"/>
            <a:ext cx="731520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STEP 2 — 初回ヒアリング（5月第1週）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133344"/>
            <a:ext cx="45720" cy="310896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3517392"/>
            <a:ext cx="9902952" cy="1185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ご契約後、AI活用ロードマップ策定のための詳細ヒアリングを実施。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御社の業務・課題を深掘りし、6ヶ月のゴールを一緒に設定します。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940808"/>
            <a:ext cx="10543032" cy="17343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4940808"/>
            <a:ext cx="54864" cy="1734312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496" y="5570220"/>
            <a:ext cx="475488" cy="475488"/>
          </a:xfrm>
          <a:prstGeom prst="ellipse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5032248"/>
            <a:ext cx="731520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STEP 3 — 伴走スタート（5月中旬〜）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5032248"/>
            <a:ext cx="45720" cy="310896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" y="5416296"/>
            <a:ext cx="9902952" cy="11856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専属コンサルタントのアサイン完了後、月2回のMTGで伴走開始。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Phase 1のLP制作からスタートします。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263640"/>
            <a:ext cx="11274552" cy="3200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Noto Sans JP"/>
              </a:rPr>
              <a:t>お問い合わせ：大川龍之介  Mail: r.okawa@n1-inc.co.jp  TEL: 080-2646-2420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9994392" cy="20116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私たちが提供するのは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「ツール」や「研修」ではありません。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貴社の未来を創る「AI人材」と、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組織全体の「成長」です。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45720" cy="20116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3749039"/>
            <a:ext cx="8531352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B5563"/>
                </a:solidFill>
                <a:latin typeface="Noto Sans JP"/>
              </a:rPr>
              <a:t>貴社のAIパートナーとして、共に未来を創ることをお約束します。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389120"/>
            <a:ext cx="670255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846320"/>
            <a:ext cx="67025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AI（アイ）ある社会に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349240"/>
            <a:ext cx="5788152" cy="7772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大川 龍之介（Okawa Ryunosuke）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Kawaru事業部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TEL: 080-2646-2420  Mail: r.okawa@n1-inc.co.jp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600" b="1">
                <a:solidFill>
                  <a:srgbClr val="111827"/>
                </a:solidFill>
                <a:latin typeface="Noto Sans JP"/>
              </a:rPr>
              <a:t>参考資料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0">
                <a:solidFill>
                  <a:srgbClr val="6B7280"/>
                </a:solidFill>
                <a:latin typeface="Noto Sans JP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23360"/>
            <a:ext cx="3657600" cy="36576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943600" cy="52120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34439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234439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64207"/>
            <a:ext cx="1371600" cy="64008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経営陣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664207"/>
            <a:ext cx="4114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代表取締役CEO 奥山幸生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取締役COO 髙橋悠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取締役CHRO 米澤浩明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14015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資本金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414015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1,000万円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43783"/>
            <a:ext cx="1371600" cy="32004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843783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2023年10月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73551"/>
            <a:ext cx="1371600" cy="64008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273551"/>
            <a:ext cx="4114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東京都新宿区西新宿3-7-30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フロンティアグラン西新宿12F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799"/>
            <a:ext cx="5577840" cy="4114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Mission：新しい働く『カタチ』を創る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799"/>
            <a:ext cx="45720" cy="4114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617719"/>
            <a:ext cx="5577840" cy="4114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Vision：AI（アイ）ある社会に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19"/>
            <a:ext cx="45720" cy="4114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0" y="105156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1051560"/>
            <a:ext cx="54864" cy="109728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188719"/>
            <a:ext cx="46908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554480"/>
            <a:ext cx="469087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業務自動化SaaS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33172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2331720"/>
            <a:ext cx="54864" cy="1097280"/>
          </a:xfrm>
          <a:prstGeom prst="rect">
            <a:avLst/>
          </a:prstGeom>
          <a:solidFill>
            <a:srgbClr val="4A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468879"/>
            <a:ext cx="46908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834639"/>
            <a:ext cx="469087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611879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611879"/>
            <a:ext cx="54864" cy="1097280"/>
          </a:xfrm>
          <a:prstGeom prst="rect">
            <a:avLst/>
          </a:prstGeom>
          <a:solidFill>
            <a:srgbClr val="3A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749039"/>
            <a:ext cx="46908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BPO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114800"/>
            <a:ext cx="469087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89204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4892040"/>
            <a:ext cx="54864" cy="1097280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5029200"/>
            <a:ext cx="469087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Coach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394959"/>
            <a:ext cx="469087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あらゆる規模の企業様に導入されています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エル・ティー・エス リンク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FRUOR株式会社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株式会社BIRDY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59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350008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AI未経験、活用イメージなし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34539" y="3611880"/>
            <a:ext cx="3657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全員が「業務でAIを使いたい」と回答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満足度 8.5点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1416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28616" y="2350008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3984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問い合わせ対応に月283時間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43984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1596" y="3611880"/>
            <a:ext cx="3657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3984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月85時間へ削減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約200時間＝25営業日分の削減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3984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11312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48472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05672" y="2350008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業務の属人化、営業効率の壁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8652" y="3611880"/>
            <a:ext cx="3657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バックオフィス効率化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経営資源を成長領域にシフト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