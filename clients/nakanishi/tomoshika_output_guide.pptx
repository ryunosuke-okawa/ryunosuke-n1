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TOMOSHIKA</a:t>
            </a:r>
          </a:p>
          <a:p>
            <a:pPr algn="ctr">
              <a:spcBef>
                <a:spcPts val="1600"/>
              </a:spcBef>
              <a:defRPr sz="2800">
                <a:solidFill>
                  <a:srgbClr val="AAAAAA"/>
                </a:solidFill>
              </a:defRPr>
            </a:pPr>
            <a:r>
              <a:t>API 出力結果の見方</a:t>
            </a:r>
          </a:p>
          <a:p>
            <a:pPr algn="ctr">
              <a:spcBef>
                <a:spcPts val="3000"/>
              </a:spcBef>
              <a:defRPr sz="1400">
                <a:solidFill>
                  <a:srgbClr val="777777"/>
                </a:solidFill>
              </a:defRPr>
            </a:pPr>
            <a:r>
              <a:t>2026年4月16日  テスト実行結果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テスト実行結果と各フィールドの意味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5029200" cy="5760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Test Run (17:16:25)</a:t>
            </a:r>
          </a:p>
          <a:p>
            <a:pPr>
              <a:spcBef>
                <a:spcPts val="200"/>
              </a:spcBef>
              <a:defRPr sz="900">
                <a:solidFill>
                  <a:srgbClr val="3B5BDB"/>
                </a:solidFill>
              </a:defRPr>
            </a:pPr>
            <a:r>
              <a:t>入力   結果   詳細情報   実行追跡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4663440" cy="127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212121"/>
                </a:solidFill>
              </a:defRPr>
            </a:pPr>
            <a:r>
              <a:t>①  nakanishi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②  S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③  R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④  中西製作所（厨房機器）/ キーエンス（自動制御）/ 平田機工（生産システム）/ マクニカ（半導体商社）/ ダイフク（物流システム）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⑤  業界シェア1位の盤石な基盤。安定した環境で「攻め」のビジネスを展開したいあなたに最適。| 圧倒的な付加価値を生むロジック。…（以下、各社ごとの推薦理由）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⑥  該当なし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⑦  該当なし</a:t>
            </a:r>
          </a:p>
          <a:p>
            <a:pPr>
              <a:spcBef>
                <a:spcPts val="800"/>
              </a:spcBef>
              <a:defRPr sz="1000">
                <a:solidFill>
                  <a:srgbClr val="212121"/>
                </a:solidFill>
              </a:defRPr>
            </a:pPr>
            <a:r>
              <a:t>⑧  あなたの主体性と変革意欲は、安定基盤×ベンチャー志向の企業で大きく花開きます。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6868"/>
                </a:solidFill>
              </a:defRPr>
            </a:pPr>
            <a:r>
              <a:t>※ 左記はテスト実行画面の出力を再現したものです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777240"/>
            <a:ext cx="6309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804672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① result_type（判定カテゴリ）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005840"/>
            <a:ext cx="6035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nakanishi = 中西製作所に適性あり</a:t>
            </a:r>
          </a:p>
          <a:p>
            <a:pPr>
              <a:defRPr sz="1000">
                <a:solidFill>
                  <a:srgbClr val="686868"/>
                </a:solidFill>
              </a:defRPr>
            </a:pPr>
            <a:r>
              <a:t>type_match = 他の企業を推薦</a:t>
            </a:r>
          </a:p>
          <a:p>
            <a:pPr>
              <a:defRPr sz="1000">
                <a:solidFill>
                  <a:srgbClr val="686868"/>
                </a:solidFill>
              </a:defRPr>
            </a:pPr>
            <a:r>
              <a:t>tomocari = トモキャリへ誘導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82495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709928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② primary_type（第1位の志向性タイプ）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11095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S = 社会型（対人支援・教育志向が最も強い）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240280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267712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③ secondary_type（第2位の志向性タイプ）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468880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R = 現実型（ものづくり・技術志向も持つ）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798064"/>
            <a:ext cx="6309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825496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④ primary_companies（推薦企業リスト）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026664"/>
            <a:ext cx="6035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中西製作所＋同系統のBtoB企業を表示</a:t>
            </a:r>
          </a:p>
          <a:p>
            <a:pPr>
              <a:defRPr sz="1000">
                <a:solidFill>
                  <a:srgbClr val="686868"/>
                </a:solidFill>
              </a:defRPr>
            </a:pPr>
            <a:r>
              <a:t>※BtoC志向ならソニー・リクルート等に切替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529584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557016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⑤ primary_reasons（推薦理由）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758184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各企業ごとの「なぜ合っているか」の説明文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4087368"/>
            <a:ext cx="6309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114800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⑥⑦ secondary_*（補足企業・理由）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315968"/>
            <a:ext cx="6035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中西該当時は「該当なし」</a:t>
            </a:r>
          </a:p>
          <a:p>
            <a:pPr>
              <a:defRPr sz="1000">
                <a:solidFill>
                  <a:srgbClr val="686868"/>
                </a:solidFill>
              </a:defRPr>
            </a:pPr>
            <a:r>
              <a:t>（中西グループの訴求を優先するため）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4818888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4846320"/>
            <a:ext cx="6035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5BDB"/>
                </a:solidFill>
              </a:defRPr>
            </a:pPr>
            <a:r>
              <a:t>⑧ message（学生へのメッセージ）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047488"/>
            <a:ext cx="6035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6868"/>
                </a:solidFill>
              </a:defRPr>
            </a:pPr>
            <a:r>
              <a:t>判定結果に応じた締めの一言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このテスト結果から読み取れること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841247"/>
          </a:xfrm>
          <a:prstGeom prst="rect">
            <a:avLst/>
          </a:prstGeom>
          <a:solidFill>
            <a:srgbClr val="F5F6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34439"/>
            <a:ext cx="54864" cy="2286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中西製作所に適性あり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86868"/>
                </a:solidFill>
              </a:defRPr>
            </a:pPr>
            <a:r>
              <a:t>行動特性（主体性・変革意欲）スコアが高く、中西製作所に合う人材と判定されました。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75687"/>
            <a:ext cx="11277295" cy="1042415"/>
          </a:xfrm>
          <a:prstGeom prst="rect">
            <a:avLst/>
          </a:prstGeom>
          <a:solidFill>
            <a:srgbClr val="F5F6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12847"/>
            <a:ext cx="54864" cy="2286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S型（社会型）× R型（現実型）の組み合わせ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9735"/>
            <a:ext cx="1051560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86868"/>
                </a:solidFill>
              </a:defRPr>
            </a:pPr>
            <a:r>
              <a:t>人を支えることが好きで、かつものづくりにも関心がある。</a:t>
            </a:r>
          </a:p>
          <a:p>
            <a:pPr>
              <a:defRPr sz="1300">
                <a:solidFill>
                  <a:srgbClr val="686868"/>
                </a:solidFill>
              </a:defRPr>
            </a:pPr>
            <a:r>
              <a:t>中西製作所の「チームで厨房機器を作り上げる」仕事と親和性が高い組み合わせです。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55263"/>
            <a:ext cx="11277295" cy="1042415"/>
          </a:xfrm>
          <a:prstGeom prst="rect">
            <a:avLst/>
          </a:prstGeom>
          <a:solidFill>
            <a:srgbClr val="F5F6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3"/>
            <a:ext cx="54864" cy="2286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3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BtoB志向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1"/>
            <a:ext cx="1051560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86868"/>
                </a:solidFill>
              </a:defRPr>
            </a:pPr>
            <a:r>
              <a:t>BtoB企業リスト（中西製作所・キーエンス等）が選ばれています。</a:t>
            </a:r>
          </a:p>
          <a:p>
            <a:pPr>
              <a:defRPr sz="1300">
                <a:solidFill>
                  <a:srgbClr val="686868"/>
                </a:solidFill>
              </a:defRPr>
            </a:pPr>
            <a:r>
              <a:t>BtoC志向の場合はソニー・リクルート等に切り替わります。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11277295" cy="1042415"/>
          </a:xfrm>
          <a:prstGeom prst="rect">
            <a:avLst/>
          </a:prstGeom>
          <a:solidFill>
            <a:srgbClr val="F5F6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54864" cy="2286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79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中西製作所が筆頭表示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18888"/>
            <a:ext cx="1051560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86868"/>
                </a:solidFill>
              </a:defRPr>
            </a:pPr>
            <a:r>
              <a:t>結果画面では中西製作所が最も目立つ位置に表示され、</a:t>
            </a:r>
          </a:p>
          <a:p>
            <a:pPr>
              <a:defRPr sz="1300">
                <a:solidFill>
                  <a:srgbClr val="686868"/>
                </a:solidFill>
              </a:defRPr>
            </a:pPr>
            <a:r>
              <a:t>その後に同系統企業が並ぶ構成になります。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