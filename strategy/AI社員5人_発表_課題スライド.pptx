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【課題・15秒】</a:t>
            </a:r>
          </a:p>
          <a:p>
            <a:r>
              <a:t>ここで、Kawaru事業部の課題を3つお話しします。</a:t>
            </a:r>
          </a:p>
          <a:p>
            <a:r>
              <a:t>1つ目、業務量が増え続けます。ローンチ、展示会、デリバリーで業務は増える一方です。</a:t>
            </a:r>
          </a:p>
          <a:p>
            <a:r>
              <a:t>2つ目、人を増やすには時間がかかります。採用・育成にコストとスピードが見合いません。</a:t>
            </a:r>
          </a:p>
          <a:p>
            <a:r>
              <a:t>3つ目、業務が毎月変わります。既存の業務効率化フレームでは追いつかない。</a:t>
            </a:r>
          </a:p>
          <a:p>
            <a:r>
              <a:t>だから、AI社員5人で解決する、というのが私の答えです。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400" b="1">
                <a:solidFill>
                  <a:srgbClr val="1C3557"/>
                </a:solidFill>
                <a:latin typeface="Noto Sans JP"/>
              </a:rPr>
              <a:t>このままでは事業が回らない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6459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C9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業務量が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増え続ける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63240"/>
            <a:ext cx="3657600" cy="1280160"/>
          </a:xfrm>
          <a:prstGeom prst="roundRect">
            <a:avLst>
              <a:gd name="adj" fmla="val 5000"/>
            </a:avLst>
          </a:prstGeom>
          <a:solidFill>
            <a:srgbClr val="FD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0">
                <a:solidFill>
                  <a:srgbClr val="1C3557"/>
                </a:solidFill>
                <a:latin typeface="Noto Sans JP"/>
              </a:rPr>
              <a:t>ローンチ・展示会・デリバリーで</a:t>
            </a:r>
          </a:p>
          <a:p>
            <a:pPr algn="ctr"/>
            <a:r>
              <a:rPr sz="1400" b="0">
                <a:solidFill>
                  <a:srgbClr val="1C3557"/>
                </a:solidFill>
                <a:latin typeface="Noto Sans JP"/>
              </a:rPr>
              <a:t>業務は増える一方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5676" y="155448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C9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人を増やすには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時間がかかる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5676" y="3063240"/>
            <a:ext cx="3657600" cy="1280160"/>
          </a:xfrm>
          <a:prstGeom prst="roundRect">
            <a:avLst>
              <a:gd name="adj" fmla="val 5000"/>
            </a:avLst>
          </a:prstGeom>
          <a:solidFill>
            <a:srgbClr val="FD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0">
                <a:solidFill>
                  <a:srgbClr val="1C3557"/>
                </a:solidFill>
                <a:latin typeface="Noto Sans JP"/>
              </a:rPr>
              <a:t>採用・育成にコストと</a:t>
            </a:r>
          </a:p>
          <a:p>
            <a:pPr algn="ctr"/>
            <a:r>
              <a:rPr sz="1400" b="0">
                <a:solidFill>
                  <a:srgbClr val="1C3557"/>
                </a:solidFill>
                <a:latin typeface="Noto Sans JP"/>
              </a:rPr>
              <a:t>スピードが見合わない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4152" y="155448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C9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業務が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毎月変わる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4152" y="3063240"/>
            <a:ext cx="3657600" cy="1280160"/>
          </a:xfrm>
          <a:prstGeom prst="roundRect">
            <a:avLst>
              <a:gd name="adj" fmla="val 5000"/>
            </a:avLst>
          </a:prstGeom>
          <a:solidFill>
            <a:srgbClr val="FD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0">
                <a:solidFill>
                  <a:srgbClr val="1C3557"/>
                </a:solidFill>
                <a:latin typeface="Noto Sans JP"/>
              </a:rPr>
              <a:t>既存の業務効率化フレームでは</a:t>
            </a:r>
          </a:p>
          <a:p>
            <a:pPr algn="ctr"/>
            <a:r>
              <a:rPr sz="1400" b="0">
                <a:solidFill>
                  <a:srgbClr val="1C3557"/>
                </a:solidFill>
                <a:latin typeface="Noto Sans JP"/>
              </a:rPr>
              <a:t>追いつかない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70448" y="4572000"/>
            <a:ext cx="457200" cy="54864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5303520"/>
            <a:ext cx="11274552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3600" b="1">
                <a:solidFill>
                  <a:srgbClr val="2563EB"/>
                </a:solidFill>
                <a:latin typeface="Noto Sans JP"/>
              </a:rPr>
              <a:t>AI社員 5人 で解決する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