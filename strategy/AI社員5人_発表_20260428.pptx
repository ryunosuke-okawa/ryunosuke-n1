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【表紙・5秒】</a:t>
            </a:r>
          </a:p>
          <a:p>
            <a:r>
              <a:t>Kawaru事業部の大川です。AIハッカソンの発表を始めます。</a:t>
            </a:r>
          </a:p>
          <a:p>
            <a:r>
              <a:t>タイトルは「AI社員を動かして、Kawaru事業部の事業を推進する」です。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【前提・10秒】</a:t>
            </a:r>
          </a:p>
          <a:p>
            <a:r>
              <a:t>最初に前提を共有します。</a:t>
            </a:r>
          </a:p>
          <a:p>
            <a:r>
              <a:t>Kawaru事業部は、決まった業務が少ない事業部です。</a:t>
            </a:r>
          </a:p>
          <a:p>
            <a:r>
              <a:t>既存事業のように業務が固まっておらず、毎月内容が変わります。</a:t>
            </a:r>
          </a:p>
          <a:p>
            <a:r>
              <a:t>業務改善ではなく、業務を作っていく段階。</a:t>
            </a:r>
          </a:p>
          <a:p>
            <a:r>
              <a:t>だから今日は「業務削減」の話ではなく、「AI社員を動かして事業を推進する」という話をします。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【現状・15秒】</a:t>
            </a:r>
          </a:p>
          <a:p>
            <a:r>
              <a:t>Kawaru事業部の現状をお見せします。</a:t>
            </a:r>
          </a:p>
          <a:p>
            <a:r>
              <a:t>Kawaru、Kawaru Team、Kawaru Coach、Kawaru BPOの4サービスがあります。</a:t>
            </a:r>
          </a:p>
          <a:p>
            <a:r>
              <a:t>これを髙橋と私の2人体制で動かしています。</a:t>
            </a:r>
          </a:p>
          <a:p>
            <a:r>
              <a:t>2人で4サービスを動かすので、当然手が回りません。</a:t>
            </a:r>
          </a:p>
          <a:p>
            <a:r>
              <a:t>だから次のような体制を作りました。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【テーマ・10秒】</a:t>
            </a:r>
          </a:p>
          <a:p>
            <a:r>
              <a:t>今回のハッカソンで私が取り組むテーマはこれです。</a:t>
            </a:r>
          </a:p>
          <a:p>
            <a:r>
              <a:t>9月末までに、AI社員5人を作る。</a:t>
            </a:r>
          </a:p>
          <a:p>
            <a:r>
              <a:t>基準は1人あたり月35万円分の業務回避、5人で月175万円分です。</a:t>
            </a:r>
          </a:p>
          <a:p>
            <a:r>
              <a:t>ではどう作るか、次のスライドで。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【私はこう考えた + なんでこれに・25秒】</a:t>
            </a:r>
          </a:p>
          <a:p>
            <a:r>
              <a:t>9月末までにAI社員5人を作るために、私はこう考えました。</a:t>
            </a:r>
          </a:p>
          <a:p>
            <a:r>
              <a:t>事業に必要な機能を5つに分けて、5人のAI社員に分担してもらう。</a:t>
            </a:r>
          </a:p>
          <a:p>
            <a:r>
              <a:t>マーケは認知獲得、営業は商談・受注、デリバリーは納品、事務法務は管理・記録、戦略はリサーチ・分析。</a:t>
            </a:r>
          </a:p>
          <a:p>
            <a:r>
              <a:t>事業の全部の仕事を、この5人で網羅しています。</a:t>
            </a:r>
          </a:p>
          <a:p>
            <a:r>
              <a:t>だから案件が変わっても、この5人で受け止められる、というのが私の考えです。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【実はもう動かしている・15秒】</a:t>
            </a:r>
          </a:p>
          <a:p>
            <a:r>
              <a:t>ここがポイントなんですが、これは構想ではなく、もう動いています。</a:t>
            </a:r>
          </a:p>
          <a:p>
            <a:r>
              <a:t>私はすでにAI社員5人を動かしています。</a:t>
            </a:r>
          </a:p>
          <a:p>
            <a:r>
              <a:t>マーケ、営業、デリバリー、事務法務、戦略の5人。</a:t>
            </a:r>
          </a:p>
          <a:p>
            <a:r>
              <a:t>私が指示を出して、AI社員に動いてもらう。</a:t>
            </a:r>
          </a:p>
          <a:p>
            <a:r>
              <a:t>これによって、2人だけのKawaru事業部でも4サービスを回せています。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【実際の使い方・25秒】</a:t>
            </a:r>
          </a:p>
          <a:p>
            <a:r>
              <a:t>実際に今こう使っています。</a:t>
            </a:r>
          </a:p>
          <a:p>
            <a:r>
              <a:t>マーケAIは、展示会クリエイティブやLP制作。</a:t>
            </a:r>
          </a:p>
          <a:p>
            <a:r>
              <a:t>営業AIは、商談前準備や提案書の骨子作成。</a:t>
            </a:r>
          </a:p>
          <a:p>
            <a:r>
              <a:t>デリバリーAIは、NTT研修200枚を1人2週間で、中西のDify構築を5時間で完納しました。</a:t>
            </a:r>
          </a:p>
          <a:p>
            <a:r>
              <a:t>事務法務AIは、契約書チェックやPL自動更新。</a:t>
            </a:r>
          </a:p>
          <a:p>
            <a:r>
              <a:t>戦略AIは、競合調査や料金設計、データ分析。</a:t>
            </a:r>
          </a:p>
          <a:p>
            <a:r>
              <a:t>細かく読まなくて大丈夫ですが、いろんな領域でAI社員を使い倒しているということが伝わればOKです。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【橋渡し・8秒】</a:t>
            </a:r>
          </a:p>
          <a:p>
            <a:r>
              <a:t>そして、これが売上に直結しています。</a:t>
            </a:r>
          </a:p>
          <a:p>
            <a:r>
              <a:t>具体的な数字をお見せします。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【売上実績・20秒】</a:t>
            </a:r>
          </a:p>
          <a:p>
            <a:r>
              <a:t>10月から3月の半期で、売上6,710,000円。</a:t>
            </a:r>
          </a:p>
          <a:p>
            <a:r>
              <a:t>NTTネクシア、中西製作所、キリン、ブロードリンク、4案件すべてにAI社員が関与しています。</a:t>
            </a:r>
          </a:p>
          <a:p>
            <a:r>
              <a:t>NTT研修スライド200枚は2週間で完納、中西のDify構築は5時間で設計しました。</a:t>
            </a:r>
          </a:p>
          <a:p>
            <a:r>
              <a:t>月換算では464,000円、AI社員1.3人分がすでに稼働している計算になります。</a:t>
            </a:r>
          </a:p>
          <a:p>
            <a:r>
              <a:t>これは机上の空論ではなく、実際にお客さんに納品している事実です。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【現状→今後・7秒】</a:t>
            </a:r>
          </a:p>
          <a:p>
            <a:r>
              <a:t>ここまでが現状の話です。</a:t>
            </a:r>
          </a:p>
          <a:p>
            <a:r>
              <a:t>ここから9月末までの今後の話、具体的なロードマップを共有します。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【ロードマップ前半・15秒】</a:t>
            </a:r>
          </a:p>
          <a:p>
            <a:r>
              <a:t>9月末までのロードマップ前半、6月末までです。</a:t>
            </a:r>
          </a:p>
          <a:p>
            <a:r>
              <a:t>4月の現在は、5月のβ版ローンチと6月の8EXPO展示会に向けた制作物作成が中心。</a:t>
            </a:r>
          </a:p>
          <a:p>
            <a:r>
              <a:t>5月はローンチ実施と展示会の戦略・戦術設計にシフト。マーケと営業の比重が大きい時期です。</a:t>
            </a:r>
          </a:p>
          <a:p>
            <a:r>
              <a:t>6月末で2人分。8EXPO出展とローンチ後のフィードバック反映、5人の連携テスト。デリバリー内容が変化する時期で、顧客の声を聞きながらブラッシュアップします。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【ロードマップ後半・15秒】</a:t>
            </a:r>
          </a:p>
          <a:p>
            <a:r>
              <a:t>ロードマップ後半、9月末までです。</a:t>
            </a:r>
          </a:p>
          <a:p>
            <a:r>
              <a:t>7-8月は3〜4人分。β版経由の新規案件対応とプロダクト改善ループ、事務・法務AIを追加します。顧客が増えて事務処理も増える時期です。</a:t>
            </a:r>
          </a:p>
          <a:p>
            <a:r>
              <a:t>9月末で5人分。Agent Teamsで5人協働を実装し、事業を動かす完成形を目指します。</a:t>
            </a:r>
          </a:p>
          <a:p>
            <a:r>
              <a:t>新規事業なので進行で変わることも多いですが、5人完成というゴールは確実に進めます。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【締め・15秒】</a:t>
            </a:r>
          </a:p>
          <a:p>
            <a:r>
              <a:t>AI社員を動かして、Kawaru事業部の事業を推進する。</a:t>
            </a:r>
          </a:p>
          <a:p>
            <a:r>
              <a:t>2人＋AI社員5人＋Agent Teamsで、Kawaru事業部を動かしていきます。</a:t>
            </a:r>
          </a:p>
          <a:p>
            <a:r>
              <a:t>以上です。ありがとうございました。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457200"/>
            <a:ext cx="2103120" cy="21031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57200" y="5029200"/>
            <a:ext cx="1645920" cy="16459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6000" b="1">
                <a:solidFill>
                  <a:srgbClr val="2563EB"/>
                </a:solidFill>
                <a:latin typeface="Noto Sans JP"/>
              </a:rPr>
              <a:t>AIハッカソン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3931920"/>
            <a:ext cx="2130552" cy="54864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1127455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>
                <a:solidFill>
                  <a:srgbClr val="1C3557"/>
                </a:solidFill>
                <a:latin typeface="Noto Sans JP"/>
              </a:rPr>
              <a:t>Kawaru事業部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937760"/>
            <a:ext cx="1127455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0">
                <a:solidFill>
                  <a:srgbClr val="1C3557"/>
                </a:solidFill>
                <a:latin typeface="Noto Sans JP"/>
              </a:rPr>
              <a:t>大川 龍之介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217920"/>
            <a:ext cx="1127455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400" b="0">
                <a:solidFill>
                  <a:srgbClr val="6B7280"/>
                </a:solidFill>
                <a:latin typeface="Noto Sans JP"/>
              </a:rPr>
              <a:t>2026.04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JP"/>
              </a:rPr>
              <a:t>前提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12161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4552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0">
                <a:solidFill>
                  <a:srgbClr val="1C3557"/>
                </a:solidFill>
                <a:latin typeface="Noto Sans JP"/>
              </a:rPr>
              <a:t>Kawaru事業部は、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6888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4800" b="1">
                <a:solidFill>
                  <a:srgbClr val="2563EB"/>
                </a:solidFill>
                <a:latin typeface="Noto Sans JP"/>
              </a:rPr>
              <a:t>決まった業務が少ない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800" b="1">
                <a:solidFill>
                  <a:srgbClr val="6B7280"/>
                </a:solidFill>
                <a:latin typeface="Noto Sans JP"/>
              </a:rPr>
              <a:t>既存事業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754880"/>
            <a:ext cx="50292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0">
                <a:solidFill>
                  <a:srgbClr val="6B7280"/>
                </a:solidFill>
                <a:latin typeface="Noto Sans JP"/>
              </a:rPr>
              <a:t>業務が決まっている</a:t>
            </a:r>
          </a:p>
          <a:p>
            <a:pPr algn="ctr"/>
            <a:r>
              <a:rPr sz="1600" b="0">
                <a:solidFill>
                  <a:srgbClr val="6B7280"/>
                </a:solidFill>
                <a:latin typeface="Noto Sans JP"/>
              </a:rPr>
              <a:t>改善対象が見える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4846320"/>
            <a:ext cx="731520" cy="64008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4206240"/>
            <a:ext cx="4846320" cy="18288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Kawaru事業部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4754880"/>
            <a:ext cx="484632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業務が毎月変わる</a:t>
            </a:r>
          </a:p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改善より、業務を作る段階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3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Kawaru事業部の現状：4サービスを2人体制で動かしている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Kawaru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4630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4630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Kawaru Coach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59" y="14630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0B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Kawaru BPO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70448" y="3108960"/>
            <a:ext cx="457200" cy="5486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39319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JP"/>
              </a:rPr>
              <a:t>髙橋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3931920"/>
            <a:ext cx="914400" cy="12801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3600" b="1">
                <a:solidFill>
                  <a:srgbClr val="6B7280"/>
                </a:solidFill>
                <a:latin typeface="Noto Sans JP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0" y="3931920"/>
            <a:ext cx="2286000" cy="128016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JP"/>
              </a:rPr>
              <a:t>大川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48640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1">
                <a:solidFill>
                  <a:srgbClr val="1C3557"/>
                </a:solidFill>
                <a:latin typeface="Noto Sans JP"/>
              </a:rPr>
              <a:t>現状、Kawaru事業部の重要な4サービスを2人体制でやっている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4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今回のテーマ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600" b="1">
                <a:solidFill>
                  <a:srgbClr val="6B7280"/>
                </a:solidFill>
                <a:latin typeface="Noto Sans JP"/>
              </a:rPr>
              <a:t>今回のハッカソンで取り組むこと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46888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3600" b="0">
                <a:solidFill>
                  <a:srgbClr val="1C3557"/>
                </a:solidFill>
                <a:latin typeface="Noto Sans JP"/>
              </a:rPr>
              <a:t>9月末までに、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566160"/>
            <a:ext cx="11274552" cy="16459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7200" b="1">
                <a:solidFill>
                  <a:srgbClr val="2563EB"/>
                </a:solidFill>
                <a:latin typeface="Noto Sans JP"/>
              </a:rPr>
              <a:t>AI社員 5人 を作る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5394960"/>
            <a:ext cx="21305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576072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600" b="1">
                <a:solidFill>
                  <a:srgbClr val="1C3557"/>
                </a:solidFill>
                <a:latin typeface="Noto Sans JP"/>
              </a:rPr>
              <a:t>月35万円 × 5人 = 月175万円分の業務をAI社員にやってもらう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5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9月末に向けて、私はこう考えた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事業に必要な機能を、5人のAI社員に分担する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マーケ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947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認知獲得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15768" y="2377440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営業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5768" y="37947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商談・受注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74336" y="2377440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デリバリー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74336" y="37947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納品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2903" y="2377440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事務・法務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32903" y="37947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管理・記録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91472" y="2377440"/>
            <a:ext cx="219456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400" b="1">
                <a:solidFill>
                  <a:srgbClr val="FFFFFF"/>
                </a:solidFill>
                <a:latin typeface="Noto Sans JP"/>
              </a:rPr>
              <a:t>戦略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91472" y="379476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リサーチ・分析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937760"/>
            <a:ext cx="11274552" cy="137160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2563EB"/>
                </a:solidFill>
                <a:latin typeface="Noto Sans JP"/>
              </a:rPr>
              <a:t>事業の全部の仕事を 5人で網羅している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6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実は、もう動かしている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184648" y="1280160"/>
            <a:ext cx="1828800" cy="640080"/>
          </a:xfrm>
          <a:prstGeom prst="roundRect">
            <a:avLst>
              <a:gd name="adj" fmla="val 5000"/>
            </a:avLst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髙橋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9048" y="1920240"/>
            <a:ext cx="0" cy="365760"/>
          </a:xfrm>
          <a:prstGeom prst="line">
            <a:avLst/>
          </a:prstGeom>
          <a:ln w="25400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727448" y="2286000"/>
            <a:ext cx="2743200" cy="9144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800" b="1">
                <a:solidFill>
                  <a:srgbClr val="FFFFFF"/>
                </a:solidFill>
                <a:latin typeface="Noto Sans JP"/>
              </a:rPr>
              <a:t>大川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1508760" y="3200400"/>
            <a:ext cx="4590288" cy="10058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4206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マーケAI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3840479" y="3200400"/>
            <a:ext cx="2258569" cy="10058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788920" y="4206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営業AI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9048" y="3200400"/>
            <a:ext cx="73152" cy="10058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120640" y="4206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デリバリーAI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9048" y="3200400"/>
            <a:ext cx="2404871" cy="10058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52359" y="4206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事務法務AI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9048" y="3200400"/>
            <a:ext cx="4736592" cy="1005840"/>
          </a:xfrm>
          <a:prstGeom prst="line">
            <a:avLst/>
          </a:prstGeom>
          <a:ln w="317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784080" y="4206240"/>
            <a:ext cx="2103120" cy="137160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戦略AI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852160"/>
            <a:ext cx="1127455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563EB"/>
                </a:solidFill>
                <a:latin typeface="Noto Sans JP"/>
              </a:rPr>
              <a:t>大川主導で AI社員5人 を動かして事業部を回している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7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今こう使ってます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2011679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マーケAI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240280"/>
            <a:ext cx="1920240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展示会クリエイティブ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LINE配信シナリオ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SNS投稿生成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LP構成案・コピー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YouTube → SNS転記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0" y="137160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/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1463040"/>
            <a:ext cx="2011679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営業AI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2240280"/>
            <a:ext cx="1920240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商談前ブリーフィング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提案書骨子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フォローメール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要件ヒアリング整理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見積書作成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37160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/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2011679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デリバリーAI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60" y="2240280"/>
            <a:ext cx="1920240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NTT 研修200枚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中西 Dify構築 (5h)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キリン 研修PM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ブロードリンク 省エネ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カリキュラム設計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137160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/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1463040"/>
            <a:ext cx="2011679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事務・法務AI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2240280"/>
            <a:ext cx="1920240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契約書チェック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PL自動更新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受信トレイ整理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月次レポート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ツールコスト最適化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1371600"/>
            <a:ext cx="2194560" cy="42976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/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92640" y="1463040"/>
            <a:ext cx="2011679" cy="64008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戦略AI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2240280"/>
            <a:ext cx="1920240" cy="33375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競合調査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料金設計試算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データ分析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プロダクト改善提案</a:t>
            </a:r>
          </a:p>
          <a:p>
            <a:pPr algn="l"/>
            <a:r>
              <a:rPr sz="1100" b="0">
                <a:solidFill>
                  <a:srgbClr val="1C3557"/>
                </a:solidFill>
                <a:latin typeface="Noto Sans JP"/>
              </a:rPr>
              <a:t>✓ 朝の工程表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852160"/>
            <a:ext cx="11274552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2563EB"/>
                </a:solidFill>
                <a:latin typeface="Noto Sans JP"/>
              </a:rPr>
              <a:t>いろんな領域で AI社員 を使い倒している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65760"/>
            <a:ext cx="11274552" cy="4572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ctr"/>
            <a:r>
              <a:rPr sz="1400" b="1">
                <a:solidFill>
                  <a:srgbClr val="6B7280"/>
                </a:solidFill>
                <a:latin typeface="Noto Sans JP"/>
              </a:rPr>
              <a:t>そして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0" y="914400"/>
            <a:ext cx="1216152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3200" b="0">
                <a:solidFill>
                  <a:srgbClr val="1C3557"/>
                </a:solidFill>
                <a:latin typeface="Noto Sans JP"/>
              </a:rPr>
              <a:t>これが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20040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5200" b="1">
                <a:solidFill>
                  <a:srgbClr val="2563EB"/>
                </a:solidFill>
                <a:latin typeface="Noto Sans JP"/>
              </a:rPr>
              <a:t>売上に直結している</a:t>
            </a:r>
          </a:p>
        </p:txBody>
      </p:sp>
      <p:sp>
        <p:nvSpPr>
          <p:cNvPr id="7" name="Down Arrow 6"/>
          <p:cNvSpPr/>
          <p:nvPr/>
        </p:nvSpPr>
        <p:spPr>
          <a:xfrm>
            <a:off x="5870448" y="5029200"/>
            <a:ext cx="457200" cy="54864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9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半期 ¥6,710,000、4案件すべてにAI社員が動いている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45720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案件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074920" y="1554480"/>
            <a:ext cx="27432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売上 (税抜)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267712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NTTネクシア</a:t>
            </a:r>
          </a:p>
        </p:txBody>
      </p:sp>
      <p:sp>
        <p:nvSpPr>
          <p:cNvPr id="9" name="Rectangle 8"/>
          <p:cNvSpPr/>
          <p:nvPr/>
        </p:nvSpPr>
        <p:spPr>
          <a:xfrm>
            <a:off x="5074920" y="2267712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¥5,000,000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80944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中西製作所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980944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¥1,000,000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694176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中部キリンビバレッジ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694176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¥450,000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407408"/>
            <a:ext cx="45720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ブロードリンク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74920" y="4407408"/>
            <a:ext cx="2743200" cy="64008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600" b="0">
                <a:solidFill>
                  <a:srgbClr val="1C3557"/>
                </a:solidFill>
                <a:latin typeface="Noto Sans JP"/>
              </a:rPr>
              <a:t>¥260,000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5120640"/>
            <a:ext cx="45720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800" b="1">
                <a:solidFill>
                  <a:srgbClr val="FFFFFF"/>
                </a:solidFill>
                <a:latin typeface="Noto Sans JP"/>
              </a:rPr>
              <a:t>半期合計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5120640"/>
            <a:ext cx="274320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r"/>
            <a:r>
              <a:rPr sz="1800" b="1">
                <a:solidFill>
                  <a:srgbClr val="FFFFFF"/>
                </a:solidFill>
                <a:latin typeface="Noto Sans JP"/>
              </a:rPr>
              <a:t>¥6,710,000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554480"/>
            <a:ext cx="3502152" cy="420624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月換算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¥464,000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=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/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AI社員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1.3人分</a:t>
            </a:r>
          </a:p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稼働中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1371600"/>
            <a:ext cx="21305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828800"/>
            <a:ext cx="11274552" cy="10972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3400" b="1">
                <a:solidFill>
                  <a:srgbClr val="6B7280"/>
                </a:solidFill>
                <a:latin typeface="Noto Sans JP"/>
              </a:rPr>
              <a:t>ここまでが現状の話</a:t>
            </a:r>
          </a:p>
        </p:txBody>
      </p:sp>
      <p:sp>
        <p:nvSpPr>
          <p:cNvPr id="5" name="Down Arrow 4"/>
          <p:cNvSpPr/>
          <p:nvPr/>
        </p:nvSpPr>
        <p:spPr>
          <a:xfrm>
            <a:off x="5641848" y="3108960"/>
            <a:ext cx="914400" cy="731520"/>
          </a:xfrm>
          <a:prstGeom prst="down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402336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5000" b="1">
                <a:solidFill>
                  <a:srgbClr val="2563EB"/>
                </a:solidFill>
                <a:latin typeface="Noto Sans JP"/>
              </a:rPr>
              <a:t>ここから今後の話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48640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C3557"/>
                </a:solidFill>
                <a:latin typeface="Noto Sans JP"/>
              </a:rPr>
              <a:t>9月末までにAI社員5人を完成させる、その具体ロードマップ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11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9月末までのロードマップ ① 6月末まで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71600"/>
            <a:ext cx="128016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達成水準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5029200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具体タスク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3456432" cy="64008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この時期に重点を置く理由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03120"/>
            <a:ext cx="137160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4月</a:t>
            </a:r>
          </a:p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(現在)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103120"/>
            <a:ext cx="12801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1C3557"/>
                </a:solidFill>
                <a:latin typeface="Noto Sans JP"/>
              </a:rPr>
              <a:t>1.3人分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03120"/>
            <a:ext cx="502920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展示会・ローンチに向けた制作物作成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（クリエイティブ・LP・LINE）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103120"/>
            <a:ext cx="3456432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5月の本番に向けた助走期間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11880"/>
            <a:ext cx="137160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0">
                <a:solidFill>
                  <a:srgbClr val="1C3557"/>
                </a:solidFill>
                <a:latin typeface="Noto Sans JP"/>
              </a:rPr>
              <a:t>5月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3611880"/>
            <a:ext cx="128016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1C3557"/>
                </a:solidFill>
                <a:latin typeface="Noto Sans JP"/>
              </a:rPr>
              <a:t>1.6人分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3611880"/>
            <a:ext cx="5029200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β版ローンチ実施 (5/2)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6月 8EXPO の戦略・戦術設計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（集客リクエスト配信／当日オペ／営業トークスクリプト）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3611880"/>
            <a:ext cx="3456432" cy="14173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マーケ・営業の比重が大きい時期。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AI社員を育てながら走らせる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120640"/>
            <a:ext cx="137160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6月末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(中間)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74519" y="5120640"/>
            <a:ext cx="1280160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JP"/>
              </a:rPr>
              <a:t>2人分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5120640"/>
            <a:ext cx="5029200" cy="1417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8EXPO 出展 (6/3-4)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ローンチ後のフィードバック反映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5人連携テスト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75320" y="5120640"/>
            <a:ext cx="3456432" cy="14173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デリバリー内容が変化する時期。</a:t>
            </a:r>
          </a:p>
          <a:p>
            <a:pPr algn="l"/>
            <a:r>
              <a:rPr sz="1300" b="0">
                <a:solidFill>
                  <a:srgbClr val="1C3557"/>
                </a:solidFill>
                <a:latin typeface="Noto Sans JP"/>
              </a:rPr>
              <a:t>顧客の声を聞きながらブラッシュアップ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JP"/>
              </a:rPr>
              <a:t>5月の本番（ローンチ・展示会）が山場、6月末に2人分まで持っていく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0" y="27432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12 / 13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65760"/>
            <a:ext cx="105156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400" b="1">
                <a:solidFill>
                  <a:srgbClr val="1C3557"/>
                </a:solidFill>
                <a:latin typeface="Noto Sans JP"/>
              </a:rPr>
              <a:t>9月末までのロードマップ ② 9月末まで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645920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371600" cy="7315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月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19" y="1371600"/>
            <a:ext cx="1280160" cy="7315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達成水準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371600"/>
            <a:ext cx="5029200" cy="7315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具体タスク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75320" y="1371600"/>
            <a:ext cx="3456432" cy="7315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JP"/>
              </a:rPr>
              <a:t>この時期に重点を置く理由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3716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0">
                <a:solidFill>
                  <a:srgbClr val="1C3557"/>
                </a:solidFill>
                <a:latin typeface="Noto Sans JP"/>
              </a:rPr>
              <a:t>7-8月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74519" y="2194560"/>
            <a:ext cx="128016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1C3557"/>
                </a:solidFill>
                <a:latin typeface="Noto Sans JP"/>
              </a:rPr>
              <a:t>3〜4人分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2194560"/>
            <a:ext cx="5029200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β版経由の新規案件対応</a:t>
            </a:r>
          </a:p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プロダクト改善ループ確立</a:t>
            </a:r>
          </a:p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事務・法務AI 追加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75320" y="2194560"/>
            <a:ext cx="3456432" cy="21031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500" b="0">
                <a:solidFill>
                  <a:srgbClr val="1C3557"/>
                </a:solidFill>
                <a:latin typeface="Noto Sans JP"/>
              </a:rPr>
              <a:t>顧客が増えて事務処理が増える時期。</a:t>
            </a:r>
          </a:p>
          <a:p>
            <a:pPr algn="l"/>
            <a:r>
              <a:rPr sz="1500" b="0">
                <a:solidFill>
                  <a:srgbClr val="1C3557"/>
                </a:solidFill>
                <a:latin typeface="Noto Sans JP"/>
              </a:rPr>
              <a:t>事務AIを稼働させて対応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137160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9月末</a:t>
            </a:r>
          </a:p>
          <a:p>
            <a:pPr algn="ctr"/>
            <a:r>
              <a:rPr sz="1800" b="1">
                <a:solidFill>
                  <a:srgbClr val="FFFFFF"/>
                </a:solidFill>
                <a:latin typeface="Noto Sans JP"/>
              </a:rPr>
              <a:t>(最終)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74519" y="4389120"/>
            <a:ext cx="1280160" cy="2103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600" b="1">
                <a:solidFill>
                  <a:srgbClr val="FFFFFF"/>
                </a:solidFill>
                <a:latin typeface="Noto Sans JP"/>
              </a:rPr>
              <a:t>5人分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0" y="4389120"/>
            <a:ext cx="5029200" cy="2103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5人フル稼働</a:t>
            </a:r>
          </a:p>
          <a:p>
            <a:pPr algn="l"/>
            <a:r>
              <a:rPr sz="1600" b="0">
                <a:solidFill>
                  <a:srgbClr val="1C3557"/>
                </a:solidFill>
                <a:latin typeface="Noto Sans JP"/>
              </a:rPr>
              <a:t>プロダクト × デリバリー 両輪完成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4389120"/>
            <a:ext cx="3456432" cy="2103120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500" b="0">
                <a:solidFill>
                  <a:srgbClr val="1C3557"/>
                </a:solidFill>
                <a:latin typeface="Noto Sans JP"/>
              </a:rPr>
              <a:t>Agent Teams で5人協働を実装し、</a:t>
            </a:r>
          </a:p>
          <a:p>
            <a:pPr algn="l"/>
            <a:r>
              <a:rPr sz="1500" b="0">
                <a:solidFill>
                  <a:srgbClr val="1C3557"/>
                </a:solidFill>
                <a:latin typeface="Noto Sans JP"/>
              </a:rPr>
              <a:t>事業を動かす完成形へ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63640"/>
            <a:ext cx="1127455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300" b="1">
                <a:solidFill>
                  <a:srgbClr val="2563EB"/>
                </a:solidFill>
                <a:latin typeface="Noto Sans JP"/>
              </a:rPr>
              <a:t>7-8月で事務・法務AIを追加、9月末に5人完成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731520"/>
            <a:ext cx="1828800" cy="18288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029200"/>
            <a:ext cx="1463040" cy="146304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4000" b="1">
                <a:solidFill>
                  <a:srgbClr val="1C3557"/>
                </a:solidFill>
                <a:latin typeface="Noto Sans JP"/>
              </a:rPr>
              <a:t>AI社員を動かして、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51760"/>
            <a:ext cx="11274552" cy="1463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5000" b="1">
                <a:solidFill>
                  <a:srgbClr val="2563EB"/>
                </a:solidFill>
                <a:latin typeface="Noto Sans JP"/>
              </a:rPr>
              <a:t>Kawaru事業部の事業を推進する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389120"/>
            <a:ext cx="21305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572000"/>
            <a:ext cx="1127455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2000" b="1">
                <a:solidFill>
                  <a:srgbClr val="1C3557"/>
                </a:solidFill>
                <a:latin typeface="Noto Sans JP"/>
              </a:rPr>
              <a:t>2人 + AI社員5人 + Agent Teams で動かす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486400"/>
            <a:ext cx="3200400" cy="731520"/>
          </a:xfrm>
          <a:prstGeom prst="roundRect">
            <a:avLst>
              <a:gd name="adj" fmla="val 5000"/>
            </a:avLst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Noto Sans JP"/>
              </a:rPr>
              <a:t>Kawaru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548640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Team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66560" y="5486400"/>
            <a:ext cx="2377440" cy="731520"/>
          </a:xfrm>
          <a:prstGeom prst="roundRect">
            <a:avLst>
              <a:gd name="adj" fmla="val 500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Coach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35440" y="5486400"/>
            <a:ext cx="2194560" cy="731520"/>
          </a:xfrm>
          <a:prstGeom prst="roundRect">
            <a:avLst>
              <a:gd name="adj" fmla="val 5000"/>
            </a:avLst>
          </a:prstGeom>
          <a:solidFill>
            <a:srgbClr val="10BF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JP"/>
              </a:rPr>
              <a:t>Kawaru BPO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0" y="6492240"/>
            <a:ext cx="100584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