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【表紙・5秒】</a:t>
            </a:r>
          </a:p>
          <a:p>
            <a:r>
              <a:t>Kawaru事業部の大川です。AIハッカソンの発表を始めます。</a:t>
            </a:r>
          </a:p>
          <a:p>
            <a:r>
              <a:t>タイトルは「AI社員を動かして、Kawaru事業部の事業を推進する」です。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【前提・10秒】</a:t>
            </a:r>
          </a:p>
          <a:p>
            <a:r>
              <a:t>最初に前提を共有します。</a:t>
            </a:r>
          </a:p>
          <a:p>
            <a:r>
              <a:t>Kawaru事業部は、決まった業務が少ない事業部です。</a:t>
            </a:r>
          </a:p>
          <a:p>
            <a:r>
              <a:t>既存事業のように業務が固まっておらず、毎月内容が変わります。</a:t>
            </a:r>
          </a:p>
          <a:p>
            <a:r>
              <a:t>業務改善ではなく、業務を作っていく段階。</a:t>
            </a:r>
          </a:p>
          <a:p>
            <a:r>
              <a:t>だから今日は「業務削減」の話ではなく、「AI社員を動かして事業を推進する」という話をします。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【現状・15秒】</a:t>
            </a:r>
          </a:p>
          <a:p>
            <a:r>
              <a:t>Kawaru事業部の現状をお見せします。</a:t>
            </a:r>
          </a:p>
          <a:p>
            <a:r>
              <a:t>Kawaru、Kawaru Team、Kawaru Coach、Kawaru BPOの4サービスがあります。</a:t>
            </a:r>
          </a:p>
          <a:p>
            <a:r>
              <a:t>これを髙橋と私の2人体制で動かしています。</a:t>
            </a:r>
          </a:p>
          <a:p>
            <a:r>
              <a:t>2人で4サービスを動かすので、当然手が回りません。</a:t>
            </a:r>
          </a:p>
          <a:p>
            <a:r>
              <a:t>だから次のような体制を作りました。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【テーマ・10秒】</a:t>
            </a:r>
          </a:p>
          <a:p>
            <a:r>
              <a:t>今回のハッカソンで私が取り組むテーマはこれです。</a:t>
            </a:r>
          </a:p>
          <a:p>
            <a:r>
              <a:t>9月末までに、AI社員5人を作る。</a:t>
            </a:r>
          </a:p>
          <a:p>
            <a:r>
              <a:t>基準は1人あたり月35万円分の業務回避、5人で月175万円分です。</a:t>
            </a:r>
          </a:p>
          <a:p>
            <a:r>
              <a:t>ではどう作るか、次のスライドで。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【私はこう考えた・15秒】</a:t>
            </a:r>
          </a:p>
          <a:p>
            <a:r>
              <a:t>9月末までにAI社員5人を作るために、私はこう考えました。</a:t>
            </a:r>
          </a:p>
          <a:p>
            <a:r>
              <a:t>事業に必要な機能を5つに分けて、5人のAI社員に分担してもらう。</a:t>
            </a:r>
          </a:p>
          <a:p>
            <a:r>
              <a:t>マーケ、営業、デリバリー、事務・法務、戦略。</a:t>
            </a:r>
          </a:p>
          <a:p>
            <a:r>
              <a:t>この5人を作って、Kawaru事業部を動かす。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【実はもう動かしている・15秒】</a:t>
            </a:r>
          </a:p>
          <a:p>
            <a:r>
              <a:t>ここがポイントなんですが、これは構想ではなく、もう動いています。</a:t>
            </a:r>
          </a:p>
          <a:p>
            <a:r>
              <a:t>私はすでにAI社員5人を動かしています。</a:t>
            </a:r>
          </a:p>
          <a:p>
            <a:r>
              <a:t>マーケ、営業、デリバリー、事務法務、戦略の5人。</a:t>
            </a:r>
          </a:p>
          <a:p>
            <a:r>
              <a:t>私が指示を出して、AI社員に動いてもらう。</a:t>
            </a:r>
          </a:p>
          <a:p>
            <a:r>
              <a:t>これによって、2人だけのKawaru事業部でも4サービスを回せています。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【5人の構成・25秒】</a:t>
            </a:r>
          </a:p>
          <a:p>
            <a:r>
              <a:t>5人の構成を詳しくお見せします。</a:t>
            </a:r>
          </a:p>
          <a:p>
            <a:r>
              <a:t>マーケAIは、LP・SNS・展示会・LINE配信・事例記事を担当。</a:t>
            </a:r>
          </a:p>
          <a:p>
            <a:r>
              <a:t>営業AIは、商談前準備・要件ヒアリング・提案書・フォロー。</a:t>
            </a:r>
          </a:p>
          <a:p>
            <a:r>
              <a:t>デリバリーAIは、研修運営・Dify、n8n、GAS構築・CSコンサル・PM。</a:t>
            </a:r>
          </a:p>
          <a:p>
            <a:r>
              <a:t>事務法務AIは、契約書・請求書・利用契約書・プライバシーポリシー・PL。</a:t>
            </a:r>
          </a:p>
          <a:p>
            <a:r>
              <a:t>戦略プロダクトAIは、競合調査・市場調査・料金設計・データ分析。</a:t>
            </a:r>
          </a:p>
          <a:p>
            <a:r>
              <a:t>各領域の戦略と実行を5人で持っています。戦略AIだけは横断的にリサーチと分析を担当します。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【なんでこれにしたのか・15秒】</a:t>
            </a:r>
          </a:p>
          <a:p>
            <a:r>
              <a:t>なんでこの5人にしたのか。</a:t>
            </a:r>
          </a:p>
          <a:p>
            <a:r>
              <a:t>マーケ、営業、デリバリー、事務法務、戦略。これは事業に必要な機能をMECEで切ったものです。</a:t>
            </a:r>
          </a:p>
          <a:p>
            <a:r>
              <a:t>認知獲得から商談・受注、納品、管理・記録、リサーチ・分析まで。</a:t>
            </a:r>
          </a:p>
          <a:p>
            <a:r>
              <a:t>事業の全部の仕事を、この5人で網羅しています。</a:t>
            </a:r>
          </a:p>
          <a:p>
            <a:r>
              <a:t>だから案件が変わっても、5人で受け止められます。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【実際の使い方・25秒】</a:t>
            </a:r>
          </a:p>
          <a:p>
            <a:r>
              <a:t>実際に今こう使っています。</a:t>
            </a:r>
          </a:p>
          <a:p>
            <a:r>
              <a:t>マーケAIは、展示会クリエイティブやLP制作。</a:t>
            </a:r>
          </a:p>
          <a:p>
            <a:r>
              <a:t>営業AIは、商談前準備や提案書の骨子作成。</a:t>
            </a:r>
          </a:p>
          <a:p>
            <a:r>
              <a:t>デリバリーAIは、NTT研修200枚を1人2週間で、中西のDify構築を5時間で完納しました。</a:t>
            </a:r>
          </a:p>
          <a:p>
            <a:r>
              <a:t>事務法務AIは、契約書チェックやPL自動更新。</a:t>
            </a:r>
          </a:p>
          <a:p>
            <a:r>
              <a:t>戦略AIは、競合調査や料金設計、データ分析。</a:t>
            </a:r>
          </a:p>
          <a:p>
            <a:r>
              <a:t>細かく読まなくて大丈夫ですが、いろんな領域でAI社員を使い倒しているということが伝わればOKです。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【橋渡し・8秒】</a:t>
            </a:r>
          </a:p>
          <a:p>
            <a:r>
              <a:t>そして、これが売上に直結しています。</a:t>
            </a:r>
          </a:p>
          <a:p>
            <a:r>
              <a:t>具体的な数字をお見せします。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【売上実績・20秒】</a:t>
            </a:r>
          </a:p>
          <a:p>
            <a:r>
              <a:t>10月から3月の半期で、売上6,710,000円。</a:t>
            </a:r>
          </a:p>
          <a:p>
            <a:r>
              <a:t>NTTネクシア、中西製作所、キリン、ブロードリンク、4案件すべてにAI社員が関与しています。</a:t>
            </a:r>
          </a:p>
          <a:p>
            <a:r>
              <a:t>NTT研修スライド200枚は2週間で完納、中西のDify構築は5時間で設計しました。</a:t>
            </a:r>
          </a:p>
          <a:p>
            <a:r>
              <a:t>月換算では464,000円、AI社員1.3人分がすでに稼働している計算になります。</a:t>
            </a:r>
          </a:p>
          <a:p>
            <a:r>
              <a:t>これは机上の空論ではなく、実際にお客さんに納品している事実です。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【現状→今後・7秒】</a:t>
            </a:r>
          </a:p>
          <a:p>
            <a:r>
              <a:t>ここまでが現状の話です。</a:t>
            </a:r>
          </a:p>
          <a:p>
            <a:r>
              <a:t>ここから9月末までの今後の話、具体的なロードマップを共有します。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【ロードマップ・25秒】</a:t>
            </a:r>
          </a:p>
          <a:p>
            <a:r>
              <a:t>9月末までのロードマップです。</a:t>
            </a:r>
          </a:p>
          <a:p>
            <a:r>
              <a:t>4月の現在は、5月のβ版ローンチと6月の8EXPO展示会に向けた制作物作成が中心です。</a:t>
            </a:r>
          </a:p>
          <a:p>
            <a:r>
              <a:t>5月はローンチ実施と、6月の展示会に向けた戦略・戦術設計にシフト。集客リクエスト配信、当日オペ、営業トークスクリプトなど、マーケと営業の比重が大きい時期です。AI社員を育てながら走らせます。</a:t>
            </a:r>
          </a:p>
          <a:p>
            <a:r>
              <a:t>6月末で2人分。8EXPO出展とローンチ後の運用フィードバック反映、5人の連携テスト。デリバリー内容が変化する時期で、顧客の声を聞きながらブラッシュアップします。</a:t>
            </a:r>
          </a:p>
          <a:p>
            <a:r>
              <a:t>7-8月は3〜4人分。顧客が増えて事務処理も増えるため、事務・法務AIを稼働させて対応します。</a:t>
            </a:r>
          </a:p>
          <a:p>
            <a:r>
              <a:t>9月末で5人分。Agent Teamsで5人協働を実装し、事業を動かす完成形を目指します。</a:t>
            </a:r>
          </a:p>
          <a:p>
            <a:r>
              <a:t>新規事業なので進行で変わることも多いですが、5人完成というゴールは確実に進めます。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【締め・15秒】</a:t>
            </a:r>
          </a:p>
          <a:p>
            <a:r>
              <a:t>AI社員を動かして、Kawaru事業部の事業を推進する。</a:t>
            </a:r>
          </a:p>
          <a:p>
            <a:r>
              <a:t>2人＋AI社員5人＋Agent Teamsで、Kawaru事業部を動かしていきます。</a:t>
            </a:r>
          </a:p>
          <a:p>
            <a:r>
              <a:t>以上です。ありがとうございました。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2103120" cy="21031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1645920" cy="16459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6000" b="1">
                <a:solidFill>
                  <a:srgbClr val="2563EB"/>
                </a:solidFill>
                <a:latin typeface="Noto Sans JP"/>
              </a:rPr>
              <a:t>AIハッカソン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3931920"/>
            <a:ext cx="2130552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1C3557"/>
                </a:solidFill>
                <a:latin typeface="Noto Sans JP"/>
              </a:rPr>
              <a:t>Kawaru事業部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4552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0">
                <a:solidFill>
                  <a:srgbClr val="1C3557"/>
                </a:solidFill>
                <a:latin typeface="Noto Sans JP"/>
              </a:rPr>
              <a:t>大川 龍之介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0">
                <a:solidFill>
                  <a:srgbClr val="6B7280"/>
                </a:solidFill>
                <a:latin typeface="Noto Sans JP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0">
                <a:solidFill>
                  <a:srgbClr val="1C3557"/>
                </a:solidFill>
                <a:latin typeface="Noto Sans JP"/>
              </a:rPr>
              <a:t>Kawaru事業部は、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800" b="1">
                <a:solidFill>
                  <a:srgbClr val="2563EB"/>
                </a:solidFill>
                <a:latin typeface="Noto Sans JP"/>
              </a:rPr>
              <a:t>決まった業務が少ない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062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6B7280"/>
                </a:solidFill>
                <a:latin typeface="Noto Sans JP"/>
              </a:rPr>
              <a:t>既存事業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54880"/>
            <a:ext cx="50292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業務が決まっている</a:t>
            </a:r>
          </a:p>
          <a:p>
            <a:pPr algn="ctr"/>
            <a:r>
              <a:rPr sz="1600" b="0">
                <a:solidFill>
                  <a:srgbClr val="6B7280"/>
                </a:solidFill>
                <a:latin typeface="Noto Sans JP"/>
              </a:rPr>
              <a:t>改善対象が見える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4846320"/>
            <a:ext cx="731520" cy="6400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4206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Kawaru事業部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4754880"/>
            <a:ext cx="484632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業務が毎月変わる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改善より、業務を作る段階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3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Kawaru事業部の現状：4サービスを2人体制で動かしている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59" y="1463040"/>
            <a:ext cx="2743200" cy="146304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70448" y="310896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931920"/>
            <a:ext cx="914400" cy="1280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1">
                <a:solidFill>
                  <a:srgbClr val="6B7280"/>
                </a:solidFill>
                <a:latin typeface="Noto Sans JP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9319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1C3557"/>
                </a:solidFill>
                <a:latin typeface="Noto Sans JP"/>
              </a:rPr>
              <a:t>現状、Kawaru事業部の重要な4サービスを2人体制でやっている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4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今回のテーマ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6B7280"/>
                </a:solidFill>
                <a:latin typeface="Noto Sans JP"/>
              </a:rPr>
              <a:t>今回のハッカソンで取り組むこと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600" b="0">
                <a:solidFill>
                  <a:srgbClr val="1C3557"/>
                </a:solidFill>
                <a:latin typeface="Noto Sans JP"/>
              </a:rPr>
              <a:t>9月末までに、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66160"/>
            <a:ext cx="11274552" cy="1645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7200" b="1">
                <a:solidFill>
                  <a:srgbClr val="2563EB"/>
                </a:solidFill>
                <a:latin typeface="Noto Sans JP"/>
              </a:rPr>
              <a:t>AI社員 5人 を作る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539496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600" b="1">
                <a:solidFill>
                  <a:srgbClr val="1C3557"/>
                </a:solidFill>
                <a:latin typeface="Noto Sans JP"/>
              </a:rPr>
              <a:t>月35万円 × 5人 = 月175万円分の業務をAI社員にやってもらう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5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9月末に向けて、私はこう考えた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事業に必要な機能を、5人のAI社員に分担する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74336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2903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1472" y="2468880"/>
            <a:ext cx="2194560" cy="22860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212080"/>
            <a:ext cx="11274552" cy="10058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2563EB"/>
                </a:solidFill>
                <a:latin typeface="Noto Sans JP"/>
              </a:rPr>
              <a:t>この 5人 を作って、Kawaru事業部を動かす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6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実は、もう動かしている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84648" y="1280160"/>
            <a:ext cx="1828800" cy="640080"/>
          </a:xfrm>
          <a:prstGeom prst="roundRect">
            <a:avLst>
              <a:gd name="adj" fmla="val 5000"/>
            </a:avLst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髙橋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920240"/>
            <a:ext cx="0" cy="36576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27448" y="2286000"/>
            <a:ext cx="2743200" cy="9144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800" b="1">
                <a:solidFill>
                  <a:srgbClr val="FFFFFF"/>
                </a:solidFill>
                <a:latin typeface="Noto Sans JP"/>
              </a:rPr>
              <a:t>大川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3200400"/>
            <a:ext cx="4590288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840479" y="3200400"/>
            <a:ext cx="2258569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8892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200400"/>
            <a:ext cx="7315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3200400"/>
            <a:ext cx="2404871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359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事務法務AI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9048" y="3200400"/>
            <a:ext cx="4736592" cy="1005840"/>
          </a:xfrm>
          <a:prstGeom prst="line">
            <a:avLst/>
          </a:prstGeom>
          <a:ln w="317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84080" y="4206240"/>
            <a:ext cx="2103120" cy="13716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大川主導で AI社員5人 を動かして事業部を回している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7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AI社員5人の構成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37160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LP / SNS / 展示会 / LINE配信 / 事例記事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2331720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商談前準備 / 要件ヒアリング / 提案書 / フォロー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3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329183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研修運営 / Dify・n8n・GAS構築 / CSコンサル / PM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425195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契約書 / 請求書 / 利用契約書 / プライバシーポリシー / PL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12079"/>
            <a:ext cx="3200400" cy="8686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戦略・プロダクトAI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5212079"/>
            <a:ext cx="7955279" cy="868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400" b="0">
                <a:solidFill>
                  <a:srgbClr val="1C3557"/>
                </a:solidFill>
                <a:latin typeface="Noto Sans JP"/>
              </a:rPr>
              <a:t>競合調査 / 市場調査 / 料金設計 / データ分析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6B7280"/>
                </a:solidFill>
                <a:latin typeface="Noto Sans JP"/>
              </a:rPr>
              <a:t>4人 = 各領域の戦略 + 実行  /  戦略・プロダクトAI = リサーチ・分析担当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8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なんでこれにしたのか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マーケ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認知獲得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営業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商談・受注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4336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デリバリー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74336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納品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2903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事務・法務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管理・記録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1828800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戦略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333756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0">
                <a:solidFill>
                  <a:srgbClr val="1C3557"/>
                </a:solidFill>
                <a:latin typeface="Noto Sans JP"/>
              </a:rPr>
              <a:t>リサーチ・分析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74552" cy="14630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600" b="1">
                <a:solidFill>
                  <a:srgbClr val="2563EB"/>
                </a:solidFill>
                <a:latin typeface="Noto Sans JP"/>
              </a:rPr>
              <a:t>事業の全部の仕事を 5人で網羅している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9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今こう使ってます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展示会クリエイティブ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LINE配信シナリオ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SNS投稿生成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LP構成案・コピー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YouTube → SNS転記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営業AI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商談前ブリーフィング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提案書骨子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フォローメール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要件ヒアリング整理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見積書作成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デリバリーAI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NTT 研修200枚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中西 Dify構築 (5h)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キリン 研修PM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ブロードリンク 省エネ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カリキュラム設計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事務・法務AI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契約書チェック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PL自動更新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受信トレイ整理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月次レポート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ツールコスト最適化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1371600"/>
            <a:ext cx="2194560" cy="4297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463040"/>
            <a:ext cx="2011679" cy="6400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戦略AI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38360" y="2240280"/>
            <a:ext cx="1920240" cy="3337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競合調査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料金設計試算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データ分析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プロダクト改善提案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✓ 朝の工程表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852160"/>
            <a:ext cx="11274552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</a:rPr>
              <a:t>いろんな領域で AI社員 を使い倒している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400" b="1">
                <a:solidFill>
                  <a:srgbClr val="6B7280"/>
                </a:solidFill>
                <a:latin typeface="Noto Sans JP"/>
              </a:rPr>
              <a:t>そして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914400"/>
            <a:ext cx="12161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200" b="0">
                <a:solidFill>
                  <a:srgbClr val="1C3557"/>
                </a:solidFill>
                <a:latin typeface="Noto Sans JP"/>
              </a:rPr>
              <a:t>これが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0040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200" b="1">
                <a:solidFill>
                  <a:srgbClr val="2563EB"/>
                </a:solidFill>
                <a:latin typeface="Noto Sans JP"/>
              </a:rPr>
              <a:t>売上に直結している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870448" y="5029200"/>
            <a:ext cx="457200" cy="54864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11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半期 ¥6,710,000、4案件すべてにAI社員が動いている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案件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554480"/>
            <a:ext cx="2743200" cy="6400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売上 (税抜)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67712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NTTネクシア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267712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¥5,000,000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80944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中西製作所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2980944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¥1,000,000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中部キリンビバレッジ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3694176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¥450,000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407408"/>
            <a:ext cx="4572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0">
                <a:solidFill>
                  <a:srgbClr val="1C3557"/>
                </a:solidFill>
                <a:latin typeface="Noto Sans JP"/>
              </a:rPr>
              <a:t>ブロードリンク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407408"/>
            <a:ext cx="27432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600" b="0">
                <a:solidFill>
                  <a:srgbClr val="1C3557"/>
                </a:solidFill>
                <a:latin typeface="Noto Sans JP"/>
              </a:rPr>
              <a:t>¥260,000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20640"/>
            <a:ext cx="45720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800" b="1">
                <a:solidFill>
                  <a:srgbClr val="FFFFFF"/>
                </a:solidFill>
                <a:latin typeface="Noto Sans JP"/>
              </a:rPr>
              <a:t>半期合計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5120640"/>
            <a:ext cx="27432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r"/>
            <a:r>
              <a:rPr sz="1800" b="1">
                <a:solidFill>
                  <a:srgbClr val="FFFFFF"/>
                </a:solidFill>
                <a:latin typeface="Noto Sans JP"/>
              </a:rPr>
              <a:t>¥6,710,000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54480"/>
            <a:ext cx="3502152" cy="42062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月換算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¥464,000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=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/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AI社員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1.3人分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Noto Sans JP"/>
              </a:rPr>
              <a:t>稼働中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1371600"/>
            <a:ext cx="213055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3400" b="1">
                <a:solidFill>
                  <a:srgbClr val="6B7280"/>
                </a:solidFill>
                <a:latin typeface="Noto Sans JP"/>
              </a:rPr>
              <a:t>ここまでが現状の話</a:t>
            </a:r>
          </a:p>
        </p:txBody>
      </p:sp>
      <p:sp>
        <p:nvSpPr>
          <p:cNvPr id="5" name="Down Arrow 4"/>
          <p:cNvSpPr/>
          <p:nvPr/>
        </p:nvSpPr>
        <p:spPr>
          <a:xfrm>
            <a:off x="5641848" y="3108960"/>
            <a:ext cx="914400" cy="73152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02336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ここから今後の話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800" b="1">
                <a:solidFill>
                  <a:srgbClr val="1C3557"/>
                </a:solidFill>
                <a:latin typeface="Noto Sans JP"/>
              </a:rPr>
              <a:t>9月末までにAI社員5人を完成させる、その具体ロードマップ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0" y="27432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13 / 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65760"/>
            <a:ext cx="105156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2400" b="1">
                <a:solidFill>
                  <a:srgbClr val="1C3557"/>
                </a:solidFill>
                <a:latin typeface="Noto Sans JP"/>
              </a:rPr>
              <a:t>9月末までのロードマップ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645920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3716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128016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達成水準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5029200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具体タスク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371600"/>
            <a:ext cx="3456432" cy="7772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この時期に重点を置く理由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4月</a:t>
            </a:r>
          </a:p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(現在)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24028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1.3人分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24028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展示会・ローンチに向けた制作物作成（クリエイティブ・LP・LINE）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4028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5月の本番に向けた助走期間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5月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301752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1.6人分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01752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β版ローンチ実施(5/2) ／ 6月8EXPOの戦略・戦術設計</a:t>
            </a:r>
          </a:p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（集客リクエスト配信／当日オペ／営業トークスクリプト）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301752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マーケ・営業の比重が大きい時期。AI社員を育てながら走らせる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(中間)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79476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2人分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379476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8EXPO出展(6/3-4) ／ ローンチ後の運用フィードバック反映 ／ 5人連携テスト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379476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デリバリー内容が変化する時期。顧客の声を聞きながらブラッシュアップ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13716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0">
                <a:solidFill>
                  <a:srgbClr val="1C3557"/>
                </a:solidFill>
                <a:latin typeface="Noto Sans JP"/>
              </a:rPr>
              <a:t>7-8月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572000"/>
            <a:ext cx="128016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1C3557"/>
                </a:solidFill>
                <a:latin typeface="Noto Sans JP"/>
              </a:rPr>
              <a:t>3〜4人分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572000"/>
            <a:ext cx="5029200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β版経由の新規案件対応 ／ プロダクト改善ループ確立 ／ 事務・法務AI追加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572000"/>
            <a:ext cx="3456432" cy="777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顧客が増えて事務処理が増える時期。事務AIを稼働させて対応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137160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9月末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(最終)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5349240"/>
            <a:ext cx="1280160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5人分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5349240"/>
            <a:ext cx="5029200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5人フル稼働 ／ プロダクト × デリバリー両輪完成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5349240"/>
            <a:ext cx="3456432" cy="7772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0">
                <a:solidFill>
                  <a:srgbClr val="1C3557"/>
                </a:solidFill>
                <a:latin typeface="Noto Sans JP"/>
              </a:rPr>
              <a:t>Agent Teamsで5人協働を実装し、事業を動かす完成形へ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JP"/>
              </a:rPr>
              <a:t>新規事業なので進行で変わることも多いが、5人完成は確実に進める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029200"/>
            <a:ext cx="1463040" cy="14630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4000" b="1">
                <a:solidFill>
                  <a:srgbClr val="1C3557"/>
                </a:solidFill>
                <a:latin typeface="Noto Sans JP"/>
              </a:rPr>
              <a:t>AI社員を動かして、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11274552" cy="1463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5000" b="1">
                <a:solidFill>
                  <a:srgbClr val="2563EB"/>
                </a:solidFill>
                <a:latin typeface="Noto Sans JP"/>
              </a:rPr>
              <a:t>Kawaru事業部の事業を推進する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389120"/>
            <a:ext cx="21305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72000"/>
            <a:ext cx="11274552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2000" b="1">
                <a:solidFill>
                  <a:srgbClr val="1C3557"/>
                </a:solidFill>
                <a:latin typeface="Noto Sans JP"/>
              </a:rPr>
              <a:t>2人 + AI社員5人 + Agent Teams で動かす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86400"/>
            <a:ext cx="3200400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Noto Sans JP"/>
              </a:rPr>
              <a:t>Kawaru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548640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Coach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5486400"/>
            <a:ext cx="2194560" cy="731520"/>
          </a:xfrm>
          <a:prstGeom prst="roundRect">
            <a:avLst>
              <a:gd name="adj" fmla="val 5000"/>
            </a:avLst>
          </a:prstGeom>
          <a:solidFill>
            <a:srgbClr val="10B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Kawaru BPO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r"/>
            <a:r>
              <a:rPr sz="1100" b="0">
                <a:solidFill>
                  <a:srgbClr val="6B7280"/>
                </a:solidFill>
                <a:latin typeface="Noto Sans JP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