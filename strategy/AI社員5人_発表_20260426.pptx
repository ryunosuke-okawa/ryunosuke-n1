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103120" cy="21031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1645920" cy="1645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6000" b="1">
                <a:solidFill>
                  <a:srgbClr val="2563EB"/>
                </a:solidFill>
                <a:latin typeface="Noto Sans JP"/>
              </a:rPr>
              <a:t>AIハッカソン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130552" cy="54864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800" b="1">
                <a:solidFill>
                  <a:srgbClr val="1C3557"/>
                </a:solidFill>
                <a:latin typeface="Noto Sans JP"/>
              </a:rPr>
              <a:t>Kawaru事業部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0">
                <a:solidFill>
                  <a:srgbClr val="1C3557"/>
                </a:solidFill>
                <a:latin typeface="Noto Sans JP"/>
              </a:rPr>
              <a:t>大川 龍之介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400" b="0">
                <a:solidFill>
                  <a:srgbClr val="6B7280"/>
                </a:solidFill>
                <a:latin typeface="Noto Sans JP"/>
              </a:rP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JP"/>
              </a:rPr>
              <a:t>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12161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800" b="0">
                <a:solidFill>
                  <a:srgbClr val="1C3557"/>
                </a:solidFill>
                <a:latin typeface="Noto Sans JP"/>
              </a:rPr>
              <a:t>Kawaru事業部は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400" b="1">
                <a:solidFill>
                  <a:srgbClr val="2563EB"/>
                </a:solidFill>
                <a:latin typeface="Noto Sans JP"/>
              </a:rPr>
              <a:t>コストの話がしにくい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800" b="1">
                <a:solidFill>
                  <a:srgbClr val="6B7280"/>
                </a:solidFill>
                <a:latin typeface="Noto Sans JP"/>
              </a:rPr>
              <a:t>既存事業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54880"/>
            <a:ext cx="50292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0">
                <a:solidFill>
                  <a:srgbClr val="6B7280"/>
                </a:solidFill>
                <a:latin typeface="Noto Sans JP"/>
              </a:rPr>
              <a:t>固定業務がある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JP"/>
              </a:rPr>
              <a:t>削減対象が見える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4846320"/>
            <a:ext cx="731520" cy="6400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420624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Kawaru事業部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754880"/>
            <a:ext cx="484632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業務が毎月変わる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削減対象がそもそもない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3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Kawaru事業部の現状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600" b="1">
                <a:solidFill>
                  <a:srgbClr val="6B7280"/>
                </a:solidFill>
                <a:latin typeface="Noto Sans JP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860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髙橋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28600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大川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7200" b="1">
                <a:solidFill>
                  <a:srgbClr val="2563EB"/>
                </a:solidFill>
                <a:latin typeface="Noto Sans JP"/>
              </a:rPr>
              <a:t>2人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5303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400" b="0">
                <a:solidFill>
                  <a:srgbClr val="6B7280"/>
                </a:solidFill>
                <a:latin typeface="Noto Sans JP"/>
              </a:rPr>
              <a:t>フルコミットメンバー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3017520"/>
            <a:ext cx="73152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3600" b="1">
                <a:solidFill>
                  <a:srgbClr val="6B7280"/>
                </a:solidFill>
                <a:latin typeface="Noto Sans JP"/>
              </a:rPr>
              <a:t>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554480"/>
            <a:ext cx="5120640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600" b="1">
                <a:solidFill>
                  <a:srgbClr val="6B7280"/>
                </a:solidFill>
                <a:latin typeface="Noto Sans JP"/>
              </a:rPr>
              <a:t>サービス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28600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Kawaru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28600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0" y="329184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Coach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29184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10B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BPO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5303520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7200" b="1">
                <a:solidFill>
                  <a:srgbClr val="2563EB"/>
                </a:solidFill>
                <a:latin typeface="Noto Sans JP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303520"/>
            <a:ext cx="5303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400" b="0">
                <a:solidFill>
                  <a:srgbClr val="6B7280"/>
                </a:solidFill>
                <a:latin typeface="Noto Sans JP"/>
              </a:rPr>
              <a:t>事業部のサービス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943600"/>
            <a:ext cx="1127455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1C3557"/>
                </a:solidFill>
                <a:latin typeface="Noto Sans JP"/>
              </a:rPr>
              <a:t>2人で 4つのサービス を動かしている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4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Kawaru事業部の4サービス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400" b="1">
                <a:solidFill>
                  <a:srgbClr val="FFFFFF"/>
                </a:solidFill>
                <a:latin typeface="Noto Sans JP"/>
              </a:rPr>
              <a:t>Kawaru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9319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JP"/>
              </a:rPr>
              <a:t>Kawaru Coach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931920"/>
            <a:ext cx="5029200" cy="2194560"/>
          </a:xfrm>
          <a:prstGeom prst="roundRect">
            <a:avLst>
              <a:gd name="adj" fmla="val 5000"/>
            </a:avLst>
          </a:prstGeom>
          <a:solidFill>
            <a:srgbClr val="10B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000" b="1">
                <a:solidFill>
                  <a:srgbClr val="FFFFFF"/>
                </a:solidFill>
                <a:latin typeface="Noto Sans JP"/>
              </a:rPr>
              <a:t>Kawaru BPO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この4つのサービスを動かしている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5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すでにAI社員5人を動かしている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4648" y="12801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髙橋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70448" y="1874519"/>
            <a:ext cx="457200" cy="3657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27448" y="228600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JP"/>
              </a:rPr>
              <a:t>大川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3383280"/>
            <a:ext cx="3657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マーケAI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3383280"/>
            <a:ext cx="3657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9319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営業AI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383280"/>
            <a:ext cx="3657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39319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デリバリーAI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39" y="3383280"/>
            <a:ext cx="3657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59" y="39319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事務法務AI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52759" y="3383280"/>
            <a:ext cx="36576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93192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戦略AI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6928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2563EB"/>
                </a:solidFill>
                <a:latin typeface="Noto Sans JP"/>
              </a:rPr>
              <a:t>大川主導で AI社員5人 を動かして事業部を回している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6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AI社員5人の構成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マーケAI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37160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LP / SNS / 展示会 / LINE配信 / 事例記事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営業AI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2331720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商談前準備 / 要件ヒアリング / 提案書 / フォロー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39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デリバリーAI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3291839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研修運営 / Dify・n8n・GAS構築 / CSコンサル / 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59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事務・法務AI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4251959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契約書 / 請求書 / 利用契約書 / プライバシーポリシー / PL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212079"/>
            <a:ext cx="3200400" cy="8686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戦略・プロダクトAI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5212079"/>
            <a:ext cx="7955279" cy="868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競合調査 / 市場調査 / 料金設計 / データ分析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100" b="1">
                <a:solidFill>
                  <a:srgbClr val="6B7280"/>
                </a:solidFill>
                <a:latin typeface="Noto Sans JP"/>
              </a:rPr>
              <a:t>4人 = 各領域の戦略 + 実行  /  戦略・プロダクトAI = リサーチ・分析担当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7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これが事業でやるべき仕事のすべて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マーケ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認知獲得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5768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営業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33375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商談・受注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74336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デリバリー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33375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納品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3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事務・法務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3" y="33375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管理・記録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91472" y="1828800"/>
            <a:ext cx="219456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戦略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33375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リサーチ・分析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600" b="1">
                <a:solidFill>
                  <a:srgbClr val="2563EB"/>
                </a:solidFill>
                <a:latin typeface="Noto Sans JP"/>
              </a:rPr>
              <a:t>事業の全部の仕事を 5人で網羅している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8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今こう使ってます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LP・展示会クリエイティブ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LINE配信シナリオ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SNS投稿生成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営業AI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0312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商談前ブリーフィング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提案書骨子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フォローメール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デリバリーAI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0312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研修スライド作成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Dify構築（5h）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案件PM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事務・法務AI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0312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契約書チェック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PL自動更新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受信トレイ整理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37160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戦略AI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103120"/>
            <a:ext cx="2194560" cy="27432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競合調査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料金設計</a:t>
            </a:r>
          </a:p>
          <a:p>
            <a:pPr algn="ctr"/>
            <a:r>
              <a:rPr sz="1300" b="0">
                <a:solidFill>
                  <a:srgbClr val="1C3557"/>
                </a:solidFill>
                <a:latin typeface="Noto Sans JP"/>
              </a:rPr>
              <a:t>プロダクト改善案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1274552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400" b="1">
                <a:solidFill>
                  <a:srgbClr val="2563EB"/>
                </a:solidFill>
                <a:latin typeface="Noto Sans JP"/>
              </a:rPr>
              <a:t>いろんな領域で AI社員 を使い倒している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JP"/>
              </a:rPr>
              <a:t>そして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12161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3200" b="0">
                <a:solidFill>
                  <a:srgbClr val="1C3557"/>
                </a:solidFill>
                <a:latin typeface="Noto Sans JP"/>
              </a:rPr>
              <a:t>これが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5200" b="1">
                <a:solidFill>
                  <a:srgbClr val="2563EB"/>
                </a:solidFill>
                <a:latin typeface="Noto Sans JP"/>
              </a:rPr>
              <a:t>売上に直結している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70448" y="5029200"/>
            <a:ext cx="457200" cy="5486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10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半期 ¥6,710,000、4案件すべてにAI社員が動いている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45720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案件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554480"/>
            <a:ext cx="27432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売上 (税抜)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NTTネクシア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267712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¥5,000,000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80944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中西製作所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980944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¥1,000,000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中部キリンビバレッジ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694176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¥450,000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07408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ブロードリンク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407408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¥260,000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45720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800" b="1">
                <a:solidFill>
                  <a:srgbClr val="FFFFFF"/>
                </a:solidFill>
                <a:latin typeface="Noto Sans JP"/>
              </a:rPr>
              <a:t>半期合計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5120640"/>
            <a:ext cx="27432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r"/>
            <a:r>
              <a:rPr sz="1800" b="1">
                <a:solidFill>
                  <a:srgbClr val="FFFFFF"/>
                </a:solidFill>
                <a:latin typeface="Noto Sans JP"/>
              </a:rPr>
              <a:t>¥6,710,000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502152" cy="42062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月換算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¥464,000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=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AI社員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1.3人分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稼働中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305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3400" b="1">
                <a:solidFill>
                  <a:srgbClr val="6B7280"/>
                </a:solidFill>
                <a:latin typeface="Noto Sans JP"/>
              </a:rPr>
              <a:t>ここまでが現状の話</a:t>
            </a:r>
          </a:p>
        </p:txBody>
      </p:sp>
      <p:sp>
        <p:nvSpPr>
          <p:cNvPr id="5" name="Down Arrow 4"/>
          <p:cNvSpPr/>
          <p:nvPr/>
        </p:nvSpPr>
        <p:spPr>
          <a:xfrm>
            <a:off x="5641848" y="3108960"/>
            <a:ext cx="914400" cy="7315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02336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5000" b="1">
                <a:solidFill>
                  <a:srgbClr val="2563EB"/>
                </a:solidFill>
                <a:latin typeface="Noto Sans JP"/>
              </a:rPr>
              <a:t>ここから今後の話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9月末までにAI社員5人を完成させる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12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6月末 2人分 → 9月末 5人分、Agent Teamsも並走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286000" cy="6858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88920" y="1371600"/>
            <a:ext cx="1828800" cy="6858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達成水準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7040880" cy="6858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動き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30552"/>
            <a:ext cx="22860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4月 (現在)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130552"/>
            <a:ext cx="18288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1.3人分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130552"/>
            <a:ext cx="704088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デリバリーAI + 戦略AI が稼働中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9504"/>
            <a:ext cx="22860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6月末 (中間発表)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2889504"/>
            <a:ext cx="1828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2人分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889504"/>
            <a:ext cx="7040880" cy="685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5人全員が同時進行で立ち上がり / Agent Teams 初期構築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22860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7-8月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3648456"/>
            <a:ext cx="182880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3〜4人分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648456"/>
            <a:ext cx="7040880" cy="6858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各領域で深化 / Agent Teams 連携テスト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407408"/>
            <a:ext cx="22860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9月末 (最終)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4407408"/>
            <a:ext cx="1828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5人分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407408"/>
            <a:ext cx="7040880" cy="6858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5人フル稼働 + Agent Teams で協働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455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000" b="1">
                <a:solidFill>
                  <a:srgbClr val="2563EB"/>
                </a:solidFill>
                <a:latin typeface="Noto Sans JP"/>
              </a:rPr>
              <a:t>5人を網羅的に同時進行で育てる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029200"/>
            <a:ext cx="1463040" cy="14630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4000" b="1">
                <a:solidFill>
                  <a:srgbClr val="1C3557"/>
                </a:solidFill>
                <a:latin typeface="Noto Sans JP"/>
              </a:rPr>
              <a:t>AI社員を動かして、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5000" b="1">
                <a:solidFill>
                  <a:srgbClr val="2563EB"/>
                </a:solidFill>
                <a:latin typeface="Noto Sans JP"/>
              </a:rPr>
              <a:t>Kawaru事業部の事業を推進する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389120"/>
            <a:ext cx="21305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2000" b="1">
                <a:solidFill>
                  <a:srgbClr val="1C3557"/>
                </a:solidFill>
                <a:latin typeface="Noto Sans JP"/>
              </a:rPr>
              <a:t>2人 + AI社員5人 + Agent Teams で動かす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Kawaru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48640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48640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Coach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548640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10B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BPO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