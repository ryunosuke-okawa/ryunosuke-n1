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68" r:id="rId9"/>
    <p:sldId id="263" r:id="rId10"/>
    <p:sldId id="264" r:id="rId11"/>
    <p:sldId id="265" r:id="rId12"/>
    <p:sldId id="269" r:id="rId13"/>
    <p:sldId id="270" r:id="rId14"/>
    <p:sldId id="267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EBFE"/>
    <a:srgbClr val="2463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77951"/>
  </p:normalViewPr>
  <p:slideViewPr>
    <p:cSldViewPr snapToGrid="0" snapToObjects="1">
      <p:cViewPr varScale="1">
        <p:scale>
          <a:sx n="90" d="100"/>
          <a:sy n="90" d="100"/>
        </p:scale>
        <p:origin x="1624" y="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631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【表紙・5秒】</a:t>
            </a:r>
          </a:p>
          <a:p>
            <a:r>
              <a:t>Kawaru事業部の大川です。AIハッカソンの発表を始めます。</a:t>
            </a:r>
          </a:p>
          <a:p>
            <a:r>
              <a:t>タイトルは「AI社員を動かして、Kawaru事業部の事業を推進する」です。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【前提・10秒】</a:t>
            </a:r>
          </a:p>
          <a:p>
            <a:r>
              <a:t>最初に前提を共有します。</a:t>
            </a:r>
          </a:p>
          <a:p>
            <a:r>
              <a:t>Kawaru事業部は、決まった業務が少ない事業部です。</a:t>
            </a:r>
          </a:p>
          <a:p>
            <a:r>
              <a:t>既存事業のように業務が固まっておらず、毎月内容が変わります。</a:t>
            </a:r>
          </a:p>
          <a:p>
            <a:r>
              <a:t>業務改善ではなく、業務を作っていく段階。</a:t>
            </a:r>
          </a:p>
          <a:p>
            <a:r>
              <a:t>だから今日は「業務削減」の話ではなく、「AI社員を動かして事業を推進する」という話をします。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【現状・15秒】</a:t>
            </a:r>
          </a:p>
          <a:p>
            <a:r>
              <a:t>Kawaru事業部の現状をお見せします。</a:t>
            </a:r>
          </a:p>
          <a:p>
            <a:r>
              <a:t>Kawaru、Kawaru Team、Kawaru Coach、Kawaru BPOの4サービスがあります。</a:t>
            </a:r>
          </a:p>
          <a:p>
            <a:r>
              <a:t>これを髙橋と私の2人体制で動かしています。</a:t>
            </a:r>
          </a:p>
          <a:p>
            <a:r>
              <a:t>2人で4サービスを動かすので、当然手が回りません。</a:t>
            </a:r>
          </a:p>
          <a:p>
            <a:r>
              <a:t>だから次のような体制を作りました。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【課題・15秒】</a:t>
            </a:r>
          </a:p>
          <a:p>
            <a:r>
              <a:t>ここで、Kawaru事業部の課題を3つお話しします。</a:t>
            </a:r>
          </a:p>
          <a:p>
            <a:r>
              <a:t>1つ目、業務量が増え続けます。ローンチ、展示会、デリバリーで業務は増える一方です。</a:t>
            </a:r>
          </a:p>
          <a:p>
            <a:r>
              <a:t>2つ目、人を増やすには時間がかかります。採用・育成にコストとスピードが見合いません。</a:t>
            </a:r>
          </a:p>
          <a:p>
            <a:r>
              <a:t>3つ目、業務が毎月変わります。既存の業務効率化フレームでは追いつかない。</a:t>
            </a:r>
          </a:p>
          <a:p>
            <a:r>
              <a:t>だから、AI社員5人で解決する、というのが私の答えです。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【テーマ・10秒】</a:t>
            </a:r>
          </a:p>
          <a:p>
            <a:r>
              <a:t>今回のハッカソンで私が取り組むテーマはこれです。</a:t>
            </a:r>
          </a:p>
          <a:p>
            <a:r>
              <a:t>9月末までに、AI社員5人を作る。</a:t>
            </a:r>
          </a:p>
          <a:p>
            <a:r>
              <a:t>基準は1人あたり月35万円分の業務回避、5人で月175万円分です。</a:t>
            </a:r>
          </a:p>
          <a:p>
            <a:r>
              <a:t>ではどう作るか、次のスライドで。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【私はこう考えた + なんでこれに・25秒】</a:t>
            </a:r>
          </a:p>
          <a:p>
            <a:r>
              <a:t>9月末までにAI社員5人を作るために、私はこう考えました。</a:t>
            </a:r>
          </a:p>
          <a:p>
            <a:r>
              <a:t>事業に必要な機能を5つに分けて、5人のAI社員に分担してもらう。</a:t>
            </a:r>
          </a:p>
          <a:p>
            <a:r>
              <a:t>マーケは認知獲得、営業は商談・受注、デリバリーは納品、事務法務は管理・記録、戦略はリサーチ・分析。</a:t>
            </a:r>
          </a:p>
          <a:p>
            <a:r>
              <a:t>事業の全部の仕事を、この5人で網羅しています。</a:t>
            </a:r>
          </a:p>
          <a:p>
            <a:r>
              <a:t>だから案件が変わっても、この5人で受け止められる、というのが私の考えです。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【実はもう動かしている・15秒】</a:t>
            </a:r>
          </a:p>
          <a:p>
            <a:r>
              <a:t>ここがポイントなんですが、これは構想ではなく、もう動いています。</a:t>
            </a:r>
          </a:p>
          <a:p>
            <a:r>
              <a:t>私はすでにAI社員5人を動かしています。</a:t>
            </a:r>
          </a:p>
          <a:p>
            <a:r>
              <a:t>マーケ、営業、デリバリー、事務法務、戦略の5人。</a:t>
            </a:r>
          </a:p>
          <a:p>
            <a:r>
              <a:t>私が指示を出して、AI社員に動いてもらう。</a:t>
            </a:r>
          </a:p>
          <a:p>
            <a:r>
              <a:t>これによって、2人だけのKawaru事業部でも4サービスを回せています。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ja-JP" dirty="0"/>
              <a:t>【</a:t>
            </a:r>
            <a:r>
              <a:rPr lang="ja-JP" altLang="en-US"/>
              <a:t>実際の使い方・</a:t>
            </a:r>
            <a:r>
              <a:rPr lang="en-US" altLang="ja-JP" dirty="0"/>
              <a:t>25</a:t>
            </a:r>
            <a:r>
              <a:rPr lang="ja-JP" altLang="en-US"/>
              <a:t>秒</a:t>
            </a:r>
            <a:r>
              <a:rPr lang="en-US" altLang="ja-JP" dirty="0"/>
              <a:t>】</a:t>
            </a:r>
          </a:p>
          <a:p>
            <a:r>
              <a:rPr lang="ja-JP" altLang="en-US"/>
              <a:t>実際に今こう使っています。</a:t>
            </a:r>
          </a:p>
          <a:p>
            <a:r>
              <a:rPr lang="ja-JP" altLang="en-US"/>
              <a:t>マーケ</a:t>
            </a:r>
            <a:r>
              <a:rPr lang="en" altLang="ja-JP" dirty="0"/>
              <a:t>AI</a:t>
            </a:r>
            <a:r>
              <a:rPr lang="ja-JP" altLang="en-US"/>
              <a:t>は、展示会クリエイティブや</a:t>
            </a:r>
            <a:r>
              <a:rPr lang="en" altLang="ja-JP" dirty="0"/>
              <a:t>LP</a:t>
            </a:r>
            <a:r>
              <a:rPr lang="ja-JP" altLang="en-US"/>
              <a:t>制作。</a:t>
            </a:r>
          </a:p>
          <a:p>
            <a:r>
              <a:rPr lang="ja-JP" altLang="en-US"/>
              <a:t>営業</a:t>
            </a:r>
            <a:r>
              <a:rPr lang="en" altLang="ja-JP" dirty="0"/>
              <a:t>AI</a:t>
            </a:r>
            <a:r>
              <a:rPr lang="ja-JP" altLang="en-US"/>
              <a:t>は、商談前準備や提案書の骨子作成。</a:t>
            </a:r>
          </a:p>
          <a:p>
            <a:r>
              <a:rPr lang="ja-JP" altLang="en-US"/>
              <a:t>デリバリー</a:t>
            </a:r>
            <a:r>
              <a:rPr lang="en" altLang="ja-JP" dirty="0"/>
              <a:t>AI</a:t>
            </a:r>
            <a:r>
              <a:rPr lang="ja-JP" altLang="en-US"/>
              <a:t>は、</a:t>
            </a:r>
            <a:r>
              <a:rPr lang="en" altLang="ja-JP" dirty="0"/>
              <a:t>NTT</a:t>
            </a:r>
            <a:r>
              <a:rPr lang="ja-JP" altLang="en-US"/>
              <a:t>研修</a:t>
            </a:r>
            <a:r>
              <a:rPr lang="en-US" altLang="ja-JP" dirty="0"/>
              <a:t>200</a:t>
            </a:r>
            <a:r>
              <a:rPr lang="ja-JP" altLang="en-US"/>
              <a:t>枚を</a:t>
            </a:r>
            <a:r>
              <a:rPr lang="en-US" altLang="ja-JP" dirty="0"/>
              <a:t>1</a:t>
            </a:r>
            <a:r>
              <a:rPr lang="ja-JP" altLang="en-US"/>
              <a:t>人</a:t>
            </a:r>
            <a:r>
              <a:rPr lang="en-US" altLang="ja-JP" dirty="0"/>
              <a:t>2</a:t>
            </a:r>
            <a:r>
              <a:rPr lang="ja-JP" altLang="en-US"/>
              <a:t>週間で、中西の</a:t>
            </a:r>
            <a:r>
              <a:rPr lang="en" altLang="ja-JP" dirty="0" err="1"/>
              <a:t>Dify</a:t>
            </a:r>
            <a:r>
              <a:rPr lang="ja-JP" altLang="en-US"/>
              <a:t>構築を</a:t>
            </a:r>
            <a:r>
              <a:rPr lang="en-US" altLang="ja-JP" dirty="0"/>
              <a:t>5</a:t>
            </a:r>
            <a:r>
              <a:rPr lang="ja-JP" altLang="en-US"/>
              <a:t>時間で完納しました。</a:t>
            </a:r>
          </a:p>
          <a:p>
            <a:r>
              <a:rPr lang="ja-JP" altLang="en-US"/>
              <a:t>事務法務</a:t>
            </a:r>
            <a:r>
              <a:rPr lang="en" altLang="ja-JP" dirty="0"/>
              <a:t>AI</a:t>
            </a:r>
            <a:r>
              <a:rPr lang="ja-JP" altLang="en-US"/>
              <a:t>は、契約書チェックや</a:t>
            </a:r>
            <a:r>
              <a:rPr lang="en" altLang="ja-JP" dirty="0"/>
              <a:t>PL</a:t>
            </a:r>
            <a:r>
              <a:rPr lang="ja-JP" altLang="en-US"/>
              <a:t>自動更新。</a:t>
            </a:r>
          </a:p>
          <a:p>
            <a:r>
              <a:rPr lang="ja-JP" altLang="en-US"/>
              <a:t>戦略</a:t>
            </a:r>
            <a:r>
              <a:rPr lang="en" altLang="ja-JP" dirty="0"/>
              <a:t>AI</a:t>
            </a:r>
            <a:r>
              <a:rPr lang="ja-JP" altLang="en-US"/>
              <a:t>は、競合調査や料金設計、データ分析。</a:t>
            </a:r>
          </a:p>
          <a:p>
            <a:r>
              <a:rPr lang="ja-JP" altLang="en-US"/>
              <a:t>細かく読まなくて大丈夫ですが、いろんな領域で</a:t>
            </a:r>
            <a:r>
              <a:rPr lang="en" altLang="ja-JP" dirty="0"/>
              <a:t>AI</a:t>
            </a:r>
            <a:r>
              <a:rPr lang="ja-JP" altLang="en-US"/>
              <a:t>社員を使い倒しているということが伝われば</a:t>
            </a:r>
            <a:r>
              <a:rPr lang="en" altLang="ja-JP" dirty="0"/>
              <a:t>OK</a:t>
            </a:r>
            <a:r>
              <a:rPr lang="ja-JP" altLang="en-US"/>
              <a:t>です。</a:t>
            </a:r>
          </a:p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【橋渡し・8秒】</a:t>
            </a:r>
          </a:p>
          <a:p>
            <a:r>
              <a:t>そして、これが売上に直結しています。</a:t>
            </a:r>
          </a:p>
          <a:p>
            <a:r>
              <a:t>具体的な数字をお見せします。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【売上実績・20秒】</a:t>
            </a:r>
          </a:p>
          <a:p>
            <a:r>
              <a:t>10月から3月の半期で、売上6,710,000円。</a:t>
            </a:r>
          </a:p>
          <a:p>
            <a:r>
              <a:t>NTTネクシア、中西製作所、キリン、ブロードリンク、4案件すべてにAI社員が関与しています。</a:t>
            </a:r>
          </a:p>
          <a:p>
            <a:r>
              <a:t>NTT研修スライド200枚は2週間で完納、中西のDify構築は5時間で設計しました。</a:t>
            </a:r>
          </a:p>
          <a:p>
            <a:r>
              <a:t>月換算では464,000円、AI社員1.3人分がすでに稼働している計算になります。</a:t>
            </a:r>
          </a:p>
          <a:p>
            <a:r>
              <a:t>これは机上の空論ではなく、実際にお客さんに納品している事実です。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【現状→今後・7秒】</a:t>
            </a:r>
          </a:p>
          <a:p>
            <a:r>
              <a:t>ここまでが現状の話です。</a:t>
            </a:r>
          </a:p>
          <a:p>
            <a:r>
              <a:t>ここから9月末までの今後の話、具体的なロードマップを共有します。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【ロードマップ前半・15秒】</a:t>
            </a:r>
          </a:p>
          <a:p>
            <a:r>
              <a:t>9月末までのロードマップ前半、6月末までです。</a:t>
            </a:r>
          </a:p>
          <a:p>
            <a:r>
              <a:t>4月の現在は、5月のβ版ローンチと6月の8EXPO展示会に向けた制作物作成が中心。</a:t>
            </a:r>
          </a:p>
          <a:p>
            <a:r>
              <a:t>5月はローンチ実施と展示会の戦略・戦術設計にシフト。マーケと営業の比重が大きい時期です。</a:t>
            </a:r>
          </a:p>
          <a:p>
            <a:r>
              <a:t>6月末で2人分。8EXPO出展とローンチ後のフィードバック反映、5人の連携テスト。デリバリー内容が変化する時期で、顧客の声を聞きながらブラッシュアップします。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【ロードマップ後半・15秒】</a:t>
            </a:r>
          </a:p>
          <a:p>
            <a:r>
              <a:t>ロードマップ後半、9月末までです。</a:t>
            </a:r>
          </a:p>
          <a:p>
            <a:r>
              <a:t>7-8月は3〜4人分。β版経由の新規案件対応とプロダクト改善ループ、事務・法務AIを追加します。顧客が増えて事務処理も増える時期です。</a:t>
            </a:r>
          </a:p>
          <a:p>
            <a:r>
              <a:t>9月末で5人分。Agent Teamsで5人協働を実装し、事業を動かす完成形を目指します。</a:t>
            </a:r>
          </a:p>
          <a:p>
            <a:r>
              <a:t>新規事業なので進行で変わることも多いですが、5人完成というゴールは確実に進めます。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【締め・15秒】</a:t>
            </a:r>
          </a:p>
          <a:p>
            <a:r>
              <a:t>AI社員を動かして、Kawaru事業部の事業を推進する。</a:t>
            </a:r>
          </a:p>
          <a:p>
            <a:r>
              <a:t>2人＋AI社員5人＋Agent Teamsで、Kawaru事業部を動かしていきます。</a:t>
            </a:r>
          </a:p>
          <a:p>
            <a:r>
              <a:t>以上です。ありがとうございました。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2103120" cy="21031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645920" cy="16459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lang="en-US" altLang="ja-JP" sz="6000" b="1" dirty="0">
                <a:solidFill>
                  <a:srgbClr val="2563EB"/>
                </a:solidFill>
                <a:latin typeface="Noto Sans JP"/>
              </a:rPr>
              <a:t>Kawaru</a:t>
            </a:r>
            <a:r>
              <a:rPr lang="ja-JP" altLang="en-US" sz="6000" b="1">
                <a:solidFill>
                  <a:srgbClr val="2563EB"/>
                </a:solidFill>
                <a:latin typeface="Noto Sans JP"/>
              </a:rPr>
              <a:t>事業部</a:t>
            </a:r>
            <a:endParaRPr lang="en-US" altLang="ja-JP" sz="6000" b="1" dirty="0">
              <a:solidFill>
                <a:srgbClr val="2563EB"/>
              </a:solidFill>
              <a:latin typeface="Noto Sans JP"/>
            </a:endParaRPr>
          </a:p>
          <a:p>
            <a:pPr algn="ctr"/>
            <a:r>
              <a:rPr lang="en-US" altLang="ja-JP" sz="6000" b="1" dirty="0">
                <a:solidFill>
                  <a:srgbClr val="2563EB"/>
                </a:solidFill>
                <a:latin typeface="Noto Sans JP"/>
              </a:rPr>
              <a:t>AI</a:t>
            </a:r>
            <a:r>
              <a:rPr lang="ja-JP" altLang="en-US" sz="6000" b="1">
                <a:solidFill>
                  <a:srgbClr val="2563EB"/>
                </a:solidFill>
                <a:latin typeface="Noto Sans JP"/>
              </a:rPr>
              <a:t>社員育成計画</a:t>
            </a:r>
            <a:endParaRPr sz="6000" b="1" dirty="0">
              <a:solidFill>
                <a:srgbClr val="2563EB"/>
              </a:solidFill>
              <a:latin typeface="Noto Sans JP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130552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44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2400" b="0" dirty="0">
                <a:solidFill>
                  <a:srgbClr val="6B7280"/>
                </a:solidFill>
                <a:latin typeface="Noto Sans JP"/>
              </a:rPr>
              <a:t>2026.04</a:t>
            </a:r>
            <a:r>
              <a:rPr lang="en-US" sz="2400" b="0" dirty="0">
                <a:solidFill>
                  <a:srgbClr val="6B7280"/>
                </a:solidFill>
                <a:latin typeface="Noto Sans JP"/>
              </a:rPr>
              <a:t>.28</a:t>
            </a:r>
            <a:endParaRPr sz="2400" b="0" dirty="0">
              <a:solidFill>
                <a:srgbClr val="6B7280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ctr"/>
            <a:r>
              <a:rPr sz="3200" b="1" dirty="0" err="1">
                <a:solidFill>
                  <a:srgbClr val="6B7280"/>
                </a:solidFill>
                <a:latin typeface="Noto Sans JP"/>
              </a:rPr>
              <a:t>前提</a:t>
            </a:r>
            <a:endParaRPr sz="3200" b="1" dirty="0">
              <a:solidFill>
                <a:srgbClr val="6B7280"/>
              </a:solidFill>
              <a:latin typeface="Noto Sans JP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336" y="932688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5400" b="0" dirty="0" err="1">
                <a:solidFill>
                  <a:srgbClr val="1C3557"/>
                </a:solidFill>
                <a:latin typeface="Noto Sans JP"/>
              </a:rPr>
              <a:t>Kawaru事業部は</a:t>
            </a:r>
            <a:r>
              <a:rPr sz="5400" b="0" dirty="0">
                <a:solidFill>
                  <a:srgbClr val="1C3557"/>
                </a:solidFill>
                <a:latin typeface="Noto Sans JP"/>
              </a:rPr>
              <a:t>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6600" b="1" dirty="0" err="1">
                <a:solidFill>
                  <a:srgbClr val="2563EB"/>
                </a:solidFill>
                <a:latin typeface="Noto Sans JP"/>
              </a:rPr>
              <a:t>決まった業務が少ない</a:t>
            </a:r>
            <a:endParaRPr sz="6600" b="1" dirty="0">
              <a:solidFill>
                <a:srgbClr val="2563EB"/>
              </a:solidFill>
              <a:latin typeface="Noto Sans JP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ctr"/>
            <a:r>
              <a:rPr lang="ja-JP" altLang="en-US" sz="2800" b="1">
                <a:solidFill>
                  <a:srgbClr val="6B7280"/>
                </a:solidFill>
                <a:latin typeface="Noto Sans JP"/>
              </a:rPr>
              <a:t>既存事業</a:t>
            </a:r>
            <a:endParaRPr sz="2800" b="1" dirty="0">
              <a:solidFill>
                <a:srgbClr val="6B7280"/>
              </a:solidFill>
              <a:latin typeface="Noto Sans JP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50292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200" b="0" dirty="0" err="1">
                <a:solidFill>
                  <a:srgbClr val="6B7280"/>
                </a:solidFill>
                <a:latin typeface="Noto Sans JP"/>
              </a:rPr>
              <a:t>業務が決まっている</a:t>
            </a:r>
            <a:endParaRPr sz="3200" b="0" dirty="0">
              <a:solidFill>
                <a:srgbClr val="6B7280"/>
              </a:solidFill>
              <a:latin typeface="Noto Sans JP"/>
            </a:endParaRPr>
          </a:p>
          <a:p>
            <a:pPr algn="ctr"/>
            <a:r>
              <a:rPr sz="3200" b="0" dirty="0" err="1">
                <a:solidFill>
                  <a:srgbClr val="6B7280"/>
                </a:solidFill>
                <a:latin typeface="Noto Sans JP"/>
              </a:rPr>
              <a:t>改善対象が見える</a:t>
            </a:r>
            <a:endParaRPr sz="3200" b="0" dirty="0">
              <a:solidFill>
                <a:srgbClr val="6B7280"/>
              </a:solidFill>
              <a:latin typeface="Noto Sans JP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5852160" y="4846320"/>
            <a:ext cx="731520" cy="6400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766560" y="4206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Kawaru事業部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766560" y="4754880"/>
            <a:ext cx="484632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業務が毎月変わる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改善より、業務を作る段階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69334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803466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3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287866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 dirty="0" err="1">
                <a:solidFill>
                  <a:srgbClr val="1C3557"/>
                </a:solidFill>
                <a:latin typeface="Noto Sans JP"/>
              </a:rPr>
              <a:t>Kawaru事業部の現状</a:t>
            </a:r>
            <a:endParaRPr sz="2400" b="1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87866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7866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6786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65706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54625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>
                <a:solidFill>
                  <a:srgbClr val="FFFFFF"/>
                </a:solidFill>
                <a:latin typeface="Noto Sans JP"/>
              </a:rPr>
              <a:t>Kawaru</a:t>
            </a:r>
            <a:endParaRPr lang="en-US" sz="3600" b="1" dirty="0">
              <a:solidFill>
                <a:srgbClr val="FFFFFF"/>
              </a:solidFill>
              <a:latin typeface="Noto Sans JP"/>
            </a:endParaRPr>
          </a:p>
          <a:p>
            <a:pPr algn="ctr"/>
            <a:r>
              <a:rPr sz="3600" b="1" dirty="0">
                <a:solidFill>
                  <a:srgbClr val="FFFFFF"/>
                </a:solidFill>
                <a:latin typeface="Noto Sans JP"/>
              </a:rPr>
              <a:t>BPO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701114" y="310896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031066" y="365760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髙橋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31026" y="3691467"/>
            <a:ext cx="9144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>
                <a:solidFill>
                  <a:srgbClr val="6B7280"/>
                </a:solidFill>
                <a:latin typeface="Noto Sans JP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8625" y="365760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7866" y="54864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200" b="1" dirty="0">
                <a:solidFill>
                  <a:srgbClr val="1C3557"/>
                </a:solidFill>
                <a:latin typeface="Noto Sans JP"/>
              </a:rPr>
              <a:t>現状、Kawaru事業部の重要な4サービスを2人体制でやっている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このままでは事業が回らない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9659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246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業務量が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増え続ける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3474719"/>
            <a:ext cx="3657600" cy="2058977"/>
          </a:xfrm>
          <a:prstGeom prst="roundRect">
            <a:avLst>
              <a:gd name="adj" fmla="val 5000"/>
            </a:avLst>
          </a:prstGeom>
          <a:solidFill>
            <a:srgbClr val="DCE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ローンチ・展示会</a:t>
            </a:r>
            <a:r>
              <a:rPr sz="2400" b="0" dirty="0">
                <a:solidFill>
                  <a:srgbClr val="1C3557"/>
                </a:solidFill>
                <a:latin typeface="Noto Sans JP"/>
              </a:rPr>
              <a:t>・</a:t>
            </a:r>
            <a:endParaRPr lang="en-US" sz="2400" b="0" dirty="0">
              <a:solidFill>
                <a:srgbClr val="1C3557"/>
              </a:solidFill>
              <a:latin typeface="Noto Sans JP"/>
            </a:endParaRPr>
          </a:p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デリバリーで</a:t>
            </a:r>
            <a:endParaRPr sz="2400" b="0" dirty="0">
              <a:solidFill>
                <a:srgbClr val="1C3557"/>
              </a:solidFill>
              <a:latin typeface="Noto Sans JP"/>
            </a:endParaRPr>
          </a:p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業務は増える一方</a:t>
            </a:r>
            <a:endParaRPr sz="2400"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265676" y="19659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246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人を増やすには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時間がかかる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265676" y="3474720"/>
            <a:ext cx="3657600" cy="2058976"/>
          </a:xfrm>
          <a:prstGeom prst="roundRect">
            <a:avLst>
              <a:gd name="adj" fmla="val 5000"/>
            </a:avLst>
          </a:prstGeom>
          <a:solidFill>
            <a:srgbClr val="DCE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採用・育成にコストと</a:t>
            </a:r>
          </a:p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スピードが見合わない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9659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246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業務が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毎月変わる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3474720"/>
            <a:ext cx="3657600" cy="2058976"/>
          </a:xfrm>
          <a:prstGeom prst="roundRect">
            <a:avLst>
              <a:gd name="adj" fmla="val 5000"/>
            </a:avLst>
          </a:prstGeom>
          <a:solidFill>
            <a:srgbClr val="DCE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既存の業務効率化</a:t>
            </a:r>
            <a:endParaRPr lang="en-US" sz="2400" b="0" dirty="0">
              <a:solidFill>
                <a:srgbClr val="1C3557"/>
              </a:solidFill>
              <a:latin typeface="Noto Sans JP"/>
            </a:endParaRPr>
          </a:p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フレームでは</a:t>
            </a:r>
            <a:endParaRPr sz="2400" b="0" dirty="0">
              <a:solidFill>
                <a:srgbClr val="1C3557"/>
              </a:solidFill>
              <a:latin typeface="Noto Sans JP"/>
            </a:endParaRPr>
          </a:p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追いつかない</a:t>
            </a:r>
            <a:endParaRPr sz="2400" b="0" dirty="0">
              <a:solidFill>
                <a:srgbClr val="1C3557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4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今回のテーマ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ctr"/>
            <a:r>
              <a:rPr lang="ja-JP" altLang="en-US" sz="3600" b="1">
                <a:solidFill>
                  <a:srgbClr val="6B7280"/>
                </a:solidFill>
                <a:latin typeface="Noto Sans JP"/>
              </a:rPr>
              <a:t>最終</a:t>
            </a:r>
            <a:r>
              <a:rPr lang="en-US" altLang="ja-JP" sz="3600" b="1" dirty="0">
                <a:solidFill>
                  <a:srgbClr val="6B7280"/>
                </a:solidFill>
                <a:latin typeface="Noto Sans JP"/>
              </a:rPr>
              <a:t>GOAL</a:t>
            </a:r>
            <a:endParaRPr sz="3600" b="1" dirty="0">
              <a:solidFill>
                <a:srgbClr val="6B7280"/>
              </a:solidFill>
              <a:latin typeface="Noto Sans JP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4800" b="0" dirty="0">
                <a:solidFill>
                  <a:srgbClr val="1C3557"/>
                </a:solidFill>
                <a:latin typeface="Noto Sans JP"/>
              </a:rPr>
              <a:t>9月末までに、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66160"/>
            <a:ext cx="11274552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7200" b="1" dirty="0" err="1">
                <a:solidFill>
                  <a:srgbClr val="2563EB"/>
                </a:solidFill>
                <a:latin typeface="Noto Sans JP"/>
              </a:rPr>
              <a:t>AI社員</a:t>
            </a:r>
            <a:r>
              <a:rPr sz="7200" b="1" dirty="0">
                <a:solidFill>
                  <a:srgbClr val="2563EB"/>
                </a:solidFill>
                <a:latin typeface="Noto Sans JP"/>
              </a:rPr>
              <a:t> 5人 </a:t>
            </a:r>
            <a:r>
              <a:rPr sz="7200" b="1" dirty="0" err="1">
                <a:solidFill>
                  <a:srgbClr val="2563EB"/>
                </a:solidFill>
                <a:latin typeface="Noto Sans JP"/>
              </a:rPr>
              <a:t>を作る</a:t>
            </a:r>
            <a:endParaRPr sz="7200" b="1" dirty="0">
              <a:solidFill>
                <a:srgbClr val="2563EB"/>
              </a:solidFill>
              <a:latin typeface="Noto Sans JP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0" y="539496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ctr"/>
            <a:r>
              <a:rPr sz="2800" b="1" dirty="0">
                <a:solidFill>
                  <a:srgbClr val="1C3557"/>
                </a:solidFill>
                <a:latin typeface="Noto Sans JP"/>
              </a:rPr>
              <a:t>月35万円 × 5人 = 月175万円分の業務をAI社員にやってもらう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5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ja-JP" altLang="en-US" sz="2400" b="1">
                <a:solidFill>
                  <a:srgbClr val="1C3557"/>
                </a:solidFill>
                <a:latin typeface="Noto Sans JP"/>
              </a:rPr>
              <a:t>私の</a:t>
            </a:r>
            <a:r>
              <a:rPr lang="en-US" altLang="ja-JP" sz="2400" b="1" dirty="0">
                <a:solidFill>
                  <a:srgbClr val="1C3557"/>
                </a:solidFill>
                <a:latin typeface="Noto Sans JP"/>
              </a:rPr>
              <a:t>AI</a:t>
            </a:r>
            <a:r>
              <a:rPr lang="ja-JP" altLang="en-US" sz="2400" b="1">
                <a:solidFill>
                  <a:srgbClr val="1C3557"/>
                </a:solidFill>
                <a:latin typeface="Noto Sans JP"/>
              </a:rPr>
              <a:t>社員たち</a:t>
            </a:r>
            <a:endParaRPr sz="2400" b="1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ctr"/>
            <a:r>
              <a:rPr sz="3200" b="1" dirty="0">
                <a:solidFill>
                  <a:srgbClr val="1C3557"/>
                </a:solidFill>
                <a:latin typeface="Noto Sans JP"/>
              </a:rPr>
              <a:t>事業に必要な機能を、5人のAI社員に分担する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 err="1">
                <a:solidFill>
                  <a:srgbClr val="FFFFFF"/>
                </a:solidFill>
                <a:latin typeface="Noto Sans JP"/>
              </a:rPr>
              <a:t>マーケ</a:t>
            </a:r>
            <a:endParaRPr sz="36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認知獲得</a:t>
            </a:r>
            <a:endParaRPr sz="2400"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715768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 err="1">
                <a:solidFill>
                  <a:srgbClr val="FFFFFF"/>
                </a:solidFill>
                <a:latin typeface="Noto Sans JP"/>
              </a:rPr>
              <a:t>営業</a:t>
            </a:r>
            <a:endParaRPr sz="36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715768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デリバリ</a:t>
            </a:r>
            <a:r>
              <a:rPr sz="2800" b="1" dirty="0">
                <a:solidFill>
                  <a:srgbClr val="FFFFFF"/>
                </a:solidFill>
                <a:latin typeface="Noto Sans JP"/>
              </a:rPr>
              <a:t>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74336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 dirty="0" err="1">
                <a:solidFill>
                  <a:srgbClr val="FFFFFF"/>
                </a:solidFill>
                <a:latin typeface="Noto Sans JP"/>
              </a:rPr>
              <a:t>事務・法務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232903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管理・記録</a:t>
            </a:r>
            <a:endParaRPr sz="2400"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491472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 err="1">
                <a:solidFill>
                  <a:srgbClr val="FFFFFF"/>
                </a:solidFill>
                <a:latin typeface="Noto Sans JP"/>
              </a:rPr>
              <a:t>戦略</a:t>
            </a:r>
            <a:endParaRPr sz="36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491472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0" dirty="0" err="1">
                <a:solidFill>
                  <a:srgbClr val="1C3557"/>
                </a:solidFill>
                <a:latin typeface="Noto Sans JP"/>
              </a:rPr>
              <a:t>リサーチ・分析</a:t>
            </a:r>
            <a:endParaRPr sz="2000"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57200" y="4937760"/>
            <a:ext cx="11274552" cy="1371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lang="ja-JP" altLang="en-US" sz="4000" b="1">
                <a:solidFill>
                  <a:srgbClr val="2563EB"/>
                </a:solidFill>
                <a:latin typeface="Noto Sans JP"/>
              </a:rPr>
              <a:t>全ての</a:t>
            </a:r>
            <a:r>
              <a:rPr sz="4000" b="1" dirty="0" err="1">
                <a:solidFill>
                  <a:srgbClr val="2563EB"/>
                </a:solidFill>
                <a:latin typeface="Noto Sans JP"/>
              </a:rPr>
              <a:t>事業</a:t>
            </a:r>
            <a:r>
              <a:rPr lang="ja-JP" altLang="en-US" sz="4000" b="1">
                <a:solidFill>
                  <a:srgbClr val="2563EB"/>
                </a:solidFill>
                <a:latin typeface="Noto Sans JP"/>
              </a:rPr>
              <a:t>を</a:t>
            </a:r>
            <a:r>
              <a:rPr sz="4000" b="1" dirty="0">
                <a:solidFill>
                  <a:srgbClr val="2563EB"/>
                </a:solidFill>
                <a:latin typeface="Noto Sans JP"/>
              </a:rPr>
              <a:t> 5人で網羅している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6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実は、もう動かしている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84648" y="128016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920240"/>
            <a:ext cx="0" cy="36576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22860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3200400"/>
            <a:ext cx="4590288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840479" y="3200400"/>
            <a:ext cx="2258569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200400"/>
            <a:ext cx="7315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3200400"/>
            <a:ext cx="2404871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9048" y="3200400"/>
            <a:ext cx="473659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1" dirty="0" err="1">
                <a:solidFill>
                  <a:srgbClr val="2563EB"/>
                </a:solidFill>
                <a:latin typeface="Noto Sans JP"/>
              </a:rPr>
              <a:t>大川主導で</a:t>
            </a:r>
            <a:r>
              <a:rPr sz="2000" b="1" dirty="0">
                <a:solidFill>
                  <a:srgbClr val="2563EB"/>
                </a:solidFill>
                <a:latin typeface="Noto Sans JP"/>
              </a:rPr>
              <a:t> AI社員5人 </a:t>
            </a:r>
            <a:r>
              <a:rPr sz="2000" b="1" dirty="0" err="1">
                <a:solidFill>
                  <a:srgbClr val="2563EB"/>
                </a:solidFill>
                <a:latin typeface="Noto Sans JP"/>
              </a:rPr>
              <a:t>を動かして事業部を回している</a:t>
            </a:r>
            <a:endParaRPr sz="2000" b="1" dirty="0">
              <a:solidFill>
                <a:srgbClr val="2563EB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7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04812" y="1522476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96651" y="1522476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000" b="0" dirty="0">
                <a:solidFill>
                  <a:srgbClr val="1C3557"/>
                </a:solidFill>
                <a:latin typeface="Noto Sans JP"/>
              </a:rPr>
              <a:t>LP</a:t>
            </a:r>
            <a:r>
              <a:rPr lang="ja-JP" altLang="en-US" sz="2000" b="0">
                <a:solidFill>
                  <a:srgbClr val="1C3557"/>
                </a:solidFill>
                <a:latin typeface="Noto Sans JP"/>
              </a:rPr>
              <a:t>作成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展示会</a:t>
            </a:r>
            <a:r>
              <a:rPr lang="ja-JP" altLang="en-US" sz="2000" b="0">
                <a:solidFill>
                  <a:srgbClr val="1C3557"/>
                </a:solidFill>
                <a:latin typeface="Noto Sans JP"/>
              </a:rPr>
              <a:t>設計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LINE配信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事例記事</a:t>
            </a:r>
            <a:endParaRPr sz="2000"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04812" y="2482596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 dirty="0" err="1">
                <a:solidFill>
                  <a:srgbClr val="FFFFFF"/>
                </a:solidFill>
                <a:latin typeface="Noto Sans JP"/>
              </a:rPr>
              <a:t>営業AI</a:t>
            </a:r>
            <a:endParaRPr sz="24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96651" y="2482596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000" b="0" dirty="0" err="1">
                <a:solidFill>
                  <a:srgbClr val="1C3557"/>
                </a:solidFill>
                <a:latin typeface="Noto Sans JP"/>
              </a:rPr>
              <a:t>商談前準備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要件ヒアリング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提案書</a:t>
            </a:r>
            <a:r>
              <a:rPr lang="ja-JP" altLang="en-US" sz="2000" b="0">
                <a:solidFill>
                  <a:srgbClr val="1C3557"/>
                </a:solidFill>
                <a:latin typeface="Noto Sans JP"/>
              </a:rPr>
              <a:t>作成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フォロ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812" y="3442715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96651" y="3442715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000" b="0" dirty="0" err="1">
                <a:solidFill>
                  <a:srgbClr val="1C3557"/>
                </a:solidFill>
                <a:latin typeface="Noto Sans JP"/>
              </a:rPr>
              <a:t>研修</a:t>
            </a:r>
            <a:r>
              <a:rPr lang="ja-JP" altLang="en-US" sz="2000" b="0">
                <a:solidFill>
                  <a:srgbClr val="1C3557"/>
                </a:solidFill>
                <a:latin typeface="Noto Sans JP"/>
              </a:rPr>
              <a:t>（運営・資料作成）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Dify・n8n・GAS構築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4812" y="4402835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96651" y="4402835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000" b="0" dirty="0" err="1">
                <a:solidFill>
                  <a:srgbClr val="1C3557"/>
                </a:solidFill>
                <a:latin typeface="Noto Sans JP"/>
              </a:rPr>
              <a:t>契約書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請求書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利用</a:t>
            </a:r>
            <a:r>
              <a:rPr lang="ja-JP" altLang="en-US" sz="2000" b="0">
                <a:solidFill>
                  <a:srgbClr val="1C3557"/>
                </a:solidFill>
                <a:latin typeface="Noto Sans JP"/>
              </a:rPr>
              <a:t>規約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プライバシーポリシ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ー / PL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4812" y="5362955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96651" y="5362955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000" b="0" dirty="0" err="1">
                <a:solidFill>
                  <a:srgbClr val="1C3557"/>
                </a:solidFill>
                <a:latin typeface="Noto Sans JP"/>
              </a:rPr>
              <a:t>競合調査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市場調査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料金設計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 /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データ分析</a:t>
            </a:r>
            <a:endParaRPr sz="2000" b="0" dirty="0">
              <a:solidFill>
                <a:srgbClr val="1C3557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そして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これが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5200" b="1">
                <a:solidFill>
                  <a:srgbClr val="2563EB"/>
                </a:solidFill>
                <a:latin typeface="Noto Sans JP"/>
              </a:rPr>
              <a:t>売上に直結している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70448" y="502920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9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lang="ja-JP" altLang="en-US" sz="2400" b="1">
                <a:solidFill>
                  <a:srgbClr val="FFFFFF"/>
                </a:solidFill>
                <a:latin typeface="Noto Sans JP"/>
              </a:rPr>
              <a:t>売上</a:t>
            </a:r>
            <a:endParaRPr sz="24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67712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8094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80944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 dirty="0" err="1">
                <a:solidFill>
                  <a:srgbClr val="1C3557"/>
                </a:solidFill>
                <a:latin typeface="Noto Sans JP"/>
              </a:rPr>
              <a:t>中部キリンビバレッジ</a:t>
            </a:r>
            <a:r>
              <a:rPr lang="ja-JP" altLang="en-US" sz="2400" b="0">
                <a:solidFill>
                  <a:srgbClr val="1C3557"/>
                </a:solidFill>
                <a:latin typeface="Noto Sans JP"/>
              </a:rPr>
              <a:t>サービス</a:t>
            </a:r>
            <a:endParaRPr sz="2400"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74920" y="3694176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74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407408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lang="ja-JP" altLang="en-US" sz="2800" b="1">
                <a:solidFill>
                  <a:srgbClr val="FFFFFF"/>
                </a:solidFill>
                <a:latin typeface="Noto Sans JP"/>
              </a:rPr>
              <a:t>今期</a:t>
            </a:r>
            <a:r>
              <a:rPr sz="2800" b="1" dirty="0" err="1">
                <a:solidFill>
                  <a:srgbClr val="FFFFFF"/>
                </a:solidFill>
                <a:latin typeface="Noto Sans JP"/>
              </a:rPr>
              <a:t>合計</a:t>
            </a:r>
            <a:endParaRPr sz="2800" b="1" dirty="0">
              <a:solidFill>
                <a:srgbClr val="FFFFFF"/>
              </a:solidFill>
              <a:latin typeface="Noto Sans JP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74920" y="512064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206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600" b="1" dirty="0" err="1">
                <a:solidFill>
                  <a:srgbClr val="FFFFFF"/>
                </a:solidFill>
                <a:latin typeface="Noto Sans JP"/>
              </a:rPr>
              <a:t>月換算</a:t>
            </a:r>
            <a:endParaRPr sz="3600" b="1" dirty="0">
              <a:solidFill>
                <a:srgbClr val="FFFFFF"/>
              </a:solidFill>
              <a:latin typeface="Noto Sans JP"/>
            </a:endParaRPr>
          </a:p>
          <a:p>
            <a:pPr algn="ctr"/>
            <a:r>
              <a:rPr sz="3600" b="1" dirty="0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3600" b="1" dirty="0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3600" b="1" dirty="0" err="1">
                <a:solidFill>
                  <a:srgbClr val="FFFFFF"/>
                </a:solidFill>
                <a:latin typeface="Noto Sans JP"/>
              </a:rPr>
              <a:t>AI社員</a:t>
            </a:r>
            <a:endParaRPr sz="3600" b="1" dirty="0">
              <a:solidFill>
                <a:srgbClr val="FFFFFF"/>
              </a:solidFill>
              <a:latin typeface="Noto Sans JP"/>
            </a:endParaRPr>
          </a:p>
          <a:p>
            <a:pPr algn="ctr"/>
            <a:r>
              <a:rPr sz="3600" b="1" dirty="0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3600" b="1" dirty="0" err="1">
                <a:solidFill>
                  <a:srgbClr val="FFFFFF"/>
                </a:solidFill>
                <a:latin typeface="Noto Sans JP"/>
              </a:rPr>
              <a:t>稼働中</a:t>
            </a:r>
            <a:endParaRPr sz="3600" b="1" dirty="0">
              <a:solidFill>
                <a:srgbClr val="FFFFFF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3400" b="1" dirty="0" err="1">
                <a:solidFill>
                  <a:srgbClr val="6B7280"/>
                </a:solidFill>
                <a:latin typeface="Noto Sans JP"/>
              </a:rPr>
              <a:t>ここまでが現状の話</a:t>
            </a:r>
            <a:endParaRPr sz="3400" b="1" dirty="0">
              <a:solidFill>
                <a:srgbClr val="6B7280"/>
              </a:solidFill>
              <a:latin typeface="Noto Sans JP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5641848" y="3108960"/>
            <a:ext cx="914400" cy="7315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402336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5000" b="1" dirty="0" err="1">
                <a:solidFill>
                  <a:srgbClr val="2563EB"/>
                </a:solidFill>
                <a:latin typeface="Noto Sans JP"/>
              </a:rPr>
              <a:t>ここから今後の話</a:t>
            </a:r>
            <a:endParaRPr sz="5000" b="1" dirty="0">
              <a:solidFill>
                <a:srgbClr val="2563EB"/>
              </a:solidFill>
              <a:latin typeface="Noto Sans JP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800" b="1" dirty="0">
                <a:solidFill>
                  <a:srgbClr val="1C3557"/>
                </a:solidFill>
                <a:latin typeface="Noto Sans JP"/>
              </a:rPr>
              <a:t>9月末までにAI社員5人を完成させる、その具体ロードマップ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10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11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 ① 6月末まで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029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456432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この時期に重点を置く理由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1371600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4月</a:t>
            </a:r>
          </a:p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(現在)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103120"/>
            <a:ext cx="1280160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103120"/>
            <a:ext cx="5029200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b="0" dirty="0" err="1">
                <a:solidFill>
                  <a:srgbClr val="1C3557"/>
                </a:solidFill>
                <a:latin typeface="Noto Sans JP"/>
              </a:rPr>
              <a:t>展示会・ローンチに向けた制作物作成</a:t>
            </a:r>
            <a:endParaRPr b="0" dirty="0">
              <a:solidFill>
                <a:srgbClr val="1C3557"/>
              </a:solidFill>
              <a:latin typeface="Noto Sans JP"/>
            </a:endParaRPr>
          </a:p>
          <a:p>
            <a:pPr algn="l"/>
            <a:r>
              <a:rPr lang="ja-JP" altLang="en-US" b="0">
                <a:solidFill>
                  <a:srgbClr val="1C3557"/>
                </a:solidFill>
                <a:latin typeface="Noto Sans JP"/>
              </a:rPr>
              <a:t>┗</a:t>
            </a:r>
            <a:r>
              <a:rPr b="0" dirty="0" err="1">
                <a:solidFill>
                  <a:srgbClr val="1C3557"/>
                </a:solidFill>
                <a:latin typeface="Noto Sans JP"/>
              </a:rPr>
              <a:t>クリエイティブ・LP・LINE</a:t>
            </a:r>
            <a:endParaRPr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75320" y="2103120"/>
            <a:ext cx="3456432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5月の本番に向けた助走期間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1371600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0">
                <a:solidFill>
                  <a:srgbClr val="1C3557"/>
                </a:solidFill>
                <a:latin typeface="Noto Sans JP"/>
              </a:rPr>
              <a:t>5月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3611880"/>
            <a:ext cx="1280160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1C3557"/>
                </a:solidFill>
                <a:latin typeface="Noto Sans JP"/>
              </a:rPr>
              <a:t>1.6人分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611880"/>
            <a:ext cx="5029200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b="0" dirty="0">
                <a:solidFill>
                  <a:srgbClr val="1C3557"/>
                </a:solidFill>
                <a:latin typeface="Noto Sans JP"/>
              </a:rPr>
              <a:t>β</a:t>
            </a:r>
            <a:r>
              <a:rPr b="0" dirty="0" err="1">
                <a:solidFill>
                  <a:srgbClr val="1C3557"/>
                </a:solidFill>
                <a:latin typeface="Noto Sans JP"/>
              </a:rPr>
              <a:t>版ローンチ実施</a:t>
            </a:r>
            <a:r>
              <a:rPr b="0" dirty="0">
                <a:solidFill>
                  <a:srgbClr val="1C3557"/>
                </a:solidFill>
                <a:latin typeface="Noto Sans JP"/>
              </a:rPr>
              <a:t> (5/2)</a:t>
            </a:r>
          </a:p>
          <a:p>
            <a:pPr algn="l"/>
            <a:r>
              <a:rPr b="0" dirty="0">
                <a:solidFill>
                  <a:srgbClr val="1C3557"/>
                </a:solidFill>
                <a:latin typeface="Noto Sans JP"/>
              </a:rPr>
              <a:t>6月</a:t>
            </a:r>
            <a:r>
              <a:rPr lang="ja-JP" altLang="en-US">
                <a:solidFill>
                  <a:srgbClr val="1C3557"/>
                </a:solidFill>
                <a:latin typeface="Noto Sans JP"/>
              </a:rPr>
              <a:t>展示会</a:t>
            </a:r>
            <a:r>
              <a:rPr b="0" dirty="0">
                <a:solidFill>
                  <a:srgbClr val="1C3557"/>
                </a:solidFill>
                <a:latin typeface="Noto Sans JP"/>
              </a:rPr>
              <a:t>EXPO </a:t>
            </a:r>
            <a:r>
              <a:rPr b="0" dirty="0" err="1">
                <a:solidFill>
                  <a:srgbClr val="1C3557"/>
                </a:solidFill>
                <a:latin typeface="Noto Sans JP"/>
              </a:rPr>
              <a:t>の戦略・戦術設計</a:t>
            </a:r>
            <a:endParaRPr b="0" dirty="0">
              <a:solidFill>
                <a:srgbClr val="1C3557"/>
              </a:solidFill>
              <a:latin typeface="Noto Sans JP"/>
            </a:endParaRPr>
          </a:p>
          <a:p>
            <a:pPr algn="l"/>
            <a:r>
              <a:rPr lang="ja-JP" altLang="en-US" sz="1600">
                <a:solidFill>
                  <a:srgbClr val="1C3557"/>
                </a:solidFill>
                <a:latin typeface="Noto Sans JP"/>
              </a:rPr>
              <a:t>┗</a:t>
            </a:r>
            <a:r>
              <a:rPr sz="1600" b="0" dirty="0" err="1">
                <a:solidFill>
                  <a:srgbClr val="1C3557"/>
                </a:solidFill>
                <a:latin typeface="Noto Sans JP"/>
              </a:rPr>
              <a:t>集客リクエスト配信／当日オペ／営業トークスクリプト</a:t>
            </a:r>
            <a:r>
              <a:rPr sz="1600" b="0" dirty="0">
                <a:solidFill>
                  <a:srgbClr val="1C3557"/>
                </a:solidFill>
                <a:latin typeface="Noto Sans JP"/>
              </a:rPr>
              <a:t>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3611880"/>
            <a:ext cx="3456432" cy="14173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マーケ・営業の比重が大きい時期。</a:t>
            </a:r>
          </a:p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AI社員を育てながら走らせる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1371600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6月末</a:t>
            </a:r>
          </a:p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(中間)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5120640"/>
            <a:ext cx="1280160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20640"/>
            <a:ext cx="5029200" cy="1417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lang="ja-JP" altLang="en-US" b="0">
                <a:solidFill>
                  <a:srgbClr val="1C3557"/>
                </a:solidFill>
                <a:latin typeface="Noto Sans JP"/>
              </a:rPr>
              <a:t>展示会</a:t>
            </a:r>
            <a:r>
              <a:rPr b="0" dirty="0" err="1">
                <a:solidFill>
                  <a:srgbClr val="1C3557"/>
                </a:solidFill>
                <a:latin typeface="Noto Sans JP"/>
              </a:rPr>
              <a:t>出展</a:t>
            </a:r>
            <a:r>
              <a:rPr b="0" dirty="0">
                <a:solidFill>
                  <a:srgbClr val="1C3557"/>
                </a:solidFill>
                <a:latin typeface="Noto Sans JP"/>
              </a:rPr>
              <a:t> (6/3-4)</a:t>
            </a:r>
          </a:p>
          <a:p>
            <a:pPr algn="l"/>
            <a:r>
              <a:rPr b="0" dirty="0" err="1">
                <a:solidFill>
                  <a:srgbClr val="1C3557"/>
                </a:solidFill>
                <a:latin typeface="Noto Sans JP"/>
              </a:rPr>
              <a:t>ローンチ後のフィードバック反映</a:t>
            </a:r>
            <a:endParaRPr b="0" dirty="0">
              <a:solidFill>
                <a:srgbClr val="1C3557"/>
              </a:solidFill>
              <a:latin typeface="Noto Sans JP"/>
            </a:endParaRPr>
          </a:p>
          <a:p>
            <a:pPr algn="l"/>
            <a:r>
              <a:rPr b="0" dirty="0">
                <a:solidFill>
                  <a:srgbClr val="1C3557"/>
                </a:solidFill>
                <a:latin typeface="Noto Sans JP"/>
              </a:rPr>
              <a:t>5人連携テスト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5120640"/>
            <a:ext cx="3456432" cy="1417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デリバリー内容が変化する時期。</a:t>
            </a:r>
          </a:p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顧客の声を聞きながらブラッシュアップ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 ② 9月末まで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7315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7315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029200" cy="7315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456432" cy="7315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この時期に重点を置く理由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37160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194560"/>
            <a:ext cx="128016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6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194560"/>
            <a:ext cx="502920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400" b="0">
                <a:solidFill>
                  <a:srgbClr val="1C3557"/>
                </a:solidFill>
                <a:latin typeface="Noto Sans JP"/>
              </a:rPr>
              <a:t>β版経由の新規案件対応</a:t>
            </a:r>
          </a:p>
          <a:p>
            <a:pPr algn="l"/>
            <a:r>
              <a:rPr sz="2400" b="0">
                <a:solidFill>
                  <a:srgbClr val="1C3557"/>
                </a:solidFill>
                <a:latin typeface="Noto Sans JP"/>
              </a:rPr>
              <a:t>プロダクト改善ループ確立</a:t>
            </a:r>
          </a:p>
          <a:p>
            <a:pPr algn="l"/>
            <a:r>
              <a:rPr sz="2400" b="0">
                <a:solidFill>
                  <a:srgbClr val="1C3557"/>
                </a:solidFill>
                <a:latin typeface="Noto Sans JP"/>
              </a:rPr>
              <a:t>事務・法務AI 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194560"/>
            <a:ext cx="3456432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000" b="0" dirty="0" err="1">
                <a:solidFill>
                  <a:srgbClr val="1C3557"/>
                </a:solidFill>
                <a:latin typeface="Noto Sans JP"/>
              </a:rPr>
              <a:t>顧客が増えて</a:t>
            </a:r>
            <a:endParaRPr lang="en-US" sz="2000" b="0" dirty="0">
              <a:solidFill>
                <a:srgbClr val="1C3557"/>
              </a:solidFill>
              <a:latin typeface="Noto Sans JP"/>
            </a:endParaRPr>
          </a:p>
          <a:p>
            <a:pPr algn="l"/>
            <a:r>
              <a:rPr sz="2000" b="0" dirty="0" err="1">
                <a:solidFill>
                  <a:srgbClr val="1C3557"/>
                </a:solidFill>
                <a:latin typeface="Noto Sans JP"/>
              </a:rPr>
              <a:t>事務処理が増える時期</a:t>
            </a:r>
            <a:r>
              <a:rPr sz="2000" b="0" dirty="0">
                <a:solidFill>
                  <a:srgbClr val="1C3557"/>
                </a:solidFill>
                <a:latin typeface="Noto Sans JP"/>
              </a:rPr>
              <a:t>。</a:t>
            </a:r>
          </a:p>
          <a:p>
            <a:pPr algn="l"/>
            <a:endParaRPr lang="en-US" sz="2000" b="0" dirty="0">
              <a:solidFill>
                <a:srgbClr val="1C3557"/>
              </a:solidFill>
              <a:latin typeface="Noto Sans JP"/>
            </a:endParaRPr>
          </a:p>
          <a:p>
            <a:pPr algn="l"/>
            <a:r>
              <a:rPr sz="2000" b="0" dirty="0" err="1">
                <a:solidFill>
                  <a:srgbClr val="1C3557"/>
                </a:solidFill>
                <a:latin typeface="Noto Sans JP"/>
              </a:rPr>
              <a:t>事務AIを稼働させて対応</a:t>
            </a:r>
            <a:endParaRPr sz="2000" b="0" dirty="0">
              <a:solidFill>
                <a:srgbClr val="1C3557"/>
              </a:solidFill>
              <a:latin typeface="Noto Sans JP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4389120"/>
            <a:ext cx="1371600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9月末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(最終)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4389120"/>
            <a:ext cx="1280160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4389120"/>
            <a:ext cx="5029200" cy="21031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400" b="0">
                <a:solidFill>
                  <a:srgbClr val="1C3557"/>
                </a:solidFill>
                <a:latin typeface="Noto Sans JP"/>
              </a:rPr>
              <a:t>5人フル稼働</a:t>
            </a:r>
          </a:p>
          <a:p>
            <a:pPr algn="l"/>
            <a:r>
              <a:rPr sz="2400" b="0">
                <a:solidFill>
                  <a:srgbClr val="1C3557"/>
                </a:solidFill>
                <a:latin typeface="Noto Sans JP"/>
              </a:rPr>
              <a:t>プロダクト × デリバリー 両輪完成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4389120"/>
            <a:ext cx="3456432" cy="21031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/>
            <a:r>
              <a:rPr sz="2000" b="0" dirty="0">
                <a:solidFill>
                  <a:srgbClr val="1C3557"/>
                </a:solidFill>
                <a:latin typeface="Noto Sans JP"/>
              </a:rPr>
              <a:t>Agent Teams </a:t>
            </a:r>
            <a:r>
              <a:rPr sz="2000" b="0" dirty="0" err="1">
                <a:solidFill>
                  <a:srgbClr val="1C3557"/>
                </a:solidFill>
                <a:latin typeface="Noto Sans JP"/>
              </a:rPr>
              <a:t>で</a:t>
            </a:r>
            <a:endParaRPr lang="en-US" sz="2000" b="0" dirty="0">
              <a:solidFill>
                <a:srgbClr val="1C3557"/>
              </a:solidFill>
              <a:latin typeface="Noto Sans JP"/>
            </a:endParaRPr>
          </a:p>
          <a:p>
            <a:pPr algn="l"/>
            <a:r>
              <a:rPr sz="2000" b="0" dirty="0">
                <a:solidFill>
                  <a:srgbClr val="1C3557"/>
                </a:solidFill>
                <a:latin typeface="Noto Sans JP"/>
              </a:rPr>
              <a:t>5人協働を実装</a:t>
            </a:r>
            <a:r>
              <a:rPr lang="ja-JP" altLang="en-US" sz="2000" b="0">
                <a:solidFill>
                  <a:srgbClr val="1C3557"/>
                </a:solidFill>
                <a:latin typeface="Noto Sans JP"/>
              </a:rPr>
              <a:t>する</a:t>
            </a:r>
            <a:endParaRPr sz="2000" b="0" dirty="0">
              <a:solidFill>
                <a:srgbClr val="1C3557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" y="5029200"/>
            <a:ext cx="1463040" cy="14630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40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38912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2000" b="1">
                <a:solidFill>
                  <a:srgbClr val="1C3557"/>
                </a:solidFill>
                <a:latin typeface="Noto Sans JP"/>
              </a:rPr>
              <a:t>2人 + AI社員5人 + Agent Teams で動かす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548640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1111</TotalTime>
  <Words>1136</Words>
  <Application>Microsoft Macintosh PowerPoint</Application>
  <PresentationFormat>ユーザー設定</PresentationFormat>
  <Paragraphs>240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Noto Sans JP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(株)エヌイチ 法人事業部</cp:lastModifiedBy>
  <cp:revision>2</cp:revision>
  <dcterms:created xsi:type="dcterms:W3CDTF">2013-01-27T09:14:16Z</dcterms:created>
  <dcterms:modified xsi:type="dcterms:W3CDTF">2026-04-28T08:17:37Z</dcterms:modified>
  <cp:category/>
</cp:coreProperties>
</file>