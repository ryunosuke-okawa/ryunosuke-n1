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600" b="1">
                <a:solidFill>
                  <a:srgbClr val="1C3557"/>
                </a:solidFill>
                <a:latin typeface="Noto Sans JP"/>
              </a:rPr>
              <a:t>私たちは「コストダウン」の話ができません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20040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400" b="0">
                <a:solidFill>
                  <a:srgbClr val="6B7280"/>
                </a:solidFill>
                <a:latin typeface="Noto Sans JP"/>
              </a:rPr>
              <a:t>Kawaru事業部の前提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97680"/>
            <a:ext cx="4114800" cy="13716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既存事業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固定業務がある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削減対象が見える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4297680"/>
            <a:ext cx="12161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800" b="1">
                <a:solidFill>
                  <a:srgbClr val="2563EB"/>
                </a:solidFill>
                <a:latin typeface="Noto Sans JP"/>
              </a:rPr>
              <a:t>←→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2552" y="4297680"/>
            <a:ext cx="4114800" cy="13716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Kawaru事業部</a:t>
            </a:r>
          </a:p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業務が毎月変わる</a:t>
            </a:r>
          </a:p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削減対象がない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2 / 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AI社員を動かして、Kawaruプロダクト作りを前に進める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0" y="1554480"/>
            <a:ext cx="4873752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Kawaru プロダクト作り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★ フォーカス ★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2926080"/>
            <a:ext cx="48737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↓ AI社員を動かす 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56616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300" b="0">
                <a:solidFill>
                  <a:srgbClr val="6B7280"/>
                </a:solidFill>
                <a:latin typeface="Noto Sans JP"/>
              </a:rPr>
              <a:t>─ 同時進行 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3566160" cy="137160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4114800"/>
            <a:ext cx="3566160" cy="137160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4114800"/>
            <a:ext cx="3566160" cy="137160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66928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400" b="0">
                <a:solidFill>
                  <a:srgbClr val="6B7280"/>
                </a:solidFill>
                <a:latin typeface="Noto Sans JP"/>
              </a:rPr>
              <a:t>3つのデリバリーサービスも動かす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12648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100" b="0">
                <a:solidFill>
                  <a:srgbClr val="6B7280"/>
                </a:solidFill>
                <a:latin typeface="Noto Sans JP"/>
              </a:rPr>
              <a:t>プロダクト作りとデリバリーは同時進行、フォーカスはプロダクト作り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3 / 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AI社員5人の構成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37160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LP / SNS / 展示会 / LINE配信 / 事例記事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224028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商談前準備 / 要件ヒアリング / 提案書 / フォロー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0896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310896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研修運営 / Dify・N8N・GAS構築 / CSコンサル / PM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7764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397764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契約 / 請求 / PL / 利用規約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46320"/>
            <a:ext cx="3200400" cy="777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戦略・プロダクトAI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484632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競合・市場・料金・データ分析(リサーチ・分析担当)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100" b="1">
                <a:solidFill>
                  <a:srgbClr val="6B7280"/>
                </a:solidFill>
                <a:latin typeface="Noto Sans JP"/>
              </a:rPr>
              <a:t>マーケから事務までの4人 = 各領域の戦略 + 実行  /  戦略・プロダクトAI = 全体のリサーチ・分析担当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4 / 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なぜこの構成にしたか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2860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300" b="1">
                <a:solidFill>
                  <a:srgbClr val="2563EB"/>
                </a:solidFill>
                <a:latin typeface="Noto Sans JP"/>
              </a:rPr>
              <a:t>【縦軸】コア能力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286000" cy="20116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500" b="0">
                <a:solidFill>
                  <a:srgbClr val="1C3557"/>
                </a:solidFill>
                <a:latin typeface="Noto Sans JP"/>
              </a:rPr>
              <a:t>作る</a:t>
            </a:r>
          </a:p>
          <a:p>
            <a:pPr algn="ctr"/>
            <a:r>
              <a:rPr sz="1500" b="0">
                <a:solidFill>
                  <a:srgbClr val="1C3557"/>
                </a:solidFill>
                <a:latin typeface="Noto Sans JP"/>
              </a:rPr>
              <a:t>調べる</a:t>
            </a:r>
          </a:p>
          <a:p>
            <a:pPr algn="ctr"/>
            <a:r>
              <a:rPr sz="1500" b="0">
                <a:solidFill>
                  <a:srgbClr val="1C3557"/>
                </a:solidFill>
                <a:latin typeface="Noto Sans JP"/>
              </a:rPr>
              <a:t>設計する</a:t>
            </a:r>
          </a:p>
          <a:p>
            <a:pPr algn="ctr"/>
            <a:r>
              <a:rPr sz="1500" b="0">
                <a:solidFill>
                  <a:srgbClr val="1C3557"/>
                </a:solidFill>
                <a:latin typeface="Noto Sans JP"/>
              </a:rPr>
              <a:t>整理する</a:t>
            </a:r>
          </a:p>
          <a:p>
            <a:pPr algn="ctr"/>
            <a:r>
              <a:rPr sz="1500" b="0">
                <a:solidFill>
                  <a:srgbClr val="1C3557"/>
                </a:solidFill>
                <a:latin typeface="Noto Sans JP"/>
              </a:rPr>
              <a:t>考える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554480"/>
            <a:ext cx="850392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300" b="1">
                <a:solidFill>
                  <a:srgbClr val="2563EB"/>
                </a:solidFill>
                <a:latin typeface="Noto Sans JP"/>
              </a:rPr>
              <a:t>【横軸】機能でMECEに網羅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011680"/>
            <a:ext cx="1536192" cy="201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マーケ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8032" y="2011680"/>
            <a:ext cx="1536192" cy="201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営業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5664" y="2011680"/>
            <a:ext cx="1536192" cy="201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デリバリー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2011680"/>
            <a:ext cx="1536192" cy="201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事務法務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10928" y="2011680"/>
            <a:ext cx="1536192" cy="201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戦略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11274552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200" b="1">
                <a:solidFill>
                  <a:srgbClr val="2563EB"/>
                </a:solidFill>
                <a:latin typeface="Noto Sans JP"/>
              </a:rPr>
              <a:t>案件が変わっても、5人それぞれが受け止められる設計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5 / 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Kawaru事業部のフルコミットは2人。AI社員5人で動かす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27448" y="137160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髙橋COO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41848" y="2057400"/>
            <a:ext cx="9144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0">
                <a:solidFill>
                  <a:srgbClr val="6B7280"/>
                </a:solidFill>
                <a:latin typeface="Noto Sans JP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27448" y="24688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sp>
        <p:nvSpPr>
          <p:cNvPr id="9" name="Rectangle 8"/>
          <p:cNvSpPr/>
          <p:nvPr/>
        </p:nvSpPr>
        <p:spPr>
          <a:xfrm>
            <a:off x="5641848" y="3154680"/>
            <a:ext cx="9144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0">
                <a:solidFill>
                  <a:srgbClr val="6B7280"/>
                </a:solidFill>
                <a:latin typeface="Noto Sans JP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118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36118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36118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118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事務法務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36118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02920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ctr"/>
            <a:r>
              <a:rPr sz="1200" b="0">
                <a:solidFill>
                  <a:srgbClr val="6B7280"/>
                </a:solidFill>
                <a:latin typeface="Noto Sans JP"/>
              </a:rPr>
              <a:t>業務委託は別途活用、フルコミットはこの2人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577840"/>
            <a:ext cx="11274552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2人だけだから、AI社員5人で事業部を動かす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6 / 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半期 ¥6,710,000、4案件すべてにAI社員が動いている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案件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554480"/>
            <a:ext cx="2743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売上 (税抜)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NTTネクシア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240280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400" b="0">
                <a:solidFill>
                  <a:srgbClr val="1C3557"/>
                </a:solidFill>
                <a:latin typeface="Noto Sans JP"/>
              </a:rPr>
              <a:t>¥5,000,000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中西製作所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2926080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400" b="0">
                <a:solidFill>
                  <a:srgbClr val="1C3557"/>
                </a:solidFill>
                <a:latin typeface="Noto Sans JP"/>
              </a:rPr>
              <a:t>¥1,000,000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1188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中部キリンビバレッジ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611880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400" b="0">
                <a:solidFill>
                  <a:srgbClr val="1C3557"/>
                </a:solidFill>
                <a:latin typeface="Noto Sans JP"/>
              </a:rPr>
              <a:t>¥450,000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97680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ブロードリンク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297680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400" b="0">
                <a:solidFill>
                  <a:srgbClr val="1C3557"/>
                </a:solidFill>
                <a:latin typeface="Noto Sans JP"/>
              </a:rPr>
              <a:t>¥260,000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83480"/>
            <a:ext cx="4572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Noto Sans JP"/>
              </a:rPr>
              <a:t>半期合計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983480"/>
            <a:ext cx="27432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r"/>
            <a:r>
              <a:rPr sz="1600" b="1">
                <a:solidFill>
                  <a:srgbClr val="FFFFFF"/>
                </a:solidFill>
                <a:latin typeface="Noto Sans JP"/>
              </a:rPr>
              <a:t>¥6,710,000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3502152" cy="4160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月換算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¥464,000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=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1.3人分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稼働中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7 / 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上流業務でAI社員を使い倒す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Kawaru プロダクト作り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36576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プロダクト改善の提案たたき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965960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JP"/>
              </a:rPr>
              <a:t>戦略AI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16352"/>
            <a:ext cx="36576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ローンチPM・LP・LINE配信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2816352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JP"/>
              </a:rPr>
              <a:t>マーケAI + 戦略AI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66744"/>
            <a:ext cx="36576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競合・料金・データ分析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3666744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JP"/>
              </a:rPr>
              <a:t>戦略AI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371600"/>
            <a:ext cx="548640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Team / Coach / BPO のデリバリー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965960"/>
            <a:ext cx="3657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展示会設計・クリエイティブ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48672" y="1965960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1C3557"/>
                </a:solidFill>
                <a:latin typeface="Noto Sans JP"/>
              </a:rPr>
              <a:t>マーケAI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2816352"/>
            <a:ext cx="3657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提案書骨子作成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8672" y="2816352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1C3557"/>
                </a:solidFill>
                <a:latin typeface="Noto Sans JP"/>
              </a:rPr>
              <a:t>営業AI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3666744"/>
            <a:ext cx="3657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300" b="0">
                <a:solidFill>
                  <a:srgbClr val="1C3557"/>
                </a:solidFill>
                <a:latin typeface="Noto Sans JP"/>
              </a:rPr>
              <a:t>Dify / N8N / GAS構築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48672" y="3666744"/>
            <a:ext cx="17830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1">
                <a:solidFill>
                  <a:srgbClr val="1C3557"/>
                </a:solidFill>
                <a:latin typeface="Noto Sans JP"/>
              </a:rPr>
              <a:t>デリバリーAI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29200"/>
            <a:ext cx="11274552" cy="10058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2200" b="1">
                <a:solidFill>
                  <a:srgbClr val="2563EB"/>
                </a:solidFill>
                <a:latin typeface="Noto Sans JP"/>
              </a:rPr>
              <a:t>時給 3,000〜5,000円帯の上流領域で AI を使い倒している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8 / 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2200" b="1">
                <a:solidFill>
                  <a:srgbClr val="1C3557"/>
                </a:solidFill>
                <a:latin typeface="Noto Sans JP"/>
              </a:rPr>
              <a:t>6月末2人分 → 9月末5人分、Agent Teams も並走で構築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371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286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88920" y="1371600"/>
            <a:ext cx="18288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704088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動き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2286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0">
                <a:solidFill>
                  <a:srgbClr val="1C3557"/>
                </a:solidFill>
                <a:latin typeface="Noto Sans JP"/>
              </a:rPr>
              <a:t>4月 (現在)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2103120"/>
            <a:ext cx="18288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1.3人分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2103120"/>
            <a:ext cx="70408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1C3557"/>
                </a:solidFill>
                <a:latin typeface="Noto Sans JP"/>
              </a:rPr>
              <a:t>デリバリーAI + 戦略AI が稼働中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34639"/>
            <a:ext cx="2286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6月末 (中間発表)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2834639"/>
            <a:ext cx="18288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2人分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834639"/>
            <a:ext cx="7040880" cy="640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1C3557"/>
                </a:solidFill>
                <a:latin typeface="Noto Sans JP"/>
              </a:rPr>
              <a:t>5人全員が同時進行で立ち上がり / Agent Teams 初期構築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66159"/>
            <a:ext cx="2286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0">
                <a:solidFill>
                  <a:srgbClr val="1C3557"/>
                </a:solidFill>
                <a:latin typeface="Noto Sans JP"/>
              </a:rPr>
              <a:t>7-8月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88920" y="3566159"/>
            <a:ext cx="18288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3〜4人分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3566159"/>
            <a:ext cx="704088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1C3557"/>
                </a:solidFill>
                <a:latin typeface="Noto Sans JP"/>
              </a:rPr>
              <a:t>各領域で深化 / Agent Teams 連携テスト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97679"/>
            <a:ext cx="2286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9月末 (最終)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8920" y="4297679"/>
            <a:ext cx="18288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5人分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4297679"/>
            <a:ext cx="7040880" cy="640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200" b="0">
                <a:solidFill>
                  <a:srgbClr val="1C3557"/>
                </a:solidFill>
                <a:latin typeface="Noto Sans JP"/>
              </a:rPr>
              <a:t>5人フル稼働 + Agent Teams で協働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JP"/>
              </a:rPr>
              <a:t>特定の1人を完成させるのではなく、5人を網羅的に育てる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3600" b="1">
                <a:solidFill>
                  <a:srgbClr val="1C3557"/>
                </a:solidFill>
                <a:latin typeface="Noto Sans JP"/>
              </a:rPr>
              <a:t>AI社員を動かして、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4688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4400" b="1">
                <a:solidFill>
                  <a:srgbClr val="2563EB"/>
                </a:solidFill>
                <a:latin typeface="Noto Sans JP"/>
              </a:rPr>
              <a:t>Kawaru事業部の事業を推進する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023360"/>
            <a:ext cx="21305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48056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2人 + AI社員5人 + Agent Teams で、Kawaru事業部を動かす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30352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プロダクト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53035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53035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530352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