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2103120"/>
            <a:ext cx="21305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4800" b="1">
                <a:solidFill>
                  <a:srgbClr val="2563EB"/>
                </a:solidFill>
                <a:latin typeface="Noto Sans JP"/>
              </a:rPr>
              <a:t>AIハッカソン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2130552" cy="3657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384048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400" b="1">
                <a:solidFill>
                  <a:srgbClr val="1C3557"/>
                </a:solidFill>
                <a:latin typeface="Noto Sans JP"/>
              </a:rPr>
              <a:t>Kawaru事業部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000" b="0">
                <a:solidFill>
                  <a:srgbClr val="1C3557"/>
                </a:solidFill>
                <a:latin typeface="Noto Sans JP"/>
              </a:rPr>
              <a:t>大川 龍之介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300" b="0">
                <a:solidFill>
                  <a:srgbClr val="6B7280"/>
                </a:solidFill>
                <a:latin typeface="Noto Sans JP"/>
              </a:rPr>
              <a:t>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1C3557"/>
                </a:solidFill>
                <a:latin typeface="Noto Sans JP"/>
              </a:rPr>
              <a:t>私たちは「コストダウン」の話ができません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20040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Kawaru事業部の前提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97680"/>
            <a:ext cx="4114800" cy="13716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既存事業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固定業務がある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削減対象が見える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4297680"/>
            <a:ext cx="12161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800" b="1">
                <a:solidFill>
                  <a:srgbClr val="2563EB"/>
                </a:solidFill>
                <a:latin typeface="Noto Sans JP"/>
              </a:rPr>
              <a:t>←→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2552" y="4297680"/>
            <a:ext cx="4114800" cy="1371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Kawaru事業部</a:t>
            </a:r>
          </a:p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業務が毎月変わる</a:t>
            </a:r>
          </a:p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削減対象がない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3 /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Kawaru事業部の4サービス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46304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93192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6364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この4つのサービスを動かしている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4 /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でもフルコミットは2人だけ。だからAI社員5人で動かす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55448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2552" y="155448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JP"/>
              </a:rPr>
              <a:t>↓ AI社員に動いてもらう 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35661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35661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35661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12080"/>
            <a:ext cx="11274552" cy="10058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200" b="1">
                <a:solidFill>
                  <a:srgbClr val="1C3557"/>
                </a:solidFill>
                <a:latin typeface="Noto Sans JP"/>
              </a:rPr>
              <a:t>2人で4サービスは難しい。AI社員5人で動かす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5 /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AI社員5人の構成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37160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LP / SNS / 展示会 / LINE配信 / 事例記事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24028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商談前準備 / 要件ヒアリング / 提案書 / フォロー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310896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研修運営 / Dify・N8N・GAS構築 / CSコンサル / PM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7764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397764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契約 / 請求 / PL / 利用規約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4632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戦略・プロダクトAI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484632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競合・市場・料金・データ分析(リサーチ・分析担当)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100" b="1">
                <a:solidFill>
                  <a:srgbClr val="6B7280"/>
                </a:solidFill>
                <a:latin typeface="Noto Sans JP"/>
              </a:rPr>
              <a:t>4人 = 各領域の戦略 + 実行  /  戦略・プロダクトAI = リサーチ・分析担当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6 /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これが事業でやるべき仕事のすべて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219456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2194560" cy="6400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認知獲得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2011680"/>
            <a:ext cx="219456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3337560"/>
            <a:ext cx="2194560" cy="6400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商談・受注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4336" y="2011680"/>
            <a:ext cx="219456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3337560"/>
            <a:ext cx="2194560" cy="6400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納品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2903" y="2011680"/>
            <a:ext cx="219456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3337560"/>
            <a:ext cx="2194560" cy="6400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管理・記録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2" y="2011680"/>
            <a:ext cx="219456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3337560"/>
            <a:ext cx="2194560" cy="6400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リサーチ・分析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74552" cy="128016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200" b="1">
                <a:solidFill>
                  <a:srgbClr val="2563EB"/>
                </a:solidFill>
                <a:latin typeface="Noto Sans JP"/>
              </a:rPr>
              <a:t>マーケから戦略まで、事業の全部の仕事を 5人 で網羅している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7 /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AI社員をこう使っているイメージ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Kawaru プロダクト作り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36576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プロダクト改善の提案たたき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965960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JP"/>
              </a:rPr>
              <a:t>戦略AI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16352"/>
            <a:ext cx="36576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ローンチPM・LP・LINE配信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2816352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JP"/>
              </a:rPr>
              <a:t>マーケAI + 戦略AI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66744"/>
            <a:ext cx="36576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競合・料金・データ分析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3666744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JP"/>
              </a:rPr>
              <a:t>戦略AI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371600"/>
            <a:ext cx="548640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Kawaru Team / Coach / BPO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965960"/>
            <a:ext cx="3657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展示会設計・クリエイティブ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48672" y="1965960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1C3557"/>
                </a:solidFill>
                <a:latin typeface="Noto Sans JP"/>
              </a:rPr>
              <a:t>マーケAI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2816352"/>
            <a:ext cx="3657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提案書骨子作成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8672" y="2816352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1C3557"/>
                </a:solidFill>
                <a:latin typeface="Noto Sans JP"/>
              </a:rPr>
              <a:t>営業AI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666744"/>
            <a:ext cx="3657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Dify / N8N / GAS構築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48672" y="3666744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1C3557"/>
                </a:solidFill>
                <a:latin typeface="Noto Sans JP"/>
              </a:rPr>
              <a:t>デリバリーAI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292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200" b="1">
                <a:solidFill>
                  <a:srgbClr val="2563EB"/>
                </a:solidFill>
                <a:latin typeface="Noto Sans JP"/>
              </a:rPr>
              <a:t>いろんな領域で AI社員を使っている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8 /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売上 (税抜)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40280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4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26080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4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中部キリンビバレッジ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611880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4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9768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297680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4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8348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Noto Sans JP"/>
              </a:rPr>
              <a:t>半期合計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98348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6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160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月換算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稼働中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305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200" b="1">
                <a:solidFill>
                  <a:srgbClr val="6B7280"/>
                </a:solidFill>
                <a:latin typeface="Noto Sans JP"/>
              </a:rPr>
              <a:t>ここまでが現状の話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2563EB"/>
                </a:solidFill>
                <a:latin typeface="Noto Sans JP"/>
              </a:rPr>
              <a:t>↓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8404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4400" b="1">
                <a:solidFill>
                  <a:srgbClr val="2563EB"/>
                </a:solidFill>
                <a:latin typeface="Noto Sans JP"/>
              </a:rPr>
              <a:t>ここから今後の話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0">
                <a:solidFill>
                  <a:srgbClr val="1C3557"/>
                </a:solidFill>
                <a:latin typeface="Noto Sans JP"/>
              </a:rPr>
              <a:t>9月末までにAI社員5人を完成させる、その道筋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10 /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6月末2人分 → 9月末5人分、Agent Teams も並走で構築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286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88920" y="1371600"/>
            <a:ext cx="18288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704088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動き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2286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4月 (現在)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2103120"/>
            <a:ext cx="18288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2103120"/>
            <a:ext cx="70408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1C3557"/>
                </a:solidFill>
                <a:latin typeface="Noto Sans JP"/>
              </a:rPr>
              <a:t>デリバリーAI + 戦略AI が稼働中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34639"/>
            <a:ext cx="2286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6月末 (中間発表)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2834639"/>
            <a:ext cx="18288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834639"/>
            <a:ext cx="7040880" cy="640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1C3557"/>
                </a:solidFill>
                <a:latin typeface="Noto Sans JP"/>
              </a:rPr>
              <a:t>5人全員が同時進行で立ち上がり / Agent Teams 初期構築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66159"/>
            <a:ext cx="2286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88920" y="3566159"/>
            <a:ext cx="18288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3566159"/>
            <a:ext cx="70408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1C3557"/>
                </a:solidFill>
                <a:latin typeface="Noto Sans JP"/>
              </a:rPr>
              <a:t>各領域で深化 / Agent Teams 連携テスト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97679"/>
            <a:ext cx="2286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9月末 (最終)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8920" y="4297679"/>
            <a:ext cx="18288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4297679"/>
            <a:ext cx="7040880" cy="640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1C3557"/>
                </a:solidFill>
                <a:latin typeface="Noto Sans JP"/>
              </a:rPr>
              <a:t>5人フル稼働 + Agent Teams で協働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JP"/>
              </a:rPr>
              <a:t>5人を網羅的に同時進行で育てる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4688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44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023360"/>
            <a:ext cx="21305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48056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2人 + AI社員5人 + Agent Teams で、Kawaru事業部を動かす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30352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53035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53035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530352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